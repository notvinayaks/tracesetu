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traceNotes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traceNotes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 IDEA TITLE</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**TraceSetu: find the first receiving crypto service**</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**THE PROBLEM**  </a:t>
            </a:r>
          </a:p>
          <a:p>
            <a:pPr eaLnBrk="1" hangingPunct="1" algn="l">
              <a:spcBef>
                <a:spcPts val="0"/>
              </a:spcBef>
              <a:spcAft>
                <a:spcPts val="0"/>
              </a:spcAft>
            </a:pPr>
            <a:r>
              <a:rPr lang="en-US">
                <a:ea typeface="ＭＳ Ｐゴシック" pitchFamily="1" charset="-128"/>
              </a:rPr>
              <a:t>Officers can see transfers, but an address rarely tells them which exchange controls it. The first deposit address may have no label.</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**OUR SOLUTION**  </a:t>
            </a:r>
          </a:p>
          <a:p>
            <a:pPr eaLnBrk="1" hangingPunct="1" algn="l">
              <a:spcBef>
                <a:spcPts val="0"/>
              </a:spcBef>
              <a:spcAft>
                <a:spcPts val="0"/>
              </a:spcAft>
            </a:pPr>
            <a:r>
              <a:rPr lang="en-US">
                <a:ea typeface="ＭＳ Ｐゴシック" pitchFamily="1" charset="-128"/>
              </a:rPr>
              <a:t>Trace transfers, test deposit-address patterns and build an evidence-backed lead for a reviewed VASP request.</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**WHAT MAKES IT USEFUL**  </a:t>
            </a:r>
          </a:p>
          <a:p>
            <a:pPr eaLnBrk="1" hangingPunct="1" algn="l">
              <a:spcBef>
                <a:spcPts val="0"/>
              </a:spcBef>
              <a:spcAft>
                <a:spcPts val="0"/>
              </a:spcAft>
            </a:pPr>
            <a:r>
              <a:rPr lang="en-US">
                <a:ea typeface="ＭＳ Ｐゴシック" pitchFamily="1" charset="-128"/>
              </a:rPr>
              <a:t>Find a possible earlier deposit point. Show why it is suspected, what is missing and which evidence to collect next.</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**Officer → Wallet + time window → TraceSetu → Service candidate + evidence → Review**</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Presenter notes: A VASP is a service such as a crypto exchange or custodial wallet business. The product supports an investigator's recipient decision; it cannot reveal private customer records or freeze funds. The core tracing and review workflow exists. Automated deposit discovery is a separate research reference, not integrated into the current MVP. A hot wallet's identity alone does not establish that every preceding address is controlled by that service. “Evidence-backed” does not mean every assertion is independently proven.</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Source template: user-supplied SIH2026-IDEA-Presentation-Format (10).pptx. Screenshot: actual TraceSetu UI, captured 26 September 2026, unchanged investigation design verified against current code. Synthetic training case, not a live attribution result. Public repository verified anonymously on 30 September 2026. Complete current work is on product/live-foundation; main preserves the published MVP.</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Implemented read-only parsers: Bitcoin, Ethereum, BNB Chain, Polygon, Tron and Solana. Access and live coverage vary. A bounded public Bitcoin check returned no established VASP. Production evaluation, label coverage and official SAHYOG connectivity remain open. In-app requests export as NOT_SENT. Guards hold unsupported mixer and cross-chain paths. The limited CCTP proof workflow covers reviewed V2 native USDC Ethereum/Polygon training proofs.</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Primary links:</a:t>
            </a:r>
          </a:p>
          <a:p>
            <a:pPr eaLnBrk="1" hangingPunct="1" algn="l">
              <a:spcBef>
                <a:spcPts val="0"/>
              </a:spcBef>
              <a:spcAft>
                <a:spcPts val="0"/>
              </a:spcAft>
            </a:pPr>
            <a:r>
              <a:rPr lang="en-US">
                <a:ea typeface="ＭＳ Ｐゴシック" pitchFamily="1" charset="-128"/>
              </a:rPr>
              <a:t>https://fc20.ifca.ai/preproceedings/31.pdf</a:t>
            </a:r>
          </a:p>
          <a:p>
            <a:pPr eaLnBrk="1" hangingPunct="1" algn="l">
              <a:spcBef>
                <a:spcPts val="0"/>
              </a:spcBef>
              <a:spcAft>
                <a:spcPts val="0"/>
              </a:spcAft>
            </a:pPr>
            <a:r>
              <a:rPr lang="en-US">
                <a:ea typeface="ＭＳ Ｐゴシック" pitchFamily="1" charset="-128"/>
              </a:rPr>
              <a:t>https://doi.org/10.1002/nem.2325</a:t>
            </a:r>
          </a:p>
          <a:p>
            <a:pPr eaLnBrk="1" hangingPunct="1" algn="l">
              <a:spcBef>
                <a:spcPts val="0"/>
              </a:spcBef>
              <a:spcAft>
                <a:spcPts val="0"/>
              </a:spcAft>
            </a:pPr>
            <a:r>
              <a:rPr lang="en-US">
                <a:ea typeface="ＭＳ Ｐゴシック" pitchFamily="1" charset="-128"/>
              </a:rPr>
              <a:t>https://www.vldb.org/pvldb/vol7/p721-wu.pdf</a:t>
            </a:r>
          </a:p>
          <a:p>
            <a:pPr eaLnBrk="1" hangingPunct="1" algn="l">
              <a:spcBef>
                <a:spcPts val="0"/>
              </a:spcBef>
              <a:spcAft>
                <a:spcPts val="0"/>
              </a:spcAft>
            </a:pPr>
            <a:r>
              <a:rPr lang="en-US">
                <a:ea typeface="ＭＳ Ｐゴシック" pitchFamily="1" charset="-128"/>
              </a:rPr>
              <a:t>https://www.usenix.org/system/files/sec22-kappos.pdf</a:t>
            </a:r>
          </a:p>
          <a:p>
            <a:pPr eaLnBrk="1" hangingPunct="1" algn="l">
              <a:spcBef>
                <a:spcPts val="0"/>
              </a:spcBef>
              <a:spcAft>
                <a:spcPts val="0"/>
              </a:spcAft>
            </a:pPr>
            <a:r>
              <a:rPr lang="en-US">
                <a:ea typeface="ＭＳ Ｐゴシック" pitchFamily="1" charset="-128"/>
              </a:rPr>
              <a:t>https://www.usenix.org/system/files/usenixsecurity25-lubbertsen.pdf</a:t>
            </a:r>
          </a:p>
          <a:p>
            <a:pPr eaLnBrk="1" hangingPunct="1" algn="l">
              <a:spcBef>
                <a:spcPts val="0"/>
              </a:spcBef>
              <a:spcAft>
                <a:spcPts val="0"/>
              </a:spcAft>
            </a:pPr>
            <a:r>
              <a:rPr lang="en-US">
                <a:ea typeface="ＭＳ Ｐゴシック" pitchFamily="1" charset="-128"/>
              </a:rPr>
              <a:t>Repository: https://github.com/notvinayaks/TraceSetu/tree/product/live-foundation</a:t>
            </a:r>
          </a:p>
          <a:p>
            <a:pPr eaLnBrk="1" hangingPunct="1" algn="l">
              <a:spcBef>
                <a:spcPts val="0"/>
              </a:spcBef>
              <a:spcAft>
                <a:spcPts val="0"/>
              </a:spcAft>
            </a:pPr>
            <a:r>
              <a:rPr lang="en-US">
                <a:ea typeface="ＭＳ Ｐゴシック" pitchFamily="1" charset="-128"/>
              </a:rPr>
              <a:t>Prototype video supplied by team: https://www.youtube.com/watch?v=V_qB6dL934w</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 TECHNICAL APPROACH</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**1. Acquire** — Read transfers, receipts and sourced service-wallet labels.</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**2. Suggest deposits [1, 2]** — Look for repeated token collection into a known exchange wallet, with transaction-fee funding from that service. Keep matches as hypotheses.</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**3. Trace in time order [3]** — Search for the fewest transfer steps to the first supported custodian; expose earlier unresolved candidates.</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**4. Review** — Return the path, sources and gaps for an officer's decision.</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**Python / FastAPI · React / TypeScript · SQLite · Cytoscape**</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Diagram to draw natively, with short labels:</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```text</a:t>
            </a:r>
          </a:p>
          <a:p>
            <a:pPr eaLnBrk="1" hangingPunct="1" algn="l">
              <a:spcBef>
                <a:spcPts val="0"/>
              </a:spcBef>
              <a:spcAft>
                <a:spcPts val="0"/>
              </a:spcAft>
            </a:pPr>
            <a:r>
              <a:rPr lang="en-US">
                <a:ea typeface="ＭＳ Ｐゴシック" pitchFamily="1" charset="-128"/>
              </a:rPr>
              <a:t>Reported wallet → Possible deposit → Known exchange wallet</a:t>
            </a:r>
          </a:p>
          <a:p>
            <a:pPr eaLnBrk="1" hangingPunct="1" algn="l">
              <a:spcBef>
                <a:spcPts val="0"/>
              </a:spcBef>
              <a:spcAft>
                <a:spcPts val="0"/>
              </a:spcAft>
            </a:pPr>
            <a:r>
              <a:rPr lang="en-US">
                <a:ea typeface="ＭＳ Ｐゴシック" pitchFamily="1" charset="-128"/>
              </a:rPr>
              <a:t>                        ↑</a:t>
            </a:r>
          </a:p>
          <a:p>
            <a:pPr eaLnBrk="1" hangingPunct="1" algn="l">
              <a:spcBef>
                <a:spcPts val="0"/>
              </a:spcBef>
              <a:spcAft>
                <a:spcPts val="0"/>
              </a:spcAft>
            </a:pPr>
            <a:r>
              <a:rPr lang="en-US">
                <a:ea typeface="ＭＳ Ｐゴシック" pitchFamily="1" charset="-128"/>
              </a:rPr>
              <a:t>                Service fee wallet</a:t>
            </a:r>
          </a:p>
          <a:p>
            <a:pPr eaLnBrk="1" hangingPunct="1" algn="l">
              <a:spcBef>
                <a:spcPts val="0"/>
              </a:spcBef>
              <a:spcAft>
                <a:spcPts val="0"/>
              </a:spcAft>
            </a:pPr>
            <a:r>
              <a:rPr lang="en-US">
                <a:ea typeface="ＭＳ Ｐゴシック" pitchFamily="1" charset="-128"/>
              </a:rPr>
              <a:t>```</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Diagram caption: “Repeated pattern suggests a deposit role; it does not prove ownership.”</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Presenter notes: This is seeded service-cluster discovery followed by time-respecting first-custody tracing. Service names come from externally sourced identity anchors, not graph shape. Keep observed transfer edges separate from service-control assertions. The proposed detector checks exact asset units, event order, transaction sender/fee payer, matching hot-wallet and gas-feeder service roles, boundary balances, coverage and contradictions. Its narrow reference uses three repetitions as a demonstration policy; that number is not calibrated. A customer can imitate the pattern, so independent confirmation remains necessary. Search state includes arrival event/time, chain and asset rather than a single visited flag per address. “Nearest” means fewest recorded transfer steps within the acquired snapshot and stated limits. The existing Bitcoin parser follows spent output links; guarded common-input/change/peel-chain expansion is a proposed extension [4], with CoinJoin and ambiguous-change handling required. No claim of exact victim-unit allocation through mixed balances. Unsupported cross-chain movements remain gaps; the existing limited CCTP proof scope is distinct from this account-based reference.</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Source template: user-supplied SIH2026-IDEA-Presentation-Format (10).pptx. Screenshot: actual TraceSetu UI, captured 26 September 2026, unchanged investigation design verified against current code. Synthetic training case, not a live attribution result. Public repository verified anonymously on 30 September 2026. Complete current work is on product/live-foundation; main preserves the published MVP.</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Implemented read-only parsers: Bitcoin, Ethereum, BNB Chain, Polygon, Tron and Solana. Access and live coverage vary. A bounded public Bitcoin check returned no established VASP. Production evaluation, label coverage and official SAHYOG connectivity remain open. In-app requests export as NOT_SENT. Guards hold unsupported mixer and cross-chain paths. The limited CCTP proof workflow covers reviewed V2 native USDC Ethereum/Polygon training proofs.</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Primary links:</a:t>
            </a:r>
          </a:p>
          <a:p>
            <a:pPr eaLnBrk="1" hangingPunct="1" algn="l">
              <a:spcBef>
                <a:spcPts val="0"/>
              </a:spcBef>
              <a:spcAft>
                <a:spcPts val="0"/>
              </a:spcAft>
            </a:pPr>
            <a:r>
              <a:rPr lang="en-US">
                <a:ea typeface="ＭＳ Ｐゴシック" pitchFamily="1" charset="-128"/>
              </a:rPr>
              <a:t>https://fc20.ifca.ai/preproceedings/31.pdf</a:t>
            </a:r>
          </a:p>
          <a:p>
            <a:pPr eaLnBrk="1" hangingPunct="1" algn="l">
              <a:spcBef>
                <a:spcPts val="0"/>
              </a:spcBef>
              <a:spcAft>
                <a:spcPts val="0"/>
              </a:spcAft>
            </a:pPr>
            <a:r>
              <a:rPr lang="en-US">
                <a:ea typeface="ＭＳ Ｐゴシック" pitchFamily="1" charset="-128"/>
              </a:rPr>
              <a:t>https://doi.org/10.1002/nem.2325</a:t>
            </a:r>
          </a:p>
          <a:p>
            <a:pPr eaLnBrk="1" hangingPunct="1" algn="l">
              <a:spcBef>
                <a:spcPts val="0"/>
              </a:spcBef>
              <a:spcAft>
                <a:spcPts val="0"/>
              </a:spcAft>
            </a:pPr>
            <a:r>
              <a:rPr lang="en-US">
                <a:ea typeface="ＭＳ Ｐゴシック" pitchFamily="1" charset="-128"/>
              </a:rPr>
              <a:t>https://www.vldb.org/pvldb/vol7/p721-wu.pdf</a:t>
            </a:r>
          </a:p>
          <a:p>
            <a:pPr eaLnBrk="1" hangingPunct="1" algn="l">
              <a:spcBef>
                <a:spcPts val="0"/>
              </a:spcBef>
              <a:spcAft>
                <a:spcPts val="0"/>
              </a:spcAft>
            </a:pPr>
            <a:r>
              <a:rPr lang="en-US">
                <a:ea typeface="ＭＳ Ｐゴシック" pitchFamily="1" charset="-128"/>
              </a:rPr>
              <a:t>https://www.usenix.org/system/files/sec22-kappos.pdf</a:t>
            </a:r>
          </a:p>
          <a:p>
            <a:pPr eaLnBrk="1" hangingPunct="1" algn="l">
              <a:spcBef>
                <a:spcPts val="0"/>
              </a:spcBef>
              <a:spcAft>
                <a:spcPts val="0"/>
              </a:spcAft>
            </a:pPr>
            <a:r>
              <a:rPr lang="en-US">
                <a:ea typeface="ＭＳ Ｐゴシック" pitchFamily="1" charset="-128"/>
              </a:rPr>
              <a:t>https://www.usenix.org/system/files/usenixsecurity25-lubbertsen.pdf</a:t>
            </a:r>
          </a:p>
          <a:p>
            <a:pPr eaLnBrk="1" hangingPunct="1" algn="l">
              <a:spcBef>
                <a:spcPts val="0"/>
              </a:spcBef>
              <a:spcAft>
                <a:spcPts val="0"/>
              </a:spcAft>
            </a:pPr>
            <a:r>
              <a:rPr lang="en-US">
                <a:ea typeface="ＭＳ Ｐゴシック" pitchFamily="1" charset="-128"/>
              </a:rPr>
              <a:t>Repository: https://github.com/notvinayaks/TraceSetu/tree/product/live-foundation</a:t>
            </a:r>
          </a:p>
          <a:p>
            <a:pPr eaLnBrk="1" hangingPunct="1" algn="l">
              <a:spcBef>
                <a:spcPts val="0"/>
              </a:spcBef>
              <a:spcAft>
                <a:spcPts val="0"/>
              </a:spcAft>
            </a:pPr>
            <a:r>
              <a:rPr lang="en-US">
                <a:ea typeface="ＭＳ Ｐゴシック" pitchFamily="1" charset="-128"/>
              </a:rPr>
              <a:t>Prototype video supplied by team: https://www.youtube.com/watch?v=V_qB6dL934w</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 FEASIBILITY AND VIABILITY</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**WORKING PROTOTYPE**  </a:t>
            </a:r>
          </a:p>
          <a:p>
            <a:pPr eaLnBrk="1" hangingPunct="1" algn="l">
              <a:spcBef>
                <a:spcPts val="0"/>
              </a:spcBef>
              <a:spcAft>
                <a:spcPts val="0"/>
              </a:spcAft>
            </a:pPr>
            <a:r>
              <a:rPr lang="en-US">
                <a:ea typeface="ＭＳ Ｐゴシック" pitchFamily="1" charset="-128"/>
              </a:rPr>
              <a:t>Case workspace, transfer graph, source challenge, query budgets and signed evidence export.</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**METHOD CHECK**  </a:t>
            </a:r>
          </a:p>
          <a:p>
            <a:pPr eaLnBrk="1" hangingPunct="1" algn="l">
              <a:spcBef>
                <a:spcPts val="0"/>
              </a:spcBef>
              <a:spcAft>
                <a:spcPts val="0"/>
              </a:spcAft>
            </a:pPr>
            <a:r>
              <a:rPr lang="en-US">
                <a:ea typeface="ＭＳ Ｐゴシック" pitchFamily="1" charset="-128"/>
              </a:rPr>
              <a:t>64 synthetic reference tests passed. Deposit inference is separate from the MVP; independent live accuracy is not established.</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**PRACTICAL BUILD**  </a:t>
            </a:r>
          </a:p>
          <a:p>
            <a:pPr eaLnBrk="1" hangingPunct="1" algn="l">
              <a:spcBef>
                <a:spcPts val="0"/>
              </a:spcBef>
              <a:spcAft>
                <a:spcPts val="0"/>
              </a:spcAft>
            </a:pPr>
            <a:r>
              <a:rPr lang="en-US">
                <a:ea typeface="ＭＳ Ｐゴシック" pitchFamily="1" charset="-128"/>
              </a:rPr>
              <a:t>Public/free API approach. Six read-only chain adapters; access and coverage vary.</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**KEY RISK → CONTROL**  </a:t>
            </a:r>
          </a:p>
          <a:p>
            <a:pPr eaLnBrk="1" hangingPunct="1" algn="l">
              <a:spcBef>
                <a:spcPts val="0"/>
              </a:spcBef>
              <a:spcAft>
                <a:spcPts val="0"/>
              </a:spcAft>
            </a:pPr>
            <a:r>
              <a:rPr lang="en-US">
                <a:ea typeface="ＭＳ Ｐゴシック" pitchFamily="1" charset="-128"/>
              </a:rPr>
              <a:t>A customer can imitate a deposit pattern → retain a hypothesis and seek confirmation.</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Screenshot: use the current prototype, not a mock-up. Caption according to the actual capture: “Current TraceSetu prototype — synthetic training case” or “Current TraceSetu prototype — bounded public Bitcoin sample; no VASP established.”</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Presenter notes: Six parsers/adapters cover Bitcoin, Ethereum, BNB Chain, Polygon, Tron and Solana; this is not six-chain live attribution validation. A recorded bounded Bitcoin check returned two transactions and three outputs and no VASP. The existing published MVP recorded 116 backend tests plus browser checks. The isolated detector has 64 functional/adversarial synthetic checks, not 64 real investigations or an accuracy percentage. Public APIs lower initial entry cost but quotas, indexing and data licences limit production use. Missing pages, conflicting labels, unknown token semantics and incomplete receipts cause an unresolved result. Service records or authorised deposits are needed for independent truth. Official SAHYOG API access is pending; current exports are NOT_SENT. Production hosting, security/load evaluation and governance remain separate work.</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Source template: user-supplied SIH2026-IDEA-Presentation-Format (10).pptx. Screenshot: actual TraceSetu UI, captured 26 September 2026, unchanged investigation design verified against current code. Synthetic training case, not a live attribution result. Public repository verified anonymously on 30 September 2026. Complete current work is on product/live-foundation; main preserves the published MVP.</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Implemented read-only parsers: Bitcoin, Ethereum, BNB Chain, Polygon, Tron and Solana. Access and live coverage vary. A bounded public Bitcoin check returned no established VASP. Production evaluation, label coverage and official SAHYOG connectivity remain open. In-app requests export as NOT_SENT. Guards hold unsupported mixer and cross-chain paths. The limited CCTP proof workflow covers reviewed V2 native USDC Ethereum/Polygon training proofs.</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Primary links:</a:t>
            </a:r>
          </a:p>
          <a:p>
            <a:pPr eaLnBrk="1" hangingPunct="1" algn="l">
              <a:spcBef>
                <a:spcPts val="0"/>
              </a:spcBef>
              <a:spcAft>
                <a:spcPts val="0"/>
              </a:spcAft>
            </a:pPr>
            <a:r>
              <a:rPr lang="en-US">
                <a:ea typeface="ＭＳ Ｐゴシック" pitchFamily="1" charset="-128"/>
              </a:rPr>
              <a:t>https://fc20.ifca.ai/preproceedings/31.pdf</a:t>
            </a:r>
          </a:p>
          <a:p>
            <a:pPr eaLnBrk="1" hangingPunct="1" algn="l">
              <a:spcBef>
                <a:spcPts val="0"/>
              </a:spcBef>
              <a:spcAft>
                <a:spcPts val="0"/>
              </a:spcAft>
            </a:pPr>
            <a:r>
              <a:rPr lang="en-US">
                <a:ea typeface="ＭＳ Ｐゴシック" pitchFamily="1" charset="-128"/>
              </a:rPr>
              <a:t>https://doi.org/10.1002/nem.2325</a:t>
            </a:r>
          </a:p>
          <a:p>
            <a:pPr eaLnBrk="1" hangingPunct="1" algn="l">
              <a:spcBef>
                <a:spcPts val="0"/>
              </a:spcBef>
              <a:spcAft>
                <a:spcPts val="0"/>
              </a:spcAft>
            </a:pPr>
            <a:r>
              <a:rPr lang="en-US">
                <a:ea typeface="ＭＳ Ｐゴシック" pitchFamily="1" charset="-128"/>
              </a:rPr>
              <a:t>https://www.vldb.org/pvldb/vol7/p721-wu.pdf</a:t>
            </a:r>
          </a:p>
          <a:p>
            <a:pPr eaLnBrk="1" hangingPunct="1" algn="l">
              <a:spcBef>
                <a:spcPts val="0"/>
              </a:spcBef>
              <a:spcAft>
                <a:spcPts val="0"/>
              </a:spcAft>
            </a:pPr>
            <a:r>
              <a:rPr lang="en-US">
                <a:ea typeface="ＭＳ Ｐゴシック" pitchFamily="1" charset="-128"/>
              </a:rPr>
              <a:t>https://www.usenix.org/system/files/sec22-kappos.pdf</a:t>
            </a:r>
          </a:p>
          <a:p>
            <a:pPr eaLnBrk="1" hangingPunct="1" algn="l">
              <a:spcBef>
                <a:spcPts val="0"/>
              </a:spcBef>
              <a:spcAft>
                <a:spcPts val="0"/>
              </a:spcAft>
            </a:pPr>
            <a:r>
              <a:rPr lang="en-US">
                <a:ea typeface="ＭＳ Ｐゴシック" pitchFamily="1" charset="-128"/>
              </a:rPr>
              <a:t>https://www.usenix.org/system/files/usenixsecurity25-lubbertsen.pdf</a:t>
            </a:r>
          </a:p>
          <a:p>
            <a:pPr eaLnBrk="1" hangingPunct="1" algn="l">
              <a:spcBef>
                <a:spcPts val="0"/>
              </a:spcBef>
              <a:spcAft>
                <a:spcPts val="0"/>
              </a:spcAft>
            </a:pPr>
            <a:r>
              <a:rPr lang="en-US">
                <a:ea typeface="ＭＳ Ｐゴシック" pitchFamily="1" charset="-128"/>
              </a:rPr>
              <a:t>Repository: https://github.com/notvinayaks/TraceSetu/tree/product/live-foundation</a:t>
            </a:r>
          </a:p>
          <a:p>
            <a:pPr eaLnBrk="1" hangingPunct="1" algn="l">
              <a:spcBef>
                <a:spcPts val="0"/>
              </a:spcBef>
              <a:spcAft>
                <a:spcPts val="0"/>
              </a:spcAft>
            </a:pPr>
            <a:r>
              <a:rPr lang="en-US">
                <a:ea typeface="ＭＳ Ｐゴシック" pitchFamily="1" charset="-128"/>
              </a:rPr>
              <a:t>Prototype video supplied by team: https://www.youtube.com/watch?v=V_qB6dL934w</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 IMPACT AND BENEFITS</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**FOR INVESTIGATORS**  </a:t>
            </a:r>
          </a:p>
          <a:p>
            <a:pPr eaLnBrk="1" hangingPunct="1" algn="l">
              <a:spcBef>
                <a:spcPts val="0"/>
              </a:spcBef>
              <a:spcAft>
                <a:spcPts val="0"/>
              </a:spcAft>
            </a:pPr>
            <a:r>
              <a:rPr lang="en-US">
                <a:ea typeface="ＭＳ Ｐゴシック" pitchFamily="1" charset="-128"/>
              </a:rPr>
              <a:t>One case view of the receiving-service lead, transaction path and missing evidence.</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**FOR REVIEWERS**  </a:t>
            </a:r>
          </a:p>
          <a:p>
            <a:pPr eaLnBrk="1" hangingPunct="1" algn="l">
              <a:spcBef>
                <a:spcPts val="0"/>
              </a:spcBef>
              <a:spcAft>
                <a:spcPts val="0"/>
              </a:spcAft>
            </a:pPr>
            <a:r>
              <a:rPr lang="en-US">
                <a:ea typeface="ＭＳ Ｐゴシック" pitchFamily="1" charset="-128"/>
              </a:rPr>
              <a:t>Remove a disputed source and recompute. Preserve the earlier result and its reasons.</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**FOR THE NEXT ACTION**  </a:t>
            </a:r>
          </a:p>
          <a:p>
            <a:pPr eaLnBrk="1" hangingPunct="1" algn="l">
              <a:spcBef>
                <a:spcPts val="0"/>
              </a:spcBef>
              <a:spcAft>
                <a:spcPts val="0"/>
              </a:spcAft>
            </a:pPr>
            <a:r>
              <a:rPr lang="en-US">
                <a:ea typeface="ＭＳ Ｐゴシック" pitchFamily="1" charset="-128"/>
              </a:rPr>
              <a:t>Prioritise evidence that could change the answer; prepare a request for a verified recipient.</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**HOW WE WILL MEASURE VALUE [5]**  </a:t>
            </a:r>
          </a:p>
          <a:p>
            <a:pPr eaLnBrk="1" hangingPunct="1" algn="l">
              <a:spcBef>
                <a:spcPts val="0"/>
              </a:spcBef>
              <a:spcAft>
                <a:spcPts val="0"/>
              </a:spcAft>
            </a:pPr>
            <a:r>
              <a:rPr lang="en-US">
                <a:ea typeface="ＭＳ Ｐゴシック" pitchFamily="1" charset="-128"/>
              </a:rPr>
              <a:t>Compare against label-only tracing: deposit-role precision, answer coverage, false links, API calls and officer review time.</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**Goal: less manual tracing, better-supported requests. Savings remain to be measured.**</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Presenter notes: Our proposed differentiation is the integrated decision workflow: find a possible earlier custody boundary, expose the evidence gap, challenge a source without rewriting history, then spend the next query on what could resolve that gap. Graphs, multi-chain tracing, risk scores and PDF reports already exist in competing systems; they are not novel by themselves. Evaluate held-out service-confirmed deposits and ordinary customer addresses, freeze evidence at a historical cutoff and keep source families separate so ground truth is independent. Do not promise recovery: the VASP receives and acts on a lawful request, and assets may no longer remain there. The complete intended system also includes role-specific labels, mixer/bridge visibility limits, verified cross-chain links, risk alerts and authorised SAHYOG connectivity; these are not all production-complete.</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Source template: user-supplied SIH2026-IDEA-Presentation-Format (10).pptx. Screenshot: actual TraceSetu UI, captured 26 September 2026, unchanged investigation design verified against current code. Synthetic training case, not a live attribution result. Public repository verified anonymously on 30 September 2026. Complete current work is on product/live-foundation; main preserves the published MVP.</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Implemented read-only parsers: Bitcoin, Ethereum, BNB Chain, Polygon, Tron and Solana. Access and live coverage vary. A bounded public Bitcoin check returned no established VASP. Production evaluation, label coverage and official SAHYOG connectivity remain open. In-app requests export as NOT_SENT. Guards hold unsupported mixer and cross-chain paths. The limited CCTP proof workflow covers reviewed V2 native USDC Ethereum/Polygon training proofs.</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Primary links:</a:t>
            </a:r>
          </a:p>
          <a:p>
            <a:pPr eaLnBrk="1" hangingPunct="1" algn="l">
              <a:spcBef>
                <a:spcPts val="0"/>
              </a:spcBef>
              <a:spcAft>
                <a:spcPts val="0"/>
              </a:spcAft>
            </a:pPr>
            <a:r>
              <a:rPr lang="en-US">
                <a:ea typeface="ＭＳ Ｐゴシック" pitchFamily="1" charset="-128"/>
              </a:rPr>
              <a:t>https://fc20.ifca.ai/preproceedings/31.pdf</a:t>
            </a:r>
          </a:p>
          <a:p>
            <a:pPr eaLnBrk="1" hangingPunct="1" algn="l">
              <a:spcBef>
                <a:spcPts val="0"/>
              </a:spcBef>
              <a:spcAft>
                <a:spcPts val="0"/>
              </a:spcAft>
            </a:pPr>
            <a:r>
              <a:rPr lang="en-US">
                <a:ea typeface="ＭＳ Ｐゴシック" pitchFamily="1" charset="-128"/>
              </a:rPr>
              <a:t>https://doi.org/10.1002/nem.2325</a:t>
            </a:r>
          </a:p>
          <a:p>
            <a:pPr eaLnBrk="1" hangingPunct="1" algn="l">
              <a:spcBef>
                <a:spcPts val="0"/>
              </a:spcBef>
              <a:spcAft>
                <a:spcPts val="0"/>
              </a:spcAft>
            </a:pPr>
            <a:r>
              <a:rPr lang="en-US">
                <a:ea typeface="ＭＳ Ｐゴシック" pitchFamily="1" charset="-128"/>
              </a:rPr>
              <a:t>https://www.vldb.org/pvldb/vol7/p721-wu.pdf</a:t>
            </a:r>
          </a:p>
          <a:p>
            <a:pPr eaLnBrk="1" hangingPunct="1" algn="l">
              <a:spcBef>
                <a:spcPts val="0"/>
              </a:spcBef>
              <a:spcAft>
                <a:spcPts val="0"/>
              </a:spcAft>
            </a:pPr>
            <a:r>
              <a:rPr lang="en-US">
                <a:ea typeface="ＭＳ Ｐゴシック" pitchFamily="1" charset="-128"/>
              </a:rPr>
              <a:t>https://www.usenix.org/system/files/sec22-kappos.pdf</a:t>
            </a:r>
          </a:p>
          <a:p>
            <a:pPr eaLnBrk="1" hangingPunct="1" algn="l">
              <a:spcBef>
                <a:spcPts val="0"/>
              </a:spcBef>
              <a:spcAft>
                <a:spcPts val="0"/>
              </a:spcAft>
            </a:pPr>
            <a:r>
              <a:rPr lang="en-US">
                <a:ea typeface="ＭＳ Ｐゴシック" pitchFamily="1" charset="-128"/>
              </a:rPr>
              <a:t>https://www.usenix.org/system/files/usenixsecurity25-lubbertsen.pdf</a:t>
            </a:r>
          </a:p>
          <a:p>
            <a:pPr eaLnBrk="1" hangingPunct="1" algn="l">
              <a:spcBef>
                <a:spcPts val="0"/>
              </a:spcBef>
              <a:spcAft>
                <a:spcPts val="0"/>
              </a:spcAft>
            </a:pPr>
            <a:r>
              <a:rPr lang="en-US">
                <a:ea typeface="ＭＳ Ｐゴシック" pitchFamily="1" charset="-128"/>
              </a:rPr>
              <a:t>Repository: https://github.com/notvinayaks/TraceSetu/tree/product/live-foundation</a:t>
            </a:r>
          </a:p>
          <a:p>
            <a:pPr eaLnBrk="1" hangingPunct="1" algn="l">
              <a:spcBef>
                <a:spcPts val="0"/>
              </a:spcBef>
              <a:spcAft>
                <a:spcPts val="0"/>
              </a:spcAft>
            </a:pPr>
            <a:r>
              <a:rPr lang="en-US">
                <a:ea typeface="ＭＳ Ｐゴシック" pitchFamily="1" charset="-128"/>
              </a:rPr>
              <a:t>Prototype video supplied by team: https://www.youtube.com/watch?v=V_qB6dL934w</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 RESEARCH AND REFERENCES</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**METHOD → SOURCE**</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1. Deposit-address inference — Victor, FC 2020.</a:t>
            </a:r>
          </a:p>
          <a:p>
            <a:pPr eaLnBrk="1" hangingPunct="1" algn="l">
              <a:spcBef>
                <a:spcPts val="0"/>
              </a:spcBef>
              <a:spcAft>
                <a:spcPts val="0"/>
              </a:spcAft>
            </a:pPr>
            <a:r>
              <a:rPr lang="en-US">
                <a:ea typeface="ＭＳ Ｐゴシック" pitchFamily="1" charset="-128"/>
              </a:rPr>
              <a:t>2. Service fee funding and collection — Brechlin et al., 2025.</a:t>
            </a:r>
          </a:p>
          <a:p>
            <a:pPr eaLnBrk="1" hangingPunct="1" algn="l">
              <a:spcBef>
                <a:spcPts val="0"/>
              </a:spcBef>
              <a:spcAft>
                <a:spcPts val="0"/>
              </a:spcAft>
            </a:pPr>
            <a:r>
              <a:rPr lang="en-US">
                <a:ea typeface="ＭＳ Ｐゴシック" pitchFamily="1" charset="-128"/>
              </a:rPr>
              <a:t>3. Time-respecting graph paths — Wu et al., PVLDB 2014.</a:t>
            </a:r>
          </a:p>
          <a:p>
            <a:pPr eaLnBrk="1" hangingPunct="1" algn="l">
              <a:spcBef>
                <a:spcPts val="0"/>
              </a:spcBef>
              <a:spcAft>
                <a:spcPts val="0"/>
              </a:spcAft>
            </a:pPr>
            <a:r>
              <a:rPr lang="en-US">
                <a:ea typeface="ＭＳ Ｐゴシック" pitchFamily="1" charset="-128"/>
              </a:rPr>
              <a:t>4. Guarded Bitcoin clustering — Kappos et al., USENIX 2022.</a:t>
            </a:r>
          </a:p>
          <a:p>
            <a:pPr eaLnBrk="1" hangingPunct="1" algn="l">
              <a:spcBef>
                <a:spcPts val="0"/>
              </a:spcBef>
              <a:spcAft>
                <a:spcPts val="0"/>
              </a:spcAft>
            </a:pPr>
            <a:r>
              <a:rPr lang="en-US">
                <a:ea typeface="ＭＳ Ｐゴシック" pitchFamily="1" charset="-128"/>
              </a:rPr>
              <a:t>5. Independent attribution evaluation — Lubbertsen et al., USENIX 2025.</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**PROJECT RESOURCES**  </a:t>
            </a:r>
          </a:p>
          <a:p>
            <a:pPr eaLnBrk="1" hangingPunct="1" algn="l">
              <a:spcBef>
                <a:spcPts val="0"/>
              </a:spcBef>
              <a:spcAft>
                <a:spcPts val="0"/>
              </a:spcAft>
            </a:pPr>
            <a:r>
              <a:rPr lang="en-US">
                <a:ea typeface="ＭＳ Ｐゴシック" pitchFamily="1" charset="-128"/>
              </a:rPr>
              <a:t>**Source code + research** · **Prototype walkthrough**</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Published research motivates the method. Our synthetic tests verify rule behaviour, not real-world accuracy.</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Hyperlink targets:</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 [1] https://fc20.ifca.ai/preproceedings/31.pdf</a:t>
            </a:r>
          </a:p>
          <a:p>
            <a:pPr eaLnBrk="1" hangingPunct="1" algn="l">
              <a:spcBef>
                <a:spcPts val="0"/>
              </a:spcBef>
              <a:spcAft>
                <a:spcPts val="0"/>
              </a:spcAft>
            </a:pPr>
            <a:r>
              <a:rPr lang="en-US">
                <a:ea typeface="ＭＳ Ｐゴシック" pitchFamily="1" charset="-128"/>
              </a:rPr>
              <a:t>- [2] https://doi.org/10.1002/nem.2325</a:t>
            </a:r>
          </a:p>
          <a:p>
            <a:pPr eaLnBrk="1" hangingPunct="1" algn="l">
              <a:spcBef>
                <a:spcPts val="0"/>
              </a:spcBef>
              <a:spcAft>
                <a:spcPts val="0"/>
              </a:spcAft>
            </a:pPr>
            <a:r>
              <a:rPr lang="en-US">
                <a:ea typeface="ＭＳ Ｐゴシック" pitchFamily="1" charset="-128"/>
              </a:rPr>
              <a:t>- [3] https://www.vldb.org/pvldb/vol7/p721-wu.pdf</a:t>
            </a:r>
          </a:p>
          <a:p>
            <a:pPr eaLnBrk="1" hangingPunct="1" algn="l">
              <a:spcBef>
                <a:spcPts val="0"/>
              </a:spcBef>
              <a:spcAft>
                <a:spcPts val="0"/>
              </a:spcAft>
            </a:pPr>
            <a:r>
              <a:rPr lang="en-US">
                <a:ea typeface="ＭＳ Ｐゴシック" pitchFamily="1" charset="-128"/>
              </a:rPr>
              <a:t>- [4] https://www.usenix.org/system/files/sec22-kappos.pdf</a:t>
            </a:r>
          </a:p>
          <a:p>
            <a:pPr eaLnBrk="1" hangingPunct="1" algn="l">
              <a:spcBef>
                <a:spcPts val="0"/>
              </a:spcBef>
              <a:spcAft>
                <a:spcPts val="0"/>
              </a:spcAft>
            </a:pPr>
            <a:r>
              <a:rPr lang="en-US">
                <a:ea typeface="ＭＳ Ｐゴシック" pitchFamily="1" charset="-128"/>
              </a:rPr>
              <a:t>- [5] https://www.usenix.org/system/files/usenixsecurity25-lubbertsen.pdf</a:t>
            </a:r>
          </a:p>
          <a:p>
            <a:pPr eaLnBrk="1" hangingPunct="1" algn="l">
              <a:spcBef>
                <a:spcPts val="0"/>
              </a:spcBef>
              <a:spcAft>
                <a:spcPts val="0"/>
              </a:spcAft>
            </a:pPr>
            <a:r>
              <a:rPr lang="en-US">
                <a:ea typeface="ＭＳ Ｐゴシック" pitchFamily="1" charset="-128"/>
              </a:rPr>
              <a:t>- Source code + research: https://github.com/notvinayaks/TraceSetu/tree/product/live-foundation</a:t>
            </a:r>
          </a:p>
          <a:p>
            <a:pPr eaLnBrk="1" hangingPunct="1" algn="l">
              <a:spcBef>
                <a:spcPts val="0"/>
              </a:spcBef>
              <a:spcAft>
                <a:spcPts val="0"/>
              </a:spcAft>
            </a:pPr>
            <a:r>
              <a:rPr lang="en-US">
                <a:ea typeface="ＭＳ Ｐゴシック" pitchFamily="1" charset="-128"/>
              </a:rPr>
              <a:t>- Prototype walkthrough (team-supplied): https://www.youtube.com/watch?v=V_qB6dL934w</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Presenter notes: Do not inherit reported performance from any paper. Victor gives historical exchange-seeded account clustering with false positives. Brechlin describes one service, not a universal pattern. Wu supplies temporal-path foundations; our transfer-hop objective is an adaptation. Kappos supports a proposed Bitcoin extension rather than implemented reference scope. Ghost Clusters motivates independent role-specific evaluation. Additional complete references, assumptions, tests and the paper are in the repository research folder. Make the resource labels clickable in both PPT and exported PDF. The product branch contains current research/foundation; main preserves the working MVP. Only label the repository public after anonymous access is verified. The existing video demonstrates the earlier prototype; do not describe it as a live demonstration of the new detector.</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Source template: user-supplied SIH2026-IDEA-Presentation-Format (10).pptx. Screenshot: actual TraceSetu UI, captured 26 September 2026, unchanged investigation design verified against current code. Synthetic training case, not a live attribution result. Public repository verified anonymously on 30 September 2026. Complete current work is on product/live-foundation; main preserves the published MVP.</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Implemented read-only parsers: Bitcoin, Ethereum, BNB Chain, Polygon, Tron and Solana. Access and live coverage vary. A bounded public Bitcoin check returned no established VASP. Production evaluation, label coverage and official SAHYOG connectivity remain open. In-app requests export as NOT_SENT. Guards hold unsupported mixer and cross-chain paths. The limited CCTP proof workflow covers reviewed V2 native USDC Ethereum/Polygon training proofs.</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Primary links:</a:t>
            </a:r>
          </a:p>
          <a:p>
            <a:pPr eaLnBrk="1" hangingPunct="1" algn="l">
              <a:spcBef>
                <a:spcPts val="0"/>
              </a:spcBef>
              <a:spcAft>
                <a:spcPts val="0"/>
              </a:spcAft>
            </a:pPr>
            <a:r>
              <a:rPr lang="en-US">
                <a:ea typeface="ＭＳ Ｐゴシック" pitchFamily="1" charset="-128"/>
              </a:rPr>
              <a:t>https://fc20.ifca.ai/preproceedings/31.pdf</a:t>
            </a:r>
          </a:p>
          <a:p>
            <a:pPr eaLnBrk="1" hangingPunct="1" algn="l">
              <a:spcBef>
                <a:spcPts val="0"/>
              </a:spcBef>
              <a:spcAft>
                <a:spcPts val="0"/>
              </a:spcAft>
            </a:pPr>
            <a:r>
              <a:rPr lang="en-US">
                <a:ea typeface="ＭＳ Ｐゴシック" pitchFamily="1" charset="-128"/>
              </a:rPr>
              <a:t>https://doi.org/10.1002/nem.2325</a:t>
            </a:r>
          </a:p>
          <a:p>
            <a:pPr eaLnBrk="1" hangingPunct="1" algn="l">
              <a:spcBef>
                <a:spcPts val="0"/>
              </a:spcBef>
              <a:spcAft>
                <a:spcPts val="0"/>
              </a:spcAft>
            </a:pPr>
            <a:r>
              <a:rPr lang="en-US">
                <a:ea typeface="ＭＳ Ｐゴシック" pitchFamily="1" charset="-128"/>
              </a:rPr>
              <a:t>https://www.vldb.org/pvldb/vol7/p721-wu.pdf</a:t>
            </a:r>
          </a:p>
          <a:p>
            <a:pPr eaLnBrk="1" hangingPunct="1" algn="l">
              <a:spcBef>
                <a:spcPts val="0"/>
              </a:spcBef>
              <a:spcAft>
                <a:spcPts val="0"/>
              </a:spcAft>
            </a:pPr>
            <a:r>
              <a:rPr lang="en-US">
                <a:ea typeface="ＭＳ Ｐゴシック" pitchFamily="1" charset="-128"/>
              </a:rPr>
              <a:t>https://www.usenix.org/system/files/sec22-kappos.pdf</a:t>
            </a:r>
          </a:p>
          <a:p>
            <a:pPr eaLnBrk="1" hangingPunct="1" algn="l">
              <a:spcBef>
                <a:spcPts val="0"/>
              </a:spcBef>
              <a:spcAft>
                <a:spcPts val="0"/>
              </a:spcAft>
            </a:pPr>
            <a:r>
              <a:rPr lang="en-US">
                <a:ea typeface="ＭＳ Ｐゴシック" pitchFamily="1" charset="-128"/>
              </a:rPr>
              <a:t>https://www.usenix.org/system/files/usenixsecurity25-lubbertsen.pdf</a:t>
            </a:r>
          </a:p>
          <a:p>
            <a:pPr eaLnBrk="1" hangingPunct="1" algn="l">
              <a:spcBef>
                <a:spcPts val="0"/>
              </a:spcBef>
              <a:spcAft>
                <a:spcPts val="0"/>
              </a:spcAft>
            </a:pPr>
            <a:r>
              <a:rPr lang="en-US">
                <a:ea typeface="ＭＳ Ｐゴシック" pitchFamily="1" charset="-128"/>
              </a:rPr>
              <a:t>Repository: https://github.com/notvinayaks/TraceSetu/tree/product/live-foundation</a:t>
            </a:r>
          </a:p>
          <a:p>
            <a:pPr eaLnBrk="1" hangingPunct="1" algn="l">
              <a:spcBef>
                <a:spcPts val="0"/>
              </a:spcBef>
              <a:spcAft>
                <a:spcPts val="0"/>
              </a:spcAft>
            </a:pPr>
            <a:r>
              <a:rPr lang="en-US">
                <a:ea typeface="ＭＳ Ｐゴシック" pitchFamily="1" charset="-128"/>
              </a:rPr>
              <a:t>Prototype video supplied by team: https://www.youtube.com/watch?v=V_qB6dL934w</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traceNotes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 title page</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**TRACESETU**</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Problem Statement ID – PS26182  </a:t>
            </a:r>
          </a:p>
          <a:p>
            <a:pPr eaLnBrk="1" hangingPunct="1" algn="l">
              <a:spcBef>
                <a:spcPts val="0"/>
              </a:spcBef>
              <a:spcAft>
                <a:spcPts val="0"/>
              </a:spcAft>
            </a:pPr>
            <a:r>
              <a:rPr lang="en-US">
                <a:ea typeface="ＭＳ Ｐゴシック" pitchFamily="1" charset="-128"/>
              </a:rPr>
              <a:t>Problem Statement Title – Automated Attribution of Unknown Cryptocurrency Wallets to Nearest Virtual Asset Service Providers (VASPs) through Blockchain Intelligence APIs  </a:t>
            </a:r>
          </a:p>
          <a:p>
            <a:pPr eaLnBrk="1" hangingPunct="1" algn="l">
              <a:spcBef>
                <a:spcPts val="0"/>
              </a:spcBef>
              <a:spcAft>
                <a:spcPts val="0"/>
              </a:spcAft>
            </a:pPr>
            <a:r>
              <a:rPr lang="en-US">
                <a:ea typeface="ＭＳ Ｐゴシック" pitchFamily="1" charset="-128"/>
              </a:rPr>
              <a:t>Theme – Blockchain &amp; Cybersecurity  </a:t>
            </a:r>
          </a:p>
          <a:p>
            <a:pPr eaLnBrk="1" hangingPunct="1" algn="l">
              <a:spcBef>
                <a:spcPts val="0"/>
              </a:spcBef>
              <a:spcAft>
                <a:spcPts val="0"/>
              </a:spcAft>
            </a:pPr>
            <a:r>
              <a:rPr lang="en-US">
                <a:ea typeface="ＭＳ Ｐゴシック" pitchFamily="1" charset="-128"/>
              </a:rPr>
              <a:t>PS Category – Software  </a:t>
            </a:r>
          </a:p>
          <a:p>
            <a:pPr eaLnBrk="1" hangingPunct="1" algn="l">
              <a:spcBef>
                <a:spcPts val="0"/>
              </a:spcBef>
              <a:spcAft>
                <a:spcPts val="0"/>
              </a:spcAft>
            </a:pPr>
            <a:r>
              <a:rPr lang="en-US">
                <a:ea typeface="ＭＳ Ｐゴシック" pitchFamily="1" charset="-128"/>
              </a:rPr>
              <a:t>Team ID – 170835  </a:t>
            </a:r>
          </a:p>
          <a:p>
            <a:pPr eaLnBrk="1" hangingPunct="1" algn="l">
              <a:spcBef>
                <a:spcPts val="0"/>
              </a:spcBef>
              <a:spcAft>
                <a:spcPts val="0"/>
              </a:spcAft>
            </a:pPr>
            <a:r>
              <a:rPr lang="en-US">
                <a:ea typeface="ＭＳ Ｐゴシック" pitchFamily="1" charset="-128"/>
              </a:rPr>
              <a:t>Team Name – ANANTHA</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Presenter note: these identifiers come from the team's supplied deck; they have not been independently matched to the official portal. Keep the exact supplied PS title. Do not invent official endorsement.</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Source template: user-supplied SIH2026-IDEA-Presentation-Format (10).pptx. Screenshot: actual TraceSetu UI, captured 26 September 2026, unchanged investigation design verified against current code. Synthetic training case, not a live attribution result. Public repository verified anonymously on 30 September 2026. Complete current work is on product/live-foundation; main preserves the published MVP.</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Implemented read-only parsers: Bitcoin, Ethereum, BNB Chain, Polygon, Tron and Solana. Access and live coverage vary. A bounded public Bitcoin check returned no established VASP. Production evaluation, label coverage and official SAHYOG connectivity remain open. In-app requests export as NOT_SENT. Guards hold unsupported mixer and cross-chain paths. The limited CCTP proof workflow covers reviewed V2 native USDC Ethereum/Polygon training proofs.</a:t>
            </a:r>
          </a:p>
          <a:p>
            <a:pPr eaLnBrk="1" hangingPunct="1" algn="l">
              <a:spcBef>
                <a:spcPts val="0"/>
              </a:spcBef>
              <a:spcAft>
                <a:spcPts val="0"/>
              </a:spcAft>
            </a:pPr>
            <a:r>
              <a:rPr lang="en-US">
                <a:ea typeface="ＭＳ Ｐゴシック" pitchFamily="1" charset="-128"/>
              </a:rPr>
              <a:t/>
            </a:r>
          </a:p>
          <a:p>
            <a:pPr eaLnBrk="1" hangingPunct="1" algn="l">
              <a:spcBef>
                <a:spcPts val="0"/>
              </a:spcBef>
              <a:spcAft>
                <a:spcPts val="0"/>
              </a:spcAft>
            </a:pPr>
            <a:r>
              <a:rPr lang="en-US">
                <a:ea typeface="ＭＳ Ｐゴシック" pitchFamily="1" charset="-128"/>
              </a:rPr>
              <a:t>Primary links:</a:t>
            </a:r>
          </a:p>
          <a:p>
            <a:pPr eaLnBrk="1" hangingPunct="1" algn="l">
              <a:spcBef>
                <a:spcPts val="0"/>
              </a:spcBef>
              <a:spcAft>
                <a:spcPts val="0"/>
              </a:spcAft>
            </a:pPr>
            <a:r>
              <a:rPr lang="en-US">
                <a:ea typeface="ＭＳ Ｐゴシック" pitchFamily="1" charset="-128"/>
              </a:rPr>
              <a:t>https://fc20.ifca.ai/preproceedings/31.pdf</a:t>
            </a:r>
          </a:p>
          <a:p>
            <a:pPr eaLnBrk="1" hangingPunct="1" algn="l">
              <a:spcBef>
                <a:spcPts val="0"/>
              </a:spcBef>
              <a:spcAft>
                <a:spcPts val="0"/>
              </a:spcAft>
            </a:pPr>
            <a:r>
              <a:rPr lang="en-US">
                <a:ea typeface="ＭＳ Ｐゴシック" pitchFamily="1" charset="-128"/>
              </a:rPr>
              <a:t>https://doi.org/10.1002/nem.2325</a:t>
            </a:r>
          </a:p>
          <a:p>
            <a:pPr eaLnBrk="1" hangingPunct="1" algn="l">
              <a:spcBef>
                <a:spcPts val="0"/>
              </a:spcBef>
              <a:spcAft>
                <a:spcPts val="0"/>
              </a:spcAft>
            </a:pPr>
            <a:r>
              <a:rPr lang="en-US">
                <a:ea typeface="ＭＳ Ｐゴシック" pitchFamily="1" charset="-128"/>
              </a:rPr>
              <a:t>https://www.vldb.org/pvldb/vol7/p721-wu.pdf</a:t>
            </a:r>
          </a:p>
          <a:p>
            <a:pPr eaLnBrk="1" hangingPunct="1" algn="l">
              <a:spcBef>
                <a:spcPts val="0"/>
              </a:spcBef>
              <a:spcAft>
                <a:spcPts val="0"/>
              </a:spcAft>
            </a:pPr>
            <a:r>
              <a:rPr lang="en-US">
                <a:ea typeface="ＭＳ Ｐゴシック" pitchFamily="1" charset="-128"/>
              </a:rPr>
              <a:t>https://www.usenix.org/system/files/sec22-kappos.pdf</a:t>
            </a:r>
          </a:p>
          <a:p>
            <a:pPr eaLnBrk="1" hangingPunct="1" algn="l">
              <a:spcBef>
                <a:spcPts val="0"/>
              </a:spcBef>
              <a:spcAft>
                <a:spcPts val="0"/>
              </a:spcAft>
            </a:pPr>
            <a:r>
              <a:rPr lang="en-US">
                <a:ea typeface="ＭＳ Ｐゴシック" pitchFamily="1" charset="-128"/>
              </a:rPr>
              <a:t>https://www.usenix.org/system/files/usenixsecurity25-lubbertsen.pdf</a:t>
            </a:r>
          </a:p>
          <a:p>
            <a:pPr eaLnBrk="1" hangingPunct="1" algn="l">
              <a:spcBef>
                <a:spcPts val="0"/>
              </a:spcBef>
              <a:spcAft>
                <a:spcPts val="0"/>
              </a:spcAft>
            </a:pPr>
            <a:r>
              <a:rPr lang="en-US">
                <a:ea typeface="ＭＳ Ｐゴシック" pitchFamily="1" charset="-128"/>
              </a:rPr>
              <a:t>Repository: https://github.com/notvinayaks/TraceSetu/tree/product/live-foundation</a:t>
            </a:r>
          </a:p>
          <a:p>
            <a:pPr eaLnBrk="1" hangingPunct="1" algn="l">
              <a:spcBef>
                <a:spcPts val="0"/>
              </a:spcBef>
              <a:spcAft>
                <a:spcPts val="0"/>
              </a:spcAft>
            </a:pPr>
            <a:r>
              <a:rPr lang="en-US">
                <a:ea typeface="ＭＳ Ｐゴシック" pitchFamily="1" charset="-128"/>
              </a:rPr>
              <a:t>Prototype video supplied by team: https://www.youtube.com/watch?v=V_qB6dL934w</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8357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TraceNotes" Type="http://schemas.openxmlformats.org/officeDocument/2006/relationships/notesSlide" Target="../notesSlides/traceNotes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Type="http://schemas.openxmlformats.org/officeDocument/2006/relationships/image" Target="../media/tracesetu-screenshot-4-1.png" Id="rIdTraceSetu1"/></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Type="http://schemas.openxmlformats.org/officeDocument/2006/relationships/hyperlink" Target="https://fc20.ifca.ai/preproceedings/31.pdf" TargetMode="External" Id="rIdTraceSetu1"/><Relationship Type="http://schemas.openxmlformats.org/officeDocument/2006/relationships/hyperlink" Target="https://doi.org/10.1002/nem.2325" TargetMode="External" Id="rIdTraceSetu2"/><Relationship Type="http://schemas.openxmlformats.org/officeDocument/2006/relationships/hyperlink" Target="https://www.vldb.org/pvldb/vol7/p721-wu.pdf" TargetMode="External" Id="rIdTraceSetu3"/><Relationship Type="http://schemas.openxmlformats.org/officeDocument/2006/relationships/hyperlink" Target="https://www.usenix.org/system/files/sec22-kappos.pdf" TargetMode="External" Id="rIdTraceSetu4"/><Relationship Type="http://schemas.openxmlformats.org/officeDocument/2006/relationships/hyperlink" Target="https://www.usenix.org/system/files/usenixsecurity25-lubbertsen.pdf" TargetMode="External" Id="rIdTraceSetu5"/><Relationship Type="http://schemas.openxmlformats.org/officeDocument/2006/relationships/hyperlink" Target="https://github.com/notvinayaks/TraceSetu/tree/product/live-foundation" TargetMode="External" Id="rIdTraceSetu6"/><Relationship Type="http://schemas.openxmlformats.org/officeDocument/2006/relationships/hyperlink" Target="https://www.youtube.com/watch?v=V_qB6dL934w" TargetMode="External" Id="rIdTraceSetu7"/><Relationship Type="http://schemas.openxmlformats.org/officeDocument/2006/relationships/hyperlink" Target="https://github.com/notvinayaks/TraceSetu/tree/product/live-foundation" TargetMode="External" Id="rIdTraceSetu8"/><Relationship Type="http://schemas.openxmlformats.org/officeDocument/2006/relationships/hyperlink" Target="https://www.youtube.com/watch?v=V_qB6dL934w" TargetMode="External" Id="rIdTraceSetu9"/></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r>
              <a:rPr lang="en-US" b="1" dirty="0">
                <a:solidFill>
                  <a:schemeClr val="tx1"/>
                </a:solidFill>
                <a:latin typeface="Times New Roman" panose="02020603050405020304" pitchFamily="18" charset="0"/>
                <a:cs typeface="Times New Roman" panose="02020603050405020304" pitchFamily="18" charset="0"/>
              </a:rPr>
              <a:t/>
            </a:r>
          </a:p>
          <a:p>
            <a:r>
              <a:rPr lang="en-US" b="1" dirty="0">
                <a:solidFill>
                  <a:schemeClr val="tx1"/>
                </a:solidFill>
                <a:latin typeface="Times New Roman" panose="02020603050405020304" pitchFamily="18" charset="0"/>
                <a:cs typeface="Times New Roman" panose="02020603050405020304" pitchFamily="18" charset="0"/>
              </a:rPr>
              <a:t>TRACESETU</a:t>
            </a: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Problem Statement ID – PS26182</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Problem Statement Title – Automated Attribution of Unknown Cryptocurrency Wallets to Nearest Virtual Asset Service Providers (VASPs) through Blockchain Intelligence APIs</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Theme – Blockchain &amp; Cybersecurity</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PS Category – Software</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Team ID – 170835</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Team Name – ANANTHA</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p>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TRACESETU</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cxnSp>
        <p:nvCxnSpPr>
          <p:cNvPr id="15362" name="tsf_14"/>
          <p:cNvCxnSpPr>
            <a:stCxn id="15374" idx="2"/>
            <a:endCxn id="15375" idx="0"/>
          </p:cNvCxnSpPr>
          <p:nvPr/>
        </p:nvCxnSpPr>
        <p:spPr>
          <a:xfrm>
            <a:off x="9544050" y="4648200"/>
            <a:ext cx="0" cy="400050"/>
          </a:xfrm>
          <a:prstGeom prst="straightConnector1">
            <a:avLst/>
          </a:prstGeom>
          <a:ln w="19050">
            <a:solidFill>
              <a:srgbClr val="214E7F"/>
            </a:solidFill>
            <a:tailEnd type="triangle" w="sm" len="sm"/>
          </a:ln>
        </p:spPr>
      </p:cxnSp>
      <p:cxnSp>
        <p:nvCxnSpPr>
          <p:cNvPr id="15363" name="tsf_13"/>
          <p:cNvCxnSpPr>
            <a:stCxn id="15373" idx="2"/>
            <a:endCxn id="15374" idx="0"/>
          </p:cNvCxnSpPr>
          <p:nvPr/>
        </p:nvCxnSpPr>
        <p:spPr>
          <a:xfrm>
            <a:off x="9544050" y="3619500"/>
            <a:ext cx="0" cy="400050"/>
          </a:xfrm>
          <a:prstGeom prst="straightConnector1">
            <a:avLst/>
          </a:prstGeom>
          <a:ln w="19050">
            <a:solidFill>
              <a:srgbClr val="214E7F"/>
            </a:solidFill>
            <a:tailEnd type="triangle" w="sm" len="sm"/>
          </a:ln>
        </p:spPr>
      </p:cxnSp>
      <p:cxnSp>
        <p:nvCxnSpPr>
          <p:cNvPr id="15364" name="tsf_12"/>
          <p:cNvCxnSpPr>
            <a:stCxn id="15372" idx="2"/>
            <a:endCxn id="15373" idx="0"/>
          </p:cNvCxnSpPr>
          <p:nvPr/>
        </p:nvCxnSpPr>
        <p:spPr>
          <a:xfrm>
            <a:off x="9544050" y="2590800"/>
            <a:ext cx="0" cy="400050"/>
          </a:xfrm>
          <a:prstGeom prst="straightConnector1">
            <a:avLst/>
          </a:prstGeom>
          <a:ln w="19050">
            <a:solidFill>
              <a:srgbClr val="214E7F"/>
            </a:solidFill>
            <a:tailEnd type="triangle" w="sm" len="sm"/>
          </a:ln>
        </p:spPr>
      </p:cxnSp>
      <p:sp>
        <p:nvSpPr>
          <p:cNvPr id="15365" name="tsf_1">
            <a:extLst>
              <a:ext uri="{FF2B5EF4-FFF2-40B4-BE49-F238E27FC236}">
                <a16:creationId xmlns:a16="http://schemas.microsoft.com/office/drawing/2014/main" id="{4CC76F68-769C-4920-B9C1-B648431E2931}"/>
              </a:ext>
            </a:extLst>
          </p:cNvPr>
          <p:cNvSpPr>
            <a:spLocks noGrp="1"/>
          </p:cNvSpPr>
          <p:nvPr/>
        </p:nvSpPr>
        <p:spPr>
          <a:xfrm>
            <a:off x="457200" y="1371600"/>
            <a:ext cx="6572250" cy="457200"/>
          </a:xfrm>
          <a:prstGeom prst="rect">
            <a:avLst/>
          </a:prstGeom>
          <a:noFill/>
          <a:ln w="0">
            <a:noFill/>
          </a:ln>
        </p:spPr>
        <p:txBody>
          <a:bodyPr wrap="square" lIns="0" tIns="0" rIns="0" bIns="0" anchor="t">
            <a:noAutofit/>
          </a:bodyPr>
          <a:lstStyle/>
          <a:p>
            <a:pPr algn="l">
              <a:defRPr sz="2850" b="1">
                <a:solidFill>
                  <a:srgbClr val="214E7F"/>
                </a:solidFill>
                <a:latin typeface="Arial"/>
                <a:ea typeface="Arial"/>
                <a:cs typeface="Arial"/>
              </a:defRPr>
            </a:pPr>
            <a:r>
              <a:rPr sz="2850" b="1">
                <a:solidFill>
                  <a:srgbClr val="214E7F"/>
                </a:solidFill>
                <a:latin typeface="Arial"/>
                <a:ea typeface="Arial"/>
                <a:cs typeface="Arial"/>
              </a:rPr>
              <a:t>Find the first receiving crypto service</a:t>
            </a:r>
          </a:p>
        </p:txBody>
      </p:sp>
      <p:sp>
        <p:nvSpPr>
          <p:cNvPr id="15366" name="tsf_2">
            <a:extLst>
              <a:ext uri="{FF2B5EF4-FFF2-40B4-BE49-F238E27FC236}">
                <a16:creationId xmlns:a16="http://schemas.microsoft.com/office/drawing/2014/main" id="{0A7CEDEF-7CD8-488D-B203-D1AA23DFDB17}"/>
              </a:ext>
            </a:extLst>
          </p:cNvPr>
          <p:cNvSpPr>
            <a:spLocks noGrp="1"/>
          </p:cNvSpPr>
          <p:nvPr/>
        </p:nvSpPr>
        <p:spPr>
          <a:xfrm>
            <a:off x="457200" y="2057400"/>
            <a:ext cx="5334000" cy="361950"/>
          </a:xfrm>
          <a:prstGeom prst="rect">
            <a:avLst/>
          </a:prstGeom>
          <a:noFill/>
          <a:ln w="0">
            <a:noFill/>
          </a:ln>
        </p:spPr>
        <p:txBody>
          <a:bodyPr wrap="square" lIns="0" tIns="0" rIns="0" bIns="0" anchor="t">
            <a:noAutofit/>
          </a:bodyPr>
          <a:lstStyle/>
          <a:p>
            <a:pPr algn="l">
              <a:defRPr sz="2400" b="1">
                <a:solidFill>
                  <a:srgbClr val="214E7F"/>
                </a:solidFill>
                <a:latin typeface="Arial"/>
                <a:ea typeface="Arial"/>
                <a:cs typeface="Arial"/>
              </a:defRPr>
            </a:pPr>
            <a:r>
              <a:rPr sz="2400" b="1">
                <a:solidFill>
                  <a:srgbClr val="214E7F"/>
                </a:solidFill>
                <a:latin typeface="Arial"/>
                <a:ea typeface="Arial"/>
                <a:cs typeface="Arial"/>
              </a:rPr>
              <a:t>THE PROBLEM</a:t>
            </a:r>
          </a:p>
        </p:txBody>
      </p:sp>
      <p:sp>
        <p:nvSpPr>
          <p:cNvPr id="15367" name="tsf_3">
            <a:extLst>
              <a:ext uri="{FF2B5EF4-FFF2-40B4-BE49-F238E27FC236}">
                <a16:creationId xmlns:a16="http://schemas.microsoft.com/office/drawing/2014/main" id="{5BE262EC-889B-44F3-982C-ACF37E46FD2E}"/>
              </a:ext>
            </a:extLst>
          </p:cNvPr>
          <p:cNvSpPr>
            <a:spLocks noGrp="1"/>
          </p:cNvSpPr>
          <p:nvPr/>
        </p:nvSpPr>
        <p:spPr>
          <a:xfrm>
            <a:off x="457200" y="2476500"/>
            <a:ext cx="5429250" cy="1123950"/>
          </a:xfrm>
          <a:prstGeom prst="rect">
            <a:avLst/>
          </a:prstGeom>
          <a:noFill/>
          <a:ln w="0">
            <a:noFill/>
          </a:ln>
        </p:spPr>
        <p:txBody>
          <a:bodyPr wrap="square" lIns="0" tIns="0" rIns="0" bIns="0" anchor="t">
            <a:noAutofit/>
          </a:bodyPr>
          <a:lstStyle/>
          <a:p>
            <a:pPr algn="l">
              <a:defRPr sz="2400" b="0">
                <a:solidFill>
                  <a:srgbClr val="111111"/>
                </a:solidFill>
                <a:latin typeface="Arial"/>
                <a:ea typeface="Arial"/>
                <a:cs typeface="Arial"/>
              </a:defRPr>
            </a:pPr>
            <a:r>
              <a:rPr sz="2400" b="0">
                <a:solidFill>
                  <a:srgbClr val="111111"/>
                </a:solidFill>
                <a:latin typeface="Arial"/>
                <a:ea typeface="Arial"/>
                <a:cs typeface="Arial"/>
              </a:rPr>
              <a:t>Transfers reveal addresses, but rarely</a:t>
            </a:r>
          </a:p>
          <a:p>
            <a:pPr algn="l">
              <a:defRPr sz="2400" b="0">
                <a:solidFill>
                  <a:srgbClr val="111111"/>
                </a:solidFill>
                <a:latin typeface="Arial"/>
                <a:ea typeface="Arial"/>
                <a:cs typeface="Arial"/>
              </a:defRPr>
            </a:pPr>
            <a:r>
              <a:rPr sz="2400" b="0">
                <a:solidFill>
                  <a:srgbClr val="111111"/>
                </a:solidFill>
                <a:latin typeface="Arial"/>
                <a:ea typeface="Arial"/>
                <a:cs typeface="Arial"/>
              </a:rPr>
              <a:t>the company behind them. The first</a:t>
            </a:r>
          </a:p>
          <a:p>
            <a:pPr algn="l">
              <a:defRPr sz="2400" b="0">
                <a:solidFill>
                  <a:srgbClr val="111111"/>
                </a:solidFill>
                <a:latin typeface="Arial"/>
                <a:ea typeface="Arial"/>
                <a:cs typeface="Arial"/>
              </a:defRPr>
            </a:pPr>
            <a:r>
              <a:rPr sz="2400" b="0">
                <a:solidFill>
                  <a:srgbClr val="111111"/>
                </a:solidFill>
                <a:latin typeface="Arial"/>
                <a:ea typeface="Arial"/>
                <a:cs typeface="Arial"/>
              </a:rPr>
              <a:t>deposit wallet may have no label.</a:t>
            </a:r>
          </a:p>
        </p:txBody>
      </p:sp>
      <p:sp>
        <p:nvSpPr>
          <p:cNvPr id="15368" name="tsf_4">
            <a:extLst>
              <a:ext uri="{FF2B5EF4-FFF2-40B4-BE49-F238E27FC236}">
                <a16:creationId xmlns:a16="http://schemas.microsoft.com/office/drawing/2014/main" id="{9B0CEC9C-DD4B-4AEF-B3DF-CC73804BD130}"/>
              </a:ext>
            </a:extLst>
          </p:cNvPr>
          <p:cNvSpPr>
            <a:spLocks noGrp="1"/>
          </p:cNvSpPr>
          <p:nvPr/>
        </p:nvSpPr>
        <p:spPr>
          <a:xfrm>
            <a:off x="457200" y="3724275"/>
            <a:ext cx="5429250" cy="361950"/>
          </a:xfrm>
          <a:prstGeom prst="rect">
            <a:avLst/>
          </a:prstGeom>
          <a:noFill/>
          <a:ln w="0">
            <a:noFill/>
          </a:ln>
        </p:spPr>
        <p:txBody>
          <a:bodyPr wrap="square" lIns="0" tIns="0" rIns="0" bIns="0" anchor="t">
            <a:noAutofit/>
          </a:bodyPr>
          <a:lstStyle/>
          <a:p>
            <a:pPr algn="l">
              <a:defRPr sz="2400" b="1">
                <a:solidFill>
                  <a:srgbClr val="214E7F"/>
                </a:solidFill>
                <a:latin typeface="Arial"/>
                <a:ea typeface="Arial"/>
                <a:cs typeface="Arial"/>
              </a:defRPr>
            </a:pPr>
            <a:r>
              <a:rPr sz="2400" b="1">
                <a:solidFill>
                  <a:srgbClr val="214E7F"/>
                </a:solidFill>
                <a:latin typeface="Arial"/>
                <a:ea typeface="Arial"/>
                <a:cs typeface="Arial"/>
              </a:rPr>
              <a:t>OUR SOLUTION</a:t>
            </a:r>
          </a:p>
        </p:txBody>
      </p:sp>
      <p:sp>
        <p:nvSpPr>
          <p:cNvPr id="15369" name="tsf_5">
            <a:extLst>
              <a:ext uri="{FF2B5EF4-FFF2-40B4-BE49-F238E27FC236}">
                <a16:creationId xmlns:a16="http://schemas.microsoft.com/office/drawing/2014/main" id="{251AF48A-7389-4160-A72B-E2E74049E89B}"/>
              </a:ext>
            </a:extLst>
          </p:cNvPr>
          <p:cNvSpPr>
            <a:spLocks noGrp="1"/>
          </p:cNvSpPr>
          <p:nvPr/>
        </p:nvSpPr>
        <p:spPr>
          <a:xfrm>
            <a:off x="457200" y="4143375"/>
            <a:ext cx="5505450" cy="819150"/>
          </a:xfrm>
          <a:prstGeom prst="rect">
            <a:avLst/>
          </a:prstGeom>
          <a:noFill/>
          <a:ln w="0">
            <a:noFill/>
          </a:ln>
        </p:spPr>
        <p:txBody>
          <a:bodyPr wrap="square" lIns="0" tIns="0" rIns="0" bIns="0" anchor="t">
            <a:noAutofit/>
          </a:bodyPr>
          <a:lstStyle/>
          <a:p>
            <a:pPr algn="l">
              <a:defRPr sz="2400" b="0">
                <a:solidFill>
                  <a:srgbClr val="111111"/>
                </a:solidFill>
                <a:latin typeface="Arial"/>
                <a:ea typeface="Arial"/>
                <a:cs typeface="Arial"/>
              </a:defRPr>
            </a:pPr>
            <a:r>
              <a:rPr sz="2400" b="0">
                <a:solidFill>
                  <a:srgbClr val="111111"/>
                </a:solidFill>
                <a:latin typeface="Arial"/>
                <a:ea typeface="Arial"/>
                <a:cs typeface="Arial"/>
              </a:rPr>
              <a:t>Trace to the first supported exchange</a:t>
            </a:r>
          </a:p>
          <a:p>
            <a:pPr algn="l">
              <a:defRPr sz="2400" b="0">
                <a:solidFill>
                  <a:srgbClr val="111111"/>
                </a:solidFill>
                <a:latin typeface="Arial"/>
                <a:ea typeface="Arial"/>
                <a:cs typeface="Arial"/>
              </a:defRPr>
            </a:pPr>
            <a:r>
              <a:rPr sz="2400" b="0">
                <a:solidFill>
                  <a:srgbClr val="111111"/>
                </a:solidFill>
                <a:latin typeface="Arial"/>
                <a:ea typeface="Arial"/>
                <a:cs typeface="Arial"/>
              </a:rPr>
              <a:t>or custodial service on each path.</a:t>
            </a:r>
          </a:p>
        </p:txBody>
      </p:sp>
      <p:sp>
        <p:nvSpPr>
          <p:cNvPr id="15370" name="tsf_6">
            <a:extLst>
              <a:ext uri="{FF2B5EF4-FFF2-40B4-BE49-F238E27FC236}">
                <a16:creationId xmlns:a16="http://schemas.microsoft.com/office/drawing/2014/main" id="{127407E8-91A0-4016-B30C-D78B46B9D02E}"/>
              </a:ext>
            </a:extLst>
          </p:cNvPr>
          <p:cNvSpPr>
            <a:spLocks noGrp="1"/>
          </p:cNvSpPr>
          <p:nvPr/>
        </p:nvSpPr>
        <p:spPr>
          <a:xfrm>
            <a:off x="457200" y="5162550"/>
            <a:ext cx="5619750" cy="361950"/>
          </a:xfrm>
          <a:prstGeom prst="rect">
            <a:avLst/>
          </a:prstGeom>
          <a:noFill/>
          <a:ln w="0">
            <a:noFill/>
          </a:ln>
        </p:spPr>
        <p:txBody>
          <a:bodyPr wrap="square" lIns="0" tIns="0" rIns="0" bIns="0" anchor="t">
            <a:noAutofit/>
          </a:bodyPr>
          <a:lstStyle/>
          <a:p>
            <a:pPr algn="l">
              <a:defRPr sz="2400" b="1">
                <a:solidFill>
                  <a:srgbClr val="214E7F"/>
                </a:solidFill>
                <a:latin typeface="Arial"/>
                <a:ea typeface="Arial"/>
                <a:cs typeface="Arial"/>
              </a:defRPr>
            </a:pPr>
            <a:r>
              <a:rPr sz="2400" b="1">
                <a:solidFill>
                  <a:srgbClr val="214E7F"/>
                </a:solidFill>
                <a:latin typeface="Arial"/>
                <a:ea typeface="Arial"/>
                <a:cs typeface="Arial"/>
              </a:rPr>
              <a:t>OUR DIFFERENCE</a:t>
            </a:r>
          </a:p>
        </p:txBody>
      </p:sp>
      <p:sp>
        <p:nvSpPr>
          <p:cNvPr id="15371" name="tsf_7">
            <a:extLst>
              <a:ext uri="{FF2B5EF4-FFF2-40B4-BE49-F238E27FC236}">
                <a16:creationId xmlns:a16="http://schemas.microsoft.com/office/drawing/2014/main" id="{774E2607-D763-4E89-8EF0-ED28926FD722}"/>
              </a:ext>
            </a:extLst>
          </p:cNvPr>
          <p:cNvSpPr>
            <a:spLocks noGrp="1"/>
          </p:cNvSpPr>
          <p:nvPr/>
        </p:nvSpPr>
        <p:spPr>
          <a:xfrm>
            <a:off x="457200" y="5581650"/>
            <a:ext cx="6238875" cy="609600"/>
          </a:xfrm>
          <a:prstGeom prst="rect">
            <a:avLst/>
          </a:prstGeom>
          <a:noFill/>
          <a:ln w="0">
            <a:noFill/>
          </a:ln>
        </p:spPr>
        <p:txBody>
          <a:bodyPr wrap="square" lIns="0" tIns="0" rIns="0" bIns="0" anchor="t">
            <a:noAutofit/>
          </a:bodyPr>
          <a:lstStyle/>
          <a:p>
            <a:pPr algn="l">
              <a:defRPr sz="2100" b="0">
                <a:solidFill>
                  <a:srgbClr val="111111"/>
                </a:solidFill>
                <a:latin typeface="Arial"/>
                <a:ea typeface="Arial"/>
                <a:cs typeface="Arial"/>
              </a:defRPr>
            </a:pPr>
            <a:r>
              <a:rPr sz="2100" b="0">
                <a:solidFill>
                  <a:srgbClr val="111111"/>
                </a:solidFill>
                <a:latin typeface="Arial"/>
                <a:ea typeface="Arial"/>
                <a:cs typeface="Arial"/>
              </a:rPr>
              <a:t>Test earlier deposit candidates. Show</a:t>
            </a:r>
          </a:p>
          <a:p>
            <a:pPr algn="l">
              <a:defRPr sz="2100" b="0">
                <a:solidFill>
                  <a:srgbClr val="111111"/>
                </a:solidFill>
                <a:latin typeface="Arial"/>
                <a:ea typeface="Arial"/>
                <a:cs typeface="Arial"/>
              </a:defRPr>
            </a:pPr>
            <a:r>
              <a:rPr sz="2100" b="0">
                <a:solidFill>
                  <a:srgbClr val="111111"/>
                </a:solidFill>
                <a:latin typeface="Arial"/>
                <a:ea typeface="Arial"/>
                <a:cs typeface="Arial"/>
              </a:rPr>
              <a:t>the evidence gap and the next check.</a:t>
            </a:r>
          </a:p>
        </p:txBody>
      </p:sp>
      <p:sp>
        <p:nvSpPr>
          <p:cNvPr id="15372" name="tsf_8">
            <a:extLst>
              <a:ext uri="{FF2B5EF4-FFF2-40B4-BE49-F238E27FC236}">
                <a16:creationId xmlns:a16="http://schemas.microsoft.com/office/drawing/2014/main" id="{55A423A8-30CE-4BDC-A61F-D8569ED182CF}"/>
              </a:ext>
            </a:extLst>
          </p:cNvPr>
          <p:cNvSpPr>
            <a:spLocks noGrp="1"/>
          </p:cNvSpPr>
          <p:nvPr/>
        </p:nvSpPr>
        <p:spPr>
          <a:xfrm>
            <a:off x="7772400" y="1962150"/>
            <a:ext cx="3543300" cy="628650"/>
          </a:xfrm>
          <a:prstGeom prst="rect">
            <a:avLst/>
          </a:prstGeom>
          <a:solidFill>
            <a:srgbClr val="FFFFFF"/>
          </a:solidFill>
          <a:ln w="13335">
            <a:solidFill>
              <a:srgbClr val="214E7F"/>
            </a:solidFill>
          </a:ln>
        </p:spPr>
        <p:txBody>
          <a:bodyPr lIns="76200" tIns="47625" rIns="76200" bIns="47625" anchor="ctr">
            <a:noAutofit/>
          </a:bodyPr>
          <a:lstStyle/>
          <a:p>
            <a:pPr algn="ctr">
              <a:defRPr sz="2400">
                <a:solidFill>
                  <a:srgbClr val="111111"/>
                </a:solidFill>
                <a:latin typeface="Arial"/>
                <a:ea typeface="Arial"/>
                <a:cs typeface="Arial"/>
              </a:defRPr>
            </a:pPr>
            <a:r>
              <a:rPr sz="2400">
                <a:solidFill>
                  <a:srgbClr val="111111"/>
                </a:solidFill>
                <a:latin typeface="Arial"/>
                <a:ea typeface="Arial"/>
                <a:cs typeface="Arial"/>
              </a:rPr>
              <a:t>Wallet + case scope</a:t>
            </a:r>
          </a:p>
        </p:txBody>
      </p:sp>
      <p:sp>
        <p:nvSpPr>
          <p:cNvPr id="15373" name="tsf_9">
            <a:extLst>
              <a:ext uri="{FF2B5EF4-FFF2-40B4-BE49-F238E27FC236}">
                <a16:creationId xmlns:a16="http://schemas.microsoft.com/office/drawing/2014/main" id="{39D2AEA6-7469-4C0E-89FB-A64BA9212C68}"/>
              </a:ext>
            </a:extLst>
          </p:cNvPr>
          <p:cNvSpPr>
            <a:spLocks noGrp="1"/>
          </p:cNvSpPr>
          <p:nvPr/>
        </p:nvSpPr>
        <p:spPr>
          <a:xfrm>
            <a:off x="7772400" y="2990850"/>
            <a:ext cx="3543300" cy="628650"/>
          </a:xfrm>
          <a:prstGeom prst="rect">
            <a:avLst/>
          </a:prstGeom>
          <a:solidFill>
            <a:srgbClr val="FFFFFF"/>
          </a:solidFill>
          <a:ln w="13335">
            <a:solidFill>
              <a:srgbClr val="214E7F"/>
            </a:solidFill>
          </a:ln>
        </p:spPr>
        <p:txBody>
          <a:bodyPr lIns="76200" tIns="47625" rIns="76200" bIns="47625" anchor="ctr">
            <a:noAutofit/>
          </a:bodyPr>
          <a:lstStyle/>
          <a:p>
            <a:pPr algn="ctr">
              <a:defRPr sz="2400">
                <a:solidFill>
                  <a:srgbClr val="111111"/>
                </a:solidFill>
                <a:latin typeface="Arial"/>
                <a:ea typeface="Arial"/>
                <a:cs typeface="Arial"/>
              </a:defRPr>
            </a:pPr>
            <a:r>
              <a:rPr sz="2400">
                <a:solidFill>
                  <a:srgbClr val="111111"/>
                </a:solidFill>
                <a:latin typeface="Arial"/>
                <a:ea typeface="Arial"/>
                <a:cs typeface="Arial"/>
              </a:rPr>
              <a:t>Trace and test evidence</a:t>
            </a:r>
          </a:p>
        </p:txBody>
      </p:sp>
      <p:sp>
        <p:nvSpPr>
          <p:cNvPr id="15374" name="tsf_10">
            <a:extLst>
              <a:ext uri="{FF2B5EF4-FFF2-40B4-BE49-F238E27FC236}">
                <a16:creationId xmlns:a16="http://schemas.microsoft.com/office/drawing/2014/main" id="{B3A53123-C461-4D3F-BDCA-243F64464F23}"/>
              </a:ext>
            </a:extLst>
          </p:cNvPr>
          <p:cNvSpPr>
            <a:spLocks noGrp="1"/>
          </p:cNvSpPr>
          <p:nvPr/>
        </p:nvSpPr>
        <p:spPr>
          <a:xfrm>
            <a:off x="7772400" y="4019550"/>
            <a:ext cx="3543300" cy="628650"/>
          </a:xfrm>
          <a:prstGeom prst="rect">
            <a:avLst/>
          </a:prstGeom>
          <a:solidFill>
            <a:srgbClr val="FFFFFF"/>
          </a:solidFill>
          <a:ln w="13335">
            <a:solidFill>
              <a:srgbClr val="214E7F"/>
            </a:solidFill>
          </a:ln>
        </p:spPr>
        <p:txBody>
          <a:bodyPr lIns="76200" tIns="47625" rIns="76200" bIns="47625" anchor="ctr">
            <a:noAutofit/>
          </a:bodyPr>
          <a:lstStyle/>
          <a:p>
            <a:pPr algn="ctr">
              <a:defRPr sz="2400">
                <a:solidFill>
                  <a:srgbClr val="111111"/>
                </a:solidFill>
                <a:latin typeface="Arial"/>
                <a:ea typeface="Arial"/>
                <a:cs typeface="Arial"/>
              </a:defRPr>
            </a:pPr>
            <a:r>
              <a:rPr sz="2400">
                <a:solidFill>
                  <a:srgbClr val="111111"/>
                </a:solidFill>
                <a:latin typeface="Arial"/>
                <a:ea typeface="Arial"/>
                <a:cs typeface="Arial"/>
              </a:rPr>
              <a:t>Service lead + gaps</a:t>
            </a:r>
          </a:p>
        </p:txBody>
      </p:sp>
      <p:sp>
        <p:nvSpPr>
          <p:cNvPr id="15375" name="tsf_11">
            <a:extLst>
              <a:ext uri="{FF2B5EF4-FFF2-40B4-BE49-F238E27FC236}">
                <a16:creationId xmlns:a16="http://schemas.microsoft.com/office/drawing/2014/main" id="{5E9B20F4-BA2A-40A4-AD9C-C369DA1E692F}"/>
              </a:ext>
            </a:extLst>
          </p:cNvPr>
          <p:cNvSpPr>
            <a:spLocks noGrp="1"/>
          </p:cNvSpPr>
          <p:nvPr/>
        </p:nvSpPr>
        <p:spPr>
          <a:xfrm>
            <a:off x="7772400" y="5048250"/>
            <a:ext cx="3543300" cy="628650"/>
          </a:xfrm>
          <a:prstGeom prst="rect">
            <a:avLst/>
          </a:prstGeom>
          <a:solidFill>
            <a:srgbClr val="FFFFFF"/>
          </a:solidFill>
          <a:ln w="13335">
            <a:solidFill>
              <a:srgbClr val="214E7F"/>
            </a:solidFill>
          </a:ln>
        </p:spPr>
        <p:txBody>
          <a:bodyPr lIns="76200" tIns="47625" rIns="76200" bIns="47625" anchor="ctr">
            <a:noAutofit/>
          </a:bodyPr>
          <a:lstStyle/>
          <a:p>
            <a:pPr algn="ctr">
              <a:defRPr sz="2400">
                <a:solidFill>
                  <a:srgbClr val="111111"/>
                </a:solidFill>
                <a:latin typeface="Arial"/>
                <a:ea typeface="Arial"/>
                <a:cs typeface="Arial"/>
              </a:defRPr>
            </a:pPr>
            <a:r>
              <a:rPr sz="2400">
                <a:solidFill>
                  <a:srgbClr val="111111"/>
                </a:solidFill>
                <a:latin typeface="Arial"/>
                <a:ea typeface="Arial"/>
                <a:cs typeface="Arial"/>
              </a:rPr>
              <a:t>Officer-reviewed request</a:t>
            </a:r>
          </a:p>
        </p:txBody>
      </p:sp>
      <p:sp>
        <p:nvSpPr>
          <p:cNvPr id="15376" name="tsf_15">
            <a:extLst>
              <a:ext uri="{FF2B5EF4-FFF2-40B4-BE49-F238E27FC236}">
                <a16:creationId xmlns:a16="http://schemas.microsoft.com/office/drawing/2014/main" id="{842F24E4-ED5C-430F-9E90-DBB16F77D050}"/>
              </a:ext>
            </a:extLst>
          </p:cNvPr>
          <p:cNvSpPr>
            <a:spLocks noGrp="1"/>
          </p:cNvSpPr>
          <p:nvPr/>
        </p:nvSpPr>
        <p:spPr>
          <a:xfrm>
            <a:off x="7772400" y="5819775"/>
            <a:ext cx="3543300" cy="361950"/>
          </a:xfrm>
          <a:prstGeom prst="rect">
            <a:avLst/>
          </a:prstGeom>
          <a:noFill/>
          <a:ln w="0">
            <a:noFill/>
          </a:ln>
        </p:spPr>
        <p:txBody>
          <a:bodyPr wrap="square" lIns="0" tIns="0" rIns="0" bIns="0" anchor="t">
            <a:noAutofit/>
          </a:bodyPr>
          <a:lstStyle/>
          <a:p>
            <a:pPr algn="ctr">
              <a:defRPr sz="1650" b="0">
                <a:solidFill>
                  <a:srgbClr val="4C5964"/>
                </a:solidFill>
                <a:latin typeface="Arial"/>
                <a:ea typeface="Arial"/>
                <a:cs typeface="Arial"/>
              </a:defRPr>
            </a:pPr>
            <a:r>
              <a:rPr sz="1650" b="0">
                <a:solidFill>
                  <a:srgbClr val="4C5964"/>
                </a:solidFill>
                <a:latin typeface="Arial"/>
                <a:ea typeface="Arial"/>
                <a:cs typeface="Arial"/>
              </a:rPr>
              <a:t>VASP = exchange or custodial service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cxnSp>
        <p:nvCxnSpPr>
          <p:cNvPr id="17410" name="tsf_35"/>
          <p:cNvCxnSpPr>
            <a:stCxn id="17429" idx="1"/>
            <a:endCxn id="17427" idx="0"/>
          </p:cNvCxnSpPr>
          <p:nvPr/>
        </p:nvCxnSpPr>
        <p:spPr>
          <a:xfrm flipH="1">
            <a:off x="4686300" y="3738563"/>
            <a:ext cx="4848225" cy="604838"/>
          </a:xfrm>
          <a:prstGeom prst="straightConnector1">
            <a:avLst/>
          </a:prstGeom>
          <a:ln w="19050">
            <a:solidFill>
              <a:srgbClr val="214E7F"/>
            </a:solidFill>
            <a:tailEnd type="triangle" w="sm" len="sm"/>
          </a:ln>
        </p:spPr>
      </p:cxnSp>
      <p:cxnSp>
        <p:nvCxnSpPr>
          <p:cNvPr id="17411" name="tsf_33"/>
          <p:cNvCxnSpPr>
            <a:stCxn id="17427" idx="3"/>
            <a:endCxn id="17428" idx="1"/>
          </p:cNvCxnSpPr>
          <p:nvPr/>
        </p:nvCxnSpPr>
        <p:spPr>
          <a:xfrm>
            <a:off x="5924550" y="4748213"/>
            <a:ext cx="752475" cy="0"/>
          </a:xfrm>
          <a:prstGeom prst="straightConnector1">
            <a:avLst/>
          </a:prstGeom>
          <a:ln w="19050">
            <a:solidFill>
              <a:srgbClr val="214E7F"/>
            </a:solidFill>
            <a:tailEnd type="triangle" w="sm" len="sm"/>
          </a:ln>
        </p:spPr>
      </p:cxnSp>
      <p:cxnSp>
        <p:nvCxnSpPr>
          <p:cNvPr id="17412" name="tsf_32"/>
          <p:cNvCxnSpPr>
            <a:stCxn id="17426" idx="3"/>
            <a:endCxn id="17427" idx="1"/>
          </p:cNvCxnSpPr>
          <p:nvPr/>
        </p:nvCxnSpPr>
        <p:spPr>
          <a:xfrm>
            <a:off x="2695575" y="4748213"/>
            <a:ext cx="752475" cy="0"/>
          </a:xfrm>
          <a:prstGeom prst="straightConnector1">
            <a:avLst/>
          </a:prstGeom>
          <a:ln w="19050">
            <a:solidFill>
              <a:srgbClr val="214E7F"/>
            </a:solidFill>
            <a:tailEnd type="triangle" w="sm" len="sm"/>
          </a:ln>
        </p:spPr>
      </p:cxnSp>
      <p:sp>
        <p:nvSpPr>
          <p:cNvPr id="17413" name="tsf_16">
            <a:extLst>
              <a:ext uri="{FF2B5EF4-FFF2-40B4-BE49-F238E27FC236}">
                <a16:creationId xmlns:a16="http://schemas.microsoft.com/office/drawing/2014/main" id="{A65BFD9C-69FB-4AFF-B9A6-3501A3472F81}"/>
              </a:ext>
            </a:extLst>
          </p:cNvPr>
          <p:cNvSpPr>
            <a:spLocks noGrp="1"/>
          </p:cNvSpPr>
          <p:nvPr/>
        </p:nvSpPr>
        <p:spPr>
          <a:xfrm>
            <a:off x="457200" y="1438275"/>
            <a:ext cx="2533650" cy="609600"/>
          </a:xfrm>
          <a:prstGeom prst="rect">
            <a:avLst/>
          </a:prstGeom>
          <a:noFill/>
          <a:ln w="0">
            <a:noFill/>
          </a:ln>
        </p:spPr>
        <p:txBody>
          <a:bodyPr wrap="square" lIns="0" tIns="0" rIns="0" bIns="0" anchor="t">
            <a:noAutofit/>
          </a:bodyPr>
          <a:lstStyle/>
          <a:p>
            <a:pPr algn="l">
              <a:defRPr sz="2100" b="1">
                <a:solidFill>
                  <a:srgbClr val="214E7F"/>
                </a:solidFill>
                <a:latin typeface="Arial"/>
                <a:ea typeface="Arial"/>
                <a:cs typeface="Arial"/>
              </a:defRPr>
            </a:pPr>
            <a:r>
              <a:rPr sz="2100" b="1">
                <a:solidFill>
                  <a:srgbClr val="214E7F"/>
                </a:solidFill>
                <a:latin typeface="Arial"/>
                <a:ea typeface="Arial"/>
                <a:cs typeface="Arial"/>
              </a:rPr>
              <a:t>1  READ SOURCES</a:t>
            </a:r>
          </a:p>
        </p:txBody>
      </p:sp>
      <p:sp>
        <p:nvSpPr>
          <p:cNvPr id="17414" name="tsf_17">
            <a:extLst>
              <a:ext uri="{FF2B5EF4-FFF2-40B4-BE49-F238E27FC236}">
                <a16:creationId xmlns:a16="http://schemas.microsoft.com/office/drawing/2014/main" id="{B0363E4D-B2EB-4206-B4AB-4D0301A3543A}"/>
              </a:ext>
            </a:extLst>
          </p:cNvPr>
          <p:cNvSpPr>
            <a:spLocks noGrp="1"/>
          </p:cNvSpPr>
          <p:nvPr/>
        </p:nvSpPr>
        <p:spPr>
          <a:xfrm>
            <a:off x="457200" y="2038350"/>
            <a:ext cx="2533650" cy="0"/>
          </a:xfrm>
          <a:prstGeom prst="line">
            <a:avLst/>
          </a:prstGeom>
          <a:noFill/>
          <a:ln w="9525">
            <a:solidFill>
              <a:srgbClr val="BCCADA"/>
            </a:solidFill>
          </a:ln>
        </p:spPr>
      </p:sp>
      <p:sp>
        <p:nvSpPr>
          <p:cNvPr id="17415" name="tsf_18">
            <a:extLst>
              <a:ext uri="{FF2B5EF4-FFF2-40B4-BE49-F238E27FC236}">
                <a16:creationId xmlns:a16="http://schemas.microsoft.com/office/drawing/2014/main" id="{B733AF32-EBA8-496B-BE94-9875AC0E1DD4}"/>
              </a:ext>
            </a:extLst>
          </p:cNvPr>
          <p:cNvSpPr>
            <a:spLocks noGrp="1"/>
          </p:cNvSpPr>
          <p:nvPr/>
        </p:nvSpPr>
        <p:spPr>
          <a:xfrm>
            <a:off x="457200" y="2209800"/>
            <a:ext cx="2533650" cy="1209675"/>
          </a:xfrm>
          <a:prstGeom prst="rect">
            <a:avLst/>
          </a:prstGeom>
          <a:noFill/>
          <a:ln w="0">
            <a:noFill/>
          </a:ln>
        </p:spPr>
        <p:txBody>
          <a:bodyPr wrap="square" lIns="0" tIns="0" rIns="0" bIns="0" anchor="t">
            <a:noAutofit/>
          </a:bodyPr>
          <a:lstStyle/>
          <a:p>
            <a:pPr algn="l">
              <a:defRPr sz="2250" b="0">
                <a:solidFill>
                  <a:srgbClr val="111111"/>
                </a:solidFill>
                <a:latin typeface="Arial"/>
                <a:ea typeface="Arial"/>
                <a:cs typeface="Arial"/>
              </a:defRPr>
            </a:pPr>
            <a:r>
              <a:rPr sz="2250" b="0">
                <a:solidFill>
                  <a:srgbClr val="111111"/>
                </a:solidFill>
                <a:latin typeface="Arial"/>
                <a:ea typeface="Arial"/>
                <a:cs typeface="Arial"/>
              </a:rPr>
              <a:t>Transfers, receipts</a:t>
            </a:r>
          </a:p>
          <a:p>
            <a:pPr algn="l">
              <a:defRPr sz="2250" b="0">
                <a:solidFill>
                  <a:srgbClr val="111111"/>
                </a:solidFill>
                <a:latin typeface="Arial"/>
                <a:ea typeface="Arial"/>
                <a:cs typeface="Arial"/>
              </a:defRPr>
            </a:pPr>
            <a:r>
              <a:rPr sz="2250" b="0">
                <a:solidFill>
                  <a:srgbClr val="111111"/>
                </a:solidFill>
                <a:latin typeface="Arial"/>
                <a:ea typeface="Arial"/>
                <a:cs typeface="Arial"/>
              </a:rPr>
              <a:t>and sourced service</a:t>
            </a:r>
          </a:p>
          <a:p>
            <a:pPr algn="l">
              <a:defRPr sz="2250" b="0">
                <a:solidFill>
                  <a:srgbClr val="111111"/>
                </a:solidFill>
                <a:latin typeface="Arial"/>
                <a:ea typeface="Arial"/>
                <a:cs typeface="Arial"/>
              </a:defRPr>
            </a:pPr>
            <a:r>
              <a:rPr sz="2250" b="0">
                <a:solidFill>
                  <a:srgbClr val="111111"/>
                </a:solidFill>
                <a:latin typeface="Arial"/>
                <a:ea typeface="Arial"/>
                <a:cs typeface="Arial"/>
              </a:rPr>
              <a:t>wallets</a:t>
            </a:r>
          </a:p>
        </p:txBody>
      </p:sp>
      <p:sp>
        <p:nvSpPr>
          <p:cNvPr id="17416" name="tsf_19">
            <a:extLst>
              <a:ext uri="{FF2B5EF4-FFF2-40B4-BE49-F238E27FC236}">
                <a16:creationId xmlns:a16="http://schemas.microsoft.com/office/drawing/2014/main" id="{8CBEA9AC-5B4E-4C9A-887C-C6605ADD89AF}"/>
              </a:ext>
            </a:extLst>
          </p:cNvPr>
          <p:cNvSpPr>
            <a:spLocks noGrp="1"/>
          </p:cNvSpPr>
          <p:nvPr/>
        </p:nvSpPr>
        <p:spPr>
          <a:xfrm>
            <a:off x="3371850" y="1438275"/>
            <a:ext cx="2533650" cy="609600"/>
          </a:xfrm>
          <a:prstGeom prst="rect">
            <a:avLst/>
          </a:prstGeom>
          <a:noFill/>
          <a:ln w="0">
            <a:noFill/>
          </a:ln>
        </p:spPr>
        <p:txBody>
          <a:bodyPr wrap="square" lIns="0" tIns="0" rIns="0" bIns="0" anchor="t">
            <a:noAutofit/>
          </a:bodyPr>
          <a:lstStyle/>
          <a:p>
            <a:pPr algn="l">
              <a:defRPr sz="2100" b="1">
                <a:solidFill>
                  <a:srgbClr val="214E7F"/>
                </a:solidFill>
                <a:latin typeface="Arial"/>
                <a:ea typeface="Arial"/>
                <a:cs typeface="Arial"/>
              </a:defRPr>
            </a:pPr>
            <a:r>
              <a:rPr sz="2100" b="1">
                <a:solidFill>
                  <a:srgbClr val="214E7F"/>
                </a:solidFill>
                <a:latin typeface="Arial"/>
                <a:ea typeface="Arial"/>
                <a:cs typeface="Arial"/>
              </a:rPr>
              <a:t>2  PATTERNS [1, 2]</a:t>
            </a:r>
          </a:p>
        </p:txBody>
      </p:sp>
      <p:sp>
        <p:nvSpPr>
          <p:cNvPr id="17417" name="tsf_20">
            <a:extLst>
              <a:ext uri="{FF2B5EF4-FFF2-40B4-BE49-F238E27FC236}">
                <a16:creationId xmlns:a16="http://schemas.microsoft.com/office/drawing/2014/main" id="{ECCD2FCD-40D5-4663-8AFB-EFB9861DBA2D}"/>
              </a:ext>
            </a:extLst>
          </p:cNvPr>
          <p:cNvSpPr>
            <a:spLocks noGrp="1"/>
          </p:cNvSpPr>
          <p:nvPr/>
        </p:nvSpPr>
        <p:spPr>
          <a:xfrm>
            <a:off x="3371850" y="2038350"/>
            <a:ext cx="2533650" cy="0"/>
          </a:xfrm>
          <a:prstGeom prst="line">
            <a:avLst/>
          </a:prstGeom>
          <a:noFill/>
          <a:ln w="9525">
            <a:solidFill>
              <a:srgbClr val="BCCADA"/>
            </a:solidFill>
          </a:ln>
        </p:spPr>
      </p:sp>
      <p:sp>
        <p:nvSpPr>
          <p:cNvPr id="17418" name="tsf_21">
            <a:extLst>
              <a:ext uri="{FF2B5EF4-FFF2-40B4-BE49-F238E27FC236}">
                <a16:creationId xmlns:a16="http://schemas.microsoft.com/office/drawing/2014/main" id="{95A2D6C9-0D81-47C8-90D0-62D16F5B200F}"/>
              </a:ext>
            </a:extLst>
          </p:cNvPr>
          <p:cNvSpPr>
            <a:spLocks noGrp="1"/>
          </p:cNvSpPr>
          <p:nvPr/>
        </p:nvSpPr>
        <p:spPr>
          <a:xfrm>
            <a:off x="3371850" y="2209800"/>
            <a:ext cx="2533650" cy="1209675"/>
          </a:xfrm>
          <a:prstGeom prst="rect">
            <a:avLst/>
          </a:prstGeom>
          <a:noFill/>
          <a:ln w="0">
            <a:noFill/>
          </a:ln>
        </p:spPr>
        <p:txBody>
          <a:bodyPr wrap="square" lIns="0" tIns="0" rIns="0" bIns="0" anchor="t">
            <a:noAutofit/>
          </a:bodyPr>
          <a:lstStyle/>
          <a:p>
            <a:pPr algn="l">
              <a:defRPr sz="2250" b="0">
                <a:solidFill>
                  <a:srgbClr val="111111"/>
                </a:solidFill>
                <a:latin typeface="Arial"/>
                <a:ea typeface="Arial"/>
                <a:cs typeface="Arial"/>
              </a:defRPr>
            </a:pPr>
            <a:r>
              <a:rPr sz="2250" b="0">
                <a:solidFill>
                  <a:srgbClr val="111111"/>
                </a:solidFill>
                <a:latin typeface="Arial"/>
                <a:ea typeface="Arial"/>
                <a:cs typeface="Arial"/>
              </a:rPr>
              <a:t>Token collection</a:t>
            </a:r>
          </a:p>
          <a:p>
            <a:pPr algn="l">
              <a:defRPr sz="2250" b="0">
                <a:solidFill>
                  <a:srgbClr val="111111"/>
                </a:solidFill>
                <a:latin typeface="Arial"/>
                <a:ea typeface="Arial"/>
                <a:cs typeface="Arial"/>
              </a:defRPr>
            </a:pPr>
            <a:r>
              <a:rPr sz="2250" b="0">
                <a:solidFill>
                  <a:srgbClr val="111111"/>
                </a:solidFill>
                <a:latin typeface="Arial"/>
                <a:ea typeface="Arial"/>
                <a:cs typeface="Arial"/>
              </a:rPr>
              <a:t>plus service-funded</a:t>
            </a:r>
          </a:p>
          <a:p>
            <a:pPr algn="l">
              <a:defRPr sz="2250" b="0">
                <a:solidFill>
                  <a:srgbClr val="111111"/>
                </a:solidFill>
                <a:latin typeface="Arial"/>
                <a:ea typeface="Arial"/>
                <a:cs typeface="Arial"/>
              </a:defRPr>
            </a:pPr>
            <a:r>
              <a:rPr sz="2250" b="0">
                <a:solidFill>
                  <a:srgbClr val="111111"/>
                </a:solidFill>
                <a:latin typeface="Arial"/>
                <a:ea typeface="Arial"/>
                <a:cs typeface="Arial"/>
              </a:rPr>
              <a:t>transaction fees</a:t>
            </a:r>
          </a:p>
        </p:txBody>
      </p:sp>
      <p:sp>
        <p:nvSpPr>
          <p:cNvPr id="17419" name="tsf_22">
            <a:extLst>
              <a:ext uri="{FF2B5EF4-FFF2-40B4-BE49-F238E27FC236}">
                <a16:creationId xmlns:a16="http://schemas.microsoft.com/office/drawing/2014/main" id="{B4CE7B84-E6A9-485D-A663-94C286F6972A}"/>
              </a:ext>
            </a:extLst>
          </p:cNvPr>
          <p:cNvSpPr>
            <a:spLocks noGrp="1"/>
          </p:cNvSpPr>
          <p:nvPr/>
        </p:nvSpPr>
        <p:spPr>
          <a:xfrm>
            <a:off x="6286500" y="1438275"/>
            <a:ext cx="2533650" cy="609600"/>
          </a:xfrm>
          <a:prstGeom prst="rect">
            <a:avLst/>
          </a:prstGeom>
          <a:noFill/>
          <a:ln w="0">
            <a:noFill/>
          </a:ln>
        </p:spPr>
        <p:txBody>
          <a:bodyPr wrap="square" lIns="0" tIns="0" rIns="0" bIns="0" anchor="t">
            <a:noAutofit/>
          </a:bodyPr>
          <a:lstStyle/>
          <a:p>
            <a:pPr algn="l">
              <a:defRPr sz="2100" b="1">
                <a:solidFill>
                  <a:srgbClr val="214E7F"/>
                </a:solidFill>
                <a:latin typeface="Arial"/>
                <a:ea typeface="Arial"/>
                <a:cs typeface="Arial"/>
              </a:defRPr>
            </a:pPr>
            <a:r>
              <a:rPr sz="2100" b="1">
                <a:solidFill>
                  <a:srgbClr val="214E7F"/>
                </a:solidFill>
                <a:latin typeface="Arial"/>
                <a:ea typeface="Arial"/>
                <a:cs typeface="Arial"/>
              </a:rPr>
              <a:t>3  TRACE [3]</a:t>
            </a:r>
          </a:p>
        </p:txBody>
      </p:sp>
      <p:sp>
        <p:nvSpPr>
          <p:cNvPr id="17420" name="tsf_23">
            <a:extLst>
              <a:ext uri="{FF2B5EF4-FFF2-40B4-BE49-F238E27FC236}">
                <a16:creationId xmlns:a16="http://schemas.microsoft.com/office/drawing/2014/main" id="{FB425FA7-F93E-48A6-9622-EABE1718A442}"/>
              </a:ext>
            </a:extLst>
          </p:cNvPr>
          <p:cNvSpPr>
            <a:spLocks noGrp="1"/>
          </p:cNvSpPr>
          <p:nvPr/>
        </p:nvSpPr>
        <p:spPr>
          <a:xfrm>
            <a:off x="6286500" y="2038350"/>
            <a:ext cx="2533650" cy="0"/>
          </a:xfrm>
          <a:prstGeom prst="line">
            <a:avLst/>
          </a:prstGeom>
          <a:noFill/>
          <a:ln w="9525">
            <a:solidFill>
              <a:srgbClr val="BCCADA"/>
            </a:solidFill>
          </a:ln>
        </p:spPr>
      </p:sp>
      <p:sp>
        <p:nvSpPr>
          <p:cNvPr id="17421" name="tsf_24">
            <a:extLst>
              <a:ext uri="{FF2B5EF4-FFF2-40B4-BE49-F238E27FC236}">
                <a16:creationId xmlns:a16="http://schemas.microsoft.com/office/drawing/2014/main" id="{D29880E3-6039-4B78-A149-AD185829E442}"/>
              </a:ext>
            </a:extLst>
          </p:cNvPr>
          <p:cNvSpPr>
            <a:spLocks noGrp="1"/>
          </p:cNvSpPr>
          <p:nvPr/>
        </p:nvSpPr>
        <p:spPr>
          <a:xfrm>
            <a:off x="6286500" y="2209800"/>
            <a:ext cx="2533650" cy="1209675"/>
          </a:xfrm>
          <a:prstGeom prst="rect">
            <a:avLst/>
          </a:prstGeom>
          <a:noFill/>
          <a:ln w="0">
            <a:noFill/>
          </a:ln>
        </p:spPr>
        <p:txBody>
          <a:bodyPr wrap="square" lIns="0" tIns="0" rIns="0" bIns="0" anchor="t">
            <a:noAutofit/>
          </a:bodyPr>
          <a:lstStyle/>
          <a:p>
            <a:pPr algn="l">
              <a:defRPr sz="2250" b="0">
                <a:solidFill>
                  <a:srgbClr val="111111"/>
                </a:solidFill>
                <a:latin typeface="Arial"/>
                <a:ea typeface="Arial"/>
                <a:cs typeface="Arial"/>
              </a:defRPr>
            </a:pPr>
            <a:r>
              <a:rPr sz="2250" b="0">
                <a:solidFill>
                  <a:srgbClr val="111111"/>
                </a:solidFill>
                <a:latin typeface="Arial"/>
                <a:ea typeface="Arial"/>
                <a:cs typeface="Arial"/>
              </a:rPr>
              <a:t>Fewest steps in</a:t>
            </a:r>
          </a:p>
          <a:p>
            <a:pPr algn="l">
              <a:defRPr sz="2250" b="0">
                <a:solidFill>
                  <a:srgbClr val="111111"/>
                </a:solidFill>
                <a:latin typeface="Arial"/>
                <a:ea typeface="Arial"/>
                <a:cs typeface="Arial"/>
              </a:defRPr>
            </a:pPr>
            <a:r>
              <a:rPr sz="2250" b="0">
                <a:solidFill>
                  <a:srgbClr val="111111"/>
                </a:solidFill>
                <a:latin typeface="Arial"/>
                <a:ea typeface="Arial"/>
                <a:cs typeface="Arial"/>
              </a:rPr>
              <a:t>time order. Stop at</a:t>
            </a:r>
          </a:p>
          <a:p>
            <a:pPr algn="l">
              <a:defRPr sz="2250" b="0">
                <a:solidFill>
                  <a:srgbClr val="111111"/>
                </a:solidFill>
                <a:latin typeface="Arial"/>
                <a:ea typeface="Arial"/>
                <a:cs typeface="Arial"/>
              </a:defRPr>
            </a:pPr>
            <a:r>
              <a:rPr sz="2250" b="0">
                <a:solidFill>
                  <a:srgbClr val="111111"/>
                </a:solidFill>
                <a:latin typeface="Arial"/>
                <a:ea typeface="Arial"/>
                <a:cs typeface="Arial"/>
              </a:rPr>
              <a:t>first custodian.</a:t>
            </a:r>
          </a:p>
        </p:txBody>
      </p:sp>
      <p:sp>
        <p:nvSpPr>
          <p:cNvPr id="17422" name="tsf_25">
            <a:extLst>
              <a:ext uri="{FF2B5EF4-FFF2-40B4-BE49-F238E27FC236}">
                <a16:creationId xmlns:a16="http://schemas.microsoft.com/office/drawing/2014/main" id="{BFD9F639-CDA7-4866-8AA4-ADD4B639F5C2}"/>
              </a:ext>
            </a:extLst>
          </p:cNvPr>
          <p:cNvSpPr>
            <a:spLocks noGrp="1"/>
          </p:cNvSpPr>
          <p:nvPr/>
        </p:nvSpPr>
        <p:spPr>
          <a:xfrm>
            <a:off x="9201150" y="1438275"/>
            <a:ext cx="2533650" cy="609600"/>
          </a:xfrm>
          <a:prstGeom prst="rect">
            <a:avLst/>
          </a:prstGeom>
          <a:noFill/>
          <a:ln w="0">
            <a:noFill/>
          </a:ln>
        </p:spPr>
        <p:txBody>
          <a:bodyPr wrap="square" lIns="0" tIns="0" rIns="0" bIns="0" anchor="t">
            <a:noAutofit/>
          </a:bodyPr>
          <a:lstStyle/>
          <a:p>
            <a:pPr algn="l">
              <a:defRPr sz="2100" b="1">
                <a:solidFill>
                  <a:srgbClr val="214E7F"/>
                </a:solidFill>
                <a:latin typeface="Arial"/>
                <a:ea typeface="Arial"/>
                <a:cs typeface="Arial"/>
              </a:defRPr>
            </a:pPr>
            <a:r>
              <a:rPr sz="2100" b="1">
                <a:solidFill>
                  <a:srgbClr val="214E7F"/>
                </a:solidFill>
                <a:latin typeface="Arial"/>
                <a:ea typeface="Arial"/>
                <a:cs typeface="Arial"/>
              </a:rPr>
              <a:t>4  REVIEW</a:t>
            </a:r>
          </a:p>
        </p:txBody>
      </p:sp>
      <p:sp>
        <p:nvSpPr>
          <p:cNvPr id="17423" name="tsf_26">
            <a:extLst>
              <a:ext uri="{FF2B5EF4-FFF2-40B4-BE49-F238E27FC236}">
                <a16:creationId xmlns:a16="http://schemas.microsoft.com/office/drawing/2014/main" id="{B17E2387-B25A-4AE1-B2A7-4B7DAF95D670}"/>
              </a:ext>
            </a:extLst>
          </p:cNvPr>
          <p:cNvSpPr>
            <a:spLocks noGrp="1"/>
          </p:cNvSpPr>
          <p:nvPr/>
        </p:nvSpPr>
        <p:spPr>
          <a:xfrm>
            <a:off x="9201150" y="2038350"/>
            <a:ext cx="2533650" cy="0"/>
          </a:xfrm>
          <a:prstGeom prst="line">
            <a:avLst/>
          </a:prstGeom>
          <a:noFill/>
          <a:ln w="9525">
            <a:solidFill>
              <a:srgbClr val="BCCADA"/>
            </a:solidFill>
          </a:ln>
        </p:spPr>
      </p:sp>
      <p:sp>
        <p:nvSpPr>
          <p:cNvPr id="17424" name="tsf_27">
            <a:extLst>
              <a:ext uri="{FF2B5EF4-FFF2-40B4-BE49-F238E27FC236}">
                <a16:creationId xmlns:a16="http://schemas.microsoft.com/office/drawing/2014/main" id="{AB70CA66-2BCD-4DEA-ADA2-63878A206387}"/>
              </a:ext>
            </a:extLst>
          </p:cNvPr>
          <p:cNvSpPr>
            <a:spLocks noGrp="1"/>
          </p:cNvSpPr>
          <p:nvPr/>
        </p:nvSpPr>
        <p:spPr>
          <a:xfrm>
            <a:off x="9201150" y="2209800"/>
            <a:ext cx="2533650" cy="1209675"/>
          </a:xfrm>
          <a:prstGeom prst="rect">
            <a:avLst/>
          </a:prstGeom>
          <a:noFill/>
          <a:ln w="0">
            <a:noFill/>
          </a:ln>
        </p:spPr>
        <p:txBody>
          <a:bodyPr wrap="square" lIns="0" tIns="0" rIns="0" bIns="0" anchor="t">
            <a:noAutofit/>
          </a:bodyPr>
          <a:lstStyle/>
          <a:p>
            <a:pPr algn="l">
              <a:defRPr sz="2250" b="0">
                <a:solidFill>
                  <a:srgbClr val="111111"/>
                </a:solidFill>
                <a:latin typeface="Arial"/>
                <a:ea typeface="Arial"/>
                <a:cs typeface="Arial"/>
              </a:defRPr>
            </a:pPr>
            <a:r>
              <a:rPr sz="2250" b="0">
                <a:solidFill>
                  <a:srgbClr val="111111"/>
                </a:solidFill>
                <a:latin typeface="Arial"/>
                <a:ea typeface="Arial"/>
                <a:cs typeface="Arial"/>
              </a:rPr>
              <a:t>Inspect paths,</a:t>
            </a:r>
          </a:p>
          <a:p>
            <a:pPr algn="l">
              <a:defRPr sz="2250" b="0">
                <a:solidFill>
                  <a:srgbClr val="111111"/>
                </a:solidFill>
                <a:latin typeface="Arial"/>
                <a:ea typeface="Arial"/>
                <a:cs typeface="Arial"/>
              </a:defRPr>
            </a:pPr>
            <a:r>
              <a:rPr sz="2250" b="0">
                <a:solidFill>
                  <a:srgbClr val="111111"/>
                </a:solidFill>
                <a:latin typeface="Arial"/>
                <a:ea typeface="Arial"/>
                <a:cs typeface="Arial"/>
              </a:rPr>
              <a:t>sources and gaps</a:t>
            </a:r>
          </a:p>
          <a:p>
            <a:pPr algn="l">
              <a:defRPr sz="2250" b="0">
                <a:solidFill>
                  <a:srgbClr val="111111"/>
                </a:solidFill>
                <a:latin typeface="Arial"/>
                <a:ea typeface="Arial"/>
                <a:cs typeface="Arial"/>
              </a:defRPr>
            </a:pPr>
            <a:r>
              <a:rPr sz="2250" b="0">
                <a:solidFill>
                  <a:srgbClr val="111111"/>
                </a:solidFill>
                <a:latin typeface="Arial"/>
                <a:ea typeface="Arial"/>
                <a:cs typeface="Arial"/>
              </a:rPr>
              <a:t>before acting.</a:t>
            </a:r>
          </a:p>
        </p:txBody>
      </p:sp>
      <p:sp>
        <p:nvSpPr>
          <p:cNvPr id="17425" name="tsf_28">
            <a:extLst>
              <a:ext uri="{FF2B5EF4-FFF2-40B4-BE49-F238E27FC236}">
                <a16:creationId xmlns:a16="http://schemas.microsoft.com/office/drawing/2014/main" id="{16BBED37-F905-47BC-9DF1-D00A343ECAAB}"/>
              </a:ext>
            </a:extLst>
          </p:cNvPr>
          <p:cNvSpPr>
            <a:spLocks noGrp="1"/>
          </p:cNvSpPr>
          <p:nvPr/>
        </p:nvSpPr>
        <p:spPr>
          <a:xfrm>
            <a:off x="457200" y="3571875"/>
            <a:ext cx="8382000" cy="400050"/>
          </a:xfrm>
          <a:prstGeom prst="rect">
            <a:avLst/>
          </a:prstGeom>
          <a:noFill/>
          <a:ln w="0">
            <a:noFill/>
          </a:ln>
        </p:spPr>
        <p:txBody>
          <a:bodyPr wrap="square" lIns="0" tIns="0" rIns="0" bIns="0" anchor="t">
            <a:noAutofit/>
          </a:bodyPr>
          <a:lstStyle/>
          <a:p>
            <a:pPr algn="l">
              <a:defRPr sz="2250" b="1">
                <a:solidFill>
                  <a:srgbClr val="214E7F"/>
                </a:solidFill>
                <a:latin typeface="Arial"/>
                <a:ea typeface="Arial"/>
                <a:cs typeface="Arial"/>
              </a:defRPr>
            </a:pPr>
            <a:r>
              <a:rPr sz="2250" b="1">
                <a:solidFill>
                  <a:srgbClr val="214E7F"/>
                </a:solidFill>
                <a:latin typeface="Arial"/>
                <a:ea typeface="Arial"/>
                <a:cs typeface="Arial"/>
              </a:rPr>
              <a:t>Proposed deposit pattern on token chains</a:t>
            </a:r>
          </a:p>
        </p:txBody>
      </p:sp>
      <p:sp>
        <p:nvSpPr>
          <p:cNvPr id="17426" name="tsf_29">
            <a:extLst>
              <a:ext uri="{FF2B5EF4-FFF2-40B4-BE49-F238E27FC236}">
                <a16:creationId xmlns:a16="http://schemas.microsoft.com/office/drawing/2014/main" id="{F8A766A3-EBE9-4DE2-9AC5-67E8F0440CB6}"/>
              </a:ext>
            </a:extLst>
          </p:cNvPr>
          <p:cNvSpPr>
            <a:spLocks noGrp="1"/>
          </p:cNvSpPr>
          <p:nvPr/>
        </p:nvSpPr>
        <p:spPr>
          <a:xfrm>
            <a:off x="457200" y="4343400"/>
            <a:ext cx="2238375" cy="809625"/>
          </a:xfrm>
          <a:prstGeom prst="rect">
            <a:avLst/>
          </a:prstGeom>
          <a:solidFill>
            <a:srgbClr val="FFFFFF"/>
          </a:solidFill>
          <a:ln w="13335">
            <a:solidFill>
              <a:srgbClr val="214E7F"/>
            </a:solidFill>
          </a:ln>
        </p:spPr>
        <p:txBody>
          <a:bodyPr lIns="76200" tIns="47625" rIns="76200" bIns="47625" anchor="ctr">
            <a:noAutofit/>
          </a:bodyPr>
          <a:lstStyle/>
          <a:p>
            <a:pPr algn="ctr">
              <a:defRPr sz="2400">
                <a:solidFill>
                  <a:srgbClr val="111111"/>
                </a:solidFill>
                <a:latin typeface="Arial"/>
                <a:ea typeface="Arial"/>
                <a:cs typeface="Arial"/>
              </a:defRPr>
            </a:pPr>
            <a:r>
              <a:rPr sz="2400">
                <a:solidFill>
                  <a:srgbClr val="111111"/>
                </a:solidFill>
                <a:latin typeface="Arial"/>
                <a:ea typeface="Arial"/>
                <a:cs typeface="Arial"/>
              </a:rPr>
              <a:t>Reported</a:t>
            </a:r>
          </a:p>
          <a:p>
            <a:pPr algn="ctr">
              <a:defRPr sz="2400">
                <a:solidFill>
                  <a:srgbClr val="111111"/>
                </a:solidFill>
                <a:latin typeface="Arial"/>
                <a:ea typeface="Arial"/>
                <a:cs typeface="Arial"/>
              </a:defRPr>
            </a:pPr>
            <a:r>
              <a:rPr sz="2400">
                <a:solidFill>
                  <a:srgbClr val="111111"/>
                </a:solidFill>
                <a:latin typeface="Arial"/>
                <a:ea typeface="Arial"/>
                <a:cs typeface="Arial"/>
              </a:rPr>
              <a:t>wallet</a:t>
            </a:r>
          </a:p>
        </p:txBody>
      </p:sp>
      <p:sp>
        <p:nvSpPr>
          <p:cNvPr id="17427" name="tsf_30">
            <a:extLst>
              <a:ext uri="{FF2B5EF4-FFF2-40B4-BE49-F238E27FC236}">
                <a16:creationId xmlns:a16="http://schemas.microsoft.com/office/drawing/2014/main" id="{45AD0BB6-784E-42CA-8089-FB2ADBAA4EBC}"/>
              </a:ext>
            </a:extLst>
          </p:cNvPr>
          <p:cNvSpPr>
            <a:spLocks noGrp="1"/>
          </p:cNvSpPr>
          <p:nvPr/>
        </p:nvSpPr>
        <p:spPr>
          <a:xfrm>
            <a:off x="3448050" y="4343400"/>
            <a:ext cx="2476500" cy="809625"/>
          </a:xfrm>
          <a:prstGeom prst="rect">
            <a:avLst/>
          </a:prstGeom>
          <a:solidFill>
            <a:srgbClr val="FFFFFF"/>
          </a:solidFill>
          <a:ln w="13335">
            <a:solidFill>
              <a:srgbClr val="214E7F"/>
            </a:solidFill>
          </a:ln>
        </p:spPr>
        <p:txBody>
          <a:bodyPr lIns="76200" tIns="47625" rIns="76200" bIns="47625" anchor="ctr">
            <a:noAutofit/>
          </a:bodyPr>
          <a:lstStyle/>
          <a:p>
            <a:pPr algn="ctr">
              <a:defRPr sz="2400">
                <a:solidFill>
                  <a:srgbClr val="111111"/>
                </a:solidFill>
                <a:latin typeface="Arial"/>
                <a:ea typeface="Arial"/>
                <a:cs typeface="Arial"/>
              </a:defRPr>
            </a:pPr>
            <a:r>
              <a:rPr sz="2400">
                <a:solidFill>
                  <a:srgbClr val="111111"/>
                </a:solidFill>
                <a:latin typeface="Arial"/>
                <a:ea typeface="Arial"/>
                <a:cs typeface="Arial"/>
              </a:rPr>
              <a:t>Possible</a:t>
            </a:r>
          </a:p>
          <a:p>
            <a:pPr algn="ctr">
              <a:defRPr sz="2400">
                <a:solidFill>
                  <a:srgbClr val="111111"/>
                </a:solidFill>
                <a:latin typeface="Arial"/>
                <a:ea typeface="Arial"/>
                <a:cs typeface="Arial"/>
              </a:defRPr>
            </a:pPr>
            <a:r>
              <a:rPr sz="2400">
                <a:solidFill>
                  <a:srgbClr val="111111"/>
                </a:solidFill>
                <a:latin typeface="Arial"/>
                <a:ea typeface="Arial"/>
                <a:cs typeface="Arial"/>
              </a:rPr>
              <a:t>deposit wallet</a:t>
            </a:r>
          </a:p>
        </p:txBody>
      </p:sp>
      <p:sp>
        <p:nvSpPr>
          <p:cNvPr id="17428" name="tsf_31">
            <a:extLst>
              <a:ext uri="{FF2B5EF4-FFF2-40B4-BE49-F238E27FC236}">
                <a16:creationId xmlns:a16="http://schemas.microsoft.com/office/drawing/2014/main" id="{E2914848-BC7A-45C4-84A0-F5ECF6474738}"/>
              </a:ext>
            </a:extLst>
          </p:cNvPr>
          <p:cNvSpPr>
            <a:spLocks noGrp="1"/>
          </p:cNvSpPr>
          <p:nvPr/>
        </p:nvSpPr>
        <p:spPr>
          <a:xfrm>
            <a:off x="6677025" y="4343400"/>
            <a:ext cx="2705100" cy="809625"/>
          </a:xfrm>
          <a:prstGeom prst="rect">
            <a:avLst/>
          </a:prstGeom>
          <a:solidFill>
            <a:srgbClr val="FFFFFF"/>
          </a:solidFill>
          <a:ln w="13335">
            <a:solidFill>
              <a:srgbClr val="214E7F"/>
            </a:solidFill>
          </a:ln>
        </p:spPr>
        <p:txBody>
          <a:bodyPr lIns="76200" tIns="47625" rIns="76200" bIns="47625" anchor="ctr">
            <a:noAutofit/>
          </a:bodyPr>
          <a:lstStyle/>
          <a:p>
            <a:pPr algn="ctr">
              <a:defRPr sz="2400">
                <a:solidFill>
                  <a:srgbClr val="111111"/>
                </a:solidFill>
                <a:latin typeface="Arial"/>
                <a:ea typeface="Arial"/>
                <a:cs typeface="Arial"/>
              </a:defRPr>
            </a:pPr>
            <a:r>
              <a:rPr sz="2400">
                <a:solidFill>
                  <a:srgbClr val="111111"/>
                </a:solidFill>
                <a:latin typeface="Arial"/>
                <a:ea typeface="Arial"/>
                <a:cs typeface="Arial"/>
              </a:rPr>
              <a:t>Known exchange</a:t>
            </a:r>
          </a:p>
          <a:p>
            <a:pPr algn="ctr">
              <a:defRPr sz="2400">
                <a:solidFill>
                  <a:srgbClr val="111111"/>
                </a:solidFill>
                <a:latin typeface="Arial"/>
                <a:ea typeface="Arial"/>
                <a:cs typeface="Arial"/>
              </a:defRPr>
            </a:pPr>
            <a:r>
              <a:rPr sz="2400">
                <a:solidFill>
                  <a:srgbClr val="111111"/>
                </a:solidFill>
                <a:latin typeface="Arial"/>
                <a:ea typeface="Arial"/>
                <a:cs typeface="Arial"/>
              </a:rPr>
              <a:t>collection wallet</a:t>
            </a:r>
          </a:p>
        </p:txBody>
      </p:sp>
      <p:sp>
        <p:nvSpPr>
          <p:cNvPr id="17429" name="tsf_34">
            <a:extLst>
              <a:ext uri="{FF2B5EF4-FFF2-40B4-BE49-F238E27FC236}">
                <a16:creationId xmlns:a16="http://schemas.microsoft.com/office/drawing/2014/main" id="{66A05D0E-84AE-4C42-AE49-93991C2D735F}"/>
              </a:ext>
            </a:extLst>
          </p:cNvPr>
          <p:cNvSpPr>
            <a:spLocks noGrp="1"/>
          </p:cNvSpPr>
          <p:nvPr/>
        </p:nvSpPr>
        <p:spPr>
          <a:xfrm>
            <a:off x="9534525" y="3381375"/>
            <a:ext cx="2209800" cy="714375"/>
          </a:xfrm>
          <a:prstGeom prst="rect">
            <a:avLst/>
          </a:prstGeom>
          <a:solidFill>
            <a:srgbClr val="FFFFFF"/>
          </a:solidFill>
          <a:ln w="13335">
            <a:solidFill>
              <a:srgbClr val="214E7F"/>
            </a:solidFill>
          </a:ln>
        </p:spPr>
        <p:txBody>
          <a:bodyPr lIns="76200" tIns="47625" rIns="76200" bIns="47625" anchor="ctr">
            <a:noAutofit/>
          </a:bodyPr>
          <a:lstStyle/>
          <a:p>
            <a:pPr algn="ctr">
              <a:defRPr sz="2400">
                <a:solidFill>
                  <a:srgbClr val="111111"/>
                </a:solidFill>
                <a:latin typeface="Arial"/>
                <a:ea typeface="Arial"/>
                <a:cs typeface="Arial"/>
              </a:defRPr>
            </a:pPr>
            <a:r>
              <a:rPr sz="2400">
                <a:solidFill>
                  <a:srgbClr val="111111"/>
                </a:solidFill>
                <a:latin typeface="Arial"/>
                <a:ea typeface="Arial"/>
                <a:cs typeface="Arial"/>
              </a:rPr>
              <a:t>Service fee</a:t>
            </a:r>
          </a:p>
          <a:p>
            <a:pPr algn="ctr">
              <a:defRPr sz="2400">
                <a:solidFill>
                  <a:srgbClr val="111111"/>
                </a:solidFill>
                <a:latin typeface="Arial"/>
                <a:ea typeface="Arial"/>
                <a:cs typeface="Arial"/>
              </a:defRPr>
            </a:pPr>
            <a:r>
              <a:rPr sz="2400">
                <a:solidFill>
                  <a:srgbClr val="111111"/>
                </a:solidFill>
                <a:latin typeface="Arial"/>
                <a:ea typeface="Arial"/>
                <a:cs typeface="Arial"/>
              </a:rPr>
              <a:t>wallet</a:t>
            </a:r>
          </a:p>
        </p:txBody>
      </p:sp>
      <p:sp>
        <p:nvSpPr>
          <p:cNvPr id="17430" name="tsf_36">
            <a:extLst>
              <a:ext uri="{FF2B5EF4-FFF2-40B4-BE49-F238E27FC236}">
                <a16:creationId xmlns:a16="http://schemas.microsoft.com/office/drawing/2014/main" id="{E9B4D4E9-4429-4F96-889C-E53F249B2DA2}"/>
              </a:ext>
            </a:extLst>
          </p:cNvPr>
          <p:cNvSpPr>
            <a:spLocks noGrp="1"/>
          </p:cNvSpPr>
          <p:nvPr/>
        </p:nvSpPr>
        <p:spPr>
          <a:xfrm>
            <a:off x="600075" y="5267325"/>
            <a:ext cx="8648700" cy="323850"/>
          </a:xfrm>
          <a:prstGeom prst="rect">
            <a:avLst/>
          </a:prstGeom>
          <a:noFill/>
          <a:ln w="0">
            <a:noFill/>
          </a:ln>
        </p:spPr>
        <p:txBody>
          <a:bodyPr wrap="square" lIns="0" tIns="0" rIns="0" bIns="0" anchor="t">
            <a:noAutofit/>
          </a:bodyPr>
          <a:lstStyle/>
          <a:p>
            <a:pPr algn="l">
              <a:defRPr sz="1800" b="0">
                <a:solidFill>
                  <a:srgbClr val="4C5964"/>
                </a:solidFill>
                <a:latin typeface="Arial"/>
                <a:ea typeface="Arial"/>
                <a:cs typeface="Arial"/>
              </a:defRPr>
            </a:pPr>
            <a:r>
              <a:rPr sz="1800" b="0">
                <a:solidFill>
                  <a:srgbClr val="4C5964"/>
                </a:solidFill>
                <a:latin typeface="Arial"/>
                <a:ea typeface="Arial"/>
                <a:cs typeface="Arial"/>
              </a:rPr>
              <a:t>Repeated collection + service fee funding suggest a role, not ownership.</a:t>
            </a:r>
          </a:p>
        </p:txBody>
      </p:sp>
      <p:sp>
        <p:nvSpPr>
          <p:cNvPr id="17431" name="tsf_37">
            <a:extLst>
              <a:ext uri="{FF2B5EF4-FFF2-40B4-BE49-F238E27FC236}">
                <a16:creationId xmlns:a16="http://schemas.microsoft.com/office/drawing/2014/main" id="{641B7D9B-D290-4713-B4D4-A7F74B2C61AE}"/>
              </a:ext>
            </a:extLst>
          </p:cNvPr>
          <p:cNvSpPr>
            <a:spLocks noGrp="1"/>
          </p:cNvSpPr>
          <p:nvPr/>
        </p:nvSpPr>
        <p:spPr>
          <a:xfrm>
            <a:off x="457200" y="5791200"/>
            <a:ext cx="11258550" cy="381000"/>
          </a:xfrm>
          <a:prstGeom prst="rect">
            <a:avLst/>
          </a:prstGeom>
          <a:noFill/>
          <a:ln w="0">
            <a:noFill/>
          </a:ln>
        </p:spPr>
        <p:txBody>
          <a:bodyPr wrap="square" lIns="0" tIns="0" rIns="0" bIns="0" anchor="t">
            <a:noAutofit/>
          </a:bodyPr>
          <a:lstStyle/>
          <a:p>
            <a:pPr algn="l">
              <a:defRPr sz="1950" b="0">
                <a:solidFill>
                  <a:srgbClr val="214E7F"/>
                </a:solidFill>
                <a:latin typeface="Arial"/>
                <a:ea typeface="Arial"/>
                <a:cs typeface="Arial"/>
              </a:defRPr>
            </a:pPr>
            <a:r>
              <a:rPr sz="1950" b="0">
                <a:solidFill>
                  <a:srgbClr val="214E7F"/>
                </a:solidFill>
                <a:latin typeface="Arial"/>
                <a:ea typeface="Arial"/>
                <a:cs typeface="Arial"/>
              </a:rPr>
              <a:t>Python / FastAPI     React / TypeScript     SQLite     Cytoscape graph 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sf_38">
            <a:extLst>
              <a:ext uri="{FF2B5EF4-FFF2-40B4-BE49-F238E27FC236}">
                <a16:creationId xmlns:a16="http://schemas.microsoft.com/office/drawing/2014/main" id="{500D1AEB-DA8C-465D-B20C-51A4980D0276}"/>
              </a:ext>
            </a:extLst>
          </p:cNvPr>
          <p:cNvSpPr>
            <a:spLocks noGrp="1"/>
          </p:cNvSpPr>
          <p:nvPr/>
        </p:nvSpPr>
        <p:spPr>
          <a:xfrm>
            <a:off x="457200" y="1390650"/>
            <a:ext cx="6143625" cy="381000"/>
          </a:xfrm>
          <a:prstGeom prst="rect">
            <a:avLst/>
          </a:prstGeom>
          <a:noFill/>
          <a:ln w="0">
            <a:noFill/>
          </a:ln>
        </p:spPr>
        <p:txBody>
          <a:bodyPr wrap="square" lIns="0" tIns="0" rIns="0" bIns="0" anchor="t">
            <a:noAutofit/>
          </a:bodyPr>
          <a:lstStyle/>
          <a:p>
            <a:pPr algn="l">
              <a:defRPr sz="2400" b="1">
                <a:solidFill>
                  <a:srgbClr val="214E7F"/>
                </a:solidFill>
                <a:latin typeface="Arial"/>
                <a:ea typeface="Arial"/>
                <a:cs typeface="Arial"/>
              </a:defRPr>
            </a:pPr>
            <a:r>
              <a:rPr sz="2400" b="1">
                <a:solidFill>
                  <a:srgbClr val="214E7F"/>
                </a:solidFill>
                <a:latin typeface="Arial"/>
                <a:ea typeface="Arial"/>
                <a:cs typeface="Arial"/>
              </a:rPr>
              <a:t>WORKING PROTOTYPE</a:t>
            </a:r>
          </a:p>
        </p:txBody>
      </p:sp>
      <p:pic>
        <p:nvPicPr>
          <p:cNvPr id="17411" name="TraceSetu actual prototype screenshot" descr="Synthetic training case in the actual TraceSetu prototype. Wallets and service names are fictional."/>
          <p:cNvPicPr>
            <a:picLocks noChangeAspect="1"/>
          </p:cNvPicPr>
          <p:nvPr/>
        </p:nvPicPr>
        <p:blipFill>
          <a:blip r:embed="rIdTraceSetu1"/>
          <a:srcRect l="15100" t="15000" r="1200" b="38200"/>
          <a:stretch/>
        </p:blipFill>
        <p:spPr>
          <a:xfrm>
            <a:off x="457200" y="1914525"/>
            <a:ext cx="6334125" cy="3619500"/>
          </a:xfrm>
          <a:prstGeom prst="rect">
            <a:avLst/>
          </a:prstGeom>
        </p:spPr>
      </p:pic>
      <p:sp>
        <p:nvSpPr>
          <p:cNvPr id="17412" name="tsf_39">
            <a:extLst>
              <a:ext uri="{FF2B5EF4-FFF2-40B4-BE49-F238E27FC236}">
                <a16:creationId xmlns:a16="http://schemas.microsoft.com/office/drawing/2014/main" id="{3EDF7BD5-F25D-4CA2-BEFC-02E56FB5A8E8}"/>
              </a:ext>
            </a:extLst>
          </p:cNvPr>
          <p:cNvSpPr>
            <a:spLocks noGrp="1"/>
          </p:cNvSpPr>
          <p:nvPr/>
        </p:nvSpPr>
        <p:spPr>
          <a:xfrm>
            <a:off x="457200" y="5638800"/>
            <a:ext cx="6334125" cy="304800"/>
          </a:xfrm>
          <a:prstGeom prst="rect">
            <a:avLst/>
          </a:prstGeom>
          <a:noFill/>
          <a:ln w="0">
            <a:noFill/>
          </a:ln>
        </p:spPr>
        <p:txBody>
          <a:bodyPr wrap="square" lIns="0" tIns="0" rIns="0" bIns="0" anchor="t">
            <a:noAutofit/>
          </a:bodyPr>
          <a:lstStyle/>
          <a:p>
            <a:pPr algn="l">
              <a:defRPr sz="1800" b="0">
                <a:solidFill>
                  <a:srgbClr val="4C5964"/>
                </a:solidFill>
                <a:latin typeface="Arial"/>
                <a:ea typeface="Arial"/>
                <a:cs typeface="Arial"/>
              </a:defRPr>
            </a:pPr>
            <a:r>
              <a:rPr sz="1800" b="0">
                <a:solidFill>
                  <a:srgbClr val="4C5964"/>
                </a:solidFill>
                <a:latin typeface="Arial"/>
                <a:ea typeface="Arial"/>
                <a:cs typeface="Arial"/>
              </a:rPr>
              <a:t>Actual interface. Synthetic training case.</a:t>
            </a:r>
          </a:p>
        </p:txBody>
      </p:sp>
      <p:sp>
        <p:nvSpPr>
          <p:cNvPr id="17413" name="tsf_40">
            <a:extLst>
              <a:ext uri="{FF2B5EF4-FFF2-40B4-BE49-F238E27FC236}">
                <a16:creationId xmlns:a16="http://schemas.microsoft.com/office/drawing/2014/main" id="{5BE98567-2368-4845-9CED-2DACB9F5C297}"/>
              </a:ext>
            </a:extLst>
          </p:cNvPr>
          <p:cNvSpPr>
            <a:spLocks noGrp="1"/>
          </p:cNvSpPr>
          <p:nvPr/>
        </p:nvSpPr>
        <p:spPr>
          <a:xfrm>
            <a:off x="7153275" y="1400175"/>
            <a:ext cx="4572000" cy="361950"/>
          </a:xfrm>
          <a:prstGeom prst="rect">
            <a:avLst/>
          </a:prstGeom>
          <a:noFill/>
          <a:ln w="0">
            <a:noFill/>
          </a:ln>
        </p:spPr>
        <p:txBody>
          <a:bodyPr wrap="square" lIns="0" tIns="0" rIns="0" bIns="0" anchor="t">
            <a:noAutofit/>
          </a:bodyPr>
          <a:lstStyle/>
          <a:p>
            <a:pPr algn="l">
              <a:defRPr sz="2250" b="1">
                <a:solidFill>
                  <a:srgbClr val="214E7F"/>
                </a:solidFill>
                <a:latin typeface="Arial"/>
                <a:ea typeface="Arial"/>
                <a:cs typeface="Arial"/>
              </a:defRPr>
            </a:pPr>
            <a:r>
              <a:rPr sz="2250" b="1">
                <a:solidFill>
                  <a:srgbClr val="214E7F"/>
                </a:solidFill>
                <a:latin typeface="Arial"/>
                <a:ea typeface="Arial"/>
                <a:cs typeface="Arial"/>
              </a:rPr>
              <a:t>BUILT AND TESTED</a:t>
            </a:r>
          </a:p>
        </p:txBody>
      </p:sp>
      <p:sp>
        <p:nvSpPr>
          <p:cNvPr id="17414" name="tsf_41">
            <a:extLst>
              <a:ext uri="{FF2B5EF4-FFF2-40B4-BE49-F238E27FC236}">
                <a16:creationId xmlns:a16="http://schemas.microsoft.com/office/drawing/2014/main" id="{FAFFE7BC-4001-410A-B9AC-420B6176E99E}"/>
              </a:ext>
            </a:extLst>
          </p:cNvPr>
          <p:cNvSpPr>
            <a:spLocks noGrp="1"/>
          </p:cNvSpPr>
          <p:nvPr/>
        </p:nvSpPr>
        <p:spPr>
          <a:xfrm>
            <a:off x="7153275" y="1828800"/>
            <a:ext cx="4572000" cy="971550"/>
          </a:xfrm>
          <a:prstGeom prst="rect">
            <a:avLst/>
          </a:prstGeom>
          <a:noFill/>
          <a:ln w="0">
            <a:noFill/>
          </a:ln>
        </p:spPr>
        <p:txBody>
          <a:bodyPr wrap="square" lIns="0" tIns="0" rIns="0" bIns="0" anchor="t">
            <a:noAutofit/>
          </a:bodyPr>
          <a:lstStyle/>
          <a:p>
            <a:pPr algn="l">
              <a:defRPr sz="2100" b="0">
                <a:solidFill>
                  <a:srgbClr val="111111"/>
                </a:solidFill>
                <a:latin typeface="Arial"/>
                <a:ea typeface="Arial"/>
                <a:cs typeface="Arial"/>
              </a:defRPr>
            </a:pPr>
            <a:r>
              <a:rPr sz="2100" b="0">
                <a:solidFill>
                  <a:srgbClr val="111111"/>
                </a:solidFill>
                <a:latin typeface="Arial"/>
                <a:ea typeface="Arial"/>
                <a:cs typeface="Arial"/>
              </a:rPr>
              <a:t>Case tracing, source challenge,</a:t>
            </a:r>
          </a:p>
          <a:p>
            <a:pPr algn="l">
              <a:defRPr sz="2100" b="0">
                <a:solidFill>
                  <a:srgbClr val="111111"/>
                </a:solidFill>
                <a:latin typeface="Arial"/>
                <a:ea typeface="Arial"/>
                <a:cs typeface="Arial"/>
              </a:defRPr>
            </a:pPr>
            <a:r>
              <a:rPr sz="2100" b="0">
                <a:solidFill>
                  <a:srgbClr val="111111"/>
                </a:solidFill>
                <a:latin typeface="Arial"/>
                <a:ea typeface="Arial"/>
                <a:cs typeface="Arial"/>
              </a:rPr>
              <a:t>query budgets and signed</a:t>
            </a:r>
          </a:p>
          <a:p>
            <a:pPr algn="l">
              <a:defRPr sz="2100" b="0">
                <a:solidFill>
                  <a:srgbClr val="111111"/>
                </a:solidFill>
                <a:latin typeface="Arial"/>
                <a:ea typeface="Arial"/>
                <a:cs typeface="Arial"/>
              </a:defRPr>
            </a:pPr>
            <a:r>
              <a:rPr sz="2100" b="0">
                <a:solidFill>
                  <a:srgbClr val="111111"/>
                </a:solidFill>
                <a:latin typeface="Arial"/>
                <a:ea typeface="Arial"/>
                <a:cs typeface="Arial"/>
              </a:rPr>
              <a:t>evidence export.</a:t>
            </a:r>
          </a:p>
        </p:txBody>
      </p:sp>
      <p:sp>
        <p:nvSpPr>
          <p:cNvPr id="17415" name="tsf_42">
            <a:extLst>
              <a:ext uri="{FF2B5EF4-FFF2-40B4-BE49-F238E27FC236}">
                <a16:creationId xmlns:a16="http://schemas.microsoft.com/office/drawing/2014/main" id="{5F73DC85-A4E1-4935-B195-05782A7A9DF0}"/>
              </a:ext>
            </a:extLst>
          </p:cNvPr>
          <p:cNvSpPr>
            <a:spLocks noGrp="1"/>
          </p:cNvSpPr>
          <p:nvPr/>
        </p:nvSpPr>
        <p:spPr>
          <a:xfrm>
            <a:off x="7153275" y="2905125"/>
            <a:ext cx="4572000" cy="361950"/>
          </a:xfrm>
          <a:prstGeom prst="rect">
            <a:avLst/>
          </a:prstGeom>
          <a:noFill/>
          <a:ln w="0">
            <a:noFill/>
          </a:ln>
        </p:spPr>
        <p:txBody>
          <a:bodyPr wrap="square" lIns="0" tIns="0" rIns="0" bIns="0" anchor="t">
            <a:noAutofit/>
          </a:bodyPr>
          <a:lstStyle/>
          <a:p>
            <a:pPr algn="l">
              <a:defRPr sz="2250" b="1">
                <a:solidFill>
                  <a:srgbClr val="214E7F"/>
                </a:solidFill>
                <a:latin typeface="Arial"/>
                <a:ea typeface="Arial"/>
                <a:cs typeface="Arial"/>
              </a:defRPr>
            </a:pPr>
            <a:r>
              <a:rPr sz="2250" b="1">
                <a:solidFill>
                  <a:srgbClr val="214E7F"/>
                </a:solidFill>
                <a:latin typeface="Arial"/>
                <a:ea typeface="Arial"/>
                <a:cs typeface="Arial"/>
              </a:rPr>
              <a:t>RESEARCH CHECK</a:t>
            </a:r>
          </a:p>
        </p:txBody>
      </p:sp>
      <p:sp>
        <p:nvSpPr>
          <p:cNvPr id="17416" name="tsf_43">
            <a:extLst>
              <a:ext uri="{FF2B5EF4-FFF2-40B4-BE49-F238E27FC236}">
                <a16:creationId xmlns:a16="http://schemas.microsoft.com/office/drawing/2014/main" id="{C48EA2DA-FBFE-4254-86F9-FDE909847336}"/>
              </a:ext>
            </a:extLst>
          </p:cNvPr>
          <p:cNvSpPr>
            <a:spLocks noGrp="1"/>
          </p:cNvSpPr>
          <p:nvPr/>
        </p:nvSpPr>
        <p:spPr>
          <a:xfrm>
            <a:off x="7153275" y="3333750"/>
            <a:ext cx="4572000" cy="971550"/>
          </a:xfrm>
          <a:prstGeom prst="rect">
            <a:avLst/>
          </a:prstGeom>
          <a:noFill/>
          <a:ln w="0">
            <a:noFill/>
          </a:ln>
        </p:spPr>
        <p:txBody>
          <a:bodyPr wrap="square" lIns="0" tIns="0" rIns="0" bIns="0" anchor="t">
            <a:noAutofit/>
          </a:bodyPr>
          <a:lstStyle/>
          <a:p>
            <a:pPr algn="l">
              <a:defRPr sz="2025" b="0">
                <a:solidFill>
                  <a:srgbClr val="111111"/>
                </a:solidFill>
                <a:latin typeface="Arial"/>
                <a:ea typeface="Arial"/>
                <a:cs typeface="Arial"/>
              </a:defRPr>
            </a:pPr>
            <a:r>
              <a:rPr sz="2025" b="0">
                <a:solidFill>
                  <a:srgbClr val="111111"/>
                </a:solidFill>
                <a:latin typeface="Arial"/>
                <a:ea typeface="Arial"/>
                <a:cs typeface="Arial"/>
              </a:rPr>
              <a:t>Separate detector: 64 synthetic</a:t>
            </a:r>
          </a:p>
          <a:p>
            <a:pPr algn="l">
              <a:defRPr sz="2025" b="0">
                <a:solidFill>
                  <a:srgbClr val="111111"/>
                </a:solidFill>
                <a:latin typeface="Arial"/>
                <a:ea typeface="Arial"/>
                <a:cs typeface="Arial"/>
              </a:defRPr>
            </a:pPr>
            <a:r>
              <a:rPr sz="2025" b="0">
                <a:solidFill>
                  <a:srgbClr val="111111"/>
                </a:solidFill>
                <a:latin typeface="Arial"/>
                <a:ea typeface="Arial"/>
                <a:cs typeface="Arial"/>
              </a:rPr>
              <a:t>tests pass. MVP integration and</a:t>
            </a:r>
          </a:p>
          <a:p>
            <a:pPr algn="l">
              <a:defRPr sz="2025" b="0">
                <a:solidFill>
                  <a:srgbClr val="111111"/>
                </a:solidFill>
                <a:latin typeface="Arial"/>
                <a:ea typeface="Arial"/>
                <a:cs typeface="Arial"/>
              </a:defRPr>
            </a:pPr>
            <a:r>
              <a:rPr sz="2025" b="0">
                <a:solidFill>
                  <a:srgbClr val="111111"/>
                </a:solidFill>
                <a:latin typeface="Arial"/>
                <a:ea typeface="Arial"/>
                <a:cs typeface="Arial"/>
              </a:rPr>
              <a:t>independent live validation pending.</a:t>
            </a:r>
          </a:p>
        </p:txBody>
      </p:sp>
      <p:sp>
        <p:nvSpPr>
          <p:cNvPr id="17417" name="tsf_44">
            <a:extLst>
              <a:ext uri="{FF2B5EF4-FFF2-40B4-BE49-F238E27FC236}">
                <a16:creationId xmlns:a16="http://schemas.microsoft.com/office/drawing/2014/main" id="{8753AD78-0416-4906-9D73-5FDDC64477AE}"/>
              </a:ext>
            </a:extLst>
          </p:cNvPr>
          <p:cNvSpPr>
            <a:spLocks noGrp="1"/>
          </p:cNvSpPr>
          <p:nvPr/>
        </p:nvSpPr>
        <p:spPr>
          <a:xfrm>
            <a:off x="7153275" y="4333875"/>
            <a:ext cx="4572000" cy="361950"/>
          </a:xfrm>
          <a:prstGeom prst="rect">
            <a:avLst/>
          </a:prstGeom>
          <a:noFill/>
          <a:ln w="0">
            <a:noFill/>
          </a:ln>
        </p:spPr>
        <p:txBody>
          <a:bodyPr wrap="square" lIns="0" tIns="0" rIns="0" bIns="0" anchor="t">
            <a:noAutofit/>
          </a:bodyPr>
          <a:lstStyle/>
          <a:p>
            <a:pPr algn="l">
              <a:defRPr sz="2250" b="1">
                <a:solidFill>
                  <a:srgbClr val="214E7F"/>
                </a:solidFill>
                <a:latin typeface="Arial"/>
                <a:ea typeface="Arial"/>
                <a:cs typeface="Arial"/>
              </a:defRPr>
            </a:pPr>
            <a:r>
              <a:rPr sz="2250" b="1">
                <a:solidFill>
                  <a:srgbClr val="214E7F"/>
                </a:solidFill>
                <a:latin typeface="Arial"/>
                <a:ea typeface="Arial"/>
                <a:cs typeface="Arial"/>
              </a:rPr>
              <a:t>RISK AND CONTROL</a:t>
            </a:r>
          </a:p>
        </p:txBody>
      </p:sp>
      <p:sp>
        <p:nvSpPr>
          <p:cNvPr id="17418" name="tsf_45">
            <a:extLst>
              <a:ext uri="{FF2B5EF4-FFF2-40B4-BE49-F238E27FC236}">
                <a16:creationId xmlns:a16="http://schemas.microsoft.com/office/drawing/2014/main" id="{43BC83C0-692C-423D-9053-3035C75C0D7D}"/>
              </a:ext>
            </a:extLst>
          </p:cNvPr>
          <p:cNvSpPr>
            <a:spLocks noGrp="1"/>
          </p:cNvSpPr>
          <p:nvPr/>
        </p:nvSpPr>
        <p:spPr>
          <a:xfrm>
            <a:off x="7153275" y="4762500"/>
            <a:ext cx="4572000" cy="857250"/>
          </a:xfrm>
          <a:prstGeom prst="rect">
            <a:avLst/>
          </a:prstGeom>
          <a:noFill/>
          <a:ln w="0">
            <a:noFill/>
          </a:ln>
        </p:spPr>
        <p:txBody>
          <a:bodyPr wrap="square" lIns="0" tIns="0" rIns="0" bIns="0" anchor="t">
            <a:noAutofit/>
          </a:bodyPr>
          <a:lstStyle/>
          <a:p>
            <a:pPr algn="l">
              <a:defRPr sz="2100" b="0">
                <a:solidFill>
                  <a:srgbClr val="111111"/>
                </a:solidFill>
                <a:latin typeface="Arial"/>
                <a:ea typeface="Arial"/>
                <a:cs typeface="Arial"/>
              </a:defRPr>
            </a:pPr>
            <a:r>
              <a:rPr sz="2100" b="0">
                <a:solidFill>
                  <a:srgbClr val="111111"/>
                </a:solidFill>
                <a:latin typeface="Arial"/>
                <a:ea typeface="Arial"/>
                <a:cs typeface="Arial"/>
              </a:rPr>
              <a:t>Customers can imitate deposits.</a:t>
            </a:r>
          </a:p>
          <a:p>
            <a:pPr algn="l">
              <a:defRPr sz="2100" b="0">
                <a:solidFill>
                  <a:srgbClr val="111111"/>
                </a:solidFill>
                <a:latin typeface="Arial"/>
                <a:ea typeface="Arial"/>
                <a:cs typeface="Arial"/>
              </a:defRPr>
            </a:pPr>
            <a:r>
              <a:rPr sz="2100" b="0">
                <a:solidFill>
                  <a:srgbClr val="111111"/>
                </a:solidFill>
                <a:latin typeface="Arial"/>
                <a:ea typeface="Arial"/>
                <a:cs typeface="Arial"/>
              </a:rPr>
              <a:t>Retain a hypothesis until</a:t>
            </a:r>
          </a:p>
          <a:p>
            <a:pPr algn="l">
              <a:defRPr sz="2100" b="0">
                <a:solidFill>
                  <a:srgbClr val="111111"/>
                </a:solidFill>
                <a:latin typeface="Arial"/>
                <a:ea typeface="Arial"/>
                <a:cs typeface="Arial"/>
              </a:defRPr>
            </a:pPr>
            <a:r>
              <a:rPr sz="2100" b="0">
                <a:solidFill>
                  <a:srgbClr val="111111"/>
                </a:solidFill>
                <a:latin typeface="Arial"/>
                <a:ea typeface="Arial"/>
                <a:cs typeface="Arial"/>
              </a:rPr>
              <a:t>independently confirmed.</a:t>
            </a:r>
          </a:p>
        </p:txBody>
      </p:sp>
      <p:sp>
        <p:nvSpPr>
          <p:cNvPr id="17419" name="tsf_46">
            <a:extLst>
              <a:ext uri="{FF2B5EF4-FFF2-40B4-BE49-F238E27FC236}">
                <a16:creationId xmlns:a16="http://schemas.microsoft.com/office/drawing/2014/main" id="{578EE462-BAF3-4C30-AEEB-26FDAE478601}"/>
              </a:ext>
            </a:extLst>
          </p:cNvPr>
          <p:cNvSpPr>
            <a:spLocks noGrp="1"/>
          </p:cNvSpPr>
          <p:nvPr/>
        </p:nvSpPr>
        <p:spPr>
          <a:xfrm>
            <a:off x="457200" y="6048375"/>
            <a:ext cx="11277600" cy="257175"/>
          </a:xfrm>
          <a:prstGeom prst="rect">
            <a:avLst/>
          </a:prstGeom>
          <a:noFill/>
          <a:ln w="0">
            <a:noFill/>
          </a:ln>
        </p:spPr>
        <p:txBody>
          <a:bodyPr wrap="square" lIns="0" tIns="0" rIns="0" bIns="0" anchor="t">
            <a:noAutofit/>
          </a:bodyPr>
          <a:lstStyle/>
          <a:p>
            <a:pPr algn="l">
              <a:defRPr sz="1725" b="0">
                <a:solidFill>
                  <a:srgbClr val="4C5964"/>
                </a:solidFill>
                <a:latin typeface="Arial"/>
                <a:ea typeface="Arial"/>
                <a:cs typeface="Arial"/>
              </a:defRPr>
            </a:pPr>
            <a:r>
              <a:rPr sz="1725" b="0">
                <a:solidFill>
                  <a:srgbClr val="4C5964"/>
                </a:solidFill>
                <a:latin typeface="Arial"/>
                <a:ea typeface="Arial"/>
                <a:cs typeface="Arial"/>
              </a:rPr>
              <a:t>BTC / ETH / BNB / Polygon / Tron / Solana adapters. Public/free APIs. SAHYOG not connected.</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sf_47">
            <a:extLst>
              <a:ext uri="{FF2B5EF4-FFF2-40B4-BE49-F238E27FC236}">
                <a16:creationId xmlns:a16="http://schemas.microsoft.com/office/drawing/2014/main" id="{9DB99702-278E-401F-800C-A35938E1C925}"/>
              </a:ext>
            </a:extLst>
          </p:cNvPr>
          <p:cNvSpPr>
            <a:spLocks noGrp="1"/>
          </p:cNvSpPr>
          <p:nvPr/>
        </p:nvSpPr>
        <p:spPr>
          <a:xfrm>
            <a:off x="457200" y="1419225"/>
            <a:ext cx="11049000" cy="409575"/>
          </a:xfrm>
          <a:prstGeom prst="rect">
            <a:avLst/>
          </a:prstGeom>
          <a:noFill/>
          <a:ln w="0">
            <a:noFill/>
          </a:ln>
        </p:spPr>
        <p:txBody>
          <a:bodyPr wrap="square" lIns="0" tIns="0" rIns="0" bIns="0" anchor="t">
            <a:noAutofit/>
          </a:bodyPr>
          <a:lstStyle/>
          <a:p>
            <a:pPr algn="l">
              <a:defRPr sz="2700" b="1">
                <a:solidFill>
                  <a:srgbClr val="214E7F"/>
                </a:solidFill>
                <a:latin typeface="Arial"/>
                <a:ea typeface="Arial"/>
                <a:cs typeface="Arial"/>
              </a:defRPr>
            </a:pPr>
            <a:r>
              <a:rPr sz="2700" b="1">
                <a:solidFill>
                  <a:srgbClr val="214E7F"/>
                </a:solidFill>
                <a:latin typeface="Arial"/>
                <a:ea typeface="Arial"/>
                <a:cs typeface="Arial"/>
              </a:rPr>
              <a:t>A better-supported decision about whom to approach</a:t>
            </a:r>
          </a:p>
        </p:txBody>
      </p:sp>
      <p:sp>
        <p:nvSpPr>
          <p:cNvPr id="17411" name="tsf_48">
            <a:extLst>
              <a:ext uri="{FF2B5EF4-FFF2-40B4-BE49-F238E27FC236}">
                <a16:creationId xmlns:a16="http://schemas.microsoft.com/office/drawing/2014/main" id="{39FCB779-4A48-4808-A8F2-3D747E4570AD}"/>
              </a:ext>
            </a:extLst>
          </p:cNvPr>
          <p:cNvSpPr>
            <a:spLocks noGrp="1"/>
          </p:cNvSpPr>
          <p:nvPr/>
        </p:nvSpPr>
        <p:spPr>
          <a:xfrm>
            <a:off x="457200" y="2190750"/>
            <a:ext cx="2609850" cy="361950"/>
          </a:xfrm>
          <a:prstGeom prst="rect">
            <a:avLst/>
          </a:prstGeom>
          <a:noFill/>
          <a:ln w="0">
            <a:noFill/>
          </a:ln>
        </p:spPr>
        <p:txBody>
          <a:bodyPr wrap="square" lIns="0" tIns="0" rIns="0" bIns="0" anchor="t">
            <a:noAutofit/>
          </a:bodyPr>
          <a:lstStyle/>
          <a:p>
            <a:pPr algn="l">
              <a:defRPr sz="2100" b="1">
                <a:solidFill>
                  <a:srgbClr val="214E7F"/>
                </a:solidFill>
                <a:latin typeface="Arial"/>
                <a:ea typeface="Arial"/>
                <a:cs typeface="Arial"/>
              </a:defRPr>
            </a:pPr>
            <a:r>
              <a:rPr sz="2100" b="1">
                <a:solidFill>
                  <a:srgbClr val="214E7F"/>
                </a:solidFill>
                <a:latin typeface="Arial"/>
                <a:ea typeface="Arial"/>
                <a:cs typeface="Arial"/>
              </a:rPr>
              <a:t>INVESTIGATOR</a:t>
            </a:r>
          </a:p>
        </p:txBody>
      </p:sp>
      <p:sp>
        <p:nvSpPr>
          <p:cNvPr id="17412" name="tsf_49">
            <a:extLst>
              <a:ext uri="{FF2B5EF4-FFF2-40B4-BE49-F238E27FC236}">
                <a16:creationId xmlns:a16="http://schemas.microsoft.com/office/drawing/2014/main" id="{736901D6-E171-4C54-AC09-7C21820F827E}"/>
              </a:ext>
            </a:extLst>
          </p:cNvPr>
          <p:cNvSpPr>
            <a:spLocks noGrp="1"/>
          </p:cNvSpPr>
          <p:nvPr/>
        </p:nvSpPr>
        <p:spPr>
          <a:xfrm>
            <a:off x="3276600" y="2190750"/>
            <a:ext cx="8458200" cy="790575"/>
          </a:xfrm>
          <a:prstGeom prst="rect">
            <a:avLst/>
          </a:prstGeom>
          <a:noFill/>
          <a:ln w="0">
            <a:noFill/>
          </a:ln>
        </p:spPr>
        <p:txBody>
          <a:bodyPr wrap="square" lIns="0" tIns="0" rIns="0" bIns="0" anchor="t">
            <a:noAutofit/>
          </a:bodyPr>
          <a:lstStyle/>
          <a:p>
            <a:pPr algn="l">
              <a:defRPr sz="2400" b="0">
                <a:solidFill>
                  <a:srgbClr val="111111"/>
                </a:solidFill>
                <a:latin typeface="Arial"/>
                <a:ea typeface="Arial"/>
                <a:cs typeface="Arial"/>
              </a:defRPr>
            </a:pPr>
            <a:r>
              <a:rPr sz="2400" b="0">
                <a:solidFill>
                  <a:srgbClr val="111111"/>
                </a:solidFill>
                <a:latin typeface="Arial"/>
                <a:ea typeface="Arial"/>
                <a:cs typeface="Arial"/>
              </a:rPr>
              <a:t>See the receiving-service lead, its path and missing evidence.</a:t>
            </a:r>
          </a:p>
        </p:txBody>
      </p:sp>
      <p:sp>
        <p:nvSpPr>
          <p:cNvPr id="17413" name="tsf_50">
            <a:extLst>
              <a:ext uri="{FF2B5EF4-FFF2-40B4-BE49-F238E27FC236}">
                <a16:creationId xmlns:a16="http://schemas.microsoft.com/office/drawing/2014/main" id="{FC3CD287-95CD-47C1-963C-83DA81BFF91D}"/>
              </a:ext>
            </a:extLst>
          </p:cNvPr>
          <p:cNvSpPr>
            <a:spLocks noGrp="1"/>
          </p:cNvSpPr>
          <p:nvPr/>
        </p:nvSpPr>
        <p:spPr>
          <a:xfrm>
            <a:off x="457200" y="2990850"/>
            <a:ext cx="11277600" cy="0"/>
          </a:xfrm>
          <a:prstGeom prst="line">
            <a:avLst/>
          </a:prstGeom>
          <a:noFill/>
          <a:ln w="9525">
            <a:solidFill>
              <a:srgbClr val="BCCADA"/>
            </a:solidFill>
          </a:ln>
        </p:spPr>
      </p:sp>
      <p:sp>
        <p:nvSpPr>
          <p:cNvPr id="17414" name="tsf_51">
            <a:extLst>
              <a:ext uri="{FF2B5EF4-FFF2-40B4-BE49-F238E27FC236}">
                <a16:creationId xmlns:a16="http://schemas.microsoft.com/office/drawing/2014/main" id="{81428C63-B737-4F9D-8974-7881E5A7F4B9}"/>
              </a:ext>
            </a:extLst>
          </p:cNvPr>
          <p:cNvSpPr>
            <a:spLocks noGrp="1"/>
          </p:cNvSpPr>
          <p:nvPr/>
        </p:nvSpPr>
        <p:spPr>
          <a:xfrm>
            <a:off x="457200" y="3143250"/>
            <a:ext cx="2609850" cy="361950"/>
          </a:xfrm>
          <a:prstGeom prst="rect">
            <a:avLst/>
          </a:prstGeom>
          <a:noFill/>
          <a:ln w="0">
            <a:noFill/>
          </a:ln>
        </p:spPr>
        <p:txBody>
          <a:bodyPr wrap="square" lIns="0" tIns="0" rIns="0" bIns="0" anchor="t">
            <a:noAutofit/>
          </a:bodyPr>
          <a:lstStyle/>
          <a:p>
            <a:pPr algn="l">
              <a:defRPr sz="2100" b="1">
                <a:solidFill>
                  <a:srgbClr val="214E7F"/>
                </a:solidFill>
                <a:latin typeface="Arial"/>
                <a:ea typeface="Arial"/>
                <a:cs typeface="Arial"/>
              </a:defRPr>
            </a:pPr>
            <a:r>
              <a:rPr sz="2100" b="1">
                <a:solidFill>
                  <a:srgbClr val="214E7F"/>
                </a:solidFill>
                <a:latin typeface="Arial"/>
                <a:ea typeface="Arial"/>
                <a:cs typeface="Arial"/>
              </a:rPr>
              <a:t>REVIEWER</a:t>
            </a:r>
          </a:p>
        </p:txBody>
      </p:sp>
      <p:sp>
        <p:nvSpPr>
          <p:cNvPr id="17415" name="tsf_52">
            <a:extLst>
              <a:ext uri="{FF2B5EF4-FFF2-40B4-BE49-F238E27FC236}">
                <a16:creationId xmlns:a16="http://schemas.microsoft.com/office/drawing/2014/main" id="{220F41B7-829A-46F0-AB70-DC2B4CE59069}"/>
              </a:ext>
            </a:extLst>
          </p:cNvPr>
          <p:cNvSpPr>
            <a:spLocks noGrp="1"/>
          </p:cNvSpPr>
          <p:nvPr/>
        </p:nvSpPr>
        <p:spPr>
          <a:xfrm>
            <a:off x="3276600" y="3143250"/>
            <a:ext cx="8458200" cy="790575"/>
          </a:xfrm>
          <a:prstGeom prst="rect">
            <a:avLst/>
          </a:prstGeom>
          <a:noFill/>
          <a:ln w="0">
            <a:noFill/>
          </a:ln>
        </p:spPr>
        <p:txBody>
          <a:bodyPr wrap="square" lIns="0" tIns="0" rIns="0" bIns="0" anchor="t">
            <a:noAutofit/>
          </a:bodyPr>
          <a:lstStyle/>
          <a:p>
            <a:pPr algn="l">
              <a:defRPr sz="2400" b="0">
                <a:solidFill>
                  <a:srgbClr val="111111"/>
                </a:solidFill>
                <a:latin typeface="Arial"/>
                <a:ea typeface="Arial"/>
                <a:cs typeface="Arial"/>
              </a:defRPr>
            </a:pPr>
            <a:r>
              <a:rPr sz="2400" b="0">
                <a:solidFill>
                  <a:srgbClr val="111111"/>
                </a:solidFill>
                <a:latin typeface="Arial"/>
                <a:ea typeface="Arial"/>
                <a:cs typeface="Arial"/>
              </a:rPr>
              <a:t>Remove a disputed source. Recompute without rewriting history.</a:t>
            </a:r>
          </a:p>
        </p:txBody>
      </p:sp>
      <p:sp>
        <p:nvSpPr>
          <p:cNvPr id="17416" name="tsf_53">
            <a:extLst>
              <a:ext uri="{FF2B5EF4-FFF2-40B4-BE49-F238E27FC236}">
                <a16:creationId xmlns:a16="http://schemas.microsoft.com/office/drawing/2014/main" id="{F52BE696-D256-488E-9533-389830A5E3C6}"/>
              </a:ext>
            </a:extLst>
          </p:cNvPr>
          <p:cNvSpPr>
            <a:spLocks noGrp="1"/>
          </p:cNvSpPr>
          <p:nvPr/>
        </p:nvSpPr>
        <p:spPr>
          <a:xfrm>
            <a:off x="457200" y="3943350"/>
            <a:ext cx="11277600" cy="0"/>
          </a:xfrm>
          <a:prstGeom prst="line">
            <a:avLst/>
          </a:prstGeom>
          <a:noFill/>
          <a:ln w="9525">
            <a:solidFill>
              <a:srgbClr val="BCCADA"/>
            </a:solidFill>
          </a:ln>
        </p:spPr>
      </p:sp>
      <p:sp>
        <p:nvSpPr>
          <p:cNvPr id="17417" name="tsf_54">
            <a:extLst>
              <a:ext uri="{FF2B5EF4-FFF2-40B4-BE49-F238E27FC236}">
                <a16:creationId xmlns:a16="http://schemas.microsoft.com/office/drawing/2014/main" id="{FFC66DB0-D407-484A-B8AE-61BCBE49E04F}"/>
              </a:ext>
            </a:extLst>
          </p:cNvPr>
          <p:cNvSpPr>
            <a:spLocks noGrp="1"/>
          </p:cNvSpPr>
          <p:nvPr/>
        </p:nvSpPr>
        <p:spPr>
          <a:xfrm>
            <a:off x="457200" y="4095750"/>
            <a:ext cx="2609850" cy="361950"/>
          </a:xfrm>
          <a:prstGeom prst="rect">
            <a:avLst/>
          </a:prstGeom>
          <a:noFill/>
          <a:ln w="0">
            <a:noFill/>
          </a:ln>
        </p:spPr>
        <p:txBody>
          <a:bodyPr wrap="square" lIns="0" tIns="0" rIns="0" bIns="0" anchor="t">
            <a:noAutofit/>
          </a:bodyPr>
          <a:lstStyle/>
          <a:p>
            <a:pPr algn="l">
              <a:defRPr sz="2100" b="1">
                <a:solidFill>
                  <a:srgbClr val="214E7F"/>
                </a:solidFill>
                <a:latin typeface="Arial"/>
                <a:ea typeface="Arial"/>
                <a:cs typeface="Arial"/>
              </a:defRPr>
            </a:pPr>
            <a:r>
              <a:rPr sz="2100" b="1">
                <a:solidFill>
                  <a:srgbClr val="214E7F"/>
                </a:solidFill>
                <a:latin typeface="Arial"/>
                <a:ea typeface="Arial"/>
                <a:cs typeface="Arial"/>
              </a:rPr>
              <a:t>NEXT ACTION</a:t>
            </a:r>
          </a:p>
        </p:txBody>
      </p:sp>
      <p:sp>
        <p:nvSpPr>
          <p:cNvPr id="17418" name="tsf_55">
            <a:extLst>
              <a:ext uri="{FF2B5EF4-FFF2-40B4-BE49-F238E27FC236}">
                <a16:creationId xmlns:a16="http://schemas.microsoft.com/office/drawing/2014/main" id="{6F4AB579-0DC6-4E67-9182-1642A64759B6}"/>
              </a:ext>
            </a:extLst>
          </p:cNvPr>
          <p:cNvSpPr>
            <a:spLocks noGrp="1"/>
          </p:cNvSpPr>
          <p:nvPr/>
        </p:nvSpPr>
        <p:spPr>
          <a:xfrm>
            <a:off x="3276600" y="4095750"/>
            <a:ext cx="8458200" cy="790575"/>
          </a:xfrm>
          <a:prstGeom prst="rect">
            <a:avLst/>
          </a:prstGeom>
          <a:noFill/>
          <a:ln w="0">
            <a:noFill/>
          </a:ln>
        </p:spPr>
        <p:txBody>
          <a:bodyPr wrap="square" lIns="0" tIns="0" rIns="0" bIns="0" anchor="t">
            <a:noAutofit/>
          </a:bodyPr>
          <a:lstStyle/>
          <a:p>
            <a:pPr algn="l">
              <a:defRPr sz="2400" b="0">
                <a:solidFill>
                  <a:srgbClr val="111111"/>
                </a:solidFill>
                <a:latin typeface="Arial"/>
                <a:ea typeface="Arial"/>
                <a:cs typeface="Arial"/>
              </a:defRPr>
            </a:pPr>
            <a:r>
              <a:rPr sz="2400" b="0">
                <a:solidFill>
                  <a:srgbClr val="111111"/>
                </a:solidFill>
                <a:latin typeface="Arial"/>
                <a:ea typeface="Arial"/>
                <a:cs typeface="Arial"/>
              </a:rPr>
              <a:t>Prioritise useful queries. Prepare a request for a verified recipient.</a:t>
            </a:r>
          </a:p>
        </p:txBody>
      </p:sp>
      <p:sp>
        <p:nvSpPr>
          <p:cNvPr id="17419" name="tsf_56">
            <a:extLst>
              <a:ext uri="{FF2B5EF4-FFF2-40B4-BE49-F238E27FC236}">
                <a16:creationId xmlns:a16="http://schemas.microsoft.com/office/drawing/2014/main" id="{6C8D9EAB-96D8-4E7A-9D4E-CB33745B5378}"/>
              </a:ext>
            </a:extLst>
          </p:cNvPr>
          <p:cNvSpPr>
            <a:spLocks noGrp="1"/>
          </p:cNvSpPr>
          <p:nvPr/>
        </p:nvSpPr>
        <p:spPr>
          <a:xfrm>
            <a:off x="457200" y="5191125"/>
            <a:ext cx="11239500" cy="361950"/>
          </a:xfrm>
          <a:prstGeom prst="rect">
            <a:avLst/>
          </a:prstGeom>
          <a:noFill/>
          <a:ln w="0">
            <a:noFill/>
          </a:ln>
        </p:spPr>
        <p:txBody>
          <a:bodyPr wrap="square" lIns="0" tIns="0" rIns="0" bIns="0" anchor="t">
            <a:noAutofit/>
          </a:bodyPr>
          <a:lstStyle/>
          <a:p>
            <a:pPr algn="l">
              <a:defRPr sz="2100" b="1">
                <a:solidFill>
                  <a:srgbClr val="214E7F"/>
                </a:solidFill>
                <a:latin typeface="Arial"/>
                <a:ea typeface="Arial"/>
                <a:cs typeface="Arial"/>
              </a:defRPr>
            </a:pPr>
            <a:r>
              <a:rPr sz="2100" b="1">
                <a:solidFill>
                  <a:srgbClr val="214E7F"/>
                </a:solidFill>
                <a:latin typeface="Arial"/>
                <a:ea typeface="Arial"/>
                <a:cs typeface="Arial"/>
              </a:rPr>
              <a:t>HOW WE WILL MEASURE VALUE [5]</a:t>
            </a:r>
          </a:p>
        </p:txBody>
      </p:sp>
      <p:sp>
        <p:nvSpPr>
          <p:cNvPr id="17420" name="tsf_57">
            <a:extLst>
              <a:ext uri="{FF2B5EF4-FFF2-40B4-BE49-F238E27FC236}">
                <a16:creationId xmlns:a16="http://schemas.microsoft.com/office/drawing/2014/main" id="{F320F19B-59AE-4D02-B9C2-4523CC3B4965}"/>
              </a:ext>
            </a:extLst>
          </p:cNvPr>
          <p:cNvSpPr>
            <a:spLocks noGrp="1"/>
          </p:cNvSpPr>
          <p:nvPr/>
        </p:nvSpPr>
        <p:spPr>
          <a:xfrm>
            <a:off x="457200" y="5591175"/>
            <a:ext cx="11277600" cy="581025"/>
          </a:xfrm>
          <a:prstGeom prst="rect">
            <a:avLst/>
          </a:prstGeom>
          <a:noFill/>
          <a:ln w="0">
            <a:noFill/>
          </a:ln>
        </p:spPr>
        <p:txBody>
          <a:bodyPr wrap="square" lIns="0" tIns="0" rIns="0" bIns="0" anchor="t">
            <a:noAutofit/>
          </a:bodyPr>
          <a:lstStyle/>
          <a:p>
            <a:pPr algn="l">
              <a:defRPr sz="1950" b="0">
                <a:solidFill>
                  <a:srgbClr val="111111"/>
                </a:solidFill>
                <a:latin typeface="Arial"/>
                <a:ea typeface="Arial"/>
                <a:cs typeface="Arial"/>
              </a:defRPr>
            </a:pPr>
            <a:r>
              <a:rPr sz="1950" b="0">
                <a:solidFill>
                  <a:srgbClr val="111111"/>
                </a:solidFill>
                <a:latin typeface="Arial"/>
                <a:ea typeface="Arial"/>
                <a:cs typeface="Arial"/>
              </a:rPr>
              <a:t>Deposit-role precision, false links, answer coverage, API calls and officer time.</a:t>
            </a:r>
          </a:p>
          <a:p>
            <a:pPr algn="l">
              <a:defRPr sz="1950" b="0">
                <a:solidFill>
                  <a:srgbClr val="111111"/>
                </a:solidFill>
                <a:latin typeface="Arial"/>
                <a:ea typeface="Arial"/>
                <a:cs typeface="Arial"/>
              </a:defRPr>
            </a:pPr>
            <a:r>
              <a:rPr sz="1950" b="0">
                <a:solidFill>
                  <a:srgbClr val="111111"/>
                </a:solidFill>
                <a:latin typeface="Arial"/>
                <a:ea typeface="Arial"/>
                <a:cs typeface="Arial"/>
              </a:rPr>
              <a:t>Compare with label-only tracing using independent service-confirmed records.</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sf_58">
            <a:extLst>
              <a:ext uri="{FF2B5EF4-FFF2-40B4-BE49-F238E27FC236}">
                <a16:creationId xmlns:a16="http://schemas.microsoft.com/office/drawing/2014/main" id="{0FBB1BD8-A820-4CA2-9B25-480A45FA1CBB}"/>
              </a:ext>
            </a:extLst>
          </p:cNvPr>
          <p:cNvSpPr>
            <a:spLocks noGrp="1"/>
          </p:cNvSpPr>
          <p:nvPr/>
        </p:nvSpPr>
        <p:spPr>
          <a:xfrm>
            <a:off x="457200" y="1428750"/>
            <a:ext cx="6267450" cy="447675"/>
          </a:xfrm>
          <a:prstGeom prst="rect">
            <a:avLst/>
          </a:prstGeom>
          <a:noFill/>
          <a:ln w="0">
            <a:noFill/>
          </a:ln>
        </p:spPr>
        <p:txBody>
          <a:bodyPr wrap="square" lIns="0" tIns="0" rIns="0" bIns="0" anchor="t">
            <a:noAutofit/>
          </a:bodyPr>
          <a:lstStyle/>
          <a:p>
            <a:pPr algn="l">
              <a:defRPr sz="2250" b="1">
                <a:solidFill>
                  <a:srgbClr val="111111"/>
                </a:solidFill>
                <a:latin typeface="Arial"/>
                <a:ea typeface="Arial"/>
                <a:cs typeface="Arial"/>
              </a:defRPr>
            </a:pPr>
            <a:r>
              <a:rPr sz="2250" b="1">
                <a:solidFill>
                  <a:srgbClr val="111111"/>
                </a:solidFill>
                <a:latin typeface="Arial"/>
                <a:ea typeface="Arial"/>
                <a:cs typeface="Arial"/>
              </a:rPr>
              <a:t>1  Deposit-address patterns</a:t>
            </a:r>
          </a:p>
        </p:txBody>
      </p:sp>
      <p:sp>
        <p:nvSpPr>
          <p:cNvPr id="17411" name="tsf_59">
            <a:extLst>
              <a:ext uri="{FF2B5EF4-FFF2-40B4-BE49-F238E27FC236}">
                <a16:creationId xmlns:a16="http://schemas.microsoft.com/office/drawing/2014/main" id="{07F9B1F9-CAAC-48C2-BF92-AFA43A24DD83}"/>
              </a:ext>
            </a:extLst>
          </p:cNvPr>
          <p:cNvSpPr>
            <a:spLocks noGrp="1"/>
          </p:cNvSpPr>
          <p:nvPr/>
        </p:nvSpPr>
        <p:spPr>
          <a:xfrm>
            <a:off x="7038975" y="1428750"/>
            <a:ext cx="4648200" cy="447675"/>
          </a:xfrm>
          <a:prstGeom prst="rect">
            <a:avLst/>
          </a:prstGeom>
          <a:noFill/>
          <a:ln w="0">
            <a:noFill/>
          </a:ln>
        </p:spPr>
        <p:txBody>
          <a:bodyPr wrap="square" lIns="0" tIns="0" rIns="0" bIns="0" anchor="t">
            <a:noAutofit/>
          </a:bodyPr>
          <a:lstStyle/>
          <a:p>
            <a:pPr algn="l">
              <a:defRPr sz="2100" b="0">
                <a:solidFill>
                  <a:srgbClr val="214E7F"/>
                </a:solidFill>
                <a:latin typeface="Arial"/>
                <a:ea typeface="Arial"/>
                <a:cs typeface="Arial"/>
              </a:defRPr>
            </a:pPr>
            <a:r>
              <a:rPr sz="2100" b="0">
                <a:solidFill>
                  <a:srgbClr val="214E7F"/>
                </a:solidFill>
                <a:latin typeface="Arial"/>
                <a:ea typeface="Arial"/>
                <a:cs typeface="Arial"/>
                <a:hlinkClick r:id="rIdTraceSetu1"/>
              </a:rPr>
              <a:t>Victor, FC 2020</a:t>
            </a:r>
          </a:p>
        </p:txBody>
      </p:sp>
      <p:sp>
        <p:nvSpPr>
          <p:cNvPr id="17412" name="tsf_60">
            <a:extLst>
              <a:ext uri="{FF2B5EF4-FFF2-40B4-BE49-F238E27FC236}">
                <a16:creationId xmlns:a16="http://schemas.microsoft.com/office/drawing/2014/main" id="{B3B6D274-E329-42F2-BF41-4AB428548753}"/>
              </a:ext>
            </a:extLst>
          </p:cNvPr>
          <p:cNvSpPr>
            <a:spLocks noGrp="1"/>
          </p:cNvSpPr>
          <p:nvPr/>
        </p:nvSpPr>
        <p:spPr>
          <a:xfrm>
            <a:off x="457200" y="1933575"/>
            <a:ext cx="11277600" cy="0"/>
          </a:xfrm>
          <a:prstGeom prst="line">
            <a:avLst/>
          </a:prstGeom>
          <a:noFill/>
          <a:ln w="9525">
            <a:solidFill>
              <a:srgbClr val="BCCADA"/>
            </a:solidFill>
          </a:ln>
        </p:spPr>
      </p:sp>
      <p:sp>
        <p:nvSpPr>
          <p:cNvPr id="17413" name="tsf_61">
            <a:extLst>
              <a:ext uri="{FF2B5EF4-FFF2-40B4-BE49-F238E27FC236}">
                <a16:creationId xmlns:a16="http://schemas.microsoft.com/office/drawing/2014/main" id="{A00546D6-2D56-4724-83C8-976CBC49BDF7}"/>
              </a:ext>
            </a:extLst>
          </p:cNvPr>
          <p:cNvSpPr>
            <a:spLocks noGrp="1"/>
          </p:cNvSpPr>
          <p:nvPr/>
        </p:nvSpPr>
        <p:spPr>
          <a:xfrm>
            <a:off x="457200" y="2095500"/>
            <a:ext cx="6267450" cy="447675"/>
          </a:xfrm>
          <a:prstGeom prst="rect">
            <a:avLst/>
          </a:prstGeom>
          <a:noFill/>
          <a:ln w="0">
            <a:noFill/>
          </a:ln>
        </p:spPr>
        <p:txBody>
          <a:bodyPr wrap="square" lIns="0" tIns="0" rIns="0" bIns="0" anchor="t">
            <a:noAutofit/>
          </a:bodyPr>
          <a:lstStyle/>
          <a:p>
            <a:pPr algn="l">
              <a:defRPr sz="2250" b="0">
                <a:solidFill>
                  <a:srgbClr val="111111"/>
                </a:solidFill>
                <a:latin typeface="Arial"/>
                <a:ea typeface="Arial"/>
                <a:cs typeface="Arial"/>
              </a:defRPr>
            </a:pPr>
            <a:r>
              <a:rPr sz="2250" b="0">
                <a:solidFill>
                  <a:srgbClr val="111111"/>
                </a:solidFill>
                <a:latin typeface="Arial"/>
                <a:ea typeface="Arial"/>
                <a:cs typeface="Arial"/>
              </a:rPr>
              <a:t>2  Service fee funding + collection</a:t>
            </a:r>
          </a:p>
        </p:txBody>
      </p:sp>
      <p:sp>
        <p:nvSpPr>
          <p:cNvPr id="17414" name="tsf_62">
            <a:extLst>
              <a:ext uri="{FF2B5EF4-FFF2-40B4-BE49-F238E27FC236}">
                <a16:creationId xmlns:a16="http://schemas.microsoft.com/office/drawing/2014/main" id="{E361DFE0-3C91-4431-971A-C8CECE601C38}"/>
              </a:ext>
            </a:extLst>
          </p:cNvPr>
          <p:cNvSpPr>
            <a:spLocks noGrp="1"/>
          </p:cNvSpPr>
          <p:nvPr/>
        </p:nvSpPr>
        <p:spPr>
          <a:xfrm>
            <a:off x="7038975" y="2095500"/>
            <a:ext cx="4648200" cy="447675"/>
          </a:xfrm>
          <a:prstGeom prst="rect">
            <a:avLst/>
          </a:prstGeom>
          <a:noFill/>
          <a:ln w="0">
            <a:noFill/>
          </a:ln>
        </p:spPr>
        <p:txBody>
          <a:bodyPr wrap="square" lIns="0" tIns="0" rIns="0" bIns="0" anchor="t">
            <a:noAutofit/>
          </a:bodyPr>
          <a:lstStyle/>
          <a:p>
            <a:pPr algn="l">
              <a:defRPr sz="2100" b="0">
                <a:solidFill>
                  <a:srgbClr val="214E7F"/>
                </a:solidFill>
                <a:latin typeface="Arial"/>
                <a:ea typeface="Arial"/>
                <a:cs typeface="Arial"/>
              </a:defRPr>
            </a:pPr>
            <a:r>
              <a:rPr sz="2100" b="0">
                <a:solidFill>
                  <a:srgbClr val="214E7F"/>
                </a:solidFill>
                <a:latin typeface="Arial"/>
                <a:ea typeface="Arial"/>
                <a:cs typeface="Arial"/>
                <a:hlinkClick r:id="rIdTraceSetu2"/>
              </a:rPr>
              <a:t>Brechlin et al., 2025</a:t>
            </a:r>
          </a:p>
        </p:txBody>
      </p:sp>
      <p:sp>
        <p:nvSpPr>
          <p:cNvPr id="17415" name="tsf_63">
            <a:extLst>
              <a:ext uri="{FF2B5EF4-FFF2-40B4-BE49-F238E27FC236}">
                <a16:creationId xmlns:a16="http://schemas.microsoft.com/office/drawing/2014/main" id="{15FAAB7C-5F3B-4EC5-8055-1E134ABB6B6D}"/>
              </a:ext>
            </a:extLst>
          </p:cNvPr>
          <p:cNvSpPr>
            <a:spLocks noGrp="1"/>
          </p:cNvSpPr>
          <p:nvPr/>
        </p:nvSpPr>
        <p:spPr>
          <a:xfrm>
            <a:off x="457200" y="2600325"/>
            <a:ext cx="11277600" cy="0"/>
          </a:xfrm>
          <a:prstGeom prst="line">
            <a:avLst/>
          </a:prstGeom>
          <a:noFill/>
          <a:ln w="9525">
            <a:solidFill>
              <a:srgbClr val="BCCADA"/>
            </a:solidFill>
          </a:ln>
        </p:spPr>
      </p:sp>
      <p:sp>
        <p:nvSpPr>
          <p:cNvPr id="17416" name="tsf_64">
            <a:extLst>
              <a:ext uri="{FF2B5EF4-FFF2-40B4-BE49-F238E27FC236}">
                <a16:creationId xmlns:a16="http://schemas.microsoft.com/office/drawing/2014/main" id="{AA68EE12-6F1A-469A-A563-185EF3750472}"/>
              </a:ext>
            </a:extLst>
          </p:cNvPr>
          <p:cNvSpPr>
            <a:spLocks noGrp="1"/>
          </p:cNvSpPr>
          <p:nvPr/>
        </p:nvSpPr>
        <p:spPr>
          <a:xfrm>
            <a:off x="457200" y="2762250"/>
            <a:ext cx="6267450" cy="447675"/>
          </a:xfrm>
          <a:prstGeom prst="rect">
            <a:avLst/>
          </a:prstGeom>
          <a:noFill/>
          <a:ln w="0">
            <a:noFill/>
          </a:ln>
        </p:spPr>
        <p:txBody>
          <a:bodyPr wrap="square" lIns="0" tIns="0" rIns="0" bIns="0" anchor="t">
            <a:noAutofit/>
          </a:bodyPr>
          <a:lstStyle/>
          <a:p>
            <a:pPr algn="l">
              <a:defRPr sz="2250" b="0">
                <a:solidFill>
                  <a:srgbClr val="111111"/>
                </a:solidFill>
                <a:latin typeface="Arial"/>
                <a:ea typeface="Arial"/>
                <a:cs typeface="Arial"/>
              </a:defRPr>
            </a:pPr>
            <a:r>
              <a:rPr sz="2250" b="0">
                <a:solidFill>
                  <a:srgbClr val="111111"/>
                </a:solidFill>
                <a:latin typeface="Arial"/>
                <a:ea typeface="Arial"/>
                <a:cs typeface="Arial"/>
              </a:rPr>
              <a:t>3  Time-respecting graph paths</a:t>
            </a:r>
          </a:p>
        </p:txBody>
      </p:sp>
      <p:sp>
        <p:nvSpPr>
          <p:cNvPr id="17417" name="tsf_65">
            <a:extLst>
              <a:ext uri="{FF2B5EF4-FFF2-40B4-BE49-F238E27FC236}">
                <a16:creationId xmlns:a16="http://schemas.microsoft.com/office/drawing/2014/main" id="{8A336ABE-5973-401E-B0A1-CC7B9E26B0B4}"/>
              </a:ext>
            </a:extLst>
          </p:cNvPr>
          <p:cNvSpPr>
            <a:spLocks noGrp="1"/>
          </p:cNvSpPr>
          <p:nvPr/>
        </p:nvSpPr>
        <p:spPr>
          <a:xfrm>
            <a:off x="7038975" y="2762250"/>
            <a:ext cx="4648200" cy="447675"/>
          </a:xfrm>
          <a:prstGeom prst="rect">
            <a:avLst/>
          </a:prstGeom>
          <a:noFill/>
          <a:ln w="0">
            <a:noFill/>
          </a:ln>
        </p:spPr>
        <p:txBody>
          <a:bodyPr wrap="square" lIns="0" tIns="0" rIns="0" bIns="0" anchor="t">
            <a:noAutofit/>
          </a:bodyPr>
          <a:lstStyle/>
          <a:p>
            <a:pPr algn="l">
              <a:defRPr sz="2100" b="0">
                <a:solidFill>
                  <a:srgbClr val="214E7F"/>
                </a:solidFill>
                <a:latin typeface="Arial"/>
                <a:ea typeface="Arial"/>
                <a:cs typeface="Arial"/>
              </a:defRPr>
            </a:pPr>
            <a:r>
              <a:rPr sz="2100" b="0">
                <a:solidFill>
                  <a:srgbClr val="214E7F"/>
                </a:solidFill>
                <a:latin typeface="Arial"/>
                <a:ea typeface="Arial"/>
                <a:cs typeface="Arial"/>
                <a:hlinkClick r:id="rIdTraceSetu3"/>
              </a:rPr>
              <a:t>Wu et al., PVLDB 2014</a:t>
            </a:r>
          </a:p>
        </p:txBody>
      </p:sp>
      <p:sp>
        <p:nvSpPr>
          <p:cNvPr id="17418" name="tsf_66">
            <a:extLst>
              <a:ext uri="{FF2B5EF4-FFF2-40B4-BE49-F238E27FC236}">
                <a16:creationId xmlns:a16="http://schemas.microsoft.com/office/drawing/2014/main" id="{67ACEA64-8D0A-49B6-80E1-C511DFCAB00E}"/>
              </a:ext>
            </a:extLst>
          </p:cNvPr>
          <p:cNvSpPr>
            <a:spLocks noGrp="1"/>
          </p:cNvSpPr>
          <p:nvPr/>
        </p:nvSpPr>
        <p:spPr>
          <a:xfrm>
            <a:off x="457200" y="3267075"/>
            <a:ext cx="11277600" cy="0"/>
          </a:xfrm>
          <a:prstGeom prst="line">
            <a:avLst/>
          </a:prstGeom>
          <a:noFill/>
          <a:ln w="9525">
            <a:solidFill>
              <a:srgbClr val="BCCADA"/>
            </a:solidFill>
          </a:ln>
        </p:spPr>
      </p:sp>
      <p:sp>
        <p:nvSpPr>
          <p:cNvPr id="17419" name="tsf_67">
            <a:extLst>
              <a:ext uri="{FF2B5EF4-FFF2-40B4-BE49-F238E27FC236}">
                <a16:creationId xmlns:a16="http://schemas.microsoft.com/office/drawing/2014/main" id="{56FD34D0-183F-4A0B-A238-823B54B2BDFA}"/>
              </a:ext>
            </a:extLst>
          </p:cNvPr>
          <p:cNvSpPr>
            <a:spLocks noGrp="1"/>
          </p:cNvSpPr>
          <p:nvPr/>
        </p:nvSpPr>
        <p:spPr>
          <a:xfrm>
            <a:off x="457200" y="3429000"/>
            <a:ext cx="6267450" cy="447675"/>
          </a:xfrm>
          <a:prstGeom prst="rect">
            <a:avLst/>
          </a:prstGeom>
          <a:noFill/>
          <a:ln w="0">
            <a:noFill/>
          </a:ln>
        </p:spPr>
        <p:txBody>
          <a:bodyPr wrap="square" lIns="0" tIns="0" rIns="0" bIns="0" anchor="t">
            <a:noAutofit/>
          </a:bodyPr>
          <a:lstStyle/>
          <a:p>
            <a:pPr algn="l">
              <a:defRPr sz="2250" b="0">
                <a:solidFill>
                  <a:srgbClr val="111111"/>
                </a:solidFill>
                <a:latin typeface="Arial"/>
                <a:ea typeface="Arial"/>
                <a:cs typeface="Arial"/>
              </a:defRPr>
            </a:pPr>
            <a:r>
              <a:rPr sz="2250" b="0">
                <a:solidFill>
                  <a:srgbClr val="111111"/>
                </a:solidFill>
                <a:latin typeface="Arial"/>
                <a:ea typeface="Arial"/>
                <a:cs typeface="Arial"/>
              </a:rPr>
              <a:t>4  Bitcoin clustering (planned)</a:t>
            </a:r>
          </a:p>
        </p:txBody>
      </p:sp>
      <p:sp>
        <p:nvSpPr>
          <p:cNvPr id="17420" name="tsf_68">
            <a:extLst>
              <a:ext uri="{FF2B5EF4-FFF2-40B4-BE49-F238E27FC236}">
                <a16:creationId xmlns:a16="http://schemas.microsoft.com/office/drawing/2014/main" id="{9434814B-9E3E-4E75-BB0A-9C37B197660F}"/>
              </a:ext>
            </a:extLst>
          </p:cNvPr>
          <p:cNvSpPr>
            <a:spLocks noGrp="1"/>
          </p:cNvSpPr>
          <p:nvPr/>
        </p:nvSpPr>
        <p:spPr>
          <a:xfrm>
            <a:off x="7038975" y="3429000"/>
            <a:ext cx="4648200" cy="447675"/>
          </a:xfrm>
          <a:prstGeom prst="rect">
            <a:avLst/>
          </a:prstGeom>
          <a:noFill/>
          <a:ln w="0">
            <a:noFill/>
          </a:ln>
        </p:spPr>
        <p:txBody>
          <a:bodyPr wrap="square" lIns="0" tIns="0" rIns="0" bIns="0" anchor="t">
            <a:noAutofit/>
          </a:bodyPr>
          <a:lstStyle/>
          <a:p>
            <a:pPr algn="l">
              <a:defRPr sz="2100" b="0">
                <a:solidFill>
                  <a:srgbClr val="214E7F"/>
                </a:solidFill>
                <a:latin typeface="Arial"/>
                <a:ea typeface="Arial"/>
                <a:cs typeface="Arial"/>
              </a:defRPr>
            </a:pPr>
            <a:r>
              <a:rPr sz="2100" b="0">
                <a:solidFill>
                  <a:srgbClr val="214E7F"/>
                </a:solidFill>
                <a:latin typeface="Arial"/>
                <a:ea typeface="Arial"/>
                <a:cs typeface="Arial"/>
                <a:hlinkClick r:id="rIdTraceSetu4"/>
              </a:rPr>
              <a:t>Kappos et al., USENIX 2022</a:t>
            </a:r>
          </a:p>
        </p:txBody>
      </p:sp>
      <p:sp>
        <p:nvSpPr>
          <p:cNvPr id="17421" name="tsf_69">
            <a:extLst>
              <a:ext uri="{FF2B5EF4-FFF2-40B4-BE49-F238E27FC236}">
                <a16:creationId xmlns:a16="http://schemas.microsoft.com/office/drawing/2014/main" id="{E4143307-F490-425B-BAE6-37120E2779FC}"/>
              </a:ext>
            </a:extLst>
          </p:cNvPr>
          <p:cNvSpPr>
            <a:spLocks noGrp="1"/>
          </p:cNvSpPr>
          <p:nvPr/>
        </p:nvSpPr>
        <p:spPr>
          <a:xfrm>
            <a:off x="457200" y="3933825"/>
            <a:ext cx="11277600" cy="0"/>
          </a:xfrm>
          <a:prstGeom prst="line">
            <a:avLst/>
          </a:prstGeom>
          <a:noFill/>
          <a:ln w="9525">
            <a:solidFill>
              <a:srgbClr val="BCCADA"/>
            </a:solidFill>
          </a:ln>
        </p:spPr>
      </p:sp>
      <p:sp>
        <p:nvSpPr>
          <p:cNvPr id="17422" name="tsf_70">
            <a:extLst>
              <a:ext uri="{FF2B5EF4-FFF2-40B4-BE49-F238E27FC236}">
                <a16:creationId xmlns:a16="http://schemas.microsoft.com/office/drawing/2014/main" id="{914ADE77-EC18-47ED-BA73-430FB0838502}"/>
              </a:ext>
            </a:extLst>
          </p:cNvPr>
          <p:cNvSpPr>
            <a:spLocks noGrp="1"/>
          </p:cNvSpPr>
          <p:nvPr/>
        </p:nvSpPr>
        <p:spPr>
          <a:xfrm>
            <a:off x="457200" y="4095750"/>
            <a:ext cx="6267450" cy="447675"/>
          </a:xfrm>
          <a:prstGeom prst="rect">
            <a:avLst/>
          </a:prstGeom>
          <a:noFill/>
          <a:ln w="0">
            <a:noFill/>
          </a:ln>
        </p:spPr>
        <p:txBody>
          <a:bodyPr wrap="square" lIns="0" tIns="0" rIns="0" bIns="0" anchor="t">
            <a:noAutofit/>
          </a:bodyPr>
          <a:lstStyle/>
          <a:p>
            <a:pPr algn="l">
              <a:defRPr sz="2250" b="0">
                <a:solidFill>
                  <a:srgbClr val="111111"/>
                </a:solidFill>
                <a:latin typeface="Arial"/>
                <a:ea typeface="Arial"/>
                <a:cs typeface="Arial"/>
              </a:defRPr>
            </a:pPr>
            <a:r>
              <a:rPr sz="2250" b="0">
                <a:solidFill>
                  <a:srgbClr val="111111"/>
                </a:solidFill>
                <a:latin typeface="Arial"/>
                <a:ea typeface="Arial"/>
                <a:cs typeface="Arial"/>
              </a:rPr>
              <a:t>5  Independent attribution evaluation</a:t>
            </a:r>
          </a:p>
        </p:txBody>
      </p:sp>
      <p:sp>
        <p:nvSpPr>
          <p:cNvPr id="17423" name="tsf_71">
            <a:extLst>
              <a:ext uri="{FF2B5EF4-FFF2-40B4-BE49-F238E27FC236}">
                <a16:creationId xmlns:a16="http://schemas.microsoft.com/office/drawing/2014/main" id="{6F0B3FEF-0B1A-4F89-80CF-167497FC9706}"/>
              </a:ext>
            </a:extLst>
          </p:cNvPr>
          <p:cNvSpPr>
            <a:spLocks noGrp="1"/>
          </p:cNvSpPr>
          <p:nvPr/>
        </p:nvSpPr>
        <p:spPr>
          <a:xfrm>
            <a:off x="7038975" y="4095750"/>
            <a:ext cx="4648200" cy="447675"/>
          </a:xfrm>
          <a:prstGeom prst="rect">
            <a:avLst/>
          </a:prstGeom>
          <a:noFill/>
          <a:ln w="0">
            <a:noFill/>
          </a:ln>
        </p:spPr>
        <p:txBody>
          <a:bodyPr wrap="square" lIns="0" tIns="0" rIns="0" bIns="0" anchor="t">
            <a:noAutofit/>
          </a:bodyPr>
          <a:lstStyle/>
          <a:p>
            <a:pPr algn="l">
              <a:defRPr sz="2100" b="0">
                <a:solidFill>
                  <a:srgbClr val="214E7F"/>
                </a:solidFill>
                <a:latin typeface="Arial"/>
                <a:ea typeface="Arial"/>
                <a:cs typeface="Arial"/>
              </a:defRPr>
            </a:pPr>
            <a:r>
              <a:rPr sz="2100" b="0">
                <a:solidFill>
                  <a:srgbClr val="214E7F"/>
                </a:solidFill>
                <a:latin typeface="Arial"/>
                <a:ea typeface="Arial"/>
                <a:cs typeface="Arial"/>
                <a:hlinkClick r:id="rIdTraceSetu5"/>
              </a:rPr>
              <a:t>Lubbertsen et al., USENIX 2025</a:t>
            </a:r>
          </a:p>
        </p:txBody>
      </p:sp>
      <p:sp>
        <p:nvSpPr>
          <p:cNvPr id="17424" name="tsf_72">
            <a:extLst>
              <a:ext uri="{FF2B5EF4-FFF2-40B4-BE49-F238E27FC236}">
                <a16:creationId xmlns:a16="http://schemas.microsoft.com/office/drawing/2014/main" id="{DE579FFF-DB37-4665-A65D-359C886A04BF}"/>
              </a:ext>
            </a:extLst>
          </p:cNvPr>
          <p:cNvSpPr>
            <a:spLocks noGrp="1"/>
          </p:cNvSpPr>
          <p:nvPr/>
        </p:nvSpPr>
        <p:spPr>
          <a:xfrm>
            <a:off x="457200" y="4600575"/>
            <a:ext cx="11277600" cy="0"/>
          </a:xfrm>
          <a:prstGeom prst="line">
            <a:avLst/>
          </a:prstGeom>
          <a:noFill/>
          <a:ln w="9525">
            <a:solidFill>
              <a:srgbClr val="BCCADA"/>
            </a:solidFill>
          </a:ln>
        </p:spPr>
      </p:sp>
      <p:sp>
        <p:nvSpPr>
          <p:cNvPr id="17425" name="tsf_73">
            <a:extLst>
              <a:ext uri="{FF2B5EF4-FFF2-40B4-BE49-F238E27FC236}">
                <a16:creationId xmlns:a16="http://schemas.microsoft.com/office/drawing/2014/main" id="{AA5F3DD8-C6D7-4CED-B260-2B919544ADC3}"/>
              </a:ext>
            </a:extLst>
          </p:cNvPr>
          <p:cNvSpPr>
            <a:spLocks noGrp="1"/>
          </p:cNvSpPr>
          <p:nvPr/>
        </p:nvSpPr>
        <p:spPr>
          <a:xfrm>
            <a:off x="457200" y="4924425"/>
            <a:ext cx="5676900" cy="381000"/>
          </a:xfrm>
          <a:prstGeom prst="rect">
            <a:avLst/>
          </a:prstGeom>
          <a:noFill/>
          <a:ln w="0">
            <a:noFill/>
          </a:ln>
        </p:spPr>
        <p:txBody>
          <a:bodyPr wrap="square" lIns="0" tIns="0" rIns="0" bIns="0" anchor="t">
            <a:noAutofit/>
          </a:bodyPr>
          <a:lstStyle/>
          <a:p>
            <a:pPr algn="l">
              <a:defRPr sz="2100" b="1">
                <a:solidFill>
                  <a:srgbClr val="214E7F"/>
                </a:solidFill>
                <a:latin typeface="Arial"/>
                <a:ea typeface="Arial"/>
                <a:cs typeface="Arial"/>
              </a:defRPr>
            </a:pPr>
            <a:r>
              <a:rPr sz="2100" b="1">
                <a:solidFill>
                  <a:srgbClr val="214E7F"/>
                </a:solidFill>
                <a:latin typeface="Arial"/>
                <a:ea typeface="Arial"/>
                <a:cs typeface="Arial"/>
                <a:hlinkClick r:id="rIdTraceSetu6"/>
              </a:rPr>
              <a:t>PUBLIC SOURCE CODE + RESEARCH</a:t>
            </a:r>
          </a:p>
        </p:txBody>
      </p:sp>
      <p:sp>
        <p:nvSpPr>
          <p:cNvPr id="17426" name="tsf_74">
            <a:extLst>
              <a:ext uri="{FF2B5EF4-FFF2-40B4-BE49-F238E27FC236}">
                <a16:creationId xmlns:a16="http://schemas.microsoft.com/office/drawing/2014/main" id="{066BAA1F-BB96-4384-B33B-C10D33E97CA3}"/>
              </a:ext>
            </a:extLst>
          </p:cNvPr>
          <p:cNvSpPr>
            <a:spLocks noGrp="1"/>
          </p:cNvSpPr>
          <p:nvPr/>
        </p:nvSpPr>
        <p:spPr>
          <a:xfrm>
            <a:off x="6648450" y="4924425"/>
            <a:ext cx="5095875" cy="381000"/>
          </a:xfrm>
          <a:prstGeom prst="rect">
            <a:avLst/>
          </a:prstGeom>
          <a:noFill/>
          <a:ln w="0">
            <a:noFill/>
          </a:ln>
        </p:spPr>
        <p:txBody>
          <a:bodyPr wrap="square" lIns="0" tIns="0" rIns="0" bIns="0" anchor="t">
            <a:noAutofit/>
          </a:bodyPr>
          <a:lstStyle/>
          <a:p>
            <a:pPr algn="l">
              <a:defRPr sz="2100" b="1">
                <a:solidFill>
                  <a:srgbClr val="214E7F"/>
                </a:solidFill>
                <a:latin typeface="Arial"/>
                <a:ea typeface="Arial"/>
                <a:cs typeface="Arial"/>
              </a:defRPr>
            </a:pPr>
            <a:r>
              <a:rPr sz="2100" b="1">
                <a:solidFill>
                  <a:srgbClr val="214E7F"/>
                </a:solidFill>
                <a:latin typeface="Arial"/>
                <a:ea typeface="Arial"/>
                <a:cs typeface="Arial"/>
                <a:hlinkClick r:id="rIdTraceSetu7"/>
              </a:rPr>
              <a:t>WATCH THE PROTOTYPE</a:t>
            </a:r>
          </a:p>
        </p:txBody>
      </p:sp>
      <p:sp>
        <p:nvSpPr>
          <p:cNvPr id="17427" name="tsf_75">
            <a:extLst>
              <a:ext uri="{FF2B5EF4-FFF2-40B4-BE49-F238E27FC236}">
                <a16:creationId xmlns:a16="http://schemas.microsoft.com/office/drawing/2014/main" id="{D0E9B2C5-E462-4613-949E-C336721412EE}"/>
              </a:ext>
            </a:extLst>
          </p:cNvPr>
          <p:cNvSpPr>
            <a:spLocks noGrp="1"/>
          </p:cNvSpPr>
          <p:nvPr/>
        </p:nvSpPr>
        <p:spPr>
          <a:xfrm>
            <a:off x="457200" y="5314950"/>
            <a:ext cx="5676900" cy="333375"/>
          </a:xfrm>
          <a:prstGeom prst="rect">
            <a:avLst/>
          </a:prstGeom>
          <a:noFill/>
          <a:ln w="0">
            <a:noFill/>
          </a:ln>
        </p:spPr>
        <p:txBody>
          <a:bodyPr wrap="square" lIns="0" tIns="0" rIns="0" bIns="0" anchor="t">
            <a:noAutofit/>
          </a:bodyPr>
          <a:lstStyle/>
          <a:p>
            <a:pPr algn="l">
              <a:defRPr sz="1950" b="0">
                <a:solidFill>
                  <a:srgbClr val="214E7F"/>
                </a:solidFill>
                <a:latin typeface="Arial"/>
                <a:ea typeface="Arial"/>
                <a:cs typeface="Arial"/>
              </a:defRPr>
            </a:pPr>
            <a:r>
              <a:rPr sz="1950" b="0">
                <a:solidFill>
                  <a:srgbClr val="214E7F"/>
                </a:solidFill>
                <a:latin typeface="Arial"/>
                <a:ea typeface="Arial"/>
                <a:cs typeface="Arial"/>
                <a:hlinkClick r:id="rIdTraceSetu8"/>
              </a:rPr>
              <a:t>github.com/notvinayaks/TraceSetu</a:t>
            </a:r>
          </a:p>
        </p:txBody>
      </p:sp>
      <p:sp>
        <p:nvSpPr>
          <p:cNvPr id="17428" name="tsf_76">
            <a:extLst>
              <a:ext uri="{FF2B5EF4-FFF2-40B4-BE49-F238E27FC236}">
                <a16:creationId xmlns:a16="http://schemas.microsoft.com/office/drawing/2014/main" id="{9D17B8CC-BB51-4D73-84D6-BFA6BA56B4D2}"/>
              </a:ext>
            </a:extLst>
          </p:cNvPr>
          <p:cNvSpPr>
            <a:spLocks noGrp="1"/>
          </p:cNvSpPr>
          <p:nvPr/>
        </p:nvSpPr>
        <p:spPr>
          <a:xfrm>
            <a:off x="6648450" y="5314950"/>
            <a:ext cx="5095875" cy="333375"/>
          </a:xfrm>
          <a:prstGeom prst="rect">
            <a:avLst/>
          </a:prstGeom>
          <a:noFill/>
          <a:ln w="0">
            <a:noFill/>
          </a:ln>
        </p:spPr>
        <p:txBody>
          <a:bodyPr wrap="square" lIns="0" tIns="0" rIns="0" bIns="0" anchor="t">
            <a:noAutofit/>
          </a:bodyPr>
          <a:lstStyle/>
          <a:p>
            <a:pPr algn="l">
              <a:defRPr sz="1800" b="0">
                <a:solidFill>
                  <a:srgbClr val="214E7F"/>
                </a:solidFill>
                <a:latin typeface="Arial"/>
                <a:ea typeface="Arial"/>
                <a:cs typeface="Arial"/>
              </a:defRPr>
            </a:pPr>
            <a:r>
              <a:rPr sz="1800" b="0">
                <a:solidFill>
                  <a:srgbClr val="214E7F"/>
                </a:solidFill>
                <a:latin typeface="Arial"/>
                <a:ea typeface="Arial"/>
                <a:cs typeface="Arial"/>
                <a:hlinkClick r:id="rIdTraceSetu9"/>
              </a:rPr>
              <a:t>youtube.com/watch?v=V_qB6dL934w</a:t>
            </a:r>
          </a:p>
        </p:txBody>
      </p:sp>
      <p:sp>
        <p:nvSpPr>
          <p:cNvPr id="17429" name="tsf_77">
            <a:extLst>
              <a:ext uri="{FF2B5EF4-FFF2-40B4-BE49-F238E27FC236}">
                <a16:creationId xmlns:a16="http://schemas.microsoft.com/office/drawing/2014/main" id="{7694C868-F05F-41EC-A0F7-E11949FD8212}"/>
              </a:ext>
            </a:extLst>
          </p:cNvPr>
          <p:cNvSpPr>
            <a:spLocks noGrp="1"/>
          </p:cNvSpPr>
          <p:nvPr/>
        </p:nvSpPr>
        <p:spPr>
          <a:xfrm>
            <a:off x="457200" y="5867400"/>
            <a:ext cx="11277600" cy="304800"/>
          </a:xfrm>
          <a:prstGeom prst="rect">
            <a:avLst/>
          </a:prstGeom>
          <a:noFill/>
          <a:ln w="0">
            <a:noFill/>
          </a:ln>
        </p:spPr>
        <p:txBody>
          <a:bodyPr wrap="square" lIns="0" tIns="0" rIns="0" bIns="0" anchor="t">
            <a:noAutofit/>
          </a:bodyPr>
          <a:lstStyle/>
          <a:p>
            <a:pPr algn="l">
              <a:defRPr sz="1800" b="0">
                <a:solidFill>
                  <a:srgbClr val="4C5964"/>
                </a:solidFill>
                <a:latin typeface="Arial"/>
                <a:ea typeface="Arial"/>
                <a:cs typeface="Arial"/>
              </a:defRPr>
            </a:pPr>
            <a:r>
              <a:rPr sz="1800" b="0">
                <a:solidFill>
                  <a:srgbClr val="4C5964"/>
                </a:solidFill>
                <a:latin typeface="Arial"/>
                <a:ea typeface="Arial"/>
                <a:cs typeface="Arial"/>
              </a:rPr>
              <a:t>Published methods guide the design. Synthetic tests do not establish real-world accuracy.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