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868fe980334f14" /><Relationship Type="http://schemas.openxmlformats.org/officeDocument/2006/relationships/extended-properties" Target="/docProps/app.xml" Id="R63bca27fad304f4e" /><Relationship Type="http://schemas.openxmlformats.org/officeDocument/2006/relationships/officeDocument" Target="/ppt/presentation.xml" Id="Rb43247f9eea840b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af10546f514623"/>
  </p:sldMasterIdLst>
  <p:notesMasterIdLst>
    <p:notesMasterId xmlns:r="http://schemas.openxmlformats.org/officeDocument/2006/relationships" r:id="R1e776d799ac84ec8"/>
  </p:notesMasterIdLst>
  <p:sldIdLst>
    <p:sldId xmlns:r="http://schemas.openxmlformats.org/officeDocument/2006/relationships" id="256" r:id="R36470aa5a02b4460"/>
    <p:sldId xmlns:r="http://schemas.openxmlformats.org/officeDocument/2006/relationships" id="257" r:id="R15d4ff07dd60444b"/>
    <p:sldId xmlns:r="http://schemas.openxmlformats.org/officeDocument/2006/relationships" id="258" r:id="R5fb2629059d44bad"/>
    <p:sldId xmlns:r="http://schemas.openxmlformats.org/officeDocument/2006/relationships" id="259" r:id="R1f8a46de36a7458d"/>
    <p:sldId xmlns:r="http://schemas.openxmlformats.org/officeDocument/2006/relationships" id="260" r:id="Re2990d7ec6a342cb"/>
    <p:sldId xmlns:r="http://schemas.openxmlformats.org/officeDocument/2006/relationships" id="261" r:id="Rb411bc9814544acb"/>
  </p:sldIdLst>
  <p:sldSz cx="12192000" cy="6858000"/>
  <p:notesSz cx="6858000" cy="9144000"/>
  <p:embeddedFontLst>
    <p:embeddedFont>
      <p:font typeface="Garamond"/>
      <p:regular xmlns:r="http://schemas.openxmlformats.org/officeDocument/2006/relationships" r:id="Rd047ba55d8d5462f"/>
      <p:bold xmlns:r="http://schemas.openxmlformats.org/officeDocument/2006/relationships" r:id="R2da1aa77b4c7431f"/>
      <p:italic xmlns:r="http://schemas.openxmlformats.org/officeDocument/2006/relationships" r:id="R6f7109d1602d4caa"/>
      <p:boldItalic xmlns:r="http://schemas.openxmlformats.org/officeDocument/2006/relationships" r:id="R9735e86ec3b541f0"/>
    </p:embeddedFont>
    <p:embeddedFont>
      <p:font typeface="Oswald"/>
      <p:regular xmlns:r="http://schemas.openxmlformats.org/officeDocument/2006/relationships" r:id="R323c30c6ebd14f99"/>
      <p:bold xmlns:r="http://schemas.openxmlformats.org/officeDocument/2006/relationships" r:id="R8fa0a3f1a5184f0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03B619A-9704-4A30-834C-D90841D23277}">
  <a:tblStyle styleId="{503B619A-9704-4A30-834C-D90841D2327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86568f398da446bc" /><Relationship Type="http://schemas.openxmlformats.org/officeDocument/2006/relationships/slideMaster" Target="/ppt/slideMasters/slideMaster1.xml" Id="R8daf10546f514623" /><Relationship Type="http://schemas.openxmlformats.org/officeDocument/2006/relationships/notesMaster" Target="/ppt/notesMasters/notesMaster1.xml" Id="R1e776d799ac84ec8" /><Relationship Type="http://schemas.openxmlformats.org/officeDocument/2006/relationships/presProps" Target="/ppt/presProps.xml" Id="R0b8f4e4ab3414908" /><Relationship Type="http://schemas.openxmlformats.org/officeDocument/2006/relationships/viewProps" Target="/ppt/viewProps.xml" Id="R6a420d6e94954e14" /><Relationship Type="http://schemas.openxmlformats.org/officeDocument/2006/relationships/tableStyles" Target="/ppt/tableStyles.xml" Id="Rf2ce5fc35ef047f5" /><Relationship Type="http://schemas.openxmlformats.org/officeDocument/2006/relationships/font" Target="/ppt/fonts/font.dat" Id="Rd047ba55d8d5462f" /><Relationship Type="http://schemas.openxmlformats.org/officeDocument/2006/relationships/font" Target="/ppt/fonts/font2.dat" Id="R2da1aa77b4c7431f" /><Relationship Type="http://schemas.openxmlformats.org/officeDocument/2006/relationships/font" Target="/ppt/fonts/font3.dat" Id="R6f7109d1602d4caa" /><Relationship Type="http://schemas.openxmlformats.org/officeDocument/2006/relationships/font" Target="/ppt/fonts/font4.dat" Id="R9735e86ec3b541f0" /><Relationship Type="http://schemas.openxmlformats.org/officeDocument/2006/relationships/font" Target="/ppt/fonts/font5.dat" Id="R323c30c6ebd14f99" /><Relationship Type="http://schemas.openxmlformats.org/officeDocument/2006/relationships/font" Target="/ppt/fonts/font6.dat" Id="R8fa0a3f1a5184f01" /><Relationship Type="http://schemas.openxmlformats.org/officeDocument/2006/relationships/slide" Target="/ppt/slides/slide1.xml" Id="R36470aa5a02b4460" /><Relationship Type="http://schemas.openxmlformats.org/officeDocument/2006/relationships/slide" Target="/ppt/slides/slide2.xml" Id="R15d4ff07dd60444b" /><Relationship Type="http://schemas.openxmlformats.org/officeDocument/2006/relationships/slide" Target="/ppt/slides/slide3.xml" Id="R5fb2629059d44bad" /><Relationship Type="http://schemas.openxmlformats.org/officeDocument/2006/relationships/slide" Target="/ppt/slides/slide4.xml" Id="R1f8a46de36a7458d" /><Relationship Type="http://schemas.openxmlformats.org/officeDocument/2006/relationships/slide" Target="/ppt/slides/slide5.xml" Id="Re2990d7ec6a342cb" /><Relationship Type="http://schemas.openxmlformats.org/officeDocument/2006/relationships/slide" Target="/ppt/slides/slide6.xml" Id="Rb411bc9814544a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6acc2a7bfe4a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8763a4f4c84c67" /><Relationship Type="http://schemas.openxmlformats.org/officeDocument/2006/relationships/notesMaster" Target="/ppt/notesMasters/notesMaster1.xml" Id="R86513c6ddc44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ad96d940714808" /><Relationship Type="http://schemas.openxmlformats.org/officeDocument/2006/relationships/notesMaster" Target="/ppt/notesMasters/notesMaster1.xml" Id="R1b89a9a987a644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87810b6e1a4990" /><Relationship Type="http://schemas.openxmlformats.org/officeDocument/2006/relationships/notesMaster" Target="/ppt/notesMasters/notesMaster1.xml" Id="Rd5c5b00381f945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23efe8381e4b04" /><Relationship Type="http://schemas.openxmlformats.org/officeDocument/2006/relationships/notesMaster" Target="/ppt/notesMasters/notesMaster1.xml" Id="R9b992c81af2b47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c93e7068447ee" /><Relationship Type="http://schemas.openxmlformats.org/officeDocument/2006/relationships/notesMaster" Target="/ppt/notesMasters/notesMaster1.xml" Id="Re761e40c7bfc4b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a7765eae8c4d51" /><Relationship Type="http://schemas.openxmlformats.org/officeDocument/2006/relationships/notesMaster" Target="/ppt/notesMasters/notesMaster1.xml" Id="R03ac63ccdfac4d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Team ANANTHA, team ID 170835. PS ID 26182 and exact title supplied by the team. Software category and Blockchain &amp; Cybersecurity theme are from TraceSetu_COMPLETE_SKILL.md. Opening: The investigator has a suspect wallet, but needs the first supported receiving service and a reviewable route for a lawful request. TraceSetu is an independent local SIH prototype.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Team name, Team ID 170835 and PS ID 26182 are retained from the user-supplied deck. They are submission metadata, not independently verified official endorsement. TraceSetu combines English trace with Sanskrit setu (bridge).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
            </a:r>
            <a:endParaRPr/>
          </a:p>
          <a:p xmlns:a="http://schemas.openxmlformats.org/drawingml/2006/main">
            <a:pPr marL="0" lvl="0" indent="0" algn="l">
              <a:spcBef>
                <a:spcPts val="360"/>
              </a:spcBef>
              <a:spcAft>
                <a:spcPts val="0"/>
              </a:spcAft>
              <a:buNone/>
            </a:pPr>
            <a:r>
              <a:t>Six chain adapters are implemented; broad live validation is incomplete. A receiving wallet is not necessarily an exchange deposit address. Custody requires a source-qualified assertion. Independent request review is separate from recipient review. PDF/ZIP evidence can be exported independently; reviewed action is a JSON package and remains NOT_SENT. BlockCypher is explicitly selectable as a Bitcoin provider; no synthetic fallback.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Implementation details are from supplied solution sections 5–8. No attribution ML/LLM is implemented. Confirmed account transfers use ledger ordering; Bitcoin continuation requires the actual previous outpoint in a later input set. Candidate ordering uses hop count and evidence status, not numerical confidence. Numerical calibrated confidence needs independent ground truth and remains future work. CCTP is original V2 Ethereum–Polygon native USDC, synthetically exercised; signature/receipt validation alone does not identify a VASP. Technical marks are authentic Devicon assets from https://github.com/devicons/devicon (MIT). Diagram colours are original Office theme accents. The prototype link and QR remain empty for the team. Research foundations for chain-specific label caution and transaction analysis are cited on slide 6; the MVP does not claim to implement the cited clustering systems.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Actual local stack: React, TypeScript, Cytoscape, FastAPI, SQLAlchemy, SQLite WAL, local worker/files and ReportLab. No Neo4j/Temporal/PostgreSQL deployment is running. Evidence grades are categorical, not calibrated accuracy probabilities. CCTP V2 Ethereum–Polygon is synthetically tested; live proof remains unvalidated.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Recorded test evidence comes from the handover and existing test files, not a new run. tmp/backend-junit.xml recorded 107 tests without failures/errors; four browser workflow checks and six adapter parser implementations are recorded. A bounded live Bitcoin sample dated 25 September 2026 returned one event, zero VASP candidates and COMPLETED_WITH_GAPS. These checks are not accuracy/coverage benchmarks. Screenshots are actual local application crops from output/ui-review/03-custody-workspace.png, with fictional wallets and services. The first-custody graph and nearestness certificate are two different areas of the same recorded application view. Proposed 36-hour milestones extend the current MVP. Agency adoption and scaled PostgreSQL/Temporal/encrypted storage remain proposals subject to data access, security, live validation, official contracts and operational acceptance.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Current custody screenshot is explicitly synthetic. The 107 backend tests are the prior baseline; nine BlockCypher contract tests were added on 25 September. This is not an accuracy benchmark. Official SAHYOG integration and real authenticated service responses remain external gates.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The outcome diagram maps implemented case mechanisms to intended stakeholder value. Current request output is a reviewed export; no notice is sent and no assets are frozen. The purpose is supported recipient review rather than autonomous attribution of a real person or criminality. Commercial baseline: https://www.chainalysis.com/product/reactor/ accessed 25 September 2026. Public descriptions list entity intelligence, transaction graphs, broad cross-chain tracing and reporting. No absence of undocumented competitor capabilities, superior accuracy, savings or recovery rate is asserted. Manual explorer/SAHYOG is the workflow given by PS 26182, not an audit of the portal. Pilot measurement should use independent truth, entity/time-disjoint evaluation and matched API entitlements, measuring first-service precision, abstention, false routes, time to a supported recipient, reviewer time and cost. Agency operation with licensed data is the proposed sustainability route.</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[9] https://enforcementdirectorate.gov.in/sites/default/files/latestnews/Press%20Release-Search-%20Bitconnect-15.02.2025.pdf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[6] https://www.mha.gov.in/MHA1/Par2017/pdfs/par2025-pdfs/RS23072025/399.pdf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[8] https://www.chainalysis.com/product/reactor/</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The 35-VASP figure is dated 23 July 2025 and is not a current total. Competitor comparison lists public features, not exclusive novelty or superiority. Removed the unrelated ₹221.50 crore statistic.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solidFill>
                  <a:schemeClr val="dk1"/>
                </a:solidFill>
                <a:latin typeface="Calibri"/>
                <a:ea typeface="Calibri"/>
                <a:cs typeface="Calibri"/>
              </a:rPr>
              <a:t>All reference links verified 25 September 2026. [1] Meiklejohn et al., A Fistful of Bitcoins: Characterizing Payments Among Men with No Names, IMC 2013, https://conferences.sigcomm.org/imc/2013/papers/imc182-meiklejohnA.pdf , DOI 10.1145/2504730.2504747. Research supports the distinction between public transfers, service labels and private custodial activity. [2] Friedhelm Victor, Address Clustering Heuristics for Ethereum, Financial Cryptography 2020, https://fc20.ifca.ai/preproceedings/31.pdf , DOI 10.1007/978-3-030-51280-4_33. The MVP does not claim this heuristic is implemented. [3] Kalodner et al., BlockSci: Design and applications of a blockchain analysis platform, USENIX Security 2020, https://www.usenix.org/system/files/sec20-kalodner.pdf . Cited as a performance/design reference, not a bundled dependency or a reproduced benchmark. [4] https://developers.circle.com/cctp . Current implementation is a narrow synthetically tested V2 USDC verifier and does not cover generic bridges/swaps. [5] Josefsson and Liusvaara, RFC 8032, January 2017, https://www.rfc-editor.org/rfc/rfc8032 . Signatures authenticate bytes relative to a key; trusted signer identity and legal admissibility are separate. [6] https://www.mha.gov.in/MHA1/Par2017/pdfs/par2025-pdfs/RS23072025/399.pdf reports 35 VASPs onboarded at that historical date; no official crypto API schema is supplied by it. [7] https://github.com/Blockstream/esplora/blob/master/API.md . [8] https://www.chainalysis.com/product/reactor/ . Team implementation evidence: TraceSetu_COMPLETE_SKILL.md and its exact project test/screenshot references.</a:t>
            </a:r>
            <a:endParaRPr/>
          </a:p>
          <a:p xmlns:a="http://schemas.openxmlformats.org/drawingml/2006/main">
            <a:pPr marL="0" lvl="0" indent="0" algn="l">
              <a:spcBef>
                <a:spcPts val="360"/>
              </a:spcBef>
              <a:spcAft>
                <a:spcPts val="0"/>
              </a:spcAft>
              <a:buNone/>
            </a:pPr>
            <a:r>
              <a:t/>
            </a:r>
            <a:endParaRPr sz="1200">
              <a:solidFill>
                <a:schemeClr val="dk1"/>
              </a:solidFill>
              <a:latin typeface="Calibri"/>
              <a:ea typeface="Calibri"/>
              <a:cs typeface="Calibri"/>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Visual assets: Lucide icons from the installed official lucide package, ISC license, https://github.com/lucide-icons/lucide . Original SIH artwork and template are supplied by the team.</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Additional current API documentation: https://www.blockcypher.com/dev/bitcoin/#address-full-endpoint</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Real-case source for the separate video: CERT-In WannaCry alert, page 4, https://www.csk.gov.in/documents/WannacryWannaCryptRansomware_CRITICAL_ALERT_CERT-In.pdf</a:t>
            </a:r>
            <a:endParaRPr/>
          </a:p>
          <a:p xmlns:a="http://schemas.openxmlformats.org/drawingml/2006/main">
            <a:pPr marL="0" lvl="0" indent="0" algn="l">
              <a:spcBef>
                <a:spcPts val="360"/>
              </a:spcBef>
              <a:spcAft>
                <a:spcPts val="0"/>
              </a:spcAft>
              <a:buNone/>
            </a:pPr>
            <a:r>
              <a:rPr sz="1200">
                <a:solidFill>
                  <a:schemeClr val="dk1"/>
                </a:solidFill>
                <a:latin typeface="Calibri"/>
                <a:ea typeface="Calibri"/>
                <a:cs typeface="Calibri"/>
              </a:rPr>
              <a:t>Existing source citations in the table remain applicable.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d445e0eb734b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df1a59a4964f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980b29f16247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859e11bb6b43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d5e78acd0a44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d072a020fb467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94be552e93a461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97fce3bd65543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20949c33f447b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261f010b96248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5de84e4b370424c"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4A5C7E6B-D0CB-4266-8DBE-766EE5869A39}"/>
              </a:ext>
            </a:extLst>
          </p:cNvPr>
          <p:cNvSpPr>
            <a:spLocks xmlns:a="http://schemas.openxmlformats.org/drawingml/2006/main" noGrp="1"/>
          </p:cNvSpPr>
          <p:nvPr>
            <p:ph type="ctrTitle" idx="0"/>
          </p:nvPr>
        </p:nvSpPr>
        <p:spPr>
          <a:xfrm xmlns:a="http://schemas.openxmlformats.org/drawingml/2006/main">
            <a:off x="914400" y="2130428"/>
            <a:ext cx="103632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D0BBDE35-C450-4719-8BCE-02DDE7E21B00}"/>
              </a:ext>
            </a:extLst>
          </p:cNvPr>
          <p:cNvSpPr>
            <a:spLocks xmlns:a="http://schemas.openxmlformats.org/drawingml/2006/main" noGrp="1"/>
          </p:cNvSpPr>
          <p:nvPr>
            <p:ph type="subTitle" idx="1"/>
          </p:nvPr>
        </p:nvSpPr>
        <p:spPr>
          <a:xfrm xmlns:a="http://schemas.openxmlformats.org/drawingml/2006/main">
            <a:off x="1828800" y="3886200"/>
            <a:ext cx="85344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0680AC00-3B0F-4F97-B630-540078B19137}"/>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2">
            <a:extLst xmlns:a="http://schemas.openxmlformats.org/drawingml/2006/main">
              <a:ext uri="{FF2B5EF4-FFF2-40B4-BE49-F238E27FC236}">
                <a16:creationId xmlns:a16="http://schemas.microsoft.com/office/drawing/2014/main" id="{B2BE7C5A-233E-464B-9A50-4FE111BD519C}"/>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2">
            <a:extLst xmlns:a="http://schemas.openxmlformats.org/drawingml/2006/main">
              <a:ext uri="{FF2B5EF4-FFF2-40B4-BE49-F238E27FC236}">
                <a16:creationId xmlns:a16="http://schemas.microsoft.com/office/drawing/2014/main" id="{70647960-DC33-481C-A70C-01BCF693D804}"/>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3">
            <a:extLst xmlns:a="http://schemas.openxmlformats.org/drawingml/2006/main">
              <a:ext uri="{FF2B5EF4-FFF2-40B4-BE49-F238E27FC236}">
                <a16:creationId xmlns:a16="http://schemas.microsoft.com/office/drawing/2014/main" id="{A6D37A24-A74A-454C-8FFE-E82CA29E50C8}"/>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C5434413-B8B2-4816-8C7C-2C7333A80E4E}"/>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0F955EDD-6F21-44D0-8448-592E9BFE6EEE}"/>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3">
            <a:extLst xmlns:a="http://schemas.openxmlformats.org/drawingml/2006/main">
              <a:ext uri="{FF2B5EF4-FFF2-40B4-BE49-F238E27FC236}">
                <a16:creationId xmlns:a16="http://schemas.microsoft.com/office/drawing/2014/main" id="{6B109100-88D0-41F8-B997-D2F0C08DF7E9}"/>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3">
            <a:extLst xmlns:a="http://schemas.openxmlformats.org/drawingml/2006/main">
              <a:ext uri="{FF2B5EF4-FFF2-40B4-BE49-F238E27FC236}">
                <a16:creationId xmlns:a16="http://schemas.microsoft.com/office/drawing/2014/main" id="{8439E718-5B4F-41C2-994B-13840CAFC405}"/>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DD258A72-798D-4492-8408-23768C8C2428}"/>
              </a:ext>
            </a:extLst>
          </p:cNvPr>
          <p:cNvSpPr>
            <a:spLocks xmlns:a="http://schemas.openxmlformats.org/drawingml/2006/main" noGrp="1"/>
          </p:cNvSpPr>
          <p:nvPr>
            <p:ph type="title" idx="0"/>
          </p:nvPr>
        </p:nvSpPr>
        <p:spPr>
          <a:xfrm xmlns:a="http://schemas.openxmlformats.org/drawingml/2006/main">
            <a:off x="963084" y="4406903"/>
            <a:ext cx="103632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algn="l">
              <a:spcBef>
                <a:spcPts val="0"/>
              </a:spcBef>
              <a:spcAft>
                <a:spcPts val="0"/>
              </a:spcAft>
              <a:buSzPts val="1400"/>
              <a:buNone/>
              <a:defRPr sz="4000" b="1" cap="none"/>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3874AE78-691A-4E1A-9E65-7DAD4FC875D0}"/>
              </a:ext>
            </a:extLst>
          </p:cNvPr>
          <p:cNvSpPr>
            <a:spLocks xmlns:a="http://schemas.openxmlformats.org/drawingml/2006/main" noGrp="1"/>
          </p:cNvSpPr>
          <p:nvPr>
            <p:ph type="body" idx="1"/>
          </p:nvPr>
        </p:nvSpPr>
        <p:spPr>
          <a:xfrm xmlns:a="http://schemas.openxmlformats.org/drawingml/2006/main">
            <a:off x="963084" y="2906713"/>
            <a:ext cx="103632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15F319F6-4784-40D2-841C-B72E5081C557}"/>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4">
            <a:extLst xmlns:a="http://schemas.openxmlformats.org/drawingml/2006/main">
              <a:ext uri="{FF2B5EF4-FFF2-40B4-BE49-F238E27FC236}">
                <a16:creationId xmlns:a16="http://schemas.microsoft.com/office/drawing/2014/main" id="{72CE23DC-4156-4C01-BA4C-4AC37A808486}"/>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4">
            <a:extLst xmlns:a="http://schemas.openxmlformats.org/drawingml/2006/main">
              <a:ext uri="{FF2B5EF4-FFF2-40B4-BE49-F238E27FC236}">
                <a16:creationId xmlns:a16="http://schemas.microsoft.com/office/drawing/2014/main" id="{C0786EAF-3D31-45C5-BA8A-632FC6EEF775}"/>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5">
            <a:extLst xmlns:a="http://schemas.openxmlformats.org/drawingml/2006/main">
              <a:ext uri="{FF2B5EF4-FFF2-40B4-BE49-F238E27FC236}">
                <a16:creationId xmlns:a16="http://schemas.microsoft.com/office/drawing/2014/main" id="{56B3C46B-E54A-4CD4-BD86-B9888A80DB69}"/>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1A65AA1-888D-4941-B697-A6356749CD1A}"/>
              </a:ext>
            </a:extLst>
          </p:cNvPr>
          <p:cNvSpPr>
            <a:spLocks xmlns:a="http://schemas.openxmlformats.org/drawingml/2006/main" noGrp="1"/>
          </p:cNvSpPr>
          <p:nvPr>
            <p:ph type="body" idx="1"/>
          </p:nvPr>
        </p:nvSpPr>
        <p:spPr>
          <a:xfrm xmlns:a="http://schemas.openxmlformats.org/drawingml/2006/main">
            <a:off x="609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F6E4A344-4AEB-44B0-9B70-3D261FA4C775}"/>
              </a:ext>
            </a:extLst>
          </p:cNvPr>
          <p:cNvSpPr>
            <a:spLocks xmlns:a="http://schemas.openxmlformats.org/drawingml/2006/main" noGrp="1"/>
          </p:cNvSpPr>
          <p:nvPr>
            <p:ph type="body" idx="2"/>
          </p:nvPr>
        </p:nvSpPr>
        <p:spPr>
          <a:xfrm xmlns:a="http://schemas.openxmlformats.org/drawingml/2006/main">
            <a:off x="6197600" y="1600203"/>
            <a:ext cx="53848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5">
            <a:extLst xmlns:a="http://schemas.openxmlformats.org/drawingml/2006/main">
              <a:ext uri="{FF2B5EF4-FFF2-40B4-BE49-F238E27FC236}">
                <a16:creationId xmlns:a16="http://schemas.microsoft.com/office/drawing/2014/main" id="{39CD9C8D-C7DD-4F4F-9628-B5C57013D5E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5">
            <a:extLst xmlns:a="http://schemas.openxmlformats.org/drawingml/2006/main">
              <a:ext uri="{FF2B5EF4-FFF2-40B4-BE49-F238E27FC236}">
                <a16:creationId xmlns:a16="http://schemas.microsoft.com/office/drawing/2014/main" id="{C635489A-2FD3-4B79-8F20-310F1199B0F0}"/>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5">
            <a:extLst xmlns:a="http://schemas.openxmlformats.org/drawingml/2006/main">
              <a:ext uri="{FF2B5EF4-FFF2-40B4-BE49-F238E27FC236}">
                <a16:creationId xmlns:a16="http://schemas.microsoft.com/office/drawing/2014/main" id="{16168E7F-AA69-4E96-97CE-94D2B9811290}"/>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6">
            <a:extLst xmlns:a="http://schemas.openxmlformats.org/drawingml/2006/main">
              <a:ext uri="{FF2B5EF4-FFF2-40B4-BE49-F238E27FC236}">
                <a16:creationId xmlns:a16="http://schemas.microsoft.com/office/drawing/2014/main" id="{241A7D1F-7B5B-44BD-9667-E1B00A4214C7}"/>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48DF33AD-DD1E-40BB-841A-83CDC3B08BF8}"/>
              </a:ext>
            </a:extLst>
          </p:cNvPr>
          <p:cNvSpPr>
            <a:spLocks xmlns:a="http://schemas.openxmlformats.org/drawingml/2006/main" noGrp="1"/>
          </p:cNvSpPr>
          <p:nvPr>
            <p:ph type="body" idx="1"/>
          </p:nvPr>
        </p:nvSpPr>
        <p:spPr>
          <a:xfrm xmlns:a="http://schemas.openxmlformats.org/drawingml/2006/main">
            <a:off x="609600" y="1535113"/>
            <a:ext cx="5386917"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FF886AA5-1D84-4605-9934-2F53A2622970}"/>
              </a:ext>
            </a:extLst>
          </p:cNvPr>
          <p:cNvSpPr>
            <a:spLocks xmlns:a="http://schemas.openxmlformats.org/drawingml/2006/main" noGrp="1"/>
          </p:cNvSpPr>
          <p:nvPr>
            <p:ph type="body" idx="2"/>
          </p:nvPr>
        </p:nvSpPr>
        <p:spPr>
          <a:xfrm xmlns:a="http://schemas.openxmlformats.org/drawingml/2006/main">
            <a:off x="609600" y="2174875"/>
            <a:ext cx="5386917"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6">
            <a:extLst xmlns:a="http://schemas.openxmlformats.org/drawingml/2006/main">
              <a:ext uri="{FF2B5EF4-FFF2-40B4-BE49-F238E27FC236}">
                <a16:creationId xmlns:a16="http://schemas.microsoft.com/office/drawing/2014/main" id="{83901AE7-9CE0-4F3E-A63C-E21F77E832C1}"/>
              </a:ext>
            </a:extLst>
          </p:cNvPr>
          <p:cNvSpPr>
            <a:spLocks xmlns:a="http://schemas.openxmlformats.org/drawingml/2006/main" noGrp="1"/>
          </p:cNvSpPr>
          <p:nvPr>
            <p:ph type="body" idx="3"/>
          </p:nvPr>
        </p:nvSpPr>
        <p:spPr>
          <a:xfrm xmlns:a="http://schemas.openxmlformats.org/drawingml/2006/main">
            <a:off x="6193369" y="1535113"/>
            <a:ext cx="5389033"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6">
            <a:extLst xmlns:a="http://schemas.openxmlformats.org/drawingml/2006/main">
              <a:ext uri="{FF2B5EF4-FFF2-40B4-BE49-F238E27FC236}">
                <a16:creationId xmlns:a16="http://schemas.microsoft.com/office/drawing/2014/main" id="{747BD863-57AF-418B-AE90-1130F2F2D327}"/>
              </a:ext>
            </a:extLst>
          </p:cNvPr>
          <p:cNvSpPr>
            <a:spLocks xmlns:a="http://schemas.openxmlformats.org/drawingml/2006/main" noGrp="1"/>
          </p:cNvSpPr>
          <p:nvPr>
            <p:ph type="body" idx="4"/>
          </p:nvPr>
        </p:nvSpPr>
        <p:spPr>
          <a:xfrm xmlns:a="http://schemas.openxmlformats.org/drawingml/2006/main">
            <a:off x="6193369" y="2174875"/>
            <a:ext cx="5389033"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6">
            <a:extLst xmlns:a="http://schemas.openxmlformats.org/drawingml/2006/main">
              <a:ext uri="{FF2B5EF4-FFF2-40B4-BE49-F238E27FC236}">
                <a16:creationId xmlns:a16="http://schemas.microsoft.com/office/drawing/2014/main" id="{8EAC0858-FF6F-4B15-9453-054ADB52157F}"/>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6">
            <a:extLst xmlns:a="http://schemas.openxmlformats.org/drawingml/2006/main">
              <a:ext uri="{FF2B5EF4-FFF2-40B4-BE49-F238E27FC236}">
                <a16:creationId xmlns:a16="http://schemas.microsoft.com/office/drawing/2014/main" id="{2D5C912C-9703-459F-9BE4-768F603E7025}"/>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6">
            <a:extLst xmlns:a="http://schemas.openxmlformats.org/drawingml/2006/main">
              <a:ext uri="{FF2B5EF4-FFF2-40B4-BE49-F238E27FC236}">
                <a16:creationId xmlns:a16="http://schemas.microsoft.com/office/drawing/2014/main" id="{43F21AC0-977B-4EA7-96D4-2E28EE41E6BD}"/>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
            <a:extLst xmlns:a="http://schemas.openxmlformats.org/drawingml/2006/main">
              <a:ext uri="{FF2B5EF4-FFF2-40B4-BE49-F238E27FC236}">
                <a16:creationId xmlns:a16="http://schemas.microsoft.com/office/drawing/2014/main" id="{4B8EB7B4-75A8-4B0B-9EFC-9B2CFCBB6344}"/>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298C276E-F463-4298-9F88-990839C2CBF4}"/>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BFC58227-5ABD-4654-B358-2FA1DAA69086}"/>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7">
            <a:extLst xmlns:a="http://schemas.openxmlformats.org/drawingml/2006/main">
              <a:ext uri="{FF2B5EF4-FFF2-40B4-BE49-F238E27FC236}">
                <a16:creationId xmlns:a16="http://schemas.microsoft.com/office/drawing/2014/main" id="{37833E8C-48DA-4DD2-9EBC-9FF9E029FB6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5" name="Google Shape;55;p8">
            <a:extLst xmlns:a="http://schemas.openxmlformats.org/drawingml/2006/main">
              <a:ext uri="{FF2B5EF4-FFF2-40B4-BE49-F238E27FC236}">
                <a16:creationId xmlns:a16="http://schemas.microsoft.com/office/drawing/2014/main" id="{022696A0-D9E2-4AB8-A351-088EE8F15B3C}"/>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6" name="Google Shape;56;p8">
            <a:extLst xmlns:a="http://schemas.openxmlformats.org/drawingml/2006/main">
              <a:ext uri="{FF2B5EF4-FFF2-40B4-BE49-F238E27FC236}">
                <a16:creationId xmlns:a16="http://schemas.microsoft.com/office/drawing/2014/main" id="{89C68D07-4AA2-4A7D-AB35-6DECE3E76FFB}"/>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CF3576D8-01AD-45DE-A7C7-3296DF86A0A3}"/>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9">
            <a:extLst xmlns:a="http://schemas.openxmlformats.org/drawingml/2006/main">
              <a:ext uri="{FF2B5EF4-FFF2-40B4-BE49-F238E27FC236}">
                <a16:creationId xmlns:a16="http://schemas.microsoft.com/office/drawing/2014/main" id="{D911ED45-F691-4DE7-8177-30BD98A9375E}"/>
              </a:ext>
            </a:extLst>
          </p:cNvPr>
          <p:cNvSpPr>
            <a:spLocks xmlns:a="http://schemas.openxmlformats.org/drawingml/2006/main" noGrp="1"/>
          </p:cNvSpPr>
          <p:nvPr>
            <p:ph type="title" idx="0"/>
          </p:nvPr>
        </p:nvSpPr>
        <p:spPr>
          <a:xfrm xmlns:a="http://schemas.openxmlformats.org/drawingml/2006/main">
            <a:off x="609602" y="273050"/>
            <a:ext cx="4011084"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851A7A8E-E167-4BB3-B223-766E25CA143C}"/>
              </a:ext>
            </a:extLst>
          </p:cNvPr>
          <p:cNvSpPr>
            <a:spLocks xmlns:a="http://schemas.openxmlformats.org/drawingml/2006/main" noGrp="1"/>
          </p:cNvSpPr>
          <p:nvPr>
            <p:ph type="body" idx="1"/>
          </p:nvPr>
        </p:nvSpPr>
        <p:spPr>
          <a:xfrm xmlns:a="http://schemas.openxmlformats.org/drawingml/2006/main">
            <a:off x="4766733" y="273053"/>
            <a:ext cx="6815667"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38ADE1A5-7439-441B-8473-C542CE9982D3}"/>
              </a:ext>
            </a:extLst>
          </p:cNvPr>
          <p:cNvSpPr>
            <a:spLocks xmlns:a="http://schemas.openxmlformats.org/drawingml/2006/main" noGrp="1"/>
          </p:cNvSpPr>
          <p:nvPr>
            <p:ph type="body" idx="2"/>
          </p:nvPr>
        </p:nvSpPr>
        <p:spPr>
          <a:xfrm xmlns:a="http://schemas.openxmlformats.org/drawingml/2006/main">
            <a:off x="609602" y="1435103"/>
            <a:ext cx="4011084"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E68ECA4E-5425-4615-86AF-02DB37C4591B}"/>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3" name="Google Shape;63;p9">
            <a:extLst xmlns:a="http://schemas.openxmlformats.org/drawingml/2006/main">
              <a:ext uri="{FF2B5EF4-FFF2-40B4-BE49-F238E27FC236}">
                <a16:creationId xmlns:a16="http://schemas.microsoft.com/office/drawing/2014/main" id="{24706075-42E3-472E-A770-747DE0E51DEA}"/>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4" name="Google Shape;64;p9">
            <a:extLst xmlns:a="http://schemas.openxmlformats.org/drawingml/2006/main">
              <a:ext uri="{FF2B5EF4-FFF2-40B4-BE49-F238E27FC236}">
                <a16:creationId xmlns:a16="http://schemas.microsoft.com/office/drawing/2014/main" id="{31BA27CA-A112-4EB7-B116-093D1FF09A83}"/>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0">
            <a:extLst xmlns:a="http://schemas.openxmlformats.org/drawingml/2006/main">
              <a:ext uri="{FF2B5EF4-FFF2-40B4-BE49-F238E27FC236}">
                <a16:creationId xmlns:a16="http://schemas.microsoft.com/office/drawing/2014/main" id="{0186A8EA-1CEF-454D-839F-EFA2AE4FCD7B}"/>
              </a:ext>
            </a:extLst>
          </p:cNvPr>
          <p:cNvSpPr>
            <a:spLocks xmlns:a="http://schemas.openxmlformats.org/drawingml/2006/main" noGrp="1"/>
          </p:cNvSpPr>
          <p:nvPr>
            <p:ph type="title" idx="0"/>
          </p:nvPr>
        </p:nvSpPr>
        <p:spPr>
          <a:xfrm xmlns:a="http://schemas.openxmlformats.org/drawingml/2006/main">
            <a:off x="2389717" y="4800600"/>
            <a:ext cx="73152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spcBef>
                <a:spcPts val="0"/>
              </a:spcBef>
              <a:spcAft>
                <a:spcPts val="0"/>
              </a:spcAft>
              <a:buSzPts val="1400"/>
              <a:buNone/>
              <a:defRPr sz="2000" b="1"/>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7A0D9B58-40F7-4CC1-9211-8D0757C4EC2C}"/>
              </a:ext>
            </a:extLst>
          </p:cNvPr>
          <p:cNvSpPr>
            <a:spLocks xmlns:a="http://schemas.openxmlformats.org/drawingml/2006/main" noGrp="1"/>
          </p:cNvSpPr>
          <p:nvPr>
            <p:ph type="pic" idx="2"/>
          </p:nvPr>
        </p:nvSpPr>
        <p:spPr>
          <a:xfrm xmlns:a="http://schemas.openxmlformats.org/drawingml/2006/main">
            <a:off x="2389717" y="612775"/>
            <a:ext cx="7315200" cy="4114800"/>
          </a:xfrm>
          <a:prstGeom xmlns:a="http://schemas.openxmlformats.org/drawingml/2006/main" prst="rect">
            <a:avLst/>
          </a:prstGeom>
          <a:noFill xmlns:a="http://schemas.openxmlformats.org/drawingml/2006/main"/>
          <a:ln xmlns:a="http://schemas.openxmlformats.org/drawingml/2006/main">
            <a:noFill/>
          </a:ln>
        </p:spPr>
      </p:sp>
      <p:sp>
        <p:nvSpPr>
          <p:cNvPr id="68" name="Google Shape;68;p10">
            <a:extLst xmlns:a="http://schemas.openxmlformats.org/drawingml/2006/main">
              <a:ext uri="{FF2B5EF4-FFF2-40B4-BE49-F238E27FC236}">
                <a16:creationId xmlns:a16="http://schemas.microsoft.com/office/drawing/2014/main" id="{8C2666F6-20B6-4E64-937E-4A2A8C40B4FC}"/>
              </a:ext>
            </a:extLst>
          </p:cNvPr>
          <p:cNvSpPr>
            <a:spLocks xmlns:a="http://schemas.openxmlformats.org/drawingml/2006/main" noGrp="1"/>
          </p:cNvSpPr>
          <p:nvPr>
            <p:ph type="body" idx="1"/>
          </p:nvPr>
        </p:nvSpPr>
        <p:spPr>
          <a:xfrm xmlns:a="http://schemas.openxmlformats.org/drawingml/2006/main">
            <a:off x="2389717" y="5367338"/>
            <a:ext cx="73152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EE0FC290-C685-47FA-80D0-E2458F1AE349}"/>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0" name="Google Shape;70;p10">
            <a:extLst xmlns:a="http://schemas.openxmlformats.org/drawingml/2006/main">
              <a:ext uri="{FF2B5EF4-FFF2-40B4-BE49-F238E27FC236}">
                <a16:creationId xmlns:a16="http://schemas.microsoft.com/office/drawing/2014/main" id="{937CF592-9377-4F6E-81BA-95B305A9B56E}"/>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1" name="Google Shape;71;p10">
            <a:extLst xmlns:a="http://schemas.openxmlformats.org/drawingml/2006/main">
              <a:ext uri="{FF2B5EF4-FFF2-40B4-BE49-F238E27FC236}">
                <a16:creationId xmlns:a16="http://schemas.microsoft.com/office/drawing/2014/main" id="{218D4470-1777-43E9-9CA5-2A1BBFDB543D}"/>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1">
            <a:extLst xmlns:a="http://schemas.openxmlformats.org/drawingml/2006/main">
              <a:ext uri="{FF2B5EF4-FFF2-40B4-BE49-F238E27FC236}">
                <a16:creationId xmlns:a16="http://schemas.microsoft.com/office/drawing/2014/main" id="{188DE31A-8E10-4E0B-899F-92ABCA4871F1}"/>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F273BB36-6AE2-4BA4-80F6-C684AE9D1806}"/>
              </a:ext>
            </a:extLst>
          </p:cNvPr>
          <p:cNvSpPr>
            <a:spLocks xmlns:a="http://schemas.openxmlformats.org/drawingml/2006/main" noGrp="1"/>
          </p:cNvSpPr>
          <p:nvPr>
            <p:ph type="body" idx="1"/>
          </p:nvPr>
        </p:nvSpPr>
        <p:spPr>
          <a:xfrm xmlns:a="http://schemas.openxmlformats.org/drawingml/2006/main" rot="5400000">
            <a:off x="3580606" y="-1875631"/>
            <a:ext cx="5030788" cy="1097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03F1082E-1E47-4680-BF9F-0DB7AE10EE83}"/>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6" name="Google Shape;76;p11">
            <a:extLst xmlns:a="http://schemas.openxmlformats.org/drawingml/2006/main">
              <a:ext uri="{FF2B5EF4-FFF2-40B4-BE49-F238E27FC236}">
                <a16:creationId xmlns:a16="http://schemas.microsoft.com/office/drawing/2014/main" id="{E83B3FD7-C4A6-4B59-B508-E8AC1CD5924B}"/>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7" name="Google Shape;77;p11">
            <a:extLst xmlns:a="http://schemas.openxmlformats.org/drawingml/2006/main">
              <a:ext uri="{FF2B5EF4-FFF2-40B4-BE49-F238E27FC236}">
                <a16:creationId xmlns:a16="http://schemas.microsoft.com/office/drawing/2014/main" id="{11070A1D-6312-49CC-8B85-AB1A86F02CD3}"/>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2">
            <a:extLst xmlns:a="http://schemas.openxmlformats.org/drawingml/2006/main">
              <a:ext uri="{FF2B5EF4-FFF2-40B4-BE49-F238E27FC236}">
                <a16:creationId xmlns:a16="http://schemas.microsoft.com/office/drawing/2014/main" id="{B226C9E6-5F21-4B4B-92AA-29FFB3B3D9DC}"/>
              </a:ext>
            </a:extLst>
          </p:cNvPr>
          <p:cNvSpPr>
            <a:spLocks xmlns:a="http://schemas.openxmlformats.org/drawingml/2006/main" noGrp="1"/>
          </p:cNvSpPr>
          <p:nvPr>
            <p:ph type="title" idx="0"/>
          </p:nvPr>
        </p:nvSpPr>
        <p:spPr>
          <a:xfrm xmlns:a="http://schemas.openxmlformats.org/drawingml/2006/main" rot="5400000">
            <a:off x="7285038" y="1828804"/>
            <a:ext cx="5851525" cy="274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1B39DD51-5DDA-45EA-B833-405683D4653E}"/>
              </a:ext>
            </a:extLst>
          </p:cNvPr>
          <p:cNvSpPr>
            <a:spLocks xmlns:a="http://schemas.openxmlformats.org/drawingml/2006/main" noGrp="1"/>
          </p:cNvSpPr>
          <p:nvPr>
            <p:ph type="body" idx="1"/>
          </p:nvPr>
        </p:nvSpPr>
        <p:spPr>
          <a:xfrm xmlns:a="http://schemas.openxmlformats.org/drawingml/2006/main" rot="5400000">
            <a:off x="1697038" y="-812796"/>
            <a:ext cx="5851525" cy="802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8F1FB34A-B233-444E-82A4-2BA41C89D271}"/>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2" name="Google Shape;82;p12">
            <a:extLst xmlns:a="http://schemas.openxmlformats.org/drawingml/2006/main">
              <a:ext uri="{FF2B5EF4-FFF2-40B4-BE49-F238E27FC236}">
                <a16:creationId xmlns:a16="http://schemas.microsoft.com/office/drawing/2014/main" id="{E7276332-DDBE-45E4-A1B2-4A5391887789}"/>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83" name="Google Shape;83;p12">
            <a:extLst xmlns:a="http://schemas.openxmlformats.org/drawingml/2006/main">
              <a:ext uri="{FF2B5EF4-FFF2-40B4-BE49-F238E27FC236}">
                <a16:creationId xmlns:a16="http://schemas.microsoft.com/office/drawing/2014/main" id="{8CCEB6C4-A05F-45B1-9E22-20745FE544D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spcAft>
                <a:spcPts val="0"/>
              </a:spcAft>
              <a:buNone/>
              <a:defRPr sz="1200" b="0" i="0" u="none" cap="none">
                <a:solidFill>
                  <a:srgbClr val="898989"/>
                </a:solidFill>
                <a:latin typeface="Oswald"/>
                <a:ea typeface="Oswald"/>
                <a:cs typeface="Oswald"/>
              </a:defRPr>
            </a:lvl1pPr>
            <a:lvl2pPr marL="0" indent="0" algn="r">
              <a:spcBef>
                <a:spcPts val="0"/>
              </a:spcBef>
              <a:spcAft>
                <a:spcPts val="0"/>
              </a:spcAft>
              <a:buNone/>
              <a:defRPr sz="1200" b="0" i="0" u="none" cap="none">
                <a:solidFill>
                  <a:srgbClr val="898989"/>
                </a:solidFill>
                <a:latin typeface="Oswald"/>
                <a:ea typeface="Oswald"/>
                <a:cs typeface="Oswald"/>
              </a:defRPr>
            </a:lvl2pPr>
            <a:lvl3pPr marL="0" indent="0" algn="r">
              <a:spcBef>
                <a:spcPts val="0"/>
              </a:spcBef>
              <a:spcAft>
                <a:spcPts val="0"/>
              </a:spcAft>
              <a:buNone/>
              <a:defRPr sz="1200" b="0" i="0" u="none" cap="none">
                <a:solidFill>
                  <a:srgbClr val="898989"/>
                </a:solidFill>
                <a:latin typeface="Oswald"/>
                <a:ea typeface="Oswald"/>
                <a:cs typeface="Oswald"/>
              </a:defRPr>
            </a:lvl3pPr>
            <a:lvl4pPr marL="0" indent="0" algn="r">
              <a:spcBef>
                <a:spcPts val="0"/>
              </a:spcBef>
              <a:spcAft>
                <a:spcPts val="0"/>
              </a:spcAft>
              <a:buNone/>
              <a:defRPr sz="1200" b="0" i="0" u="none" cap="none">
                <a:solidFill>
                  <a:srgbClr val="898989"/>
                </a:solidFill>
                <a:latin typeface="Oswald"/>
                <a:ea typeface="Oswald"/>
                <a:cs typeface="Oswald"/>
              </a:defRPr>
            </a:lvl4pPr>
            <a:lvl5pPr marL="0" indent="0" algn="r">
              <a:spcBef>
                <a:spcPts val="0"/>
              </a:spcBef>
              <a:spcAft>
                <a:spcPts val="0"/>
              </a:spcAft>
              <a:buNone/>
              <a:defRPr sz="1200" b="0" i="0" u="none" cap="none">
                <a:solidFill>
                  <a:srgbClr val="898989"/>
                </a:solidFill>
                <a:latin typeface="Oswald"/>
                <a:ea typeface="Oswald"/>
                <a:cs typeface="Oswald"/>
              </a:defRPr>
            </a:lvl5pPr>
            <a:lvl6pPr marL="0" indent="0" algn="r">
              <a:spcBef>
                <a:spcPts val="0"/>
              </a:spcBef>
              <a:spcAft>
                <a:spcPts val="0"/>
              </a:spcAft>
              <a:buNone/>
              <a:defRPr sz="1200" b="0" i="0" u="none" cap="none">
                <a:solidFill>
                  <a:srgbClr val="898989"/>
                </a:solidFill>
                <a:latin typeface="Oswald"/>
                <a:ea typeface="Oswald"/>
                <a:cs typeface="Oswald"/>
              </a:defRPr>
            </a:lvl6pPr>
            <a:lvl7pPr marL="0" indent="0" algn="r">
              <a:spcBef>
                <a:spcPts val="0"/>
              </a:spcBef>
              <a:spcAft>
                <a:spcPts val="0"/>
              </a:spcAft>
              <a:buNone/>
              <a:defRPr sz="1200" b="0" i="0" u="none" cap="none">
                <a:solidFill>
                  <a:srgbClr val="898989"/>
                </a:solidFill>
                <a:latin typeface="Oswald"/>
                <a:ea typeface="Oswald"/>
                <a:cs typeface="Oswald"/>
              </a:defRPr>
            </a:lvl7pPr>
            <a:lvl8pPr marL="0" indent="0" algn="r">
              <a:spcBef>
                <a:spcPts val="0"/>
              </a:spcBef>
              <a:spcAft>
                <a:spcPts val="0"/>
              </a:spcAft>
              <a:buNone/>
              <a:defRPr sz="1200" b="0" i="0" u="none" cap="none">
                <a:solidFill>
                  <a:srgbClr val="898989"/>
                </a:solidFill>
                <a:latin typeface="Oswald"/>
                <a:ea typeface="Oswald"/>
                <a:cs typeface="Oswald"/>
              </a:defRPr>
            </a:lvl8pPr>
            <a:lvl9pPr marL="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136ab3af2e40b2" /><Relationship Type="http://schemas.openxmlformats.org/officeDocument/2006/relationships/slideLayout" Target="/ppt/slideLayouts/slideLayout1.xml" Id="R1f190802448d4ff8" /><Relationship Type="http://schemas.openxmlformats.org/officeDocument/2006/relationships/slideLayout" Target="/ppt/slideLayouts/slideLayout2.xml" Id="Rb3ff119ea999410b" /><Relationship Type="http://schemas.openxmlformats.org/officeDocument/2006/relationships/slideLayout" Target="/ppt/slideLayouts/slideLayout3.xml" Id="R7908922d510c47dd" /><Relationship Type="http://schemas.openxmlformats.org/officeDocument/2006/relationships/slideLayout" Target="/ppt/slideLayouts/slideLayout4.xml" Id="Rfb7dad34a6574357" /><Relationship Type="http://schemas.openxmlformats.org/officeDocument/2006/relationships/slideLayout" Target="/ppt/slideLayouts/slideLayout5.xml" Id="Rc9b82488abf04537" /><Relationship Type="http://schemas.openxmlformats.org/officeDocument/2006/relationships/slideLayout" Target="/ppt/slideLayouts/slideLayout6.xml" Id="R38b6709a044a4756" /><Relationship Type="http://schemas.openxmlformats.org/officeDocument/2006/relationships/slideLayout" Target="/ppt/slideLayouts/slideLayout7.xml" Id="R5db90596be8045f2" /><Relationship Type="http://schemas.openxmlformats.org/officeDocument/2006/relationships/slideLayout" Target="/ppt/slideLayouts/slideLayout8.xml" Id="R47ed49cc48a747ce" /><Relationship Type="http://schemas.openxmlformats.org/officeDocument/2006/relationships/slideLayout" Target="/ppt/slideLayouts/slideLayout9.xml" Id="R81fa217623504802" /><Relationship Type="http://schemas.openxmlformats.org/officeDocument/2006/relationships/slideLayout" Target="/ppt/slideLayouts/slideLayout10.xml" Id="Re28c1b4b982c4027" /><Relationship Type="http://schemas.openxmlformats.org/officeDocument/2006/relationships/slideLayout" Target="/ppt/slideLayouts/slideLayout11.xml" Id="Rb0a19f23cc8a480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1354D8A4-7F93-456D-9200-84428377BEB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4400" b="0" i="0" u="none" cap="none">
                <a:solidFill>
                  <a:schemeClr val="dk1"/>
                </a:solidFill>
                <a:latin typeface="Oswald"/>
                <a:ea typeface="Oswald"/>
                <a:cs typeface="Oswald"/>
              </a:defRPr>
            </a:lvl1pPr>
            <a:lvl2pPr marR="0" algn="ctr">
              <a:spcBef>
                <a:spcPts val="0"/>
              </a:spcBef>
              <a:spcAft>
                <a:spcPts val="0"/>
              </a:spcAft>
              <a:buSzPts val="1400"/>
              <a:buNone/>
              <a:defRPr sz="4400" b="0" i="0" u="none" cap="none">
                <a:solidFill>
                  <a:schemeClr val="dk1"/>
                </a:solidFill>
                <a:latin typeface="Oswald"/>
                <a:ea typeface="Oswald"/>
                <a:cs typeface="Oswald"/>
              </a:defRPr>
            </a:lvl2pPr>
            <a:lvl3pPr marR="0" algn="ctr">
              <a:spcBef>
                <a:spcPts val="0"/>
              </a:spcBef>
              <a:spcAft>
                <a:spcPts val="0"/>
              </a:spcAft>
              <a:buSzPts val="1400"/>
              <a:buNone/>
              <a:defRPr sz="4400" b="0" i="0" u="none" cap="none">
                <a:solidFill>
                  <a:schemeClr val="dk1"/>
                </a:solidFill>
                <a:latin typeface="Oswald"/>
                <a:ea typeface="Oswald"/>
                <a:cs typeface="Oswald"/>
              </a:defRPr>
            </a:lvl3pPr>
            <a:lvl4pPr marR="0" algn="ctr">
              <a:spcBef>
                <a:spcPts val="0"/>
              </a:spcBef>
              <a:spcAft>
                <a:spcPts val="0"/>
              </a:spcAft>
              <a:buSzPts val="1400"/>
              <a:buNone/>
              <a:defRPr sz="4400" b="0" i="0" u="none" cap="none">
                <a:solidFill>
                  <a:schemeClr val="dk1"/>
                </a:solidFill>
                <a:latin typeface="Oswald"/>
                <a:ea typeface="Oswald"/>
                <a:cs typeface="Oswald"/>
              </a:defRPr>
            </a:lvl4pPr>
            <a:lvl5pPr marR="0" algn="ctr">
              <a:spcBef>
                <a:spcPts val="0"/>
              </a:spcBef>
              <a:spcAft>
                <a:spcPts val="0"/>
              </a:spcAft>
              <a:buSzPts val="1400"/>
              <a:buNone/>
              <a:defRPr sz="4400" b="0" i="0" u="none" cap="none">
                <a:solidFill>
                  <a:schemeClr val="dk1"/>
                </a:solidFill>
                <a:latin typeface="Oswald"/>
                <a:ea typeface="Oswald"/>
                <a:cs typeface="Oswald"/>
              </a:defRPr>
            </a:lvl5pPr>
            <a:lvl6pPr marR="0" algn="ctr">
              <a:spcBef>
                <a:spcPts val="0"/>
              </a:spcBef>
              <a:spcAft>
                <a:spcPts val="0"/>
              </a:spcAft>
              <a:buSzPts val="1400"/>
              <a:buNone/>
              <a:defRPr sz="4400" b="0" i="0" u="none" cap="none">
                <a:solidFill>
                  <a:schemeClr val="dk1"/>
                </a:solidFill>
                <a:latin typeface="Oswald"/>
                <a:ea typeface="Oswald"/>
                <a:cs typeface="Oswald"/>
              </a:defRPr>
            </a:lvl6pPr>
            <a:lvl7pPr marR="0" algn="ctr">
              <a:spcBef>
                <a:spcPts val="0"/>
              </a:spcBef>
              <a:spcAft>
                <a:spcPts val="0"/>
              </a:spcAft>
              <a:buSzPts val="1400"/>
              <a:buNone/>
              <a:defRPr sz="4400" b="0" i="0" u="none" cap="none">
                <a:solidFill>
                  <a:schemeClr val="dk1"/>
                </a:solidFill>
                <a:latin typeface="Oswald"/>
                <a:ea typeface="Oswald"/>
                <a:cs typeface="Oswald"/>
              </a:defRPr>
            </a:lvl7pPr>
            <a:lvl8pPr marR="0" algn="ctr">
              <a:spcBef>
                <a:spcPts val="0"/>
              </a:spcBef>
              <a:spcAft>
                <a:spcPts val="0"/>
              </a:spcAft>
              <a:buSzPts val="1400"/>
              <a:buNone/>
              <a:defRPr sz="4400" b="0" i="0" u="none" cap="none">
                <a:solidFill>
                  <a:schemeClr val="dk1"/>
                </a:solidFill>
                <a:latin typeface="Oswald"/>
                <a:ea typeface="Oswald"/>
                <a:cs typeface="Oswald"/>
              </a:defRPr>
            </a:lvl8pPr>
            <a:lvl9pPr marR="0" algn="ctr">
              <a:spcBef>
                <a:spcPts val="0"/>
              </a:spcBef>
              <a:spcAft>
                <a:spcPts val="0"/>
              </a:spcAft>
              <a:buSzPts val="1400"/>
              <a:buNone/>
              <a:defRPr sz="4400" b="0" i="0" u="none" cap="none">
                <a:solidFill>
                  <a:schemeClr val="dk1"/>
                </a:solidFill>
                <a:latin typeface="Oswald"/>
                <a:ea typeface="Oswald"/>
                <a:cs typeface="Oswald"/>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1B3F63A8-A42D-4C2D-8D29-1DBC819AFAD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Oswald"/>
                <a:ea typeface="Oswald"/>
                <a:cs typeface="Oswald"/>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Oswald"/>
                <a:ea typeface="Oswald"/>
                <a:cs typeface="Oswald"/>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Oswald"/>
                <a:ea typeface="Oswald"/>
                <a:cs typeface="Oswald"/>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Oswald"/>
                <a:ea typeface="Oswald"/>
                <a:cs typeface="Oswald"/>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4368019C-3F27-4AD1-A1AE-BCB7ED8A5378}"/>
              </a:ext>
            </a:extLst>
          </p:cNvPr>
          <p:cNvSpPr>
            <a:spLocks xmlns:a="http://schemas.openxmlformats.org/drawingml/2006/main" noGrp="1"/>
          </p:cNvSpPr>
          <p:nvPr>
            <p:ph type="dt" idx="10"/>
          </p:nvPr>
        </p:nvSpPr>
        <p:spPr>
          <a:xfrm xmlns:a="http://schemas.openxmlformats.org/drawingml/2006/main">
            <a:off x="609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98989"/>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F6A495D1-DD3C-4CC8-9104-87651FA0E072}"/>
              </a:ext>
            </a:extLst>
          </p:cNvPr>
          <p:cNvSpPr>
            <a:spLocks xmlns:a="http://schemas.openxmlformats.org/drawingml/2006/main" noGrp="1"/>
          </p:cNvSpPr>
          <p:nvPr>
            <p:ph type="ftr" idx="11"/>
          </p:nvPr>
        </p:nvSpPr>
        <p:spPr>
          <a:xfrm xmlns:a="http://schemas.openxmlformats.org/drawingml/2006/main">
            <a:off x="4165600" y="6356353"/>
            <a:ext cx="386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Oswald"/>
                <a:ea typeface="Oswald"/>
                <a:cs typeface="Oswald"/>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AE64CA51-D987-4E24-B742-15D86AB1F34C}"/>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spcAft>
                <a:spcPts val="0"/>
              </a:spcAft>
              <a:buNone/>
              <a:defRPr sz="1200" b="0" i="0" u="none" cap="none">
                <a:solidFill>
                  <a:srgbClr val="898989"/>
                </a:solidFill>
                <a:latin typeface="Oswald"/>
                <a:ea typeface="Oswald"/>
                <a:cs typeface="Oswald"/>
              </a:defRPr>
            </a:lvl1pPr>
            <a:lvl2pPr marL="0" marR="0" indent="0" algn="r">
              <a:spcBef>
                <a:spcPts val="0"/>
              </a:spcBef>
              <a:spcAft>
                <a:spcPts val="0"/>
              </a:spcAft>
              <a:buNone/>
              <a:defRPr sz="1200" b="0" i="0" u="none" cap="none">
                <a:solidFill>
                  <a:srgbClr val="898989"/>
                </a:solidFill>
                <a:latin typeface="Oswald"/>
                <a:ea typeface="Oswald"/>
                <a:cs typeface="Oswald"/>
              </a:defRPr>
            </a:lvl2pPr>
            <a:lvl3pPr marL="0" marR="0" indent="0" algn="r">
              <a:spcBef>
                <a:spcPts val="0"/>
              </a:spcBef>
              <a:spcAft>
                <a:spcPts val="0"/>
              </a:spcAft>
              <a:buNone/>
              <a:defRPr sz="1200" b="0" i="0" u="none" cap="none">
                <a:solidFill>
                  <a:srgbClr val="898989"/>
                </a:solidFill>
                <a:latin typeface="Oswald"/>
                <a:ea typeface="Oswald"/>
                <a:cs typeface="Oswald"/>
              </a:defRPr>
            </a:lvl3pPr>
            <a:lvl4pPr marL="0" marR="0" indent="0" algn="r">
              <a:spcBef>
                <a:spcPts val="0"/>
              </a:spcBef>
              <a:spcAft>
                <a:spcPts val="0"/>
              </a:spcAft>
              <a:buNone/>
              <a:defRPr sz="1200" b="0" i="0" u="none" cap="none">
                <a:solidFill>
                  <a:srgbClr val="898989"/>
                </a:solidFill>
                <a:latin typeface="Oswald"/>
                <a:ea typeface="Oswald"/>
                <a:cs typeface="Oswald"/>
              </a:defRPr>
            </a:lvl4pPr>
            <a:lvl5pPr marL="0" marR="0" indent="0" algn="r">
              <a:spcBef>
                <a:spcPts val="0"/>
              </a:spcBef>
              <a:spcAft>
                <a:spcPts val="0"/>
              </a:spcAft>
              <a:buNone/>
              <a:defRPr sz="1200" b="0" i="0" u="none" cap="none">
                <a:solidFill>
                  <a:srgbClr val="898989"/>
                </a:solidFill>
                <a:latin typeface="Oswald"/>
                <a:ea typeface="Oswald"/>
                <a:cs typeface="Oswald"/>
              </a:defRPr>
            </a:lvl5pPr>
            <a:lvl6pPr marL="0" marR="0" indent="0" algn="r">
              <a:spcBef>
                <a:spcPts val="0"/>
              </a:spcBef>
              <a:spcAft>
                <a:spcPts val="0"/>
              </a:spcAft>
              <a:buNone/>
              <a:defRPr sz="1200" b="0" i="0" u="none" cap="none">
                <a:solidFill>
                  <a:srgbClr val="898989"/>
                </a:solidFill>
                <a:latin typeface="Oswald"/>
                <a:ea typeface="Oswald"/>
                <a:cs typeface="Oswald"/>
              </a:defRPr>
            </a:lvl6pPr>
            <a:lvl7pPr marL="0" marR="0" indent="0" algn="r">
              <a:spcBef>
                <a:spcPts val="0"/>
              </a:spcBef>
              <a:spcAft>
                <a:spcPts val="0"/>
              </a:spcAft>
              <a:buNone/>
              <a:defRPr sz="1200" b="0" i="0" u="none" cap="none">
                <a:solidFill>
                  <a:srgbClr val="898989"/>
                </a:solidFill>
                <a:latin typeface="Oswald"/>
                <a:ea typeface="Oswald"/>
                <a:cs typeface="Oswald"/>
              </a:defRPr>
            </a:lvl7pPr>
            <a:lvl8pPr marL="0" marR="0" indent="0" algn="r">
              <a:spcBef>
                <a:spcPts val="0"/>
              </a:spcBef>
              <a:spcAft>
                <a:spcPts val="0"/>
              </a:spcAft>
              <a:buNone/>
              <a:defRPr sz="1200" b="0" i="0" u="none" cap="none">
                <a:solidFill>
                  <a:srgbClr val="898989"/>
                </a:solidFill>
                <a:latin typeface="Oswald"/>
                <a:ea typeface="Oswald"/>
                <a:cs typeface="Oswald"/>
              </a:defRPr>
            </a:lvl8pPr>
            <a:lvl9pPr marL="0" marR="0" indent="0" algn="r">
              <a:spcBef>
                <a:spcPts val="0"/>
              </a:spcBef>
              <a:spcAft>
                <a:spcPts val="0"/>
              </a:spcAft>
              <a:buNone/>
              <a:defRPr sz="1200" b="0" i="0" u="none" cap="none">
                <a:solidFill>
                  <a:srgbClr val="898989"/>
                </a:solidFill>
                <a:latin typeface="Oswald"/>
                <a:ea typeface="Oswald"/>
                <a:cs typeface="Oswald"/>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f190802448d4ff8"/>
    <p:sldLayoutId xmlns:r="http://schemas.openxmlformats.org/officeDocument/2006/relationships" id="2147483650" r:id="Rb3ff119ea999410b"/>
    <p:sldLayoutId xmlns:r="http://schemas.openxmlformats.org/officeDocument/2006/relationships" id="2147483651" r:id="R7908922d510c47dd"/>
    <p:sldLayoutId xmlns:r="http://schemas.openxmlformats.org/officeDocument/2006/relationships" id="2147483652" r:id="Rfb7dad34a6574357"/>
    <p:sldLayoutId xmlns:r="http://schemas.openxmlformats.org/officeDocument/2006/relationships" id="2147483653" r:id="Rc9b82488abf04537"/>
    <p:sldLayoutId xmlns:r="http://schemas.openxmlformats.org/officeDocument/2006/relationships" id="2147483654" r:id="R38b6709a044a4756"/>
    <p:sldLayoutId xmlns:r="http://schemas.openxmlformats.org/officeDocument/2006/relationships" id="2147483655" r:id="R5db90596be8045f2"/>
    <p:sldLayoutId xmlns:r="http://schemas.openxmlformats.org/officeDocument/2006/relationships" id="2147483656" r:id="R47ed49cc48a747ce"/>
    <p:sldLayoutId xmlns:r="http://schemas.openxmlformats.org/officeDocument/2006/relationships" id="2147483657" r:id="R81fa217623504802"/>
    <p:sldLayoutId xmlns:r="http://schemas.openxmlformats.org/officeDocument/2006/relationships" id="2147483658" r:id="Re28c1b4b982c4027"/>
    <p:sldLayoutId xmlns:r="http://schemas.openxmlformats.org/officeDocument/2006/relationships" id="2147483659" r:id="Rb0a19f23cc8a480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f5ff1f90864201" /><Relationship Type="http://schemas.openxmlformats.org/officeDocument/2006/relationships/image" Target="/ppt/media/image.png" Id="R0763baa1a76c472a" /><Relationship Type="http://schemas.openxmlformats.org/officeDocument/2006/relationships/image" Target="/ppt/media/image2.png" Id="Re1eb807b87a74aa5" /><Relationship Type="http://schemas.openxmlformats.org/officeDocument/2006/relationships/notesSlide" Target="/ppt/notesSlides/notesSlide1.xml" Id="Rf061cdc4401840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41e22584e8a4a93" /><Relationship Type="http://schemas.openxmlformats.org/officeDocument/2006/relationships/image" Target="/ppt/media/image3.png" Id="Rfe4ee25b0ed94d79" /><Relationship Type="http://schemas.openxmlformats.org/officeDocument/2006/relationships/image" Target="/ppt/media/image4.png" Id="Rddddbc8d14c64755" /><Relationship Type="http://schemas.openxmlformats.org/officeDocument/2006/relationships/notesSlide" Target="/ppt/notesSlides/notesSlide2.xml" Id="R6c20e98edb014c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35134eee75041fc" /><Relationship Type="http://schemas.openxmlformats.org/officeDocument/2006/relationships/image" Target="/ppt/media/image2.png" Id="Re27f84a7b7f44d56" /><Relationship Type="http://schemas.openxmlformats.org/officeDocument/2006/relationships/image" Target="/ppt/media/image5.png" Id="R278512451567488f" /><Relationship Type="http://schemas.openxmlformats.org/officeDocument/2006/relationships/image" Target="/ppt/media/image6.png" Id="R9db26443ebdc4e28" /><Relationship Type="http://schemas.openxmlformats.org/officeDocument/2006/relationships/image" Target="/ppt/media/image7.png" Id="R02f4738cb6b7414f" /><Relationship Type="http://schemas.openxmlformats.org/officeDocument/2006/relationships/image" Target="/ppt/media/image8.png" Id="R98e094cdbd564f0a" /><Relationship Type="http://schemas.openxmlformats.org/officeDocument/2006/relationships/image" Target="/ppt/media/image9.png" Id="R167290885f7c4a37" /><Relationship Type="http://schemas.openxmlformats.org/officeDocument/2006/relationships/image" Target="/ppt/media/image10.png" Id="Rbc1c3a1d88194baa" /><Relationship Type="http://schemas.openxmlformats.org/officeDocument/2006/relationships/image" Target="/ppt/media/image11.png" Id="R5facf3ad88b14102" /><Relationship Type="http://schemas.openxmlformats.org/officeDocument/2006/relationships/image" Target="/ppt/media/image12.png" Id="R17257dc09f9943c1" /><Relationship Type="http://schemas.openxmlformats.org/officeDocument/2006/relationships/image" Target="/ppt/media/image13.png" Id="R4981ea0da4954680" /><Relationship Type="http://schemas.openxmlformats.org/officeDocument/2006/relationships/image" Target="/ppt/media/image14.png" Id="Rd2f09f6a4c3d459c" /><Relationship Type="http://schemas.openxmlformats.org/officeDocument/2006/relationships/image" Target="/ppt/media/image15.png" Id="R17b08f95bdaf4403" /><Relationship Type="http://schemas.openxmlformats.org/officeDocument/2006/relationships/image" Target="/ppt/media/image16.png" Id="Ra848e64e0d0e4dea" /><Relationship Type="http://schemas.openxmlformats.org/officeDocument/2006/relationships/image" Target="/ppt/media/image17.png" Id="R47c98105192f4686" /><Relationship Type="http://schemas.openxmlformats.org/officeDocument/2006/relationships/image" Target="/ppt/media/image18.png" Id="R55220e5be4644e1b" /><Relationship Type="http://schemas.openxmlformats.org/officeDocument/2006/relationships/image" Target="/ppt/media/image19.png" Id="R1ed17a6632fd4491" /><Relationship Type="http://schemas.openxmlformats.org/officeDocument/2006/relationships/image" Target="/ppt/media/image20.png" Id="R05deb14529ea4389" /><Relationship Type="http://schemas.openxmlformats.org/officeDocument/2006/relationships/image" Target="/ppt/media/image21.png" Id="R15d78533f6584876" /><Relationship Type="http://schemas.openxmlformats.org/officeDocument/2006/relationships/image" Target="/ppt/media/image22.png" Id="R15687a66fcc042d3" /><Relationship Type="http://schemas.openxmlformats.org/officeDocument/2006/relationships/image" Target="/ppt/media/image23.png" Id="Rd83977eec7e54449" /><Relationship Type="http://schemas.openxmlformats.org/officeDocument/2006/relationships/image" Target="/ppt/media/image24.png" Id="Raa5ba301e76044e2" /><Relationship Type="http://schemas.openxmlformats.org/officeDocument/2006/relationships/image" Target="/ppt/media/image25.png" Id="Rc3a0c95a7e474f65" /><Relationship Type="http://schemas.openxmlformats.org/officeDocument/2006/relationships/image" Target="/ppt/media/image26.png" Id="R7f4760e3596342ff" /><Relationship Type="http://schemas.openxmlformats.org/officeDocument/2006/relationships/image" Target="/ppt/media/image27.png" Id="Rc33de68caed84536" /><Relationship Type="http://schemas.openxmlformats.org/officeDocument/2006/relationships/notesSlide" Target="/ppt/notesSlides/notesSlide3.xml" Id="R909b25c827ac4e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d3dceaba79b4dff" /><Relationship Type="http://schemas.openxmlformats.org/officeDocument/2006/relationships/image" Target="/ppt/media/image28.png" Id="R03ae0a75bf1d47ac" /><Relationship Type="http://schemas.openxmlformats.org/officeDocument/2006/relationships/image" Target="/ppt/media/image29.png" Id="R0e41707b302243c8" /><Relationship Type="http://schemas.openxmlformats.org/officeDocument/2006/relationships/image" Target="/ppt/media/image30.png" Id="R1a0bb9f111e74afa" /><Relationship Type="http://schemas.openxmlformats.org/officeDocument/2006/relationships/image" Target="/ppt/media/image31.png" Id="R9152b6fdca8449d3" /><Relationship Type="http://schemas.openxmlformats.org/officeDocument/2006/relationships/image" Target="/ppt/media/image32.png" Id="R1056e976a732457c" /><Relationship Type="http://schemas.openxmlformats.org/officeDocument/2006/relationships/notesSlide" Target="/ppt/notesSlides/notesSlide4.xml" Id="R853ca90230ef43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8716cc74a0f42e1" /><Relationship Type="http://schemas.openxmlformats.org/officeDocument/2006/relationships/image" Target="/ppt/media/image33.png" Id="R85230285869949ef" /><Relationship Type="http://schemas.openxmlformats.org/officeDocument/2006/relationships/image" Target="/ppt/media/image34.png" Id="R148d607759524643" /><Relationship Type="http://schemas.openxmlformats.org/officeDocument/2006/relationships/image" Target="/ppt/media/image35.png" Id="Rb63f2464bdc448d2" /><Relationship Type="http://schemas.openxmlformats.org/officeDocument/2006/relationships/image" Target="/ppt/media/image36.png" Id="Rc223f9b88fdc4a80" /><Relationship Type="http://schemas.openxmlformats.org/officeDocument/2006/relationships/image" Target="/ppt/media/image37.png" Id="R876b43fa29864e67" /><Relationship Type="http://schemas.openxmlformats.org/officeDocument/2006/relationships/image" Target="/ppt/media/image38.png" Id="R743273e833674707" /><Relationship Type="http://schemas.openxmlformats.org/officeDocument/2006/relationships/image" Target="/ppt/media/image39.png" Id="R8f9984eda5ed4fa8" /><Relationship Type="http://schemas.openxmlformats.org/officeDocument/2006/relationships/image" Target="/ppt/media/image40.png" Id="R678076181da54696" /><Relationship Type="http://schemas.openxmlformats.org/officeDocument/2006/relationships/notesSlide" Target="/ppt/notesSlides/notesSlide5.xml" Id="R5674add682a44a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7a000f4a81c42da" /><Relationship Type="http://schemas.openxmlformats.org/officeDocument/2006/relationships/hyperlink" Target="https://www.mha.gov.in/MHA1/Par2017/pdfs/par2025-pdfs/RS23072025/399.pdf" TargetMode="External" Id="R6f96fcf9ed8e41c3" /><Relationship Type="http://schemas.openxmlformats.org/officeDocument/2006/relationships/hyperlink" Target="https://github.com/Blockstream/esplora/blob/master/API.md" TargetMode="External" Id="R35c2ad70424a4e9e" /><Relationship Type="http://schemas.openxmlformats.org/officeDocument/2006/relationships/hyperlink" Target="https://www.chainalysis.com/product/reactor/" TargetMode="External" Id="R0843d8322b0a47d8" /><Relationship Type="http://schemas.openxmlformats.org/officeDocument/2006/relationships/image" Target="/ppt/media/image2.png" Id="Rfa3566485ee74471" /><Relationship Type="http://schemas.openxmlformats.org/officeDocument/2006/relationships/hyperlink" Target="https://enforcementdirectorate.gov.in/sites/default/files/latestnews/Press%20Release-Search-%20Bitconnect-15.02.2025.pdf" TargetMode="External" Id="Rea748e9e646444e9" /><Relationship Type="http://schemas.openxmlformats.org/officeDocument/2006/relationships/notesSlide" Target="/ppt/notesSlides/notesSlide6.xml" Id="R34df3ae9d4a94c19"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89" name="Google Shape;89;p13">
            <a:extLst xmlns:a="http://schemas.openxmlformats.org/drawingml/2006/main">
              <a:ext uri="{FF2B5EF4-FFF2-40B4-BE49-F238E27FC236}">
                <a16:creationId xmlns:a16="http://schemas.microsoft.com/office/drawing/2014/main" id="{2F891B13-CD10-4750-919E-6F77221A887C}"/>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sp>
        <p:nvSpPr>
          <p:cNvPr id="90" name="Google Shape;90;p13">
            <a:extLst xmlns:a="http://schemas.openxmlformats.org/drawingml/2006/main">
              <a:ext uri="{FF2B5EF4-FFF2-40B4-BE49-F238E27FC236}">
                <a16:creationId xmlns:a16="http://schemas.microsoft.com/office/drawing/2014/main" id="{E5991CC2-D2D6-4BAB-9BA9-8D70546E7160}"/>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rgbClr val="7F7F7F">
              <a:alpha val="14902"/>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chemeClr val="lt1"/>
              </a:solidFill>
              <a:latin typeface="Calibri"/>
              <a:ea typeface="Calibri"/>
              <a:cs typeface="Calibri"/>
            </a:endParaRPr>
          </a:p>
        </p:txBody>
      </p:sp>
      <p:pic>
        <p:nvPicPr>
          <p:cNvPr id="107" name="Google Shape;91;p13"/>
          <p:cNvPicPr>
            <a:picLocks xmlns:a="http://schemas.openxmlformats.org/drawingml/2006/main" noChangeAspect="1"/>
          </p:cNvPicPr>
          <p:nvPr/>
        </p:nvPicPr>
        <p:blipFill rotWithShape="1">
          <a:blip xmlns:r="http://schemas.openxmlformats.org/officeDocument/2006/relationships" xmlns:a="http://schemas.openxmlformats.org/drawingml/2006/main" r:embed="R0763baa1a76c472a">
            <a:alphaModFix/>
          </a:blip>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A9869FE7-3A4C-4D3B-9C87-618FDCCBFF6E}"/>
              </a:ext>
            </a:extLst>
          </p:cNvPr>
          <p:cNvSpPr>
            <a:spLocks xmlns:a="http://schemas.openxmlformats.org/drawingml/2006/main" noGrp="1"/>
          </p:cNvSpPr>
          <p:nvPr>
            <p:ph type="subTitle" idx="1"/>
          </p:nvPr>
        </p:nvSpPr>
        <p:spPr>
          <a:xfrm xmlns:a="http://schemas.openxmlformats.org/drawingml/2006/main">
            <a:off x="381000" y="1133475"/>
            <a:ext cx="6286500" cy="657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lvl="0" indent="0" algn="ctr">
              <a:spcBef>
                <a:spcPts val="0"/>
              </a:spcBef>
              <a:spcAft>
                <a:spcPts val="0"/>
              </a:spcAft>
              <a:buClr>
                <a:srgbClr val="888888"/>
              </a:buClr>
              <a:buSzPts val="3200"/>
              <a:buNone/>
              <a:defRPr sz="3300" b="1">
                <a:solidFill>
                  <a:srgbClr val="173A61"/>
                </a:solidFill>
                <a:latin typeface="Times New Roman"/>
                <a:ea typeface="Times New Roman"/>
                <a:cs typeface="Times New Roman"/>
              </a:defRPr>
            </a:pPr>
            <a:r>
              <a:rPr sz="3300" b="1">
                <a:solidFill>
                  <a:srgbClr val="173A61"/>
                </a:solidFill>
                <a:latin typeface="Times New Roman"/>
                <a:ea typeface="Times New Roman"/>
                <a:cs typeface="Times New Roman"/>
              </a:rPr>
              <a:t>TRACESETU</a:t>
            </a:r>
            <a:endParaRPr b="1">
              <a:solidFill>
                <a:schemeClr val="dk1"/>
              </a:solidFill>
              <a:latin typeface="Times New Roman"/>
              <a:ea typeface="Times New Roman"/>
              <a:cs typeface="Times New Roman"/>
            </a:endParaRPr>
          </a:p>
        </p:txBody>
      </p:sp>
      <p:sp>
        <p:nvSpPr>
          <p:cNvPr id="93" name="Google Shape;93;p13">
            <a:extLst xmlns:a="http://schemas.openxmlformats.org/drawingml/2006/main">
              <a:ext uri="{FF2B5EF4-FFF2-40B4-BE49-F238E27FC236}">
                <a16:creationId xmlns:a16="http://schemas.microsoft.com/office/drawing/2014/main" id="{172888F5-546D-4488-9D3E-25188EF2425B}"/>
              </a:ext>
            </a:extLst>
          </p:cNvPr>
          <p:cNvSpPr>
            <a:spLocks xmlns:a="http://schemas.openxmlformats.org/drawingml/2006/main" noGrp="1"/>
          </p:cNvSpPr>
          <p:nvPr>
            <p:ph type="ctrTitle" idx="0"/>
          </p:nvPr>
        </p:nvSpPr>
        <p:spPr>
          <a:xfrm xmlns:a="http://schemas.openxmlformats.org/drawingml/2006/main">
            <a:off x="381000" y="285750"/>
            <a:ext cx="8953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2850">
                <a:latin typeface="Arial"/>
                <a:ea typeface="Arial"/>
                <a:cs typeface="Arial"/>
              </a:defRPr>
            </a:pPr>
            <a:r>
              <a:rPr sz="2850" b="1">
                <a:solidFill>
                  <a:schemeClr val="dk2"/>
                </a:solidFill>
                <a:latin typeface="Arial"/>
                <a:ea typeface="Arial"/>
                <a:cs typeface="Arial"/>
              </a:rPr>
              <a:t>SMART INDIA HACKATHON 2026</a:t>
            </a:r>
            <a:endParaRPr sz="4000" b="1">
              <a:solidFill>
                <a:schemeClr val="dk2"/>
              </a:solidFill>
              <a:latin typeface="Garamond"/>
              <a:ea typeface="Garamond"/>
              <a:cs typeface="Garamond"/>
            </a:endParaRPr>
          </a:p>
        </p:txBody>
      </p:sp>
      <p:pic>
        <p:nvPicPr>
          <p:cNvPr id="110" name="Google Shape;94;p13"/>
          <p:cNvPicPr>
            <a:picLocks xmlns:a="http://schemas.openxmlformats.org/drawingml/2006/main" noChangeAspect="1"/>
          </p:cNvPicPr>
          <p:nvPr/>
        </p:nvPicPr>
        <p:blipFill rotWithShape="1">
          <a:blip xmlns:r="http://schemas.openxmlformats.org/officeDocument/2006/relationships" xmlns:a="http://schemas.openxmlformats.org/drawingml/2006/main" r:embed="Re1eb807b87a74aa5">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C7C12765-FD1C-4F3C-B9B2-E3292916E6C5}"/>
              </a:ext>
            </a:extLst>
          </p:cNvPr>
          <p:cNvSpPr>
            <a:spLocks xmlns:a="http://schemas.openxmlformats.org/drawingml/2006/main" noGrp="1"/>
          </p:cNvSpPr>
          <p:nvPr/>
        </p:nvSpPr>
        <p:spPr>
          <a:xfrm xmlns:a="http://schemas.openxmlformats.org/drawingml/2006/main">
            <a:off x="428625" y="2009775"/>
            <a:ext cx="62865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800">
                <a:latin typeface="Arial"/>
                <a:ea typeface="Arial"/>
                <a:cs typeface="Arial"/>
              </a:defRPr>
            </a:pPr>
            <a:r>
              <a:rPr sz="1800" b="1" i="0" u="none" cap="none">
                <a:solidFill>
                  <a:srgbClr val="1F497D"/>
                </a:solidFill>
                <a:latin typeface="Arial"/>
                <a:ea typeface="Arial"/>
                <a:cs typeface="Arial"/>
              </a:rPr>
              <a:t>Blockchain investigation with evidence at every step</a:t>
            </a:r>
            <a:endParaRPr/>
          </a:p>
        </p:txBody>
      </p:sp>
      <p:sp>
        <p:nvSpPr>
          <p:cNvPr id="96" name="Google Shape;96;p13">
            <a:extLst xmlns:a="http://schemas.openxmlformats.org/drawingml/2006/main">
              <a:ext uri="{FF2B5EF4-FFF2-40B4-BE49-F238E27FC236}">
                <a16:creationId xmlns:a16="http://schemas.microsoft.com/office/drawing/2014/main" id="{05030046-C11F-4356-A66B-BBDAC7BE1F9B}"/>
              </a:ext>
            </a:extLst>
          </p:cNvPr>
          <p:cNvSpPr>
            <a:spLocks xmlns:a="http://schemas.openxmlformats.org/drawingml/2006/main" noGrp="1"/>
          </p:cNvSpPr>
          <p:nvPr/>
        </p:nvSpPr>
        <p:spPr>
          <a:xfrm xmlns:a="http://schemas.openxmlformats.org/drawingml/2006/main">
            <a:off x="428625" y="2562225"/>
            <a:ext cx="5524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100" b="1" i="0" u="none" cap="none">
                <a:solidFill>
                  <a:srgbClr val="000000"/>
                </a:solidFill>
                <a:latin typeface="Arial"/>
                <a:ea typeface="Arial"/>
                <a:cs typeface="Arial"/>
              </a:rPr>
              <a:t>Problem Statement ID: 26182</a:t>
            </a:r>
            <a:endParaRPr/>
          </a:p>
        </p:txBody>
      </p:sp>
      <p:sp>
        <p:nvSpPr>
          <p:cNvPr id="97" name="Google Shape;97;p13">
            <a:extLst xmlns:a="http://schemas.openxmlformats.org/drawingml/2006/main">
              <a:ext uri="{FF2B5EF4-FFF2-40B4-BE49-F238E27FC236}">
                <a16:creationId xmlns:a16="http://schemas.microsoft.com/office/drawing/2014/main" id="{E4E9FEF0-2E0A-4C8A-8567-3C91B97B7434}"/>
              </a:ext>
            </a:extLst>
          </p:cNvPr>
          <p:cNvSpPr>
            <a:spLocks xmlns:a="http://schemas.openxmlformats.org/drawingml/2006/main" noGrp="1"/>
          </p:cNvSpPr>
          <p:nvPr/>
        </p:nvSpPr>
        <p:spPr>
          <a:xfrm xmlns:a="http://schemas.openxmlformats.org/drawingml/2006/main">
            <a:off x="428625" y="3086100"/>
            <a:ext cx="552450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000000"/>
                </a:solidFill>
                <a:latin typeface="Arial"/>
                <a:ea typeface="Arial"/>
                <a:cs typeface="Arial"/>
              </a:rPr>
              <a:t>Problem Statement Title</a:t>
            </a:r>
            <a:endParaRPr/>
          </a:p>
        </p:txBody>
      </p:sp>
      <p:sp>
        <p:nvSpPr>
          <p:cNvPr id="98" name="Google Shape;98;p13">
            <a:extLst xmlns:a="http://schemas.openxmlformats.org/drawingml/2006/main">
              <a:ext uri="{FF2B5EF4-FFF2-40B4-BE49-F238E27FC236}">
                <a16:creationId xmlns:a16="http://schemas.microsoft.com/office/drawing/2014/main" id="{97695E10-D983-4800-879F-916D7A0B4693}"/>
              </a:ext>
            </a:extLst>
          </p:cNvPr>
          <p:cNvSpPr>
            <a:spLocks xmlns:a="http://schemas.openxmlformats.org/drawingml/2006/main" noGrp="1"/>
          </p:cNvSpPr>
          <p:nvPr/>
        </p:nvSpPr>
        <p:spPr>
          <a:xfrm xmlns:a="http://schemas.openxmlformats.org/drawingml/2006/main">
            <a:off x="428625" y="3476625"/>
            <a:ext cx="531495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00" b="0" i="0" u="none" cap="none">
                <a:solidFill>
                  <a:srgbClr val="000000"/>
                </a:solidFill>
                <a:latin typeface="Arial"/>
                <a:ea typeface="Arial"/>
                <a:cs typeface="Arial"/>
              </a:rPr>
              <a:t>Automated Attribution of Unknown Cryptocurrency Wallets to Nearest Virtual Asset Service Providers (VASPs) through Blockchain Intelligence APIs</a:t>
            </a:r>
            <a:endParaRPr/>
          </a:p>
        </p:txBody>
      </p:sp>
      <p:sp>
        <p:nvSpPr>
          <p:cNvPr id="99" name="Google Shape;99;p13">
            <a:extLst xmlns:a="http://schemas.openxmlformats.org/drawingml/2006/main">
              <a:ext uri="{FF2B5EF4-FFF2-40B4-BE49-F238E27FC236}">
                <a16:creationId xmlns:a16="http://schemas.microsoft.com/office/drawing/2014/main" id="{4C765F85-9917-453C-A2C2-AE3701A32CE3}"/>
              </a:ext>
            </a:extLst>
          </p:cNvPr>
          <p:cNvSpPr>
            <a:spLocks xmlns:a="http://schemas.openxmlformats.org/drawingml/2006/main" noGrp="1"/>
          </p:cNvSpPr>
          <p:nvPr/>
        </p:nvSpPr>
        <p:spPr>
          <a:xfrm xmlns:a="http://schemas.openxmlformats.org/drawingml/2006/main">
            <a:off x="428625" y="481965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Theme: Blockchain &amp; Cybersecurity</a:t>
            </a:r>
            <a:endParaRPr/>
          </a:p>
        </p:txBody>
      </p:sp>
      <p:sp>
        <p:nvSpPr>
          <p:cNvPr id="100" name="Google Shape;100;p13">
            <a:extLst xmlns:a="http://schemas.openxmlformats.org/drawingml/2006/main">
              <a:ext uri="{FF2B5EF4-FFF2-40B4-BE49-F238E27FC236}">
                <a16:creationId xmlns:a16="http://schemas.microsoft.com/office/drawing/2014/main" id="{25CFE0AC-D33A-4053-AA9A-0AA62B12AAE0}"/>
              </a:ext>
            </a:extLst>
          </p:cNvPr>
          <p:cNvSpPr>
            <a:spLocks xmlns:a="http://schemas.openxmlformats.org/drawingml/2006/main" noGrp="1"/>
          </p:cNvSpPr>
          <p:nvPr/>
        </p:nvSpPr>
        <p:spPr>
          <a:xfrm xmlns:a="http://schemas.openxmlformats.org/drawingml/2006/main">
            <a:off x="428625" y="524827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PS Category: Software</a:t>
            </a:r>
            <a:endParaRPr/>
          </a:p>
        </p:txBody>
      </p:sp>
      <p:sp>
        <p:nvSpPr>
          <p:cNvPr id="101" name="Google Shape;101;p13">
            <a:extLst xmlns:a="http://schemas.openxmlformats.org/drawingml/2006/main">
              <a:ext uri="{FF2B5EF4-FFF2-40B4-BE49-F238E27FC236}">
                <a16:creationId xmlns:a16="http://schemas.microsoft.com/office/drawing/2014/main" id="{83F5CE74-A50D-495B-A84E-ED59EC239976}"/>
              </a:ext>
            </a:extLst>
          </p:cNvPr>
          <p:cNvSpPr>
            <a:spLocks xmlns:a="http://schemas.openxmlformats.org/drawingml/2006/main" noGrp="1"/>
          </p:cNvSpPr>
          <p:nvPr/>
        </p:nvSpPr>
        <p:spPr>
          <a:xfrm xmlns:a="http://schemas.openxmlformats.org/drawingml/2006/main">
            <a:off x="428625" y="5676900"/>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ID: 170835</a:t>
            </a:r>
            <a:endParaRPr/>
          </a:p>
        </p:txBody>
      </p:sp>
      <p:sp>
        <p:nvSpPr>
          <p:cNvPr id="102" name="Google Shape;102;p13">
            <a:extLst xmlns:a="http://schemas.openxmlformats.org/drawingml/2006/main">
              <a:ext uri="{FF2B5EF4-FFF2-40B4-BE49-F238E27FC236}">
                <a16:creationId xmlns:a16="http://schemas.microsoft.com/office/drawing/2014/main" id="{B771574B-FF68-46F0-BCE6-016A7AF0AF88}"/>
              </a:ext>
            </a:extLst>
          </p:cNvPr>
          <p:cNvSpPr>
            <a:spLocks xmlns:a="http://schemas.openxmlformats.org/drawingml/2006/main" noGrp="1"/>
          </p:cNvSpPr>
          <p:nvPr/>
        </p:nvSpPr>
        <p:spPr>
          <a:xfrm xmlns:a="http://schemas.openxmlformats.org/drawingml/2006/main">
            <a:off x="428625" y="6105525"/>
            <a:ext cx="5524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50" b="1" i="0" u="none" cap="none">
                <a:solidFill>
                  <a:srgbClr val="000000"/>
                </a:solidFill>
                <a:latin typeface="Arial"/>
                <a:ea typeface="Arial"/>
                <a:cs typeface="Arial"/>
              </a:rPr>
              <a:t>Team Name: ANANTHA</a:t>
            </a:r>
            <a:endParaRPr/>
          </a:p>
        </p:txBody>
      </p:sp>
    </p:spTree>
    <p:extLst>
      <p:ext uri="{BB962C8B-B14F-4D97-AF65-F5344CB8AC3E}">
        <p14:creationId xmlns:p14="http://schemas.microsoft.com/office/powerpoint/2010/main" val="1690634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7" name="Google Shape;227;p15">
            <a:extLst xmlns:a="http://schemas.openxmlformats.org/drawingml/2006/main">
              <a:ext uri="{FF2B5EF4-FFF2-40B4-BE49-F238E27FC236}">
                <a16:creationId xmlns:a16="http://schemas.microsoft.com/office/drawing/2014/main" id="{E8521894-3062-4EC0-BBEA-0DBA42198E5F}"/>
              </a:ext>
            </a:extLst>
          </p:cNvPr>
          <p:cNvSpPr>
            <a:spLocks xmlns:a="http://schemas.openxmlformats.org/drawingml/2006/main" noGrp="1"/>
          </p:cNvSpPr>
          <p:nvPr/>
        </p:nvSpPr>
        <p:spPr>
          <a:xfrm xmlns:a="http://schemas.openxmlformats.org/drawingml/2006/main">
            <a:off x="333375" y="1381125"/>
            <a:ext cx="27717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8" name="Google Shape;228;p15">
            <a:extLst xmlns:a="http://schemas.openxmlformats.org/drawingml/2006/main">
              <a:ext uri="{FF2B5EF4-FFF2-40B4-BE49-F238E27FC236}">
                <a16:creationId xmlns:a16="http://schemas.microsoft.com/office/drawing/2014/main" id="{E7929593-EE1F-4018-85FA-DF2FD771C339}"/>
              </a:ext>
            </a:extLst>
          </p:cNvPr>
          <p:cNvSpPr>
            <a:spLocks xmlns:a="http://schemas.openxmlformats.org/drawingml/2006/main" noGrp="1"/>
          </p:cNvSpPr>
          <p:nvPr/>
        </p:nvSpPr>
        <p:spPr>
          <a:xfrm xmlns:a="http://schemas.openxmlformats.org/drawingml/2006/main">
            <a:off x="419100" y="1428750"/>
            <a:ext cx="2600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575" b="1" i="0" u="none" cap="none">
                <a:solidFill>
                  <a:srgbClr val="FFFFFF"/>
                </a:solidFill>
                <a:latin typeface="Arial"/>
                <a:ea typeface="Arial"/>
                <a:cs typeface="Arial"/>
              </a:rPr>
              <a:t>IDEA &amp; SOLUTION</a:t>
            </a:r>
            <a:endParaRPr/>
          </a:p>
        </p:txBody>
      </p:sp>
      <p:sp>
        <p:nvSpPr>
          <p:cNvPr id="229" name="Google Shape;229;p15">
            <a:extLst xmlns:a="http://schemas.openxmlformats.org/drawingml/2006/main">
              <a:ext uri="{FF2B5EF4-FFF2-40B4-BE49-F238E27FC236}">
                <a16:creationId xmlns:a16="http://schemas.microsoft.com/office/drawing/2014/main" id="{774CB3BD-EC92-4C9C-9C6E-EBFA1748F442}"/>
              </a:ext>
            </a:extLst>
          </p:cNvPr>
          <p:cNvSpPr>
            <a:spLocks xmlns:a="http://schemas.openxmlformats.org/drawingml/2006/main" noGrp="1"/>
          </p:cNvSpPr>
          <p:nvPr/>
        </p:nvSpPr>
        <p:spPr>
          <a:xfrm xmlns:a="http://schemas.openxmlformats.org/drawingml/2006/main">
            <a:off x="333375" y="1819275"/>
            <a:ext cx="27717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1F497D"/>
                </a:solidFill>
                <a:latin typeface="Arial"/>
                <a:ea typeface="Arial"/>
                <a:cs typeface="Arial"/>
              </a:rPr>
              <a:t>TraceSetu helps officers trace a reported wallet to supported receiving services and inspect the evidence before action.</a:t>
            </a:r>
            <a:endParaRPr/>
          </a:p>
        </p:txBody>
      </p:sp>
      <p:sp>
        <p:nvSpPr>
          <p:cNvPr id="230" name="Google Shape;230;p15">
            <a:extLst xmlns:a="http://schemas.openxmlformats.org/drawingml/2006/main">
              <a:ext uri="{FF2B5EF4-FFF2-40B4-BE49-F238E27FC236}">
                <a16:creationId xmlns:a16="http://schemas.microsoft.com/office/drawing/2014/main" id="{650C5141-CE83-4E35-86E2-2A8D7A1DCCB9}"/>
              </a:ext>
            </a:extLst>
          </p:cNvPr>
          <p:cNvSpPr>
            <a:spLocks xmlns:a="http://schemas.openxmlformats.org/drawingml/2006/main" noGrp="1"/>
          </p:cNvSpPr>
          <p:nvPr/>
        </p:nvSpPr>
        <p:spPr>
          <a:xfrm xmlns:a="http://schemas.openxmlformats.org/drawingml/2006/main">
            <a:off x="333375" y="2952750"/>
            <a:ext cx="2771700" cy="40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Every result shows its sources,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search limits and unresolved gaps.</a:t>
            </a:r>
            <a:endParaRPr/>
          </a:p>
        </p:txBody>
      </p:sp>
      <p:sp>
        <p:nvSpPr>
          <p:cNvPr id="231" name="Google Shape;231;p15">
            <a:extLst xmlns:a="http://schemas.openxmlformats.org/drawingml/2006/main">
              <a:ext uri="{FF2B5EF4-FFF2-40B4-BE49-F238E27FC236}">
                <a16:creationId xmlns:a16="http://schemas.microsoft.com/office/drawing/2014/main" id="{74CCEFBC-6A90-4AEC-9EB5-32A91B02409B}"/>
              </a:ext>
            </a:extLst>
          </p:cNvPr>
          <p:cNvSpPr>
            <a:spLocks xmlns:a="http://schemas.openxmlformats.org/drawingml/2006/main" noGrp="1"/>
          </p:cNvSpPr>
          <p:nvPr/>
        </p:nvSpPr>
        <p:spPr>
          <a:xfrm xmlns:a="http://schemas.openxmlformats.org/drawingml/2006/main">
            <a:off x="333375" y="35052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2" name="Google Shape;232;p15">
            <a:extLst xmlns:a="http://schemas.openxmlformats.org/drawingml/2006/main">
              <a:ext uri="{FF2B5EF4-FFF2-40B4-BE49-F238E27FC236}">
                <a16:creationId xmlns:a16="http://schemas.microsoft.com/office/drawing/2014/main" id="{C435C02D-00E1-4108-82B8-D274431C778C}"/>
              </a:ext>
            </a:extLst>
          </p:cNvPr>
          <p:cNvSpPr>
            <a:spLocks xmlns:a="http://schemas.openxmlformats.org/drawingml/2006/main" noGrp="1"/>
          </p:cNvSpPr>
          <p:nvPr/>
        </p:nvSpPr>
        <p:spPr>
          <a:xfrm xmlns:a="http://schemas.openxmlformats.org/drawingml/2006/main">
            <a:off x="447675" y="35052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FIRST CUSTODY</a:t>
            </a:r>
            <a:endParaRPr/>
          </a:p>
        </p:txBody>
      </p:sp>
      <p:sp>
        <p:nvSpPr>
          <p:cNvPr id="233" name="Google Shape;233;p15">
            <a:extLst xmlns:a="http://schemas.openxmlformats.org/drawingml/2006/main">
              <a:ext uri="{FF2B5EF4-FFF2-40B4-BE49-F238E27FC236}">
                <a16:creationId xmlns:a16="http://schemas.microsoft.com/office/drawing/2014/main" id="{27025313-B77A-4889-9EDE-9A3611FE5123}"/>
              </a:ext>
            </a:extLst>
          </p:cNvPr>
          <p:cNvSpPr>
            <a:spLocks xmlns:a="http://schemas.openxmlformats.org/drawingml/2006/main" noGrp="1"/>
          </p:cNvSpPr>
          <p:nvPr/>
        </p:nvSpPr>
        <p:spPr>
          <a:xfrm xmlns:a="http://schemas.openxmlformats.org/drawingml/2006/main">
            <a:off x="447675" y="37242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Stop each branch at the first</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supported exchange or custodian.</a:t>
            </a:r>
            <a:endParaRPr/>
          </a:p>
        </p:txBody>
      </p:sp>
      <p:sp>
        <p:nvSpPr>
          <p:cNvPr id="234" name="Google Shape;234;p15">
            <a:extLst xmlns:a="http://schemas.openxmlformats.org/drawingml/2006/main">
              <a:ext uri="{FF2B5EF4-FFF2-40B4-BE49-F238E27FC236}">
                <a16:creationId xmlns:a16="http://schemas.microsoft.com/office/drawing/2014/main" id="{62B50D5D-09F3-48D4-94A9-442E4EF97773}"/>
              </a:ext>
            </a:extLst>
          </p:cNvPr>
          <p:cNvSpPr>
            <a:spLocks xmlns:a="http://schemas.openxmlformats.org/drawingml/2006/main" noGrp="1"/>
          </p:cNvSpPr>
          <p:nvPr/>
        </p:nvSpPr>
        <p:spPr>
          <a:xfrm xmlns:a="http://schemas.openxmlformats.org/drawingml/2006/main">
            <a:off x="333375" y="4057650"/>
            <a:ext cx="38100" cy="4668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5" name="Google Shape;235;p15">
            <a:extLst xmlns:a="http://schemas.openxmlformats.org/drawingml/2006/main">
              <a:ext uri="{FF2B5EF4-FFF2-40B4-BE49-F238E27FC236}">
                <a16:creationId xmlns:a16="http://schemas.microsoft.com/office/drawing/2014/main" id="{87242430-E9A9-4217-9434-58487A3D0CBE}"/>
              </a:ext>
            </a:extLst>
          </p:cNvPr>
          <p:cNvSpPr>
            <a:spLocks xmlns:a="http://schemas.openxmlformats.org/drawingml/2006/main" noGrp="1"/>
          </p:cNvSpPr>
          <p:nvPr/>
        </p:nvSpPr>
        <p:spPr>
          <a:xfrm xmlns:a="http://schemas.openxmlformats.org/drawingml/2006/main">
            <a:off x="447675" y="40576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NEARESTNESS CERTIFICATE</a:t>
            </a:r>
            <a:endParaRPr/>
          </a:p>
        </p:txBody>
      </p:sp>
      <p:sp>
        <p:nvSpPr>
          <p:cNvPr id="236" name="Google Shape;236;p15">
            <a:extLst xmlns:a="http://schemas.openxmlformats.org/drawingml/2006/main">
              <a:ext uri="{FF2B5EF4-FFF2-40B4-BE49-F238E27FC236}">
                <a16:creationId xmlns:a16="http://schemas.microsoft.com/office/drawing/2014/main" id="{01645280-0E1C-4189-9FEF-C5457C4DBDE5}"/>
              </a:ext>
            </a:extLst>
          </p:cNvPr>
          <p:cNvSpPr>
            <a:spLocks xmlns:a="http://schemas.openxmlformats.org/drawingml/2006/main" noGrp="1"/>
          </p:cNvSpPr>
          <p:nvPr/>
        </p:nvSpPr>
        <p:spPr>
          <a:xfrm xmlns:a="http://schemas.openxmlformats.org/drawingml/2006/main">
            <a:off x="447675" y="42767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Show which gaps can hide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a nearer receiving service.</a:t>
            </a:r>
            <a:endParaRPr/>
          </a:p>
        </p:txBody>
      </p:sp>
      <p:sp>
        <p:nvSpPr>
          <p:cNvPr id="237" name="Google Shape;237;p15">
            <a:extLst xmlns:a="http://schemas.openxmlformats.org/drawingml/2006/main">
              <a:ext uri="{FF2B5EF4-FFF2-40B4-BE49-F238E27FC236}">
                <a16:creationId xmlns:a16="http://schemas.microsoft.com/office/drawing/2014/main" id="{417DE8F0-95E8-43EE-B964-E214FAD1F96C}"/>
              </a:ext>
            </a:extLst>
          </p:cNvPr>
          <p:cNvSpPr>
            <a:spLocks xmlns:a="http://schemas.openxmlformats.org/drawingml/2006/main" noGrp="1"/>
          </p:cNvSpPr>
          <p:nvPr/>
        </p:nvSpPr>
        <p:spPr>
          <a:xfrm xmlns:a="http://schemas.openxmlformats.org/drawingml/2006/main">
            <a:off x="333375" y="4610100"/>
            <a:ext cx="38100" cy="4668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38" name="Google Shape;238;p15">
            <a:extLst xmlns:a="http://schemas.openxmlformats.org/drawingml/2006/main">
              <a:ext uri="{FF2B5EF4-FFF2-40B4-BE49-F238E27FC236}">
                <a16:creationId xmlns:a16="http://schemas.microsoft.com/office/drawing/2014/main" id="{FC10D46E-E77D-4AB9-8D33-6ECF135ADFFA}"/>
              </a:ext>
            </a:extLst>
          </p:cNvPr>
          <p:cNvSpPr>
            <a:spLocks xmlns:a="http://schemas.openxmlformats.org/drawingml/2006/main" noGrp="1"/>
          </p:cNvSpPr>
          <p:nvPr/>
        </p:nvSpPr>
        <p:spPr>
          <a:xfrm xmlns:a="http://schemas.openxmlformats.org/drawingml/2006/main">
            <a:off x="447675" y="46101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9A6C22"/>
                </a:solidFill>
                <a:latin typeface="Arial"/>
                <a:ea typeface="Arial"/>
                <a:cs typeface="Arial"/>
              </a:rPr>
              <a:t>SOURCE CHALLENGE</a:t>
            </a:r>
            <a:endParaRPr/>
          </a:p>
        </p:txBody>
      </p:sp>
      <p:sp>
        <p:nvSpPr>
          <p:cNvPr id="239" name="Google Shape;239;p15">
            <a:extLst xmlns:a="http://schemas.openxmlformats.org/drawingml/2006/main">
              <a:ext uri="{FF2B5EF4-FFF2-40B4-BE49-F238E27FC236}">
                <a16:creationId xmlns:a16="http://schemas.microsoft.com/office/drawing/2014/main" id="{0FB95A86-DAA9-4512-B406-723EA03805B9}"/>
              </a:ext>
            </a:extLst>
          </p:cNvPr>
          <p:cNvSpPr>
            <a:spLocks xmlns:a="http://schemas.openxmlformats.org/drawingml/2006/main" noGrp="1"/>
          </p:cNvSpPr>
          <p:nvPr/>
        </p:nvSpPr>
        <p:spPr>
          <a:xfrm xmlns:a="http://schemas.openxmlformats.org/drawingml/2006/main">
            <a:off x="447675" y="48291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Remove a disputed source and</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recompute without losing history.</a:t>
            </a:r>
            <a:endParaRPr/>
          </a:p>
        </p:txBody>
      </p:sp>
      <p:sp>
        <p:nvSpPr>
          <p:cNvPr id="240" name="Google Shape;240;p15">
            <a:extLst xmlns:a="http://schemas.openxmlformats.org/drawingml/2006/main">
              <a:ext uri="{FF2B5EF4-FFF2-40B4-BE49-F238E27FC236}">
                <a16:creationId xmlns:a16="http://schemas.microsoft.com/office/drawing/2014/main" id="{96D31167-1F02-49EF-BF22-AB34513F56DC}"/>
              </a:ext>
            </a:extLst>
          </p:cNvPr>
          <p:cNvSpPr>
            <a:spLocks xmlns:a="http://schemas.openxmlformats.org/drawingml/2006/main" noGrp="1"/>
          </p:cNvSpPr>
          <p:nvPr/>
        </p:nvSpPr>
        <p:spPr>
          <a:xfrm xmlns:a="http://schemas.openxmlformats.org/drawingml/2006/main">
            <a:off x="333375" y="5162550"/>
            <a:ext cx="38100" cy="4668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5">
            <a:extLst xmlns:a="http://schemas.openxmlformats.org/drawingml/2006/main">
              <a:ext uri="{FF2B5EF4-FFF2-40B4-BE49-F238E27FC236}">
                <a16:creationId xmlns:a16="http://schemas.microsoft.com/office/drawing/2014/main" id="{F4261360-2672-4F11-ADCE-739A3D432D0C}"/>
              </a:ext>
            </a:extLst>
          </p:cNvPr>
          <p:cNvSpPr>
            <a:spLocks xmlns:a="http://schemas.openxmlformats.org/drawingml/2006/main" noGrp="1"/>
          </p:cNvSpPr>
          <p:nvPr/>
        </p:nvSpPr>
        <p:spPr>
          <a:xfrm xmlns:a="http://schemas.openxmlformats.org/drawingml/2006/main">
            <a:off x="447675" y="516255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BUDGETED ACQUISITION</a:t>
            </a:r>
            <a:endParaRPr/>
          </a:p>
        </p:txBody>
      </p:sp>
      <p:sp>
        <p:nvSpPr>
          <p:cNvPr id="242" name="Google Shape;242;p15">
            <a:extLst xmlns:a="http://schemas.openxmlformats.org/drawingml/2006/main">
              <a:ext uri="{FF2B5EF4-FFF2-40B4-BE49-F238E27FC236}">
                <a16:creationId xmlns:a16="http://schemas.microsoft.com/office/drawing/2014/main" id="{BF4D2517-C6D5-4F64-B5DE-BF45172342F6}"/>
              </a:ext>
            </a:extLst>
          </p:cNvPr>
          <p:cNvSpPr>
            <a:spLocks xmlns:a="http://schemas.openxmlformats.org/drawingml/2006/main" noGrp="1"/>
          </p:cNvSpPr>
          <p:nvPr/>
        </p:nvSpPr>
        <p:spPr>
          <a:xfrm xmlns:a="http://schemas.openxmlformats.org/drawingml/2006/main">
            <a:off x="447675" y="538162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Prioritise nearer missing evidence.</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Reserve API calls before dispatch.</a:t>
            </a:r>
            <a:endParaRPr/>
          </a:p>
        </p:txBody>
      </p:sp>
      <p:sp>
        <p:nvSpPr>
          <p:cNvPr id="243" name="Google Shape;243;p15">
            <a:extLst xmlns:a="http://schemas.openxmlformats.org/drawingml/2006/main">
              <a:ext uri="{FF2B5EF4-FFF2-40B4-BE49-F238E27FC236}">
                <a16:creationId xmlns:a16="http://schemas.microsoft.com/office/drawing/2014/main" id="{213DA567-542B-4181-A8E4-013958548D2C}"/>
              </a:ext>
            </a:extLst>
          </p:cNvPr>
          <p:cNvSpPr>
            <a:spLocks xmlns:a="http://schemas.openxmlformats.org/drawingml/2006/main" noGrp="1"/>
          </p:cNvSpPr>
          <p:nvPr/>
        </p:nvSpPr>
        <p:spPr>
          <a:xfrm xmlns:a="http://schemas.openxmlformats.org/drawingml/2006/main">
            <a:off x="333375" y="5715000"/>
            <a:ext cx="38100" cy="4668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4" name="Google Shape;244;p15">
            <a:extLst xmlns:a="http://schemas.openxmlformats.org/drawingml/2006/main">
              <a:ext uri="{FF2B5EF4-FFF2-40B4-BE49-F238E27FC236}">
                <a16:creationId xmlns:a16="http://schemas.microsoft.com/office/drawing/2014/main" id="{4E7844B6-F33A-43DC-8A9F-37E7E6B50395}"/>
              </a:ext>
            </a:extLst>
          </p:cNvPr>
          <p:cNvSpPr>
            <a:spLocks xmlns:a="http://schemas.openxmlformats.org/drawingml/2006/main" noGrp="1"/>
          </p:cNvSpPr>
          <p:nvPr/>
        </p:nvSpPr>
        <p:spPr>
          <a:xfrm xmlns:a="http://schemas.openxmlformats.org/drawingml/2006/main">
            <a:off x="447675" y="5715000"/>
            <a:ext cx="26574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77" b="1" i="0" u="none" cap="none">
                <a:solidFill>
                  <a:srgbClr val="1F497D"/>
                </a:solidFill>
                <a:latin typeface="Arial"/>
                <a:ea typeface="Arial"/>
                <a:cs typeface="Arial"/>
              </a:rPr>
              <a:t>REVIEWED FEEDBACK</a:t>
            </a:r>
            <a:endParaRPr/>
          </a:p>
        </p:txBody>
      </p:sp>
      <p:sp>
        <p:nvSpPr>
          <p:cNvPr id="245" name="Google Shape;245;p15">
            <a:extLst xmlns:a="http://schemas.openxmlformats.org/drawingml/2006/main">
              <a:ext uri="{FF2B5EF4-FFF2-40B4-BE49-F238E27FC236}">
                <a16:creationId xmlns:a16="http://schemas.microsoft.com/office/drawing/2014/main" id="{355BE3C4-991E-4E89-9A2D-B6D862C1F76C}"/>
              </a:ext>
            </a:extLst>
          </p:cNvPr>
          <p:cNvSpPr>
            <a:spLocks xmlns:a="http://schemas.openxmlformats.org/drawingml/2006/main" noGrp="1"/>
          </p:cNvSpPr>
          <p:nvPr/>
        </p:nvSpPr>
        <p:spPr>
          <a:xfrm xmlns:a="http://schemas.openxmlformats.org/drawingml/2006/main">
            <a:off x="447675" y="5934075"/>
            <a:ext cx="2657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Review an authenticated service</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reply before promoting its claim.</a:t>
            </a:r>
            <a:endParaRPr/>
          </a:p>
        </p:txBody>
      </p:sp>
      <p:cxnSp>
        <p:nvCxnSpPr>
          <p:cNvPr id="339" name="Google Shape;246;p15"/>
          <p:cNvCxnSpPr/>
          <p:nvPr/>
        </p:nvCxnSpPr>
        <p:spPr>
          <a:xfrm xmlns:a="http://schemas.openxmlformats.org/drawingml/2006/main">
            <a:off x="3228975" y="1381125"/>
            <a:ext cx="0" cy="486720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247" name="Google Shape;247;p15">
            <a:extLst xmlns:a="http://schemas.openxmlformats.org/drawingml/2006/main">
              <a:ext uri="{FF2B5EF4-FFF2-40B4-BE49-F238E27FC236}">
                <a16:creationId xmlns:a16="http://schemas.microsoft.com/office/drawing/2014/main" id="{8EFE2B9A-D412-42F3-90DA-994A6CD7E356}"/>
              </a:ext>
            </a:extLst>
          </p:cNvPr>
          <p:cNvSpPr>
            <a:spLocks xmlns:a="http://schemas.openxmlformats.org/drawingml/2006/main" noGrp="1"/>
          </p:cNvSpPr>
          <p:nvPr/>
        </p:nvSpPr>
        <p:spPr>
          <a:xfrm xmlns:a="http://schemas.openxmlformats.org/drawingml/2006/main">
            <a:off x="3381375" y="1381125"/>
            <a:ext cx="8505900" cy="295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8" name="Google Shape;248;p15">
            <a:extLst xmlns:a="http://schemas.openxmlformats.org/drawingml/2006/main">
              <a:ext uri="{FF2B5EF4-FFF2-40B4-BE49-F238E27FC236}">
                <a16:creationId xmlns:a16="http://schemas.microsoft.com/office/drawing/2014/main" id="{7DDE7344-3361-4FA3-B923-C51368905100}"/>
              </a:ext>
            </a:extLst>
          </p:cNvPr>
          <p:cNvSpPr>
            <a:spLocks xmlns:a="http://schemas.openxmlformats.org/drawingml/2006/main" noGrp="1"/>
          </p:cNvSpPr>
          <p:nvPr/>
        </p:nvSpPr>
        <p:spPr>
          <a:xfrm xmlns:a="http://schemas.openxmlformats.org/drawingml/2006/main">
            <a:off x="3467100" y="1428750"/>
            <a:ext cx="83343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425">
                <a:latin typeface="Arial"/>
                <a:ea typeface="Arial"/>
                <a:cs typeface="Arial"/>
              </a:defRPr>
            </a:pPr>
            <a:r>
              <a:rPr sz="1425" b="1" i="0" u="none" cap="none">
                <a:solidFill>
                  <a:srgbClr val="FFFFFF"/>
                </a:solidFill>
                <a:latin typeface="Arial"/>
                <a:ea typeface="Arial"/>
                <a:cs typeface="Arial"/>
              </a:rPr>
              <a:t>SYSTEM WORKFLOW: WALLET TO REVIEWED ACTION</a:t>
            </a:r>
            <a:endParaRPr/>
          </a:p>
        </p:txBody>
      </p:sp>
      <p:sp>
        <p:nvSpPr>
          <p:cNvPr id="249" name="Google Shape;249;p15">
            <a:extLst xmlns:a="http://schemas.openxmlformats.org/drawingml/2006/main">
              <a:ext uri="{FF2B5EF4-FFF2-40B4-BE49-F238E27FC236}">
                <a16:creationId xmlns:a16="http://schemas.microsoft.com/office/drawing/2014/main" id="{15643BAF-76C7-43CF-8FAC-1F399E9F17A7}"/>
              </a:ext>
            </a:extLst>
          </p:cNvPr>
          <p:cNvSpPr>
            <a:spLocks xmlns:a="http://schemas.openxmlformats.org/drawingml/2006/main" noGrp="1"/>
          </p:cNvSpPr>
          <p:nvPr/>
        </p:nvSpPr>
        <p:spPr>
          <a:xfrm xmlns:a="http://schemas.openxmlformats.org/drawingml/2006/main">
            <a:off x="3381375" y="1838325"/>
            <a:ext cx="16860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CASE INPUTS</a:t>
            </a:r>
            <a:endParaRPr/>
          </a:p>
        </p:txBody>
      </p:sp>
      <p:sp>
        <p:nvSpPr>
          <p:cNvPr id="250" name="Google Shape;250;p15">
            <a:extLst xmlns:a="http://schemas.openxmlformats.org/drawingml/2006/main">
              <a:ext uri="{FF2B5EF4-FFF2-40B4-BE49-F238E27FC236}">
                <a16:creationId xmlns:a16="http://schemas.microsoft.com/office/drawing/2014/main" id="{BAAE0B8B-8556-43EC-AF54-20316BB57B96}"/>
              </a:ext>
            </a:extLst>
          </p:cNvPr>
          <p:cNvSpPr>
            <a:spLocks xmlns:a="http://schemas.openxmlformats.org/drawingml/2006/main" noGrp="1"/>
          </p:cNvSpPr>
          <p:nvPr/>
        </p:nvSpPr>
        <p:spPr>
          <a:xfrm xmlns:a="http://schemas.openxmlformats.org/drawingml/2006/main">
            <a:off x="5276850" y="1838325"/>
            <a:ext cx="66105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ACQUISITION AND EVIDENCE SNAPSHOT</a:t>
            </a:r>
            <a:endParaRPr/>
          </a:p>
        </p:txBody>
      </p:sp>
      <p:sp>
        <p:nvSpPr>
          <p:cNvPr id="251" name="Google Shape;251;p15">
            <a:extLst xmlns:a="http://schemas.openxmlformats.org/drawingml/2006/main">
              <a:ext uri="{FF2B5EF4-FFF2-40B4-BE49-F238E27FC236}">
                <a16:creationId xmlns:a16="http://schemas.microsoft.com/office/drawing/2014/main" id="{FEFF7A0F-2C48-4E4C-867C-4A9D723E33F9}"/>
              </a:ext>
            </a:extLst>
          </p:cNvPr>
          <p:cNvSpPr>
            <a:spLocks xmlns:a="http://schemas.openxmlformats.org/drawingml/2006/main" noGrp="1"/>
          </p:cNvSpPr>
          <p:nvPr/>
        </p:nvSpPr>
        <p:spPr>
          <a:xfrm xmlns:a="http://schemas.openxmlformats.org/drawingml/2006/main">
            <a:off x="3381375" y="2152650"/>
            <a:ext cx="1686000" cy="952500"/>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45" name="Google Shape;252;p15"/>
          <p:cNvPicPr>
            <a:picLocks xmlns:a="http://schemas.openxmlformats.org/drawingml/2006/main" noChangeAspect="1"/>
          </p:cNvPicPr>
          <p:nvPr/>
        </p:nvPicPr>
        <p:blipFill rotWithShape="1">
          <a:blip xmlns:r="http://schemas.openxmlformats.org/officeDocument/2006/relationships" xmlns:a="http://schemas.openxmlformats.org/drawingml/2006/main" r:embed="Rfe4ee25b0ed94d79">
            <a:alphaModFix/>
          </a:blip>
          <a:srcRect xmlns:a="http://schemas.openxmlformats.org/drawingml/2006/main" l="0" t="0" r="0" b="0"/>
          <a:stretch xmlns:a="http://schemas.openxmlformats.org/drawingml/2006/main"/>
        </p:blipFill>
        <p:spPr>
          <a:xfrm xmlns:a="http://schemas.openxmlformats.org/drawingml/2006/main">
            <a:off x="3486150" y="2257425"/>
            <a:ext cx="247650" cy="247650"/>
          </a:xfrm>
          <a:prstGeom xmlns:a="http://schemas.openxmlformats.org/drawingml/2006/main" prst="rect">
            <a:avLst/>
          </a:prstGeom>
          <a:ln xmlns:a="http://schemas.openxmlformats.org/drawingml/2006/main">
            <a:noFill/>
          </a:ln>
        </p:spPr>
      </p:pic>
      <p:sp>
        <p:nvSpPr>
          <p:cNvPr id="253" name="Google Shape;253;p15">
            <a:extLst xmlns:a="http://schemas.openxmlformats.org/drawingml/2006/main">
              <a:ext uri="{FF2B5EF4-FFF2-40B4-BE49-F238E27FC236}">
                <a16:creationId xmlns:a16="http://schemas.microsoft.com/office/drawing/2014/main" id="{ABDED9E8-8606-4275-9B77-3E29D14E133C}"/>
              </a:ext>
            </a:extLst>
          </p:cNvPr>
          <p:cNvSpPr>
            <a:spLocks xmlns:a="http://schemas.openxmlformats.org/drawingml/2006/main" noGrp="1"/>
          </p:cNvSpPr>
          <p:nvPr/>
        </p:nvSpPr>
        <p:spPr>
          <a:xfrm xmlns:a="http://schemas.openxmlformats.org/drawingml/2006/main">
            <a:off x="3829050" y="2276475"/>
            <a:ext cx="1162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1" i="0" u="none" cap="none">
                <a:solidFill>
                  <a:srgbClr val="1F497D"/>
                </a:solidFill>
                <a:latin typeface="Arial"/>
                <a:ea typeface="Arial"/>
                <a:cs typeface="Arial"/>
              </a:rPr>
              <a:t>CASE SCOPE</a:t>
            </a:r>
            <a:endParaRPr/>
          </a:p>
        </p:txBody>
      </p:sp>
      <p:sp>
        <p:nvSpPr>
          <p:cNvPr id="254" name="Google Shape;254;p15">
            <a:extLst xmlns:a="http://schemas.openxmlformats.org/drawingml/2006/main">
              <a:ext uri="{FF2B5EF4-FFF2-40B4-BE49-F238E27FC236}">
                <a16:creationId xmlns:a16="http://schemas.microsoft.com/office/drawing/2014/main" id="{8D4286DE-4368-440E-B696-A6495DC4CCFE}"/>
              </a:ext>
            </a:extLst>
          </p:cNvPr>
          <p:cNvSpPr>
            <a:spLocks xmlns:a="http://schemas.openxmlformats.org/drawingml/2006/main" noGrp="1"/>
          </p:cNvSpPr>
          <p:nvPr/>
        </p:nvSpPr>
        <p:spPr>
          <a:xfrm xmlns:a="http://schemas.openxmlformats.org/drawingml/2006/main">
            <a:off x="3476625" y="2600325"/>
            <a:ext cx="1514400" cy="4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Wallet + blockchain</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Time and asset window</a:t>
            </a:r>
            <a:endParaRPr/>
          </a:p>
          <a:p xmlns:a="http://schemas.openxmlformats.org/drawingml/2006/main">
            <a:pPr marL="0" marR="0" lvl="0" indent="0" algn="l">
              <a:spcBef>
                <a:spcPts val="0"/>
              </a:spcBef>
              <a:spcAft>
                <a:spcPts val="0"/>
              </a:spcAft>
              <a:buNone/>
            </a:pPr>
            <a:r>
              <a:rPr sz="1065" b="0" i="0" u="none" cap="none">
                <a:solidFill>
                  <a:srgbClr val="17232F"/>
                </a:solidFill>
                <a:latin typeface="Arial"/>
                <a:ea typeface="Arial"/>
                <a:cs typeface="Arial"/>
              </a:rPr>
              <a:t>Case ID + query limits</a:t>
            </a:r>
            <a:endParaRPr/>
          </a:p>
        </p:txBody>
      </p:sp>
      <p:sp>
        <p:nvSpPr>
          <p:cNvPr id="255" name="Google Shape;255;p15">
            <a:extLst xmlns:a="http://schemas.openxmlformats.org/drawingml/2006/main">
              <a:ext uri="{FF2B5EF4-FFF2-40B4-BE49-F238E27FC236}">
                <a16:creationId xmlns:a16="http://schemas.microsoft.com/office/drawing/2014/main" id="{A83920DE-1C0A-48CD-A6C3-DF15FAD0AFCB}"/>
              </a:ext>
            </a:extLst>
          </p:cNvPr>
          <p:cNvSpPr>
            <a:spLocks xmlns:a="http://schemas.openxmlformats.org/drawingml/2006/main" noGrp="1"/>
          </p:cNvSpPr>
          <p:nvPr/>
        </p:nvSpPr>
        <p:spPr>
          <a:xfrm xmlns:a="http://schemas.openxmlformats.org/drawingml/2006/main">
            <a:off x="52768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6" name="Google Shape;256;p15">
            <a:extLst xmlns:a="http://schemas.openxmlformats.org/drawingml/2006/main">
              <a:ext uri="{FF2B5EF4-FFF2-40B4-BE49-F238E27FC236}">
                <a16:creationId xmlns:a16="http://schemas.microsoft.com/office/drawing/2014/main" id="{A6FF6976-4AB8-4076-B233-F657BACB7D71}"/>
              </a:ext>
            </a:extLst>
          </p:cNvPr>
          <p:cNvSpPr>
            <a:spLocks xmlns:a="http://schemas.openxmlformats.org/drawingml/2006/main" noGrp="1"/>
          </p:cNvSpPr>
          <p:nvPr/>
        </p:nvSpPr>
        <p:spPr>
          <a:xfrm xmlns:a="http://schemas.openxmlformats.org/drawingml/2006/main">
            <a:off x="52768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7" name="Google Shape;257;p15">
            <a:extLst xmlns:a="http://schemas.openxmlformats.org/drawingml/2006/main">
              <a:ext uri="{FF2B5EF4-FFF2-40B4-BE49-F238E27FC236}">
                <a16:creationId xmlns:a16="http://schemas.microsoft.com/office/drawing/2014/main" id="{A2C8FDA3-6A52-4189-94BC-7000ED71E2ED}"/>
              </a:ext>
            </a:extLst>
          </p:cNvPr>
          <p:cNvSpPr>
            <a:spLocks xmlns:a="http://schemas.openxmlformats.org/drawingml/2006/main" noGrp="1"/>
          </p:cNvSpPr>
          <p:nvPr/>
        </p:nvSpPr>
        <p:spPr>
          <a:xfrm xmlns:a="http://schemas.openxmlformats.org/drawingml/2006/main">
            <a:off x="53721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1  ACQUIRE</a:t>
            </a:r>
            <a:endParaRPr/>
          </a:p>
        </p:txBody>
      </p:sp>
      <p:sp>
        <p:nvSpPr>
          <p:cNvPr id="258" name="Google Shape;258;p15">
            <a:extLst xmlns:a="http://schemas.openxmlformats.org/drawingml/2006/main">
              <a:ext uri="{FF2B5EF4-FFF2-40B4-BE49-F238E27FC236}">
                <a16:creationId xmlns:a16="http://schemas.microsoft.com/office/drawing/2014/main" id="{995BBEC6-9BD7-41EC-91E2-929A6F436B68}"/>
              </a:ext>
            </a:extLst>
          </p:cNvPr>
          <p:cNvSpPr>
            <a:spLocks xmlns:a="http://schemas.openxmlformats.org/drawingml/2006/main" noGrp="1"/>
          </p:cNvSpPr>
          <p:nvPr/>
        </p:nvSpPr>
        <p:spPr>
          <a:xfrm xmlns:a="http://schemas.openxmlformats.org/drawingml/2006/main">
            <a:off x="53721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Bitcoin: Esplora / BlockCypher</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EVM: Etherscan V2</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TronGrid / Solana RPC</a:t>
            </a:r>
            <a:endParaRPr/>
          </a:p>
        </p:txBody>
      </p:sp>
      <p:sp>
        <p:nvSpPr>
          <p:cNvPr id="259" name="Google Shape;259;p15">
            <a:extLst xmlns:a="http://schemas.openxmlformats.org/drawingml/2006/main">
              <a:ext uri="{FF2B5EF4-FFF2-40B4-BE49-F238E27FC236}">
                <a16:creationId xmlns:a16="http://schemas.microsoft.com/office/drawing/2014/main" id="{E12E402A-28AB-4CE0-9C15-B03EF93C3BE5}"/>
              </a:ext>
            </a:extLst>
          </p:cNvPr>
          <p:cNvSpPr>
            <a:spLocks xmlns:a="http://schemas.openxmlformats.org/drawingml/2006/main" noGrp="1"/>
          </p:cNvSpPr>
          <p:nvPr/>
        </p:nvSpPr>
        <p:spPr>
          <a:xfrm xmlns:a="http://schemas.openxmlformats.org/drawingml/2006/main">
            <a:off x="754380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0" name="Google Shape;260;p15">
            <a:extLst xmlns:a="http://schemas.openxmlformats.org/drawingml/2006/main">
              <a:ext uri="{FF2B5EF4-FFF2-40B4-BE49-F238E27FC236}">
                <a16:creationId xmlns:a16="http://schemas.microsoft.com/office/drawing/2014/main" id="{80449E19-7785-44A2-92AD-82400C80291D}"/>
              </a:ext>
            </a:extLst>
          </p:cNvPr>
          <p:cNvSpPr>
            <a:spLocks xmlns:a="http://schemas.openxmlformats.org/drawingml/2006/main" noGrp="1"/>
          </p:cNvSpPr>
          <p:nvPr/>
        </p:nvSpPr>
        <p:spPr>
          <a:xfrm xmlns:a="http://schemas.openxmlformats.org/drawingml/2006/main">
            <a:off x="754380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1" name="Google Shape;261;p15">
            <a:extLst xmlns:a="http://schemas.openxmlformats.org/drawingml/2006/main">
              <a:ext uri="{FF2B5EF4-FFF2-40B4-BE49-F238E27FC236}">
                <a16:creationId xmlns:a16="http://schemas.microsoft.com/office/drawing/2014/main" id="{F22DA0F6-216C-4053-911F-87AB09C75533}"/>
              </a:ext>
            </a:extLst>
          </p:cNvPr>
          <p:cNvSpPr>
            <a:spLocks xmlns:a="http://schemas.openxmlformats.org/drawingml/2006/main" noGrp="1"/>
          </p:cNvSpPr>
          <p:nvPr/>
        </p:nvSpPr>
        <p:spPr>
          <a:xfrm xmlns:a="http://schemas.openxmlformats.org/drawingml/2006/main">
            <a:off x="763905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2  VALIDATE &amp; ORDER</a:t>
            </a:r>
            <a:endParaRPr/>
          </a:p>
        </p:txBody>
      </p:sp>
      <p:sp>
        <p:nvSpPr>
          <p:cNvPr id="262" name="Google Shape;262;p15">
            <a:extLst xmlns:a="http://schemas.openxmlformats.org/drawingml/2006/main">
              <a:ext uri="{FF2B5EF4-FFF2-40B4-BE49-F238E27FC236}">
                <a16:creationId xmlns:a16="http://schemas.microsoft.com/office/drawing/2014/main" id="{AEB1C3A2-CE92-4BBD-AA0D-0139ECD1C5F8}"/>
              </a:ext>
            </a:extLst>
          </p:cNvPr>
          <p:cNvSpPr>
            <a:spLocks xmlns:a="http://schemas.openxmlformats.org/drawingml/2006/main" noGrp="1"/>
          </p:cNvSpPr>
          <p:nvPr/>
        </p:nvSpPr>
        <p:spPr>
          <a:xfrm xmlns:a="http://schemas.openxmlformats.org/drawingml/2006/main">
            <a:off x="763905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Exact units + ledger order</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Bitcoin outpoint links</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Status / time / content hash</a:t>
            </a:r>
            <a:endParaRPr/>
          </a:p>
        </p:txBody>
      </p:sp>
      <p:sp>
        <p:nvSpPr>
          <p:cNvPr id="263" name="Google Shape;263;p15">
            <a:extLst xmlns:a="http://schemas.openxmlformats.org/drawingml/2006/main">
              <a:ext uri="{FF2B5EF4-FFF2-40B4-BE49-F238E27FC236}">
                <a16:creationId xmlns:a16="http://schemas.microsoft.com/office/drawing/2014/main" id="{481C8D96-2005-475E-ADC8-FCCC07E3EAD4}"/>
              </a:ext>
            </a:extLst>
          </p:cNvPr>
          <p:cNvSpPr>
            <a:spLocks xmlns:a="http://schemas.openxmlformats.org/drawingml/2006/main" noGrp="1"/>
          </p:cNvSpPr>
          <p:nvPr/>
        </p:nvSpPr>
        <p:spPr>
          <a:xfrm xmlns:a="http://schemas.openxmlformats.org/drawingml/2006/main">
            <a:off x="9810750" y="2152650"/>
            <a:ext cx="2076600" cy="9525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4" name="Google Shape;264;p15">
            <a:extLst xmlns:a="http://schemas.openxmlformats.org/drawingml/2006/main">
              <a:ext uri="{FF2B5EF4-FFF2-40B4-BE49-F238E27FC236}">
                <a16:creationId xmlns:a16="http://schemas.microsoft.com/office/drawing/2014/main" id="{0EB0DB17-62B4-40B7-A54C-BEEF5635A691}"/>
              </a:ext>
            </a:extLst>
          </p:cNvPr>
          <p:cNvSpPr>
            <a:spLocks xmlns:a="http://schemas.openxmlformats.org/drawingml/2006/main" noGrp="1"/>
          </p:cNvSpPr>
          <p:nvPr/>
        </p:nvSpPr>
        <p:spPr>
          <a:xfrm xmlns:a="http://schemas.openxmlformats.org/drawingml/2006/main">
            <a:off x="9810750" y="2152650"/>
            <a:ext cx="2076600" cy="38100"/>
          </a:xfrm>
          <a:prstGeom xmlns:a="http://schemas.openxmlformats.org/drawingml/2006/main" prst="rect">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5" name="Google Shape;265;p15">
            <a:extLst xmlns:a="http://schemas.openxmlformats.org/drawingml/2006/main">
              <a:ext uri="{FF2B5EF4-FFF2-40B4-BE49-F238E27FC236}">
                <a16:creationId xmlns:a16="http://schemas.microsoft.com/office/drawing/2014/main" id="{017E1909-A3C5-402A-8F15-06997795C3F5}"/>
              </a:ext>
            </a:extLst>
          </p:cNvPr>
          <p:cNvSpPr>
            <a:spLocks xmlns:a="http://schemas.openxmlformats.org/drawingml/2006/main" noGrp="1"/>
          </p:cNvSpPr>
          <p:nvPr/>
        </p:nvSpPr>
        <p:spPr>
          <a:xfrm xmlns:a="http://schemas.openxmlformats.org/drawingml/2006/main">
            <a:off x="9906000" y="22669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3  ENRICH EVIDENCE</a:t>
            </a:r>
            <a:endParaRPr/>
          </a:p>
        </p:txBody>
      </p:sp>
      <p:sp>
        <p:nvSpPr>
          <p:cNvPr id="266" name="Google Shape;266;p15">
            <a:extLst xmlns:a="http://schemas.openxmlformats.org/drawingml/2006/main">
              <a:ext uri="{FF2B5EF4-FFF2-40B4-BE49-F238E27FC236}">
                <a16:creationId xmlns:a16="http://schemas.microsoft.com/office/drawing/2014/main" id="{B9212426-3BC1-40AF-AEEC-6ADA394F3F4B}"/>
              </a:ext>
            </a:extLst>
          </p:cNvPr>
          <p:cNvSpPr>
            <a:spLocks xmlns:a="http://schemas.openxmlformats.org/drawingml/2006/main" noGrp="1"/>
          </p:cNvSpPr>
          <p:nvPr/>
        </p:nvSpPr>
        <p:spPr>
          <a:xfrm xmlns:a="http://schemas.openxmlformats.org/drawingml/2006/main">
            <a:off x="9906000" y="2581275"/>
            <a:ext cx="18861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Source-backed service labels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Role + period of validity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proof where supported</a:t>
            </a:r>
            <a:endParaRPr/>
          </a:p>
        </p:txBody>
      </p:sp>
      <p:cxnSp>
        <p:nvCxnSpPr>
          <p:cNvPr id="360" name="Google Shape;267;p15"/>
          <p:cNvCxnSpPr>
            <a:stCxn xmlns:a="http://schemas.openxmlformats.org/drawingml/2006/main" id="251" idx="3"/>
            <a:endCxn xmlns:a="http://schemas.openxmlformats.org/drawingml/2006/main" id="255" idx="1"/>
          </p:cNvCxnSpPr>
          <p:nvPr/>
        </p:nvCxnSpPr>
        <p:spPr>
          <a:xfrm xmlns:a="http://schemas.openxmlformats.org/drawingml/2006/main">
            <a:off x="5067375" y="2628900"/>
            <a:ext cx="2094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1" name="Google Shape;268;p15"/>
          <p:cNvCxnSpPr>
            <a:stCxn xmlns:a="http://schemas.openxmlformats.org/drawingml/2006/main" id="255" idx="3"/>
            <a:endCxn xmlns:a="http://schemas.openxmlformats.org/drawingml/2006/main" id="259" idx="1"/>
          </p:cNvCxnSpPr>
          <p:nvPr/>
        </p:nvCxnSpPr>
        <p:spPr>
          <a:xfrm xmlns:a="http://schemas.openxmlformats.org/drawingml/2006/main">
            <a:off x="735345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62" name="Google Shape;269;p15"/>
          <p:cNvCxnSpPr>
            <a:stCxn xmlns:a="http://schemas.openxmlformats.org/drawingml/2006/main" id="259" idx="3"/>
            <a:endCxn xmlns:a="http://schemas.openxmlformats.org/drawingml/2006/main" id="263" idx="1"/>
          </p:cNvCxnSpPr>
          <p:nvPr/>
        </p:nvCxnSpPr>
        <p:spPr>
          <a:xfrm xmlns:a="http://schemas.openxmlformats.org/drawingml/2006/main">
            <a:off x="9620400" y="2628900"/>
            <a:ext cx="190500" cy="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270" name="Google Shape;270;p15">
            <a:extLst xmlns:a="http://schemas.openxmlformats.org/drawingml/2006/main">
              <a:ext uri="{FF2B5EF4-FFF2-40B4-BE49-F238E27FC236}">
                <a16:creationId xmlns:a16="http://schemas.microsoft.com/office/drawing/2014/main" id="{FBEEC0F6-8984-44E0-A337-760BAAFD617B}"/>
              </a:ext>
            </a:extLst>
          </p:cNvPr>
          <p:cNvSpPr>
            <a:spLocks xmlns:a="http://schemas.openxmlformats.org/drawingml/2006/main" noGrp="1"/>
          </p:cNvSpPr>
          <p:nvPr/>
        </p:nvSpPr>
        <p:spPr>
          <a:xfrm xmlns:a="http://schemas.openxmlformats.org/drawingml/2006/main">
            <a:off x="5286375" y="3162300"/>
            <a:ext cx="4181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0" i="0" u="none" cap="none">
                <a:solidFill>
                  <a:srgbClr val="526273"/>
                </a:solidFill>
                <a:latin typeface="Arial"/>
                <a:ea typeface="Arial"/>
                <a:cs typeface="Arial"/>
              </a:rPr>
              <a:t>Worker: reserve calls, cache replies, save checkpoints.</a:t>
            </a:r>
            <a:endParaRPr/>
          </a:p>
        </p:txBody>
      </p:sp>
      <p:sp>
        <p:nvSpPr>
          <p:cNvPr id="271" name="Google Shape;271;p15">
            <a:extLst xmlns:a="http://schemas.openxmlformats.org/drawingml/2006/main">
              <a:ext uri="{FF2B5EF4-FFF2-40B4-BE49-F238E27FC236}">
                <a16:creationId xmlns:a16="http://schemas.microsoft.com/office/drawing/2014/main" id="{B0A8B928-E416-42BC-91CA-51E7188784A1}"/>
              </a:ext>
            </a:extLst>
          </p:cNvPr>
          <p:cNvSpPr>
            <a:spLocks xmlns:a="http://schemas.openxmlformats.org/drawingml/2006/main" noGrp="1"/>
          </p:cNvSpPr>
          <p:nvPr/>
        </p:nvSpPr>
        <p:spPr>
          <a:xfrm xmlns:a="http://schemas.openxmlformats.org/drawingml/2006/main">
            <a:off x="3381375" y="3324225"/>
            <a:ext cx="1686000" cy="2382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2" name="Google Shape;272;p15">
            <a:extLst xmlns:a="http://schemas.openxmlformats.org/drawingml/2006/main">
              <a:ext uri="{FF2B5EF4-FFF2-40B4-BE49-F238E27FC236}">
                <a16:creationId xmlns:a16="http://schemas.microsoft.com/office/drawing/2014/main" id="{2ED79D3C-961E-4D6B-A06F-FCADAB3A192B}"/>
              </a:ext>
            </a:extLst>
          </p:cNvPr>
          <p:cNvSpPr>
            <a:spLocks xmlns:a="http://schemas.openxmlformats.org/drawingml/2006/main" noGrp="1"/>
          </p:cNvSpPr>
          <p:nvPr/>
        </p:nvSpPr>
        <p:spPr>
          <a:xfrm xmlns:a="http://schemas.openxmlformats.org/drawingml/2006/main">
            <a:off x="3467100" y="3371850"/>
            <a:ext cx="1514400" cy="1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75">
                <a:latin typeface="Arial"/>
                <a:ea typeface="Arial"/>
                <a:cs typeface="Arial"/>
              </a:defRPr>
            </a:pPr>
            <a:r>
              <a:rPr sz="975" b="1" i="0" u="none" cap="none">
                <a:solidFill>
                  <a:srgbClr val="FFFFFF"/>
                </a:solidFill>
                <a:latin typeface="Arial"/>
                <a:ea typeface="Arial"/>
                <a:cs typeface="Arial"/>
              </a:rPr>
              <a:t>CHAIN ADAPTERS</a:t>
            </a:r>
            <a:endParaRPr/>
          </a:p>
        </p:txBody>
      </p:sp>
      <p:sp>
        <p:nvSpPr>
          <p:cNvPr id="273" name="Google Shape;273;p15">
            <a:extLst xmlns:a="http://schemas.openxmlformats.org/drawingml/2006/main">
              <a:ext uri="{FF2B5EF4-FFF2-40B4-BE49-F238E27FC236}">
                <a16:creationId xmlns:a16="http://schemas.microsoft.com/office/drawing/2014/main" id="{758771C3-A918-436A-A7C6-5921D0A61ED1}"/>
              </a:ext>
            </a:extLst>
          </p:cNvPr>
          <p:cNvSpPr>
            <a:spLocks xmlns:a="http://schemas.openxmlformats.org/drawingml/2006/main" noGrp="1"/>
          </p:cNvSpPr>
          <p:nvPr/>
        </p:nvSpPr>
        <p:spPr>
          <a:xfrm xmlns:a="http://schemas.openxmlformats.org/drawingml/2006/main">
            <a:off x="3476625" y="3705225"/>
            <a:ext cx="1514400" cy="74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Bitcoin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Ethereum / BNB Chain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Polygon</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Tron / Solana</a:t>
            </a:r>
            <a:endParaRPr/>
          </a:p>
        </p:txBody>
      </p:sp>
      <p:sp>
        <p:nvSpPr>
          <p:cNvPr id="274" name="Google Shape;274;p15">
            <a:extLst xmlns:a="http://schemas.openxmlformats.org/drawingml/2006/main">
              <a:ext uri="{FF2B5EF4-FFF2-40B4-BE49-F238E27FC236}">
                <a16:creationId xmlns:a16="http://schemas.microsoft.com/office/drawing/2014/main" id="{1488DFB1-FF9E-4FC3-A22B-8BB7A858E7EC}"/>
              </a:ext>
            </a:extLst>
          </p:cNvPr>
          <p:cNvSpPr>
            <a:spLocks xmlns:a="http://schemas.openxmlformats.org/drawingml/2006/main" noGrp="1"/>
          </p:cNvSpPr>
          <p:nvPr/>
        </p:nvSpPr>
        <p:spPr>
          <a:xfrm xmlns:a="http://schemas.openxmlformats.org/drawingml/2006/main">
            <a:off x="3476625" y="4648200"/>
            <a:ext cx="15144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Bitcoin sample verified.</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Other chains: live checks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526273"/>
                </a:solidFill>
                <a:latin typeface="Arial"/>
                <a:ea typeface="Arial"/>
                <a:cs typeface="Arial"/>
              </a:rPr>
              <a:t>and access pending.</a:t>
            </a:r>
            <a:endParaRPr/>
          </a:p>
        </p:txBody>
      </p:sp>
      <p:sp>
        <p:nvSpPr>
          <p:cNvPr id="275" name="Google Shape;275;p15">
            <a:extLst xmlns:a="http://schemas.openxmlformats.org/drawingml/2006/main">
              <a:ext uri="{FF2B5EF4-FFF2-40B4-BE49-F238E27FC236}">
                <a16:creationId xmlns:a16="http://schemas.microsoft.com/office/drawing/2014/main" id="{515CA591-CF57-4307-A8DF-11A64C3924AA}"/>
              </a:ext>
            </a:extLst>
          </p:cNvPr>
          <p:cNvSpPr>
            <a:spLocks xmlns:a="http://schemas.openxmlformats.org/drawingml/2006/main" noGrp="1"/>
          </p:cNvSpPr>
          <p:nvPr/>
        </p:nvSpPr>
        <p:spPr>
          <a:xfrm xmlns:a="http://schemas.openxmlformats.org/drawingml/2006/main">
            <a:off x="5276850" y="3448050"/>
            <a:ext cx="4114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CUSTODY ATTRIBUTION ENGINE</a:t>
            </a:r>
            <a:endParaRPr/>
          </a:p>
        </p:txBody>
      </p:sp>
      <p:sp>
        <p:nvSpPr>
          <p:cNvPr id="276" name="Google Shape;276;p15">
            <a:extLst xmlns:a="http://schemas.openxmlformats.org/drawingml/2006/main">
              <a:ext uri="{FF2B5EF4-FFF2-40B4-BE49-F238E27FC236}">
                <a16:creationId xmlns:a16="http://schemas.microsoft.com/office/drawing/2014/main" id="{9B7D5338-CFBE-4E87-AA2B-BA165620E300}"/>
              </a:ext>
            </a:extLst>
          </p:cNvPr>
          <p:cNvSpPr>
            <a:spLocks xmlns:a="http://schemas.openxmlformats.org/drawingml/2006/main" noGrp="1"/>
          </p:cNvSpPr>
          <p:nvPr/>
        </p:nvSpPr>
        <p:spPr>
          <a:xfrm xmlns:a="http://schemas.openxmlformats.org/drawingml/2006/main">
            <a:off x="98107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7" name="Google Shape;277;p15">
            <a:extLst xmlns:a="http://schemas.openxmlformats.org/drawingml/2006/main">
              <a:ext uri="{FF2B5EF4-FFF2-40B4-BE49-F238E27FC236}">
                <a16:creationId xmlns:a16="http://schemas.microsoft.com/office/drawing/2014/main" id="{2CA822C7-4E4A-41A1-8070-0EEFD86602C9}"/>
              </a:ext>
            </a:extLst>
          </p:cNvPr>
          <p:cNvSpPr>
            <a:spLocks xmlns:a="http://schemas.openxmlformats.org/drawingml/2006/main" noGrp="1"/>
          </p:cNvSpPr>
          <p:nvPr/>
        </p:nvSpPr>
        <p:spPr>
          <a:xfrm xmlns:a="http://schemas.openxmlformats.org/drawingml/2006/main">
            <a:off x="9810750" y="3829050"/>
            <a:ext cx="2076600" cy="38100"/>
          </a:xfrm>
          <a:prstGeom xmlns:a="http://schemas.openxmlformats.org/drawingml/2006/main" prst="rect">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78" name="Google Shape;278;p15">
            <a:extLst xmlns:a="http://schemas.openxmlformats.org/drawingml/2006/main">
              <a:ext uri="{FF2B5EF4-FFF2-40B4-BE49-F238E27FC236}">
                <a16:creationId xmlns:a16="http://schemas.microsoft.com/office/drawing/2014/main" id="{E18E3550-67FA-43B7-9697-45BD64A208DC}"/>
              </a:ext>
            </a:extLst>
          </p:cNvPr>
          <p:cNvSpPr>
            <a:spLocks xmlns:a="http://schemas.openxmlformats.org/drawingml/2006/main" noGrp="1"/>
          </p:cNvSpPr>
          <p:nvPr/>
        </p:nvSpPr>
        <p:spPr>
          <a:xfrm xmlns:a="http://schemas.openxmlformats.org/drawingml/2006/main">
            <a:off x="99060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4  FIND FIRST CUSTODY</a:t>
            </a:r>
            <a:endParaRPr/>
          </a:p>
        </p:txBody>
      </p:sp>
      <p:sp>
        <p:nvSpPr>
          <p:cNvPr id="279" name="Google Shape;279;p15">
            <a:extLst xmlns:a="http://schemas.openxmlformats.org/drawingml/2006/main">
              <a:ext uri="{FF2B5EF4-FFF2-40B4-BE49-F238E27FC236}">
                <a16:creationId xmlns:a16="http://schemas.microsoft.com/office/drawing/2014/main" id="{04E27BBE-3BE7-4100-A18F-E5C796FBF2C0}"/>
              </a:ext>
            </a:extLst>
          </p:cNvPr>
          <p:cNvSpPr>
            <a:spLocks xmlns:a="http://schemas.openxmlformats.org/drawingml/2006/main" noGrp="1"/>
          </p:cNvSpPr>
          <p:nvPr/>
        </p:nvSpPr>
        <p:spPr>
          <a:xfrm xmlns:a="http://schemas.openxmlformats.org/drawingml/2006/main">
            <a:off x="99060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Chronological paths</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First custody per branch</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Keep unresolved gaps</a:t>
            </a:r>
            <a:endParaRPr/>
          </a:p>
        </p:txBody>
      </p:sp>
      <p:sp>
        <p:nvSpPr>
          <p:cNvPr id="280" name="Google Shape;280;p15">
            <a:extLst xmlns:a="http://schemas.openxmlformats.org/drawingml/2006/main">
              <a:ext uri="{FF2B5EF4-FFF2-40B4-BE49-F238E27FC236}">
                <a16:creationId xmlns:a16="http://schemas.microsoft.com/office/drawing/2014/main" id="{4113C449-6456-40C6-B06C-2F303F8629CE}"/>
              </a:ext>
            </a:extLst>
          </p:cNvPr>
          <p:cNvSpPr>
            <a:spLocks xmlns:a="http://schemas.openxmlformats.org/drawingml/2006/main" noGrp="1"/>
          </p:cNvSpPr>
          <p:nvPr/>
        </p:nvSpPr>
        <p:spPr>
          <a:xfrm xmlns:a="http://schemas.openxmlformats.org/drawingml/2006/main">
            <a:off x="754380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1" name="Google Shape;281;p15">
            <a:extLst xmlns:a="http://schemas.openxmlformats.org/drawingml/2006/main">
              <a:ext uri="{FF2B5EF4-FFF2-40B4-BE49-F238E27FC236}">
                <a16:creationId xmlns:a16="http://schemas.microsoft.com/office/drawing/2014/main" id="{4F8A81E3-D315-4A59-B135-EE9D5C5E96E2}"/>
              </a:ext>
            </a:extLst>
          </p:cNvPr>
          <p:cNvSpPr>
            <a:spLocks xmlns:a="http://schemas.openxmlformats.org/drawingml/2006/main" noGrp="1"/>
          </p:cNvSpPr>
          <p:nvPr/>
        </p:nvSpPr>
        <p:spPr>
          <a:xfrm xmlns:a="http://schemas.openxmlformats.org/drawingml/2006/main">
            <a:off x="7543800" y="3829050"/>
            <a:ext cx="2076600" cy="38100"/>
          </a:xfrm>
          <a:prstGeom xmlns:a="http://schemas.openxmlformats.org/drawingml/2006/main" prst="rect">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2" name="Google Shape;282;p15">
            <a:extLst xmlns:a="http://schemas.openxmlformats.org/drawingml/2006/main">
              <a:ext uri="{FF2B5EF4-FFF2-40B4-BE49-F238E27FC236}">
                <a16:creationId xmlns:a16="http://schemas.microsoft.com/office/drawing/2014/main" id="{33B7B2B6-02C0-4FF0-9084-859223919025}"/>
              </a:ext>
            </a:extLst>
          </p:cNvPr>
          <p:cNvSpPr>
            <a:spLocks xmlns:a="http://schemas.openxmlformats.org/drawingml/2006/main" noGrp="1"/>
          </p:cNvSpPr>
          <p:nvPr/>
        </p:nvSpPr>
        <p:spPr>
          <a:xfrm xmlns:a="http://schemas.openxmlformats.org/drawingml/2006/main">
            <a:off x="763905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5  CHECK EVIDENCE</a:t>
            </a:r>
            <a:endParaRPr/>
          </a:p>
        </p:txBody>
      </p:sp>
      <p:sp>
        <p:nvSpPr>
          <p:cNvPr id="283" name="Google Shape;283;p15">
            <a:extLst xmlns:a="http://schemas.openxmlformats.org/drawingml/2006/main">
              <a:ext uri="{FF2B5EF4-FFF2-40B4-BE49-F238E27FC236}">
                <a16:creationId xmlns:a16="http://schemas.microsoft.com/office/drawing/2014/main" id="{57500B4D-3E60-41C5-9829-0979D4A7AA18}"/>
              </a:ext>
            </a:extLst>
          </p:cNvPr>
          <p:cNvSpPr>
            <a:spLocks xmlns:a="http://schemas.openxmlformats.org/drawingml/2006/main" noGrp="1"/>
          </p:cNvSpPr>
          <p:nvPr/>
        </p:nvSpPr>
        <p:spPr>
          <a:xfrm xmlns:a="http://schemas.openxmlformats.org/drawingml/2006/main">
            <a:off x="763905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Nearestness within snapshot</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Remove source + recompute</a:t>
            </a:r>
            <a:endParaRPr/>
          </a:p>
          <a:p xmlns:a="http://schemas.openxmlformats.org/drawingml/2006/main">
            <a:pPr marL="0" marR="0" lvl="0" indent="0" algn="l">
              <a:spcBef>
                <a:spcPts val="0"/>
              </a:spcBef>
              <a:spcAft>
                <a:spcPts val="0"/>
              </a:spcAft>
              <a:buNone/>
            </a:pPr>
            <a:r>
              <a:rPr sz="1102" b="0" i="0" u="none" cap="none">
                <a:solidFill>
                  <a:srgbClr val="17232F"/>
                </a:solidFill>
                <a:latin typeface="Arial"/>
                <a:ea typeface="Arial"/>
                <a:cs typeface="Arial"/>
              </a:rPr>
              <a:t>Source grade + separate risk</a:t>
            </a:r>
            <a:endParaRPr/>
          </a:p>
        </p:txBody>
      </p:sp>
      <p:sp>
        <p:nvSpPr>
          <p:cNvPr id="284" name="Google Shape;284;p15">
            <a:extLst xmlns:a="http://schemas.openxmlformats.org/drawingml/2006/main">
              <a:ext uri="{FF2B5EF4-FFF2-40B4-BE49-F238E27FC236}">
                <a16:creationId xmlns:a16="http://schemas.microsoft.com/office/drawing/2014/main" id="{82C9A6F3-C9F5-4286-AED3-98D5FC41FC82}"/>
              </a:ext>
            </a:extLst>
          </p:cNvPr>
          <p:cNvSpPr>
            <a:spLocks xmlns:a="http://schemas.openxmlformats.org/drawingml/2006/main" noGrp="1"/>
          </p:cNvSpPr>
          <p:nvPr/>
        </p:nvSpPr>
        <p:spPr>
          <a:xfrm xmlns:a="http://schemas.openxmlformats.org/drawingml/2006/main">
            <a:off x="5276850" y="3829050"/>
            <a:ext cx="2076600" cy="10953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5" name="Google Shape;285;p15">
            <a:extLst xmlns:a="http://schemas.openxmlformats.org/drawingml/2006/main">
              <a:ext uri="{FF2B5EF4-FFF2-40B4-BE49-F238E27FC236}">
                <a16:creationId xmlns:a16="http://schemas.microsoft.com/office/drawing/2014/main" id="{DD06C445-1338-41FB-B7F6-2DB2181EF3E5}"/>
              </a:ext>
            </a:extLst>
          </p:cNvPr>
          <p:cNvSpPr>
            <a:spLocks xmlns:a="http://schemas.openxmlformats.org/drawingml/2006/main" noGrp="1"/>
          </p:cNvSpPr>
          <p:nvPr/>
        </p:nvSpPr>
        <p:spPr>
          <a:xfrm xmlns:a="http://schemas.openxmlformats.org/drawingml/2006/main">
            <a:off x="5276850" y="3829050"/>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6" name="Google Shape;286;p15">
            <a:extLst xmlns:a="http://schemas.openxmlformats.org/drawingml/2006/main">
              <a:ext uri="{FF2B5EF4-FFF2-40B4-BE49-F238E27FC236}">
                <a16:creationId xmlns:a16="http://schemas.microsoft.com/office/drawing/2014/main" id="{A59599A8-3B04-476F-8229-35CB2C7668A5}"/>
              </a:ext>
            </a:extLst>
          </p:cNvPr>
          <p:cNvSpPr>
            <a:spLocks xmlns:a="http://schemas.openxmlformats.org/drawingml/2006/main" noGrp="1"/>
          </p:cNvSpPr>
          <p:nvPr/>
        </p:nvSpPr>
        <p:spPr>
          <a:xfrm xmlns:a="http://schemas.openxmlformats.org/drawingml/2006/main">
            <a:off x="5372100" y="3943350"/>
            <a:ext cx="18861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6  RETURN RESULTS</a:t>
            </a:r>
            <a:endParaRPr/>
          </a:p>
        </p:txBody>
      </p:sp>
      <p:sp>
        <p:nvSpPr>
          <p:cNvPr id="287" name="Google Shape;287;p15">
            <a:extLst xmlns:a="http://schemas.openxmlformats.org/drawingml/2006/main">
              <a:ext uri="{FF2B5EF4-FFF2-40B4-BE49-F238E27FC236}">
                <a16:creationId xmlns:a16="http://schemas.microsoft.com/office/drawing/2014/main" id="{3F87F0C5-286E-48F5-B7D2-9CBA6957B783}"/>
              </a:ext>
            </a:extLst>
          </p:cNvPr>
          <p:cNvSpPr>
            <a:spLocks xmlns:a="http://schemas.openxmlformats.org/drawingml/2006/main" noGrp="1"/>
          </p:cNvSpPr>
          <p:nvPr/>
        </p:nvSpPr>
        <p:spPr>
          <a:xfrm xmlns:a="http://schemas.openxmlformats.org/drawingml/2006/main">
            <a:off x="5372100" y="4257675"/>
            <a:ext cx="1886100" cy="63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VASP candidates + wallets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Paths + evidence gaps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Next query to run</a:t>
            </a:r>
            <a:endParaRPr/>
          </a:p>
        </p:txBody>
      </p:sp>
      <p:cxnSp>
        <p:nvCxnSpPr>
          <p:cNvPr id="381" name="Google Shape;288;p15"/>
          <p:cNvCxnSpPr>
            <a:stCxn xmlns:a="http://schemas.openxmlformats.org/drawingml/2006/main" id="263" idx="2"/>
            <a:endCxn xmlns:a="http://schemas.openxmlformats.org/drawingml/2006/main" id="276" idx="0"/>
          </p:cNvCxnSpPr>
          <p:nvPr/>
        </p:nvCxnSpPr>
        <p:spPr>
          <a:xfrm xmlns:a="http://schemas.openxmlformats.org/drawingml/2006/main">
            <a:off x="10849050" y="3105150"/>
            <a:ext cx="0" cy="7239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cxnSp>
        <p:nvCxnSpPr>
          <p:cNvPr id="382" name="Google Shape;289;p15"/>
          <p:cNvCxnSpPr>
            <a:stCxn xmlns:a="http://schemas.openxmlformats.org/drawingml/2006/main" id="276" idx="1"/>
            <a:endCxn xmlns:a="http://schemas.openxmlformats.org/drawingml/2006/main" id="280" idx="3"/>
          </p:cNvCxnSpPr>
          <p:nvPr/>
        </p:nvCxnSpPr>
        <p:spPr>
          <a:xfrm xmlns:a="http://schemas.openxmlformats.org/drawingml/2006/main" rot="10800000">
            <a:off x="962025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cxnSp>
        <p:nvCxnSpPr>
          <p:cNvPr id="383" name="Google Shape;290;p15"/>
          <p:cNvCxnSpPr>
            <a:stCxn xmlns:a="http://schemas.openxmlformats.org/drawingml/2006/main" id="280" idx="1"/>
            <a:endCxn xmlns:a="http://schemas.openxmlformats.org/drawingml/2006/main" id="284" idx="3"/>
          </p:cNvCxnSpPr>
          <p:nvPr/>
        </p:nvCxnSpPr>
        <p:spPr>
          <a:xfrm xmlns:a="http://schemas.openxmlformats.org/drawingml/2006/main" rot="10800000">
            <a:off x="7353300" y="4376700"/>
            <a:ext cx="190500" cy="0"/>
          </a:xfrm>
          <a:prstGeom xmlns:a="http://schemas.openxmlformats.org/drawingml/2006/main" prst="straightConnector1">
            <a:avLst/>
          </a:prstGeom>
          <a:ln xmlns:a="http://schemas.openxmlformats.org/drawingml/2006/main" w="19050" cap="flat">
            <a:solidFill>
              <a:srgbClr val="8064A2"/>
            </a:solidFill>
            <a:prstDash val="solid"/>
            <a:round/>
            <a:headEnd type="none" w="sm" len="sm"/>
            <a:tailEnd type="triangle" w="sm" len="sm"/>
          </a:ln>
        </p:spPr>
      </p:cxnSp>
      <p:sp>
        <p:nvSpPr>
          <p:cNvPr id="291" name="Google Shape;291;p15">
            <a:extLst xmlns:a="http://schemas.openxmlformats.org/drawingml/2006/main">
              <a:ext uri="{FF2B5EF4-FFF2-40B4-BE49-F238E27FC236}">
                <a16:creationId xmlns:a16="http://schemas.microsoft.com/office/drawing/2014/main" id="{40FF096D-430D-4C8D-86FA-581C5F2E61A7}"/>
              </a:ext>
            </a:extLst>
          </p:cNvPr>
          <p:cNvSpPr>
            <a:spLocks xmlns:a="http://schemas.openxmlformats.org/drawingml/2006/main" noGrp="1"/>
          </p:cNvSpPr>
          <p:nvPr/>
        </p:nvSpPr>
        <p:spPr>
          <a:xfrm xmlns:a="http://schemas.openxmlformats.org/drawingml/2006/main">
            <a:off x="7600950" y="5191125"/>
            <a:ext cx="42864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15" b="1" i="0" u="none" cap="none">
                <a:solidFill>
                  <a:srgbClr val="1F497D"/>
                </a:solidFill>
                <a:latin typeface="Arial"/>
                <a:ea typeface="Arial"/>
                <a:cs typeface="Arial"/>
              </a:rPr>
              <a:t>HUMAN REVIEW, EXPORT AND FEEDBACK</a:t>
            </a:r>
            <a:endParaRPr/>
          </a:p>
        </p:txBody>
      </p:sp>
      <p:sp>
        <p:nvSpPr>
          <p:cNvPr id="292" name="Google Shape;292;p15">
            <a:extLst xmlns:a="http://schemas.openxmlformats.org/drawingml/2006/main">
              <a:ext uri="{FF2B5EF4-FFF2-40B4-BE49-F238E27FC236}">
                <a16:creationId xmlns:a16="http://schemas.microsoft.com/office/drawing/2014/main" id="{DB983872-CE79-4807-B0F4-A9B63CB78307}"/>
              </a:ext>
            </a:extLst>
          </p:cNvPr>
          <p:cNvSpPr>
            <a:spLocks xmlns:a="http://schemas.openxmlformats.org/drawingml/2006/main" noGrp="1"/>
          </p:cNvSpPr>
          <p:nvPr/>
        </p:nvSpPr>
        <p:spPr>
          <a:xfrm xmlns:a="http://schemas.openxmlformats.org/drawingml/2006/main">
            <a:off x="52768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3" name="Google Shape;293;p15">
            <a:extLst xmlns:a="http://schemas.openxmlformats.org/drawingml/2006/main">
              <a:ext uri="{FF2B5EF4-FFF2-40B4-BE49-F238E27FC236}">
                <a16:creationId xmlns:a16="http://schemas.microsoft.com/office/drawing/2014/main" id="{5B769C6B-F31C-4A98-9F9E-267A3C80E5AB}"/>
              </a:ext>
            </a:extLst>
          </p:cNvPr>
          <p:cNvSpPr>
            <a:spLocks xmlns:a="http://schemas.openxmlformats.org/drawingml/2006/main" noGrp="1"/>
          </p:cNvSpPr>
          <p:nvPr/>
        </p:nvSpPr>
        <p:spPr>
          <a:xfrm xmlns:a="http://schemas.openxmlformats.org/drawingml/2006/main">
            <a:off x="52768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4" name="Google Shape;294;p15">
            <a:extLst xmlns:a="http://schemas.openxmlformats.org/drawingml/2006/main">
              <a:ext uri="{FF2B5EF4-FFF2-40B4-BE49-F238E27FC236}">
                <a16:creationId xmlns:a16="http://schemas.microsoft.com/office/drawing/2014/main" id="{CBBB375F-5279-4DEC-A135-CA9A51E8D4CD}"/>
              </a:ext>
            </a:extLst>
          </p:cNvPr>
          <p:cNvSpPr>
            <a:spLocks xmlns:a="http://schemas.openxmlformats.org/drawingml/2006/main" noGrp="1"/>
          </p:cNvSpPr>
          <p:nvPr/>
        </p:nvSpPr>
        <p:spPr>
          <a:xfrm xmlns:a="http://schemas.openxmlformats.org/drawingml/2006/main">
            <a:off x="53721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7  REVIEW ACTION</a:t>
            </a:r>
            <a:endParaRPr/>
          </a:p>
        </p:txBody>
      </p:sp>
      <p:sp>
        <p:nvSpPr>
          <p:cNvPr id="295" name="Google Shape;295;p15">
            <a:extLst xmlns:a="http://schemas.openxmlformats.org/drawingml/2006/main">
              <a:ext uri="{FF2B5EF4-FFF2-40B4-BE49-F238E27FC236}">
                <a16:creationId xmlns:a16="http://schemas.microsoft.com/office/drawing/2014/main" id="{75EB752B-E502-486E-B05C-F1EFF9C2E2A3}"/>
              </a:ext>
            </a:extLst>
          </p:cNvPr>
          <p:cNvSpPr>
            <a:spLocks xmlns:a="http://schemas.openxmlformats.org/drawingml/2006/main" noGrp="1"/>
          </p:cNvSpPr>
          <p:nvPr/>
        </p:nvSpPr>
        <p:spPr>
          <a:xfrm xmlns:a="http://schemas.openxmlformats.org/drawingml/2006/main">
            <a:off x="53721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Verify recipient + request</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Independent review</a:t>
            </a:r>
            <a:endParaRPr/>
          </a:p>
        </p:txBody>
      </p:sp>
      <p:sp>
        <p:nvSpPr>
          <p:cNvPr id="296" name="Google Shape;296;p15">
            <a:extLst xmlns:a="http://schemas.openxmlformats.org/drawingml/2006/main">
              <a:ext uri="{FF2B5EF4-FFF2-40B4-BE49-F238E27FC236}">
                <a16:creationId xmlns:a16="http://schemas.microsoft.com/office/drawing/2014/main" id="{45C19E45-E06A-4CCC-8B28-47F598102C66}"/>
              </a:ext>
            </a:extLst>
          </p:cNvPr>
          <p:cNvSpPr>
            <a:spLocks xmlns:a="http://schemas.openxmlformats.org/drawingml/2006/main" noGrp="1"/>
          </p:cNvSpPr>
          <p:nvPr/>
        </p:nvSpPr>
        <p:spPr>
          <a:xfrm xmlns:a="http://schemas.openxmlformats.org/drawingml/2006/main">
            <a:off x="754380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7" name="Google Shape;297;p15">
            <a:extLst xmlns:a="http://schemas.openxmlformats.org/drawingml/2006/main">
              <a:ext uri="{FF2B5EF4-FFF2-40B4-BE49-F238E27FC236}">
                <a16:creationId xmlns:a16="http://schemas.microsoft.com/office/drawing/2014/main" id="{407A89CD-038F-4D0B-94DA-E3FBC0FD0E85}"/>
              </a:ext>
            </a:extLst>
          </p:cNvPr>
          <p:cNvSpPr>
            <a:spLocks xmlns:a="http://schemas.openxmlformats.org/drawingml/2006/main" noGrp="1"/>
          </p:cNvSpPr>
          <p:nvPr/>
        </p:nvSpPr>
        <p:spPr>
          <a:xfrm xmlns:a="http://schemas.openxmlformats.org/drawingml/2006/main">
            <a:off x="754380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8" name="Google Shape;298;p15">
            <a:extLst xmlns:a="http://schemas.openxmlformats.org/drawingml/2006/main">
              <a:ext uri="{FF2B5EF4-FFF2-40B4-BE49-F238E27FC236}">
                <a16:creationId xmlns:a16="http://schemas.microsoft.com/office/drawing/2014/main" id="{9DDDB4C4-2B96-4C2A-B240-8C77586F73EE}"/>
              </a:ext>
            </a:extLst>
          </p:cNvPr>
          <p:cNvSpPr>
            <a:spLocks xmlns:a="http://schemas.openxmlformats.org/drawingml/2006/main" noGrp="1"/>
          </p:cNvSpPr>
          <p:nvPr/>
        </p:nvSpPr>
        <p:spPr>
          <a:xfrm xmlns:a="http://schemas.openxmlformats.org/drawingml/2006/main">
            <a:off x="763905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1" i="0" u="none" cap="none">
                <a:solidFill>
                  <a:srgbClr val="1F497D"/>
                </a:solidFill>
                <a:latin typeface="Arial"/>
                <a:ea typeface="Arial"/>
                <a:cs typeface="Arial"/>
              </a:rPr>
              <a:t>8  EXPORT &amp; VERIFY</a:t>
            </a:r>
            <a:endParaRPr/>
          </a:p>
        </p:txBody>
      </p:sp>
      <p:sp>
        <p:nvSpPr>
          <p:cNvPr id="299" name="Google Shape;299;p15">
            <a:extLst xmlns:a="http://schemas.openxmlformats.org/drawingml/2006/main">
              <a:ext uri="{FF2B5EF4-FFF2-40B4-BE49-F238E27FC236}">
                <a16:creationId xmlns:a16="http://schemas.microsoft.com/office/drawing/2014/main" id="{D9224C00-79C5-47D3-9EAC-5530A15E1DAD}"/>
              </a:ext>
            </a:extLst>
          </p:cNvPr>
          <p:cNvSpPr>
            <a:spLocks xmlns:a="http://schemas.openxmlformats.org/drawingml/2006/main" noGrp="1"/>
          </p:cNvSpPr>
          <p:nvPr/>
        </p:nvSpPr>
        <p:spPr>
          <a:xfrm xmlns:a="http://schemas.openxmlformats.org/drawingml/2006/main">
            <a:off x="763905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PDF + signed ZIP</a:t>
            </a:r>
            <a:endParaRPr/>
          </a:p>
          <a:p xmlns:a="http://schemas.openxmlformats.org/drawingml/2006/main">
            <a:pPr marL="0" marR="0" lvl="0" indent="0" algn="l">
              <a:spcBef>
                <a:spcPts val="0"/>
              </a:spcBef>
              <a:spcAft>
                <a:spcPts val="0"/>
              </a:spcAft>
              <a:buNone/>
              <a:defRPr sz="1050">
                <a:latin typeface="Arial"/>
                <a:ea typeface="Arial"/>
                <a:cs typeface="Arial"/>
              </a:defRPr>
            </a:pPr>
            <a:r>
              <a:rPr sz="1050" b="0" i="0" u="none" cap="none">
                <a:solidFill>
                  <a:srgbClr val="17232F"/>
                </a:solidFill>
                <a:latin typeface="Arial"/>
                <a:ea typeface="Arial"/>
                <a:cs typeface="Arial"/>
              </a:rPr>
              <a:t>Request JSON: NOT_SENT</a:t>
            </a:r>
            <a:endParaRPr/>
          </a:p>
        </p:txBody>
      </p:sp>
      <p:sp>
        <p:nvSpPr>
          <p:cNvPr id="300" name="Google Shape;300;p15">
            <a:extLst xmlns:a="http://schemas.openxmlformats.org/drawingml/2006/main">
              <a:ext uri="{FF2B5EF4-FFF2-40B4-BE49-F238E27FC236}">
                <a16:creationId xmlns:a16="http://schemas.microsoft.com/office/drawing/2014/main" id="{AAE79772-ABA1-45BC-96DB-389B0BFDC4A3}"/>
              </a:ext>
            </a:extLst>
          </p:cNvPr>
          <p:cNvSpPr>
            <a:spLocks xmlns:a="http://schemas.openxmlformats.org/drawingml/2006/main" noGrp="1"/>
          </p:cNvSpPr>
          <p:nvPr/>
        </p:nvSpPr>
        <p:spPr>
          <a:xfrm xmlns:a="http://schemas.openxmlformats.org/drawingml/2006/main">
            <a:off x="9810750" y="5553075"/>
            <a:ext cx="2076600" cy="685800"/>
          </a:xfrm>
          <a:prstGeom xmlns:a="http://schemas.openxmlformats.org/drawingml/2006/main" prst="rect">
            <a:avLst/>
          </a:prstGeom>
          <a:solidFill xmlns:a="http://schemas.openxmlformats.org/drawingml/2006/main">
            <a:srgbClr val="FFFFFF"/>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5">
            <a:extLst xmlns:a="http://schemas.openxmlformats.org/drawingml/2006/main">
              <a:ext uri="{FF2B5EF4-FFF2-40B4-BE49-F238E27FC236}">
                <a16:creationId xmlns:a16="http://schemas.microsoft.com/office/drawing/2014/main" id="{10723CBC-16BC-4375-B8C0-45425BE5C450}"/>
              </a:ext>
            </a:extLst>
          </p:cNvPr>
          <p:cNvSpPr>
            <a:spLocks xmlns:a="http://schemas.openxmlformats.org/drawingml/2006/main" noGrp="1"/>
          </p:cNvSpPr>
          <p:nvPr/>
        </p:nvSpPr>
        <p:spPr>
          <a:xfrm xmlns:a="http://schemas.openxmlformats.org/drawingml/2006/main">
            <a:off x="9810750" y="5553075"/>
            <a:ext cx="2076600" cy="381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2" name="Google Shape;302;p15">
            <a:extLst xmlns:a="http://schemas.openxmlformats.org/drawingml/2006/main">
              <a:ext uri="{FF2B5EF4-FFF2-40B4-BE49-F238E27FC236}">
                <a16:creationId xmlns:a16="http://schemas.microsoft.com/office/drawing/2014/main" id="{B068DE06-5D3C-4166-B09F-A390C3E055A0}"/>
              </a:ext>
            </a:extLst>
          </p:cNvPr>
          <p:cNvSpPr>
            <a:spLocks xmlns:a="http://schemas.openxmlformats.org/drawingml/2006/main" noGrp="1"/>
          </p:cNvSpPr>
          <p:nvPr/>
        </p:nvSpPr>
        <p:spPr>
          <a:xfrm xmlns:a="http://schemas.openxmlformats.org/drawingml/2006/main">
            <a:off x="9906000" y="5648325"/>
            <a:ext cx="18861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2" b="1" i="0" u="none" cap="none">
                <a:solidFill>
                  <a:srgbClr val="1F497D"/>
                </a:solidFill>
                <a:latin typeface="Arial"/>
                <a:ea typeface="Arial"/>
                <a:cs typeface="Arial"/>
              </a:rPr>
              <a:t>9  REVIEW FEEDBACK</a:t>
            </a:r>
            <a:endParaRPr/>
          </a:p>
        </p:txBody>
      </p:sp>
      <p:sp>
        <p:nvSpPr>
          <p:cNvPr id="303" name="Google Shape;303;p15">
            <a:extLst xmlns:a="http://schemas.openxmlformats.org/drawingml/2006/main">
              <a:ext uri="{FF2B5EF4-FFF2-40B4-BE49-F238E27FC236}">
                <a16:creationId xmlns:a16="http://schemas.microsoft.com/office/drawing/2014/main" id="{77722F7F-3854-4C8B-8C70-76575DC3FE5A}"/>
              </a:ext>
            </a:extLst>
          </p:cNvPr>
          <p:cNvSpPr>
            <a:spLocks xmlns:a="http://schemas.openxmlformats.org/drawingml/2006/main" noGrp="1"/>
          </p:cNvSpPr>
          <p:nvPr/>
        </p:nvSpPr>
        <p:spPr>
          <a:xfrm xmlns:a="http://schemas.openxmlformats.org/drawingml/2006/main">
            <a:off x="9906000" y="5905500"/>
            <a:ext cx="18861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Import scoped signed reply</a:t>
            </a:r>
            <a:endParaRPr/>
          </a:p>
          <a:p xmlns:a="http://schemas.openxmlformats.org/drawingml/2006/main">
            <a:pPr marL="0" marR="0" lvl="0" indent="0" algn="l">
              <a:spcBef>
                <a:spcPts val="0"/>
              </a:spcBef>
              <a:spcAft>
                <a:spcPts val="0"/>
              </a:spcAft>
              <a:buNone/>
              <a:defRPr sz="1088">
                <a:latin typeface="Arial"/>
                <a:ea typeface="Arial"/>
                <a:cs typeface="Arial"/>
              </a:defRPr>
            </a:pPr>
            <a:r>
              <a:rPr sz="1088" b="0" i="0" u="none" cap="none">
                <a:solidFill>
                  <a:srgbClr val="17232F"/>
                </a:solidFill>
                <a:latin typeface="Arial"/>
                <a:ea typeface="Arial"/>
                <a:cs typeface="Arial"/>
              </a:rPr>
              <a:t>Review before using its labels</a:t>
            </a:r>
            <a:endParaRPr/>
          </a:p>
        </p:txBody>
      </p:sp>
      <p:cxnSp>
        <p:nvCxnSpPr>
          <p:cNvPr id="397" name="Google Shape;304;p15"/>
          <p:cNvCxnSpPr>
            <a:stCxn xmlns:a="http://schemas.openxmlformats.org/drawingml/2006/main" id="284" idx="2"/>
            <a:endCxn xmlns:a="http://schemas.openxmlformats.org/drawingml/2006/main" id="292" idx="0"/>
          </p:cNvCxnSpPr>
          <p:nvPr/>
        </p:nvCxnSpPr>
        <p:spPr>
          <a:xfrm xmlns:a="http://schemas.openxmlformats.org/drawingml/2006/main">
            <a:off x="6315150" y="4924350"/>
            <a:ext cx="0" cy="62880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8" name="Google Shape;305;p15"/>
          <p:cNvCxnSpPr>
            <a:stCxn xmlns:a="http://schemas.openxmlformats.org/drawingml/2006/main" id="292" idx="3"/>
            <a:endCxn xmlns:a="http://schemas.openxmlformats.org/drawingml/2006/main" id="296" idx="1"/>
          </p:cNvCxnSpPr>
          <p:nvPr/>
        </p:nvCxnSpPr>
        <p:spPr>
          <a:xfrm xmlns:a="http://schemas.openxmlformats.org/drawingml/2006/main">
            <a:off x="735345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cxnSp>
        <p:nvCxnSpPr>
          <p:cNvPr id="399" name="Google Shape;306;p15"/>
          <p:cNvCxnSpPr>
            <a:stCxn xmlns:a="http://schemas.openxmlformats.org/drawingml/2006/main" id="296" idx="3"/>
            <a:endCxn xmlns:a="http://schemas.openxmlformats.org/drawingml/2006/main" id="300" idx="1"/>
          </p:cNvCxnSpPr>
          <p:nvPr/>
        </p:nvCxnSpPr>
        <p:spPr>
          <a:xfrm xmlns:a="http://schemas.openxmlformats.org/drawingml/2006/main">
            <a:off x="9620400" y="5895975"/>
            <a:ext cx="190500" cy="0"/>
          </a:xfrm>
          <a:prstGeom xmlns:a="http://schemas.openxmlformats.org/drawingml/2006/main" prst="straightConnector1">
            <a:avLst/>
          </a:prstGeom>
          <a:ln xmlns:a="http://schemas.openxmlformats.org/drawingml/2006/main" w="19050" cap="flat">
            <a:solidFill>
              <a:srgbClr val="1F497D"/>
            </a:solidFill>
            <a:prstDash val="solid"/>
            <a:round/>
            <a:headEnd type="none" w="sm" len="sm"/>
            <a:tailEnd type="triangle" w="sm" len="sm"/>
          </a:ln>
        </p:spPr>
      </p:cxnSp>
      <p:sp>
        <p:nvSpPr>
          <p:cNvPr id="307" name="Google Shape;307;p15">
            <a:extLst xmlns:a="http://schemas.openxmlformats.org/drawingml/2006/main">
              <a:ext uri="{FF2B5EF4-FFF2-40B4-BE49-F238E27FC236}">
                <a16:creationId xmlns:a16="http://schemas.microsoft.com/office/drawing/2014/main" id="{9C0D93A1-F895-4ADB-9EB6-33663C470363}"/>
              </a:ext>
            </a:extLst>
          </p:cNvPr>
          <p:cNvSpPr>
            <a:spLocks xmlns:a="http://schemas.openxmlformats.org/drawingml/2006/main" noGrp="1"/>
          </p:cNvSpPr>
          <p:nvPr/>
        </p:nvSpPr>
        <p:spPr>
          <a:xfrm xmlns:a="http://schemas.openxmlformats.org/drawingml/2006/main">
            <a:off x="3381375" y="5391150"/>
            <a:ext cx="16860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8" name="Google Shape;308;p15">
            <a:extLst xmlns:a="http://schemas.openxmlformats.org/drawingml/2006/main">
              <a:ext uri="{FF2B5EF4-FFF2-40B4-BE49-F238E27FC236}">
                <a16:creationId xmlns:a16="http://schemas.microsoft.com/office/drawing/2014/main" id="{8214BC97-2A20-4E97-ABCA-4B075A230CC8}"/>
              </a:ext>
            </a:extLst>
          </p:cNvPr>
          <p:cNvSpPr>
            <a:spLocks xmlns:a="http://schemas.openxmlformats.org/drawingml/2006/main" noGrp="1"/>
          </p:cNvSpPr>
          <p:nvPr/>
        </p:nvSpPr>
        <p:spPr>
          <a:xfrm xmlns:a="http://schemas.openxmlformats.org/drawingml/2006/main">
            <a:off x="3467100" y="5438775"/>
            <a:ext cx="15144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13" b="1" i="0" u="none" cap="none">
                <a:solidFill>
                  <a:srgbClr val="FFFFFF"/>
                </a:solidFill>
                <a:latin typeface="Arial"/>
                <a:ea typeface="Arial"/>
                <a:cs typeface="Arial"/>
              </a:rPr>
              <a:t>CASE STORAGE</a:t>
            </a:r>
            <a:endParaRPr/>
          </a:p>
        </p:txBody>
      </p:sp>
      <p:sp>
        <p:nvSpPr>
          <p:cNvPr id="309" name="Google Shape;309;p15">
            <a:extLst xmlns:a="http://schemas.openxmlformats.org/drawingml/2006/main">
              <a:ext uri="{FF2B5EF4-FFF2-40B4-BE49-F238E27FC236}">
                <a16:creationId xmlns:a16="http://schemas.microsoft.com/office/drawing/2014/main" id="{E582D870-A7B4-4806-A6FC-752E67515F63}"/>
              </a:ext>
            </a:extLst>
          </p:cNvPr>
          <p:cNvSpPr>
            <a:spLocks xmlns:a="http://schemas.openxmlformats.org/drawingml/2006/main" noGrp="1"/>
          </p:cNvSpPr>
          <p:nvPr/>
        </p:nvSpPr>
        <p:spPr>
          <a:xfrm xmlns:a="http://schemas.openxmlformats.org/drawingml/2006/main">
            <a:off x="3457575" y="5705475"/>
            <a:ext cx="1552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SQLite WAL / SQLAlchemy</a:t>
            </a:r>
            <a:endParaRPr/>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Evidence hashes + audit log</a:t>
            </a:r>
            <a:endParaRPr/>
          </a:p>
        </p:txBody>
      </p:sp>
      <p:sp>
        <p:nvSpPr>
          <p:cNvPr id="310" name="Google Shape;310;p15">
            <a:extLst xmlns:a="http://schemas.openxmlformats.org/drawingml/2006/main">
              <a:ext uri="{FF2B5EF4-FFF2-40B4-BE49-F238E27FC236}">
                <a16:creationId xmlns:a16="http://schemas.microsoft.com/office/drawing/2014/main" id="{5766DFC9-9CAC-42D2-8E49-892070E0BF45}"/>
              </a:ext>
            </a:extLst>
          </p:cNvPr>
          <p:cNvSpPr>
            <a:spLocks xmlns:a="http://schemas.openxmlformats.org/drawingml/2006/main" noGrp="1"/>
          </p:cNvSpPr>
          <p:nvPr/>
        </p:nvSpPr>
        <p:spPr>
          <a:xfrm xmlns:a="http://schemas.openxmlformats.org/drawingml/2006/main">
            <a:off x="7543800" y="5400675"/>
            <a:ext cx="4343400" cy="14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526273"/>
                </a:solidFill>
                <a:latin typeface="Arial"/>
                <a:ea typeface="Arial"/>
                <a:cs typeface="Arial"/>
              </a:rPr>
              <a:t>Official SAHYOG access pending. Request export does not send a notice.</a:t>
            </a:r>
            <a:endParaRPr/>
          </a:p>
        </p:txBody>
      </p:sp>
      <p:sp>
        <p:nvSpPr>
          <p:cNvPr id="311" name="Google Shape;311;p15">
            <a:extLst xmlns:a="http://schemas.openxmlformats.org/drawingml/2006/main">
              <a:ext uri="{FF2B5EF4-FFF2-40B4-BE49-F238E27FC236}">
                <a16:creationId xmlns:a16="http://schemas.microsoft.com/office/drawing/2014/main" id="{CE6EB438-9C2F-4A19-BC46-A9FA8CECA630}"/>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12" name="Google Shape;312;p15">
            <a:extLst xmlns:a="http://schemas.openxmlformats.org/drawingml/2006/main">
              <a:ext uri="{FF2B5EF4-FFF2-40B4-BE49-F238E27FC236}">
                <a16:creationId xmlns:a16="http://schemas.microsoft.com/office/drawing/2014/main" id="{5834A325-0A7D-46DF-AE23-E3E3CDCAA3EE}"/>
              </a:ext>
            </a:extLst>
          </p:cNvPr>
          <p:cNvSpPr>
            <a:spLocks xmlns:a="http://schemas.openxmlformats.org/drawingml/2006/main" noGrp="1"/>
          </p:cNvSpPr>
          <p:nvPr/>
        </p:nvSpPr>
        <p:spPr>
          <a:xfrm xmlns:a="http://schemas.openxmlformats.org/drawingml/2006/main">
            <a:off x="182998" y="0"/>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defRPr sz="3000" b="1">
                <a:solidFill>
                  <a:srgbClr val="173A61"/>
                </a:solidFill>
                <a:latin typeface="Times New Roman"/>
                <a:ea typeface="Times New Roman"/>
                <a:cs typeface="Times New Roman"/>
              </a:defRPr>
            </a:pPr>
            <a:r>
              <a:rPr sz="3000" b="1">
                <a:solidFill>
                  <a:srgbClr val="173A61"/>
                </a:solidFill>
                <a:latin typeface="Times New Roman"/>
                <a:ea typeface="Times New Roman"/>
                <a:cs typeface="Times New Roman"/>
              </a:rPr>
              <a:t>TRACESETU</a:t>
            </a:r>
            <a:endParaRPr sz="4400">
              <a:solidFill>
                <a:srgbClr val="000000"/>
              </a:solidFill>
              <a:latin typeface="Oswald"/>
              <a:ea typeface="Oswald"/>
              <a:cs typeface="Oswald"/>
            </a:endParaRPr>
          </a:p>
        </p:txBody>
      </p:sp>
      <p:sp>
        <p:nvSpPr>
          <p:cNvPr id="313" name="Google Shape;313;p15">
            <a:extLst xmlns:a="http://schemas.openxmlformats.org/drawingml/2006/main">
              <a:ext uri="{FF2B5EF4-FFF2-40B4-BE49-F238E27FC236}">
                <a16:creationId xmlns:a16="http://schemas.microsoft.com/office/drawing/2014/main" id="{3A415D6E-14D6-4903-8385-2BC5EB577031}"/>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2598689-54C9-18A7-3A19-ED76AA08988F}" type="slidenum">
              <a:rPr sz="1200" b="1">
                <a:solidFill>
                  <a:srgbClr val="FFFFFF"/>
                </a:solidFill>
                <a:latin typeface="Oswald"/>
                <a:ea typeface="Oswald"/>
                <a:cs typeface="Oswald"/>
              </a:rPr>
              <a:t>2</a:t>
            </a:fld>
            <a:endParaRPr sz="1200" b="1">
              <a:solidFill>
                <a:srgbClr val="FFFFFF"/>
              </a:solidFill>
              <a:latin typeface="Oswald"/>
              <a:ea typeface="Oswald"/>
              <a:cs typeface="Oswald"/>
            </a:endParaRPr>
          </a:p>
        </p:txBody>
      </p:sp>
      <p:pic>
        <p:nvPicPr>
          <p:cNvPr id="407" name=""/>
          <p:cNvPicPr>
            <a:picLocks xmlns:a="http://schemas.openxmlformats.org/drawingml/2006/main" noChangeAspect="1"/>
          </p:cNvPicPr>
          <p:nvPr/>
        </p:nvPicPr>
        <p:blipFill>
          <a:blip xmlns:r="http://schemas.openxmlformats.org/officeDocument/2006/relationships" xmlns:a="http://schemas.openxmlformats.org/drawingml/2006/main" r:embed="Rddddbc8d14c64755"/>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318" name="">
            <a:extLst xmlns:a="http://schemas.openxmlformats.org/drawingml/2006/main">
              <a:ext uri="{FF2B5EF4-FFF2-40B4-BE49-F238E27FC236}">
                <a16:creationId xmlns:a16="http://schemas.microsoft.com/office/drawing/2014/main" id="{62E9DF99-ACBD-499B-8CEB-1FE9BF8DEB58}"/>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319" name="">
            <a:extLst xmlns:a="http://schemas.openxmlformats.org/drawingml/2006/main">
              <a:ext uri="{FF2B5EF4-FFF2-40B4-BE49-F238E27FC236}">
                <a16:creationId xmlns:a16="http://schemas.microsoft.com/office/drawing/2014/main" id="{67B56917-F813-415D-9E38-ABD053231DDF}"/>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20851436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2" name="Google Shape;322;p16">
            <a:extLst xmlns:a="http://schemas.openxmlformats.org/drawingml/2006/main">
              <a:ext uri="{FF2B5EF4-FFF2-40B4-BE49-F238E27FC236}">
                <a16:creationId xmlns:a16="http://schemas.microsoft.com/office/drawing/2014/main" id="{7EF214FF-57CA-4EF5-A634-41F938E3A25C}"/>
              </a:ext>
            </a:extLst>
          </p:cNvPr>
          <p:cNvSpPr>
            <a:spLocks xmlns:a="http://schemas.openxmlformats.org/drawingml/2006/main" noGrp="1"/>
          </p:cNvSpPr>
          <p:nvPr/>
        </p:nvSpPr>
        <p:spPr>
          <a:xfrm xmlns:a="http://schemas.openxmlformats.org/drawingml/2006/main">
            <a:off x="371475" y="1371600"/>
            <a:ext cx="32385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Implementation flow</a:t>
            </a:r>
            <a:endParaRPr/>
          </a:p>
        </p:txBody>
      </p:sp>
      <p:sp>
        <p:nvSpPr>
          <p:cNvPr id="323" name="Google Shape;323;p16">
            <a:extLst xmlns:a="http://schemas.openxmlformats.org/drawingml/2006/main">
              <a:ext uri="{FF2B5EF4-FFF2-40B4-BE49-F238E27FC236}">
                <a16:creationId xmlns:a16="http://schemas.microsoft.com/office/drawing/2014/main" id="{4AEED495-02CD-4129-A2CA-4FA20F7D1032}"/>
              </a:ext>
            </a:extLst>
          </p:cNvPr>
          <p:cNvSpPr>
            <a:spLocks xmlns:a="http://schemas.openxmlformats.org/drawingml/2006/main" noGrp="1"/>
          </p:cNvSpPr>
          <p:nvPr/>
        </p:nvSpPr>
        <p:spPr>
          <a:xfrm xmlns:a="http://schemas.openxmlformats.org/drawingml/2006/main">
            <a:off x="4010025" y="1371600"/>
            <a:ext cx="41529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875" b="1" i="0" u="none" cap="none">
                <a:solidFill>
                  <a:srgbClr val="1F497D"/>
                </a:solidFill>
                <a:latin typeface="Arial"/>
                <a:ea typeface="Arial"/>
                <a:cs typeface="Arial"/>
              </a:rPr>
              <a:t>How attribution works</a:t>
            </a:r>
            <a:endParaRPr/>
          </a:p>
        </p:txBody>
      </p:sp>
      <p:sp>
        <p:nvSpPr>
          <p:cNvPr id="324" name="Google Shape;324;p16">
            <a:extLst xmlns:a="http://schemas.openxmlformats.org/drawingml/2006/main">
              <a:ext uri="{FF2B5EF4-FFF2-40B4-BE49-F238E27FC236}">
                <a16:creationId xmlns:a16="http://schemas.microsoft.com/office/drawing/2014/main" id="{DF49CF6B-95C0-4896-8FC7-2A4872CC8062}"/>
              </a:ext>
            </a:extLst>
          </p:cNvPr>
          <p:cNvSpPr>
            <a:spLocks xmlns:a="http://schemas.openxmlformats.org/drawingml/2006/main" noGrp="1"/>
          </p:cNvSpPr>
          <p:nvPr/>
        </p:nvSpPr>
        <p:spPr>
          <a:xfrm xmlns:a="http://schemas.openxmlformats.org/drawingml/2006/main">
            <a:off x="8174125" y="1357413"/>
            <a:ext cx="3219600" cy="29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875" b="1" i="0" u="none" cap="none">
                <a:solidFill>
                  <a:srgbClr val="1F497D"/>
                </a:solidFill>
                <a:latin typeface="Arial"/>
                <a:ea typeface="Arial"/>
                <a:cs typeface="Arial"/>
              </a:rPr>
              <a:t>Technology stack</a:t>
            </a:r>
            <a:endParaRPr/>
          </a:p>
        </p:txBody>
      </p:sp>
      <p:sp>
        <p:nvSpPr>
          <p:cNvPr id="325" name="Google Shape;325;p16">
            <a:extLst xmlns:a="http://schemas.openxmlformats.org/drawingml/2006/main">
              <a:ext uri="{FF2B5EF4-FFF2-40B4-BE49-F238E27FC236}">
                <a16:creationId xmlns:a16="http://schemas.microsoft.com/office/drawing/2014/main" id="{23E2030C-E5DC-428A-9761-C97B12380BC1}"/>
              </a:ext>
            </a:extLst>
          </p:cNvPr>
          <p:cNvSpPr>
            <a:spLocks xmlns:a="http://schemas.openxmlformats.org/drawingml/2006/main" noGrp="1"/>
          </p:cNvSpPr>
          <p:nvPr/>
        </p:nvSpPr>
        <p:spPr>
          <a:xfrm xmlns:a="http://schemas.openxmlformats.org/drawingml/2006/main">
            <a:off x="590550" y="1866900"/>
            <a:ext cx="2819400" cy="409575"/>
          </a:xfrm>
          <a:prstGeom xmlns:a="http://schemas.openxmlformats.org/drawingml/2006/main" prst="roundRect">
            <a:avLst>
              <a:gd name="adj" fmla="val 18605"/>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6" name="Google Shape;326;p16">
            <a:extLst xmlns:a="http://schemas.openxmlformats.org/drawingml/2006/main">
              <a:ext uri="{FF2B5EF4-FFF2-40B4-BE49-F238E27FC236}">
                <a16:creationId xmlns:a16="http://schemas.microsoft.com/office/drawing/2014/main" id="{545BFBE3-2937-4935-8722-36E9199AD11A}"/>
              </a:ext>
            </a:extLst>
          </p:cNvPr>
          <p:cNvSpPr>
            <a:spLocks xmlns:a="http://schemas.openxmlformats.org/drawingml/2006/main" noGrp="1"/>
          </p:cNvSpPr>
          <p:nvPr/>
        </p:nvSpPr>
        <p:spPr>
          <a:xfrm xmlns:a="http://schemas.openxmlformats.org/drawingml/2006/main">
            <a:off x="676275" y="1933575"/>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Wallet + chain + time window</a:t>
            </a:r>
            <a:endParaRPr/>
          </a:p>
        </p:txBody>
      </p:sp>
      <p:sp>
        <p:nvSpPr>
          <p:cNvPr id="327" name="Google Shape;327;p16">
            <a:extLst xmlns:a="http://schemas.openxmlformats.org/drawingml/2006/main">
              <a:ext uri="{FF2B5EF4-FFF2-40B4-BE49-F238E27FC236}">
                <a16:creationId xmlns:a16="http://schemas.microsoft.com/office/drawing/2014/main" id="{E5F92CEB-2353-484D-AD8D-ED43E55805D1}"/>
              </a:ext>
            </a:extLst>
          </p:cNvPr>
          <p:cNvSpPr>
            <a:spLocks xmlns:a="http://schemas.openxmlformats.org/drawingml/2006/main" noGrp="1"/>
          </p:cNvSpPr>
          <p:nvPr/>
        </p:nvSpPr>
        <p:spPr>
          <a:xfrm xmlns:a="http://schemas.openxmlformats.org/drawingml/2006/main">
            <a:off x="590550" y="2581275"/>
            <a:ext cx="2819400" cy="409575"/>
          </a:xfrm>
          <a:prstGeom xmlns:a="http://schemas.openxmlformats.org/drawingml/2006/main" prst="roundRect">
            <a:avLst>
              <a:gd name="adj" fmla="val 18605"/>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8" name="Google Shape;328;p16">
            <a:extLst xmlns:a="http://schemas.openxmlformats.org/drawingml/2006/main">
              <a:ext uri="{FF2B5EF4-FFF2-40B4-BE49-F238E27FC236}">
                <a16:creationId xmlns:a16="http://schemas.microsoft.com/office/drawing/2014/main" id="{FAA8C844-7BCD-4E78-8AAA-ADD34967C98F}"/>
              </a:ext>
            </a:extLst>
          </p:cNvPr>
          <p:cNvSpPr>
            <a:spLocks xmlns:a="http://schemas.openxmlformats.org/drawingml/2006/main" noGrp="1"/>
          </p:cNvSpPr>
          <p:nvPr/>
        </p:nvSpPr>
        <p:spPr>
          <a:xfrm xmlns:a="http://schemas.openxmlformats.org/drawingml/2006/main">
            <a:off x="676275" y="2647950"/>
            <a:ext cx="2647950" cy="3143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Acquire, validate and normalise</a:t>
            </a:r>
            <a:endParaRPr/>
          </a:p>
        </p:txBody>
      </p:sp>
      <p:cxnSp>
        <p:nvCxnSpPr>
          <p:cNvPr id="479" name="Google Shape;329;p16"/>
          <p:cNvCxnSpPr>
            <a:stCxn xmlns:a="http://schemas.openxmlformats.org/drawingml/2006/main" id="325" idx="2"/>
            <a:endCxn xmlns:a="http://schemas.openxmlformats.org/drawingml/2006/main" id="327" idx="0"/>
          </p:cNvCxnSpPr>
          <p:nvPr/>
        </p:nvCxnSpPr>
        <p:spPr>
          <a:xfrm xmlns:a="http://schemas.openxmlformats.org/drawingml/2006/main">
            <a:off x="2000250" y="2276475"/>
            <a:ext cx="0" cy="3048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30" name="Google Shape;330;p16">
            <a:extLst xmlns:a="http://schemas.openxmlformats.org/drawingml/2006/main">
              <a:ext uri="{FF2B5EF4-FFF2-40B4-BE49-F238E27FC236}">
                <a16:creationId xmlns:a16="http://schemas.microsoft.com/office/drawing/2014/main" id="{779A53B2-9AAF-4FEF-B2F0-EC1A2B319428}"/>
              </a:ext>
            </a:extLst>
          </p:cNvPr>
          <p:cNvSpPr>
            <a:spLocks xmlns:a="http://schemas.openxmlformats.org/drawingml/2006/main" noGrp="1"/>
          </p:cNvSpPr>
          <p:nvPr/>
        </p:nvSpPr>
        <p:spPr>
          <a:xfrm xmlns:a="http://schemas.openxmlformats.org/drawingml/2006/main">
            <a:off x="323850" y="3429000"/>
            <a:ext cx="1000125" cy="552450"/>
          </a:xfrm>
          <a:prstGeom xmlns:a="http://schemas.openxmlformats.org/drawingml/2006/main" prst="roundRect">
            <a:avLst>
              <a:gd name="adj" fmla="val 13793"/>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1" name="Google Shape;331;p16">
            <a:extLst xmlns:a="http://schemas.openxmlformats.org/drawingml/2006/main">
              <a:ext uri="{FF2B5EF4-FFF2-40B4-BE49-F238E27FC236}">
                <a16:creationId xmlns:a16="http://schemas.microsoft.com/office/drawing/2014/main" id="{6C816455-E817-4844-935A-E9A9D5FB6EDD}"/>
              </a:ext>
            </a:extLst>
          </p:cNvPr>
          <p:cNvSpPr>
            <a:spLocks xmlns:a="http://schemas.openxmlformats.org/drawingml/2006/main" noGrp="1"/>
          </p:cNvSpPr>
          <p:nvPr/>
        </p:nvSpPr>
        <p:spPr>
          <a:xfrm xmlns:a="http://schemas.openxmlformats.org/drawingml/2006/main">
            <a:off x="40957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Transfer</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paths</a:t>
            </a:r>
            <a:endParaRPr/>
          </a:p>
        </p:txBody>
      </p:sp>
      <p:sp>
        <p:nvSpPr>
          <p:cNvPr id="332" name="Google Shape;332;p16">
            <a:extLst xmlns:a="http://schemas.openxmlformats.org/drawingml/2006/main">
              <a:ext uri="{FF2B5EF4-FFF2-40B4-BE49-F238E27FC236}">
                <a16:creationId xmlns:a16="http://schemas.microsoft.com/office/drawing/2014/main" id="{9E796373-C767-422A-9BF7-030641570A70}"/>
              </a:ext>
            </a:extLst>
          </p:cNvPr>
          <p:cNvSpPr>
            <a:spLocks xmlns:a="http://schemas.openxmlformats.org/drawingml/2006/main" noGrp="1"/>
          </p:cNvSpPr>
          <p:nvPr/>
        </p:nvSpPr>
        <p:spPr>
          <a:xfrm xmlns:a="http://schemas.openxmlformats.org/drawingml/2006/main">
            <a:off x="1495425" y="3429000"/>
            <a:ext cx="1000125" cy="552450"/>
          </a:xfrm>
          <a:prstGeom xmlns:a="http://schemas.openxmlformats.org/drawingml/2006/main" prst="roundRect">
            <a:avLst>
              <a:gd name="adj" fmla="val 13793"/>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3" name="Google Shape;333;p16">
            <a:extLst xmlns:a="http://schemas.openxmlformats.org/drawingml/2006/main">
              <a:ext uri="{FF2B5EF4-FFF2-40B4-BE49-F238E27FC236}">
                <a16:creationId xmlns:a16="http://schemas.microsoft.com/office/drawing/2014/main" id="{8A01957A-F465-4586-A435-820114034AC8}"/>
              </a:ext>
            </a:extLst>
          </p:cNvPr>
          <p:cNvSpPr>
            <a:spLocks xmlns:a="http://schemas.openxmlformats.org/drawingml/2006/main" noGrp="1"/>
          </p:cNvSpPr>
          <p:nvPr/>
        </p:nvSpPr>
        <p:spPr>
          <a:xfrm xmlns:a="http://schemas.openxmlformats.org/drawingml/2006/main">
            <a:off x="1581150"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Service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assertions</a:t>
            </a:r>
            <a:endParaRPr/>
          </a:p>
        </p:txBody>
      </p:sp>
      <p:sp>
        <p:nvSpPr>
          <p:cNvPr id="334" name="Google Shape;334;p16">
            <a:extLst xmlns:a="http://schemas.openxmlformats.org/drawingml/2006/main">
              <a:ext uri="{FF2B5EF4-FFF2-40B4-BE49-F238E27FC236}">
                <a16:creationId xmlns:a16="http://schemas.microsoft.com/office/drawing/2014/main" id="{9157BBD0-82DC-49DC-8456-73BCB0251054}"/>
              </a:ext>
            </a:extLst>
          </p:cNvPr>
          <p:cNvSpPr>
            <a:spLocks xmlns:a="http://schemas.openxmlformats.org/drawingml/2006/main" noGrp="1"/>
          </p:cNvSpPr>
          <p:nvPr/>
        </p:nvSpPr>
        <p:spPr>
          <a:xfrm xmlns:a="http://schemas.openxmlformats.org/drawingml/2006/main">
            <a:off x="2667000" y="3429000"/>
            <a:ext cx="1000125" cy="552450"/>
          </a:xfrm>
          <a:prstGeom xmlns:a="http://schemas.openxmlformats.org/drawingml/2006/main" prst="roundRect">
            <a:avLst>
              <a:gd name="adj" fmla="val 13793"/>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5" name="Google Shape;335;p16">
            <a:extLst xmlns:a="http://schemas.openxmlformats.org/drawingml/2006/main">
              <a:ext uri="{FF2B5EF4-FFF2-40B4-BE49-F238E27FC236}">
                <a16:creationId xmlns:a16="http://schemas.microsoft.com/office/drawing/2014/main" id="{556E2280-6749-49A3-B5D1-FB381DDCE3E4}"/>
              </a:ext>
            </a:extLst>
          </p:cNvPr>
          <p:cNvSpPr>
            <a:spLocks xmlns:a="http://schemas.openxmlformats.org/drawingml/2006/main" noGrp="1"/>
          </p:cNvSpPr>
          <p:nvPr/>
        </p:nvSpPr>
        <p:spPr>
          <a:xfrm xmlns:a="http://schemas.openxmlformats.org/drawingml/2006/main">
            <a:off x="2752725" y="3495675"/>
            <a:ext cx="828675"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Bridge</a:t>
            </a:r>
            <a:endParaRPr/>
          </a:p>
          <a:p xmlns:a="http://schemas.openxmlformats.org/drawingml/2006/main">
            <a:pPr marL="0" marR="0" lvl="0" indent="0" algn="ctr">
              <a:spcBef>
                <a:spcPts val="0"/>
              </a:spcBef>
              <a:spcAft>
                <a:spcPts val="0"/>
              </a:spcAft>
              <a:buNone/>
            </a:pPr>
            <a:r>
              <a:rPr sz="1275" b="1" i="0" u="none" cap="none">
                <a:solidFill>
                  <a:srgbClr val="FFFFFF"/>
                </a:solidFill>
                <a:latin typeface="Arial"/>
                <a:ea typeface="Arial"/>
                <a:cs typeface="Arial"/>
              </a:rPr>
              <a:t>proofs</a:t>
            </a:r>
            <a:endParaRPr/>
          </a:p>
        </p:txBody>
      </p:sp>
      <p:cxnSp>
        <p:nvCxnSpPr>
          <p:cNvPr id="486" name="Google Shape;336;p16"/>
          <p:cNvCxnSpPr>
            <a:stCxn xmlns:a="http://schemas.openxmlformats.org/drawingml/2006/main" id="327" idx="2"/>
            <a:endCxn xmlns:a="http://schemas.openxmlformats.org/drawingml/2006/main" id="330" idx="0"/>
          </p:cNvCxnSpPr>
          <p:nvPr/>
        </p:nvCxnSpPr>
        <p:spPr>
          <a:xfrm xmlns:a="http://schemas.openxmlformats.org/drawingml/2006/main" rot="5400000">
            <a:off x="1192950" y="2621850"/>
            <a:ext cx="4383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87" name="Google Shape;337;p16"/>
          <p:cNvCxnSpPr>
            <a:stCxn xmlns:a="http://schemas.openxmlformats.org/drawingml/2006/main" id="327" idx="2"/>
            <a:endCxn xmlns:a="http://schemas.openxmlformats.org/drawingml/2006/main" id="332" idx="0"/>
          </p:cNvCxnSpPr>
          <p:nvPr/>
        </p:nvCxnSpPr>
        <p:spPr>
          <a:xfrm xmlns:a="http://schemas.openxmlformats.org/drawingml/2006/main" rot="5400000">
            <a:off x="1778700" y="3207600"/>
            <a:ext cx="438300" cy="4800"/>
          </a:xfrm>
          <a:prstGeom xmlns:a="http://schemas.openxmlformats.org/drawingml/2006/main" prst="bentConnector4">
            <a:avLst>
              <a:gd name="adj1" fmla="val 0"/>
              <a:gd name="adj2" fmla="val -21"/>
            </a:avLst>
          </a:prstGeom>
          <a:ln xmlns:a="http://schemas.openxmlformats.org/drawingml/2006/main" w="19050" cap="flat">
            <a:solidFill>
              <a:srgbClr val="4BACC6"/>
            </a:solidFill>
            <a:prstDash val="solid"/>
            <a:round/>
            <a:headEnd type="none" w="sm" len="sm"/>
            <a:tailEnd type="triangle" w="sm" len="sm"/>
          </a:ln>
        </p:spPr>
      </p:cxnSp>
      <p:cxnSp>
        <p:nvCxnSpPr>
          <p:cNvPr id="488" name="Google Shape;338;p16"/>
          <p:cNvCxnSpPr>
            <a:stCxn xmlns:a="http://schemas.openxmlformats.org/drawingml/2006/main" id="327" idx="2"/>
            <a:endCxn xmlns:a="http://schemas.openxmlformats.org/drawingml/2006/main" id="334" idx="0"/>
          </p:cNvCxnSpPr>
          <p:nvPr/>
        </p:nvCxnSpPr>
        <p:spPr>
          <a:xfrm xmlns:a="http://schemas.openxmlformats.org/drawingml/2006/main" rot="-5400000" flipH="1">
            <a:off x="2364450" y="2626650"/>
            <a:ext cx="4383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39" name="Google Shape;339;p16">
            <a:extLst xmlns:a="http://schemas.openxmlformats.org/drawingml/2006/main">
              <a:ext uri="{FF2B5EF4-FFF2-40B4-BE49-F238E27FC236}">
                <a16:creationId xmlns:a16="http://schemas.microsoft.com/office/drawing/2014/main" id="{10CA5FDA-15FD-4D6F-A9FB-82F254513D59}"/>
              </a:ext>
            </a:extLst>
          </p:cNvPr>
          <p:cNvSpPr>
            <a:spLocks xmlns:a="http://schemas.openxmlformats.org/drawingml/2006/main" noGrp="1"/>
          </p:cNvSpPr>
          <p:nvPr/>
        </p:nvSpPr>
        <p:spPr>
          <a:xfrm xmlns:a="http://schemas.openxmlformats.org/drawingml/2006/main">
            <a:off x="466725" y="4410075"/>
            <a:ext cx="3067050" cy="457200"/>
          </a:xfrm>
          <a:prstGeom xmlns:a="http://schemas.openxmlformats.org/drawingml/2006/main" prst="roundRect">
            <a:avLst>
              <a:gd name="adj" fmla="val 16667"/>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0" name="Google Shape;340;p16">
            <a:extLst xmlns:a="http://schemas.openxmlformats.org/drawingml/2006/main">
              <a:ext uri="{FF2B5EF4-FFF2-40B4-BE49-F238E27FC236}">
                <a16:creationId xmlns:a16="http://schemas.microsoft.com/office/drawing/2014/main" id="{00E0D242-7EEC-4CC8-A740-71542A611920}"/>
              </a:ext>
            </a:extLst>
          </p:cNvPr>
          <p:cNvSpPr>
            <a:spLocks xmlns:a="http://schemas.openxmlformats.org/drawingml/2006/main" noGrp="1"/>
          </p:cNvSpPr>
          <p:nvPr/>
        </p:nvSpPr>
        <p:spPr>
          <a:xfrm xmlns:a="http://schemas.openxmlformats.org/drawingml/2006/main">
            <a:off x="552450" y="4476750"/>
            <a:ext cx="28956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Chronological first-custody search</a:t>
            </a:r>
            <a:endParaRPr/>
          </a:p>
        </p:txBody>
      </p:sp>
      <p:cxnSp>
        <p:nvCxnSpPr>
          <p:cNvPr id="491" name="Google Shape;341;p16"/>
          <p:cNvCxnSpPr>
            <a:stCxn xmlns:a="http://schemas.openxmlformats.org/drawingml/2006/main" id="330" idx="2"/>
            <a:endCxn xmlns:a="http://schemas.openxmlformats.org/drawingml/2006/main" id="339" idx="0"/>
          </p:cNvCxnSpPr>
          <p:nvPr/>
        </p:nvCxnSpPr>
        <p:spPr>
          <a:xfrm xmlns:a="http://schemas.openxmlformats.org/drawingml/2006/main" rot="-5400000" flipH="1">
            <a:off x="1197713" y="3607650"/>
            <a:ext cx="428700" cy="11763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cxnSp>
        <p:nvCxnSpPr>
          <p:cNvPr id="492" name="Google Shape;342;p16"/>
          <p:cNvCxnSpPr>
            <a:stCxn xmlns:a="http://schemas.openxmlformats.org/drawingml/2006/main" id="332" idx="2"/>
            <a:endCxn xmlns:a="http://schemas.openxmlformats.org/drawingml/2006/main" id="339" idx="0"/>
          </p:cNvCxnSpPr>
          <p:nvPr/>
        </p:nvCxnSpPr>
        <p:spPr>
          <a:xfrm xmlns:a="http://schemas.openxmlformats.org/drawingml/2006/main" rot="-5400000" flipH="1">
            <a:off x="1783538" y="4193400"/>
            <a:ext cx="428700" cy="4800"/>
          </a:xfrm>
          <a:prstGeom xmlns:a="http://schemas.openxmlformats.org/drawingml/2006/main" prst="bentConnector4">
            <a:avLst>
              <a:gd name="adj1" fmla="val 0"/>
              <a:gd name="adj2" fmla="val 10"/>
            </a:avLst>
          </a:prstGeom>
          <a:ln xmlns:a="http://schemas.openxmlformats.org/drawingml/2006/main" w="19050" cap="flat">
            <a:solidFill>
              <a:srgbClr val="4BACC6"/>
            </a:solidFill>
            <a:prstDash val="solid"/>
            <a:round/>
            <a:headEnd type="none" w="sm" len="sm"/>
            <a:tailEnd type="triangle" w="sm" len="sm"/>
          </a:ln>
        </p:spPr>
      </p:cxnSp>
      <p:cxnSp>
        <p:nvCxnSpPr>
          <p:cNvPr id="493" name="Google Shape;343;p16"/>
          <p:cNvCxnSpPr>
            <a:stCxn xmlns:a="http://schemas.openxmlformats.org/drawingml/2006/main" id="334" idx="2"/>
            <a:endCxn xmlns:a="http://schemas.openxmlformats.org/drawingml/2006/main" id="339" idx="0"/>
          </p:cNvCxnSpPr>
          <p:nvPr/>
        </p:nvCxnSpPr>
        <p:spPr>
          <a:xfrm xmlns:a="http://schemas.openxmlformats.org/drawingml/2006/main" rot="5400000">
            <a:off x="2369363" y="3612450"/>
            <a:ext cx="428700" cy="1166700"/>
          </a:xfrm>
          <a:prstGeom xmlns:a="http://schemas.openxmlformats.org/drawingml/2006/main" prst="bentConnector4">
            <a:avLst>
              <a:gd name="adj1" fmla="val 0"/>
              <a:gd name="adj2" fmla="val 0"/>
            </a:avLst>
          </a:prstGeom>
          <a:ln xmlns:a="http://schemas.openxmlformats.org/drawingml/2006/main" w="19050" cap="flat">
            <a:solidFill>
              <a:srgbClr val="4BACC6"/>
            </a:solidFill>
            <a:prstDash val="solid"/>
            <a:round/>
            <a:headEnd type="none" w="sm" len="sm"/>
            <a:tailEnd type="triangle" w="sm" len="sm"/>
          </a:ln>
        </p:spPr>
      </p:cxnSp>
      <p:sp>
        <p:nvSpPr>
          <p:cNvPr id="344" name="Google Shape;344;p16">
            <a:extLst xmlns:a="http://schemas.openxmlformats.org/drawingml/2006/main">
              <a:ext uri="{FF2B5EF4-FFF2-40B4-BE49-F238E27FC236}">
                <a16:creationId xmlns:a16="http://schemas.microsoft.com/office/drawing/2014/main" id="{A2DB4A45-1C37-4D58-ADD2-2C96091A4C51}"/>
              </a:ext>
            </a:extLst>
          </p:cNvPr>
          <p:cNvSpPr>
            <a:spLocks xmlns:a="http://schemas.openxmlformats.org/drawingml/2006/main" noGrp="1"/>
          </p:cNvSpPr>
          <p:nvPr/>
        </p:nvSpPr>
        <p:spPr>
          <a:xfrm xmlns:a="http://schemas.openxmlformats.org/drawingml/2006/main">
            <a:off x="466725" y="5238750"/>
            <a:ext cx="3067050" cy="419100"/>
          </a:xfrm>
          <a:prstGeom xmlns:a="http://schemas.openxmlformats.org/drawingml/2006/main" prst="roundRect">
            <a:avLst>
              <a:gd name="adj" fmla="val 18182"/>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5" name="Google Shape;345;p16">
            <a:extLst xmlns:a="http://schemas.openxmlformats.org/drawingml/2006/main">
              <a:ext uri="{FF2B5EF4-FFF2-40B4-BE49-F238E27FC236}">
                <a16:creationId xmlns:a16="http://schemas.microsoft.com/office/drawing/2014/main" id="{1D41AF55-DE37-4EA2-965C-54FD148EFD30}"/>
              </a:ext>
            </a:extLst>
          </p:cNvPr>
          <p:cNvSpPr>
            <a:spLocks xmlns:a="http://schemas.openxmlformats.org/drawingml/2006/main" noGrp="1"/>
          </p:cNvSpPr>
          <p:nvPr/>
        </p:nvSpPr>
        <p:spPr>
          <a:xfrm xmlns:a="http://schemas.openxmlformats.org/drawingml/2006/main">
            <a:off x="552450" y="5305425"/>
            <a:ext cx="28956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350" b="1" i="0" u="none" cap="none">
                <a:solidFill>
                  <a:srgbClr val="FFFFFF"/>
                </a:solidFill>
                <a:latin typeface="Arial"/>
                <a:ea typeface="Arial"/>
                <a:cs typeface="Arial"/>
              </a:rPr>
              <a:t>Candidates + certificate + gaps</a:t>
            </a:r>
            <a:endParaRPr/>
          </a:p>
        </p:txBody>
      </p:sp>
      <p:cxnSp>
        <p:nvCxnSpPr>
          <p:cNvPr id="496" name="Google Shape;346;p16"/>
          <p:cNvCxnSpPr>
            <a:stCxn xmlns:a="http://schemas.openxmlformats.org/drawingml/2006/main" id="339" idx="2"/>
            <a:endCxn xmlns:a="http://schemas.openxmlformats.org/drawingml/2006/main" id="344" idx="0"/>
          </p:cNvCxnSpPr>
          <p:nvPr/>
        </p:nvCxnSpPr>
        <p:spPr>
          <a:xfrm xmlns:a="http://schemas.openxmlformats.org/drawingml/2006/main">
            <a:off x="2000250" y="4867275"/>
            <a:ext cx="0" cy="371400"/>
          </a:xfrm>
          <a:prstGeom xmlns:a="http://schemas.openxmlformats.org/drawingml/2006/main" prst="straightConnector1">
            <a:avLst/>
          </a:prstGeom>
          <a:ln xmlns:a="http://schemas.openxmlformats.org/drawingml/2006/main" w="19050" cap="flat">
            <a:solidFill>
              <a:srgbClr val="4BACC6"/>
            </a:solidFill>
            <a:prstDash val="solid"/>
            <a:round/>
            <a:headEnd type="none" w="sm" len="sm"/>
            <a:tailEnd type="triangle" w="sm" len="sm"/>
          </a:ln>
        </p:spPr>
      </p:cxnSp>
      <p:sp>
        <p:nvSpPr>
          <p:cNvPr id="347" name="Google Shape;347;p16">
            <a:extLst xmlns:a="http://schemas.openxmlformats.org/drawingml/2006/main">
              <a:ext uri="{FF2B5EF4-FFF2-40B4-BE49-F238E27FC236}">
                <a16:creationId xmlns:a16="http://schemas.microsoft.com/office/drawing/2014/main" id="{37A23738-E8E8-444C-8D37-86BF63F3AF3E}"/>
              </a:ext>
            </a:extLst>
          </p:cNvPr>
          <p:cNvSpPr>
            <a:spLocks xmlns:a="http://schemas.openxmlformats.org/drawingml/2006/main" noGrp="1"/>
          </p:cNvSpPr>
          <p:nvPr/>
        </p:nvSpPr>
        <p:spPr>
          <a:xfrm xmlns:a="http://schemas.openxmlformats.org/drawingml/2006/main">
            <a:off x="4010025" y="1857375"/>
            <a:ext cx="304800" cy="304800"/>
          </a:xfrm>
          <a:prstGeom xmlns:a="http://schemas.openxmlformats.org/drawingml/2006/main" prst="roundRect">
            <a:avLst>
              <a:gd name="adj" fmla="val 25000"/>
            </a:avLst>
          </a:prstGeom>
          <a:solidFill xmlns:a="http://schemas.openxmlformats.org/drawingml/2006/main">
            <a:srgbClr val="C0504D"/>
          </a:solidFill>
          <a:ln xmlns:a="http://schemas.openxmlformats.org/drawingml/2006/main" w="9525" cmpd="sng">
            <a:solidFill>
              <a:srgbClr val="C0504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8" name="Google Shape;348;p16">
            <a:extLst xmlns:a="http://schemas.openxmlformats.org/drawingml/2006/main">
              <a:ext uri="{FF2B5EF4-FFF2-40B4-BE49-F238E27FC236}">
                <a16:creationId xmlns:a16="http://schemas.microsoft.com/office/drawing/2014/main" id="{45B9E9C5-39BD-47D4-84AD-8A45B7C16D7A}"/>
              </a:ext>
            </a:extLst>
          </p:cNvPr>
          <p:cNvSpPr>
            <a:spLocks xmlns:a="http://schemas.openxmlformats.org/drawingml/2006/main" noGrp="1"/>
          </p:cNvSpPr>
          <p:nvPr/>
        </p:nvSpPr>
        <p:spPr>
          <a:xfrm xmlns:a="http://schemas.openxmlformats.org/drawingml/2006/main">
            <a:off x="4057650" y="19050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1</a:t>
            </a:r>
            <a:endParaRPr/>
          </a:p>
        </p:txBody>
      </p:sp>
      <p:sp>
        <p:nvSpPr>
          <p:cNvPr id="349" name="Google Shape;349;p16">
            <a:extLst xmlns:a="http://schemas.openxmlformats.org/drawingml/2006/main">
              <a:ext uri="{FF2B5EF4-FFF2-40B4-BE49-F238E27FC236}">
                <a16:creationId xmlns:a16="http://schemas.microsoft.com/office/drawing/2014/main" id="{F79508A4-4E65-44FF-A68E-A144CF1B0ABA}"/>
              </a:ext>
            </a:extLst>
          </p:cNvPr>
          <p:cNvSpPr>
            <a:spLocks xmlns:a="http://schemas.openxmlformats.org/drawingml/2006/main" noGrp="1"/>
          </p:cNvSpPr>
          <p:nvPr/>
        </p:nvSpPr>
        <p:spPr>
          <a:xfrm xmlns:a="http://schemas.openxmlformats.org/drawingml/2006/main">
            <a:off x="4457700" y="18288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Causal transaction paths</a:t>
            </a:r>
            <a:endParaRPr/>
          </a:p>
        </p:txBody>
      </p:sp>
      <p:sp>
        <p:nvSpPr>
          <p:cNvPr id="350" name="Google Shape;350;p16">
            <a:extLst xmlns:a="http://schemas.openxmlformats.org/drawingml/2006/main">
              <a:ext uri="{FF2B5EF4-FFF2-40B4-BE49-F238E27FC236}">
                <a16:creationId xmlns:a16="http://schemas.microsoft.com/office/drawing/2014/main" id="{1C61B3DB-5B4E-4601-82DF-70127FD7F28E}"/>
              </a:ext>
            </a:extLst>
          </p:cNvPr>
          <p:cNvSpPr>
            <a:spLocks xmlns:a="http://schemas.openxmlformats.org/drawingml/2006/main" noGrp="1"/>
          </p:cNvSpPr>
          <p:nvPr/>
        </p:nvSpPr>
        <p:spPr>
          <a:xfrm xmlns:a="http://schemas.openxmlformats.org/drawingml/2006/main">
            <a:off x="4457700" y="20859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Order by ledger position. Bitcoin continuation</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must spend the preceding outpoint.</a:t>
            </a:r>
            <a:endParaRPr/>
          </a:p>
        </p:txBody>
      </p:sp>
      <p:sp>
        <p:nvSpPr>
          <p:cNvPr id="351" name="Google Shape;351;p16">
            <a:extLst xmlns:a="http://schemas.openxmlformats.org/drawingml/2006/main">
              <a:ext uri="{FF2B5EF4-FFF2-40B4-BE49-F238E27FC236}">
                <a16:creationId xmlns:a16="http://schemas.microsoft.com/office/drawing/2014/main" id="{A3FFAB37-39A2-4529-AB01-541D04AB29B8}"/>
              </a:ext>
            </a:extLst>
          </p:cNvPr>
          <p:cNvSpPr>
            <a:spLocks xmlns:a="http://schemas.openxmlformats.org/drawingml/2006/main" noGrp="1"/>
          </p:cNvSpPr>
          <p:nvPr/>
        </p:nvSpPr>
        <p:spPr>
          <a:xfrm xmlns:a="http://schemas.openxmlformats.org/drawingml/2006/main">
            <a:off x="4010025" y="2514600"/>
            <a:ext cx="304800" cy="304800"/>
          </a:xfrm>
          <a:prstGeom xmlns:a="http://schemas.openxmlformats.org/drawingml/2006/main" prst="roundRect">
            <a:avLst>
              <a:gd name="adj" fmla="val 25000"/>
            </a:avLst>
          </a:prstGeom>
          <a:solidFill xmlns:a="http://schemas.openxmlformats.org/drawingml/2006/main">
            <a:srgbClr val="4F81BD"/>
          </a:solidFill>
          <a:ln xmlns:a="http://schemas.openxmlformats.org/drawingml/2006/main" w="9525" cmpd="sng">
            <a:solidFill>
              <a:srgbClr val="4F81B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2" name="Google Shape;352;p16">
            <a:extLst xmlns:a="http://schemas.openxmlformats.org/drawingml/2006/main">
              <a:ext uri="{FF2B5EF4-FFF2-40B4-BE49-F238E27FC236}">
                <a16:creationId xmlns:a16="http://schemas.microsoft.com/office/drawing/2014/main" id="{B3B1F3A8-E90A-4028-8D38-746B09A63433}"/>
              </a:ext>
            </a:extLst>
          </p:cNvPr>
          <p:cNvSpPr>
            <a:spLocks xmlns:a="http://schemas.openxmlformats.org/drawingml/2006/main" noGrp="1"/>
          </p:cNvSpPr>
          <p:nvPr/>
        </p:nvSpPr>
        <p:spPr>
          <a:xfrm xmlns:a="http://schemas.openxmlformats.org/drawingml/2006/main">
            <a:off x="4057650" y="25622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2</a:t>
            </a:r>
            <a:endParaRPr/>
          </a:p>
        </p:txBody>
      </p:sp>
      <p:sp>
        <p:nvSpPr>
          <p:cNvPr id="353" name="Google Shape;353;p16">
            <a:extLst xmlns:a="http://schemas.openxmlformats.org/drawingml/2006/main">
              <a:ext uri="{FF2B5EF4-FFF2-40B4-BE49-F238E27FC236}">
                <a16:creationId xmlns:a16="http://schemas.microsoft.com/office/drawing/2014/main" id="{C8174DBD-BEF0-4EE0-B4E8-5D3A219115EB}"/>
              </a:ext>
            </a:extLst>
          </p:cNvPr>
          <p:cNvSpPr>
            <a:spLocks xmlns:a="http://schemas.openxmlformats.org/drawingml/2006/main" noGrp="1"/>
          </p:cNvSpPr>
          <p:nvPr/>
        </p:nvSpPr>
        <p:spPr>
          <a:xfrm xmlns:a="http://schemas.openxmlformats.org/drawingml/2006/main">
            <a:off x="4457700" y="24860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Source-qualified service labels</a:t>
            </a:r>
            <a:endParaRPr/>
          </a:p>
        </p:txBody>
      </p:sp>
      <p:sp>
        <p:nvSpPr>
          <p:cNvPr id="354" name="Google Shape;354;p16">
            <a:extLst xmlns:a="http://schemas.openxmlformats.org/drawingml/2006/main">
              <a:ext uri="{FF2B5EF4-FFF2-40B4-BE49-F238E27FC236}">
                <a16:creationId xmlns:a16="http://schemas.microsoft.com/office/drawing/2014/main" id="{19F8D763-F167-464C-8975-703D8D287653}"/>
              </a:ext>
            </a:extLst>
          </p:cNvPr>
          <p:cNvSpPr>
            <a:spLocks xmlns:a="http://schemas.openxmlformats.org/drawingml/2006/main" noGrp="1"/>
          </p:cNvSpPr>
          <p:nvPr/>
        </p:nvSpPr>
        <p:spPr>
          <a:xfrm xmlns:a="http://schemas.openxmlformats.org/drawingml/2006/main">
            <a:off x="4457700" y="27432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Bind entity, chain, wallet role and validity</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interval to inspectable source evidence.</a:t>
            </a:r>
            <a:endParaRPr/>
          </a:p>
        </p:txBody>
      </p:sp>
      <p:sp>
        <p:nvSpPr>
          <p:cNvPr id="355" name="Google Shape;355;p16">
            <a:extLst xmlns:a="http://schemas.openxmlformats.org/drawingml/2006/main">
              <a:ext uri="{FF2B5EF4-FFF2-40B4-BE49-F238E27FC236}">
                <a16:creationId xmlns:a16="http://schemas.microsoft.com/office/drawing/2014/main" id="{27E1541F-E6F1-40DD-A890-874869F49488}"/>
              </a:ext>
            </a:extLst>
          </p:cNvPr>
          <p:cNvSpPr>
            <a:spLocks xmlns:a="http://schemas.openxmlformats.org/drawingml/2006/main" noGrp="1"/>
          </p:cNvSpPr>
          <p:nvPr/>
        </p:nvSpPr>
        <p:spPr>
          <a:xfrm xmlns:a="http://schemas.openxmlformats.org/drawingml/2006/main">
            <a:off x="4010025" y="3171825"/>
            <a:ext cx="304800" cy="304800"/>
          </a:xfrm>
          <a:prstGeom xmlns:a="http://schemas.openxmlformats.org/drawingml/2006/main" prst="roundRect">
            <a:avLst>
              <a:gd name="adj" fmla="val 25000"/>
            </a:avLst>
          </a:prstGeom>
          <a:solidFill xmlns:a="http://schemas.openxmlformats.org/drawingml/2006/main">
            <a:srgbClr val="F79646"/>
          </a:solidFill>
          <a:ln xmlns:a="http://schemas.openxmlformats.org/drawingml/2006/main" w="9525" cmpd="sng">
            <a:solidFill>
              <a:srgbClr val="F7964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56" name="Google Shape;356;p16">
            <a:extLst xmlns:a="http://schemas.openxmlformats.org/drawingml/2006/main">
              <a:ext uri="{FF2B5EF4-FFF2-40B4-BE49-F238E27FC236}">
                <a16:creationId xmlns:a16="http://schemas.microsoft.com/office/drawing/2014/main" id="{F42C91E4-86E9-4AD3-A9DC-CC402CF4D9B3}"/>
              </a:ext>
            </a:extLst>
          </p:cNvPr>
          <p:cNvSpPr>
            <a:spLocks xmlns:a="http://schemas.openxmlformats.org/drawingml/2006/main" noGrp="1"/>
          </p:cNvSpPr>
          <p:nvPr/>
        </p:nvSpPr>
        <p:spPr>
          <a:xfrm xmlns:a="http://schemas.openxmlformats.org/drawingml/2006/main">
            <a:off x="4057650" y="321945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3</a:t>
            </a:r>
            <a:endParaRPr/>
          </a:p>
        </p:txBody>
      </p:sp>
      <p:sp>
        <p:nvSpPr>
          <p:cNvPr id="357" name="Google Shape;357;p16">
            <a:extLst xmlns:a="http://schemas.openxmlformats.org/drawingml/2006/main">
              <a:ext uri="{FF2B5EF4-FFF2-40B4-BE49-F238E27FC236}">
                <a16:creationId xmlns:a16="http://schemas.microsoft.com/office/drawing/2014/main" id="{AE0B7C4D-9240-4620-8C3E-5E7A86ACC476}"/>
              </a:ext>
            </a:extLst>
          </p:cNvPr>
          <p:cNvSpPr>
            <a:spLocks xmlns:a="http://schemas.openxmlformats.org/drawingml/2006/main" noGrp="1"/>
          </p:cNvSpPr>
          <p:nvPr/>
        </p:nvSpPr>
        <p:spPr>
          <a:xfrm xmlns:a="http://schemas.openxmlformats.org/drawingml/2006/main">
            <a:off x="4457700" y="314325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First-custody termination</a:t>
            </a:r>
            <a:endParaRPr/>
          </a:p>
        </p:txBody>
      </p:sp>
      <p:sp>
        <p:nvSpPr>
          <p:cNvPr id="358" name="Google Shape;358;p16">
            <a:extLst xmlns:a="http://schemas.openxmlformats.org/drawingml/2006/main">
              <a:ext uri="{FF2B5EF4-FFF2-40B4-BE49-F238E27FC236}">
                <a16:creationId xmlns:a16="http://schemas.microsoft.com/office/drawing/2014/main" id="{7020911D-62A5-478A-9848-835EB7E0BDE0}"/>
              </a:ext>
            </a:extLst>
          </p:cNvPr>
          <p:cNvSpPr>
            <a:spLocks xmlns:a="http://schemas.openxmlformats.org/drawingml/2006/main" noGrp="1"/>
          </p:cNvSpPr>
          <p:nvPr/>
        </p:nvSpPr>
        <p:spPr>
          <a:xfrm xmlns:a="http://schemas.openxmlformats.org/drawingml/2006/main">
            <a:off x="4457700" y="340042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Keep the first custodian on every branch.</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Do not infer unrelated exchange withdrawals.</a:t>
            </a:r>
            <a:endParaRPr/>
          </a:p>
        </p:txBody>
      </p:sp>
      <p:sp>
        <p:nvSpPr>
          <p:cNvPr id="359" name="Google Shape;359;p16">
            <a:extLst xmlns:a="http://schemas.openxmlformats.org/drawingml/2006/main">
              <a:ext uri="{FF2B5EF4-FFF2-40B4-BE49-F238E27FC236}">
                <a16:creationId xmlns:a16="http://schemas.microsoft.com/office/drawing/2014/main" id="{2790D1FA-DB1C-4B7D-8D6C-BEF27331CDB0}"/>
              </a:ext>
            </a:extLst>
          </p:cNvPr>
          <p:cNvSpPr>
            <a:spLocks xmlns:a="http://schemas.openxmlformats.org/drawingml/2006/main" noGrp="1"/>
          </p:cNvSpPr>
          <p:nvPr/>
        </p:nvSpPr>
        <p:spPr>
          <a:xfrm xmlns:a="http://schemas.openxmlformats.org/drawingml/2006/main">
            <a:off x="4010025" y="3829050"/>
            <a:ext cx="304800" cy="304800"/>
          </a:xfrm>
          <a:prstGeom xmlns:a="http://schemas.openxmlformats.org/drawingml/2006/main" prst="roundRect">
            <a:avLst>
              <a:gd name="adj" fmla="val 25000"/>
            </a:avLst>
          </a:prstGeom>
          <a:solidFill xmlns:a="http://schemas.openxmlformats.org/drawingml/2006/main">
            <a:srgbClr val="8064A2"/>
          </a:solidFill>
          <a:ln xmlns:a="http://schemas.openxmlformats.org/drawingml/2006/main" w="9525" cmpd="sng">
            <a:solidFill>
              <a:srgbClr val="8064A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0" name="Google Shape;360;p16">
            <a:extLst xmlns:a="http://schemas.openxmlformats.org/drawingml/2006/main">
              <a:ext uri="{FF2B5EF4-FFF2-40B4-BE49-F238E27FC236}">
                <a16:creationId xmlns:a16="http://schemas.microsoft.com/office/drawing/2014/main" id="{74305F00-B148-494B-B109-FB17DDAC849D}"/>
              </a:ext>
            </a:extLst>
          </p:cNvPr>
          <p:cNvSpPr>
            <a:spLocks xmlns:a="http://schemas.openxmlformats.org/drawingml/2006/main" noGrp="1"/>
          </p:cNvSpPr>
          <p:nvPr/>
        </p:nvSpPr>
        <p:spPr>
          <a:xfrm xmlns:a="http://schemas.openxmlformats.org/drawingml/2006/main">
            <a:off x="4057650" y="387667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4</a:t>
            </a:r>
            <a:endParaRPr/>
          </a:p>
        </p:txBody>
      </p:sp>
      <p:sp>
        <p:nvSpPr>
          <p:cNvPr id="361" name="Google Shape;361;p16">
            <a:extLst xmlns:a="http://schemas.openxmlformats.org/drawingml/2006/main">
              <a:ext uri="{FF2B5EF4-FFF2-40B4-BE49-F238E27FC236}">
                <a16:creationId xmlns:a16="http://schemas.microsoft.com/office/drawing/2014/main" id="{A270A065-D74A-4FD5-A752-655C579A6998}"/>
              </a:ext>
            </a:extLst>
          </p:cNvPr>
          <p:cNvSpPr>
            <a:spLocks xmlns:a="http://schemas.openxmlformats.org/drawingml/2006/main" noGrp="1"/>
          </p:cNvSpPr>
          <p:nvPr/>
        </p:nvSpPr>
        <p:spPr>
          <a:xfrm xmlns:a="http://schemas.openxmlformats.org/drawingml/2006/main">
            <a:off x="4457700" y="380047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nearestness</a:t>
            </a:r>
            <a:endParaRPr/>
          </a:p>
        </p:txBody>
      </p:sp>
      <p:sp>
        <p:nvSpPr>
          <p:cNvPr id="362" name="Google Shape;362;p16">
            <a:extLst xmlns:a="http://schemas.openxmlformats.org/drawingml/2006/main">
              <a:ext uri="{FF2B5EF4-FFF2-40B4-BE49-F238E27FC236}">
                <a16:creationId xmlns:a16="http://schemas.microsoft.com/office/drawing/2014/main" id="{BCF229CB-C9B3-496C-9DD0-E066C2956A9E}"/>
              </a:ext>
            </a:extLst>
          </p:cNvPr>
          <p:cNvSpPr>
            <a:spLocks xmlns:a="http://schemas.openxmlformats.org/drawingml/2006/main" noGrp="1"/>
          </p:cNvSpPr>
          <p:nvPr/>
        </p:nvSpPr>
        <p:spPr>
          <a:xfrm xmlns:a="http://schemas.openxmlformats.org/drawingml/2006/main">
            <a:off x="4457700" y="405765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 shallower unresolved branch limits the</a:t>
            </a:r>
            <a:endParaRPr/>
          </a:p>
          <a:p xmlns:a="http://schemas.openxmlformats.org/drawingml/2006/main">
            <a:pPr marL="0" marR="0" lvl="0" indent="0" algn="l">
              <a:spcBef>
                <a:spcPts val="0"/>
              </a:spcBef>
              <a:spcAft>
                <a:spcPts val="0"/>
              </a:spcAft>
              <a:buNone/>
            </a:pPr>
            <a:r>
              <a:rPr sz="1125" b="0" i="0" u="none" cap="none">
                <a:solidFill>
                  <a:srgbClr val="17232F"/>
                </a:solidFill>
                <a:latin typeface="Arial"/>
                <a:ea typeface="Arial"/>
                <a:cs typeface="Arial"/>
              </a:rPr>
              <a:t>answer within the acquired graph.</a:t>
            </a:r>
            <a:endParaRPr/>
          </a:p>
        </p:txBody>
      </p:sp>
      <p:sp>
        <p:nvSpPr>
          <p:cNvPr id="363" name="Google Shape;363;p16">
            <a:extLst xmlns:a="http://schemas.openxmlformats.org/drawingml/2006/main">
              <a:ext uri="{FF2B5EF4-FFF2-40B4-BE49-F238E27FC236}">
                <a16:creationId xmlns:a16="http://schemas.microsoft.com/office/drawing/2014/main" id="{580E9314-3FE1-4C6E-89D3-B21E56BF9A24}"/>
              </a:ext>
            </a:extLst>
          </p:cNvPr>
          <p:cNvSpPr>
            <a:spLocks xmlns:a="http://schemas.openxmlformats.org/drawingml/2006/main" noGrp="1"/>
          </p:cNvSpPr>
          <p:nvPr/>
        </p:nvSpPr>
        <p:spPr>
          <a:xfrm xmlns:a="http://schemas.openxmlformats.org/drawingml/2006/main">
            <a:off x="4010025" y="4486275"/>
            <a:ext cx="304800" cy="304800"/>
          </a:xfrm>
          <a:prstGeom xmlns:a="http://schemas.openxmlformats.org/drawingml/2006/main" prst="roundRect">
            <a:avLst>
              <a:gd name="adj" fmla="val 25000"/>
            </a:avLst>
          </a:prstGeom>
          <a:solidFill xmlns:a="http://schemas.openxmlformats.org/drawingml/2006/main">
            <a:srgbClr val="4BACC6"/>
          </a:solidFill>
          <a:ln xmlns:a="http://schemas.openxmlformats.org/drawingml/2006/main" w="9525" cmpd="sng">
            <a:solidFill>
              <a:srgbClr val="4BACC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4" name="Google Shape;364;p16">
            <a:extLst xmlns:a="http://schemas.openxmlformats.org/drawingml/2006/main">
              <a:ext uri="{FF2B5EF4-FFF2-40B4-BE49-F238E27FC236}">
                <a16:creationId xmlns:a16="http://schemas.microsoft.com/office/drawing/2014/main" id="{7AD26FF1-9610-42D0-9C2C-20E99CF4F596}"/>
              </a:ext>
            </a:extLst>
          </p:cNvPr>
          <p:cNvSpPr>
            <a:spLocks xmlns:a="http://schemas.openxmlformats.org/drawingml/2006/main" noGrp="1"/>
          </p:cNvSpPr>
          <p:nvPr/>
        </p:nvSpPr>
        <p:spPr>
          <a:xfrm xmlns:a="http://schemas.openxmlformats.org/drawingml/2006/main">
            <a:off x="4057650" y="4533900"/>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5</a:t>
            </a:r>
            <a:endParaRPr/>
          </a:p>
        </p:txBody>
      </p:sp>
      <p:sp>
        <p:nvSpPr>
          <p:cNvPr id="365" name="Google Shape;365;p16">
            <a:extLst xmlns:a="http://schemas.openxmlformats.org/drawingml/2006/main">
              <a:ext uri="{FF2B5EF4-FFF2-40B4-BE49-F238E27FC236}">
                <a16:creationId xmlns:a16="http://schemas.microsoft.com/office/drawing/2014/main" id="{52EFAA44-BA76-4281-94DA-62F034370D96}"/>
              </a:ext>
            </a:extLst>
          </p:cNvPr>
          <p:cNvSpPr>
            <a:spLocks xmlns:a="http://schemas.openxmlformats.org/drawingml/2006/main" noGrp="1"/>
          </p:cNvSpPr>
          <p:nvPr/>
        </p:nvSpPr>
        <p:spPr>
          <a:xfrm xmlns:a="http://schemas.openxmlformats.org/drawingml/2006/main">
            <a:off x="4457700" y="4457700"/>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Confidence and risk separation</a:t>
            </a:r>
            <a:endParaRPr/>
          </a:p>
        </p:txBody>
      </p:sp>
      <p:sp>
        <p:nvSpPr>
          <p:cNvPr id="366" name="Google Shape;366;p16">
            <a:extLst xmlns:a="http://schemas.openxmlformats.org/drawingml/2006/main">
              <a:ext uri="{FF2B5EF4-FFF2-40B4-BE49-F238E27FC236}">
                <a16:creationId xmlns:a16="http://schemas.microsoft.com/office/drawing/2014/main" id="{A2FCCC5E-BC96-4145-9232-C3474FDC731F}"/>
              </a:ext>
            </a:extLst>
          </p:cNvPr>
          <p:cNvSpPr>
            <a:spLocks xmlns:a="http://schemas.openxmlformats.org/drawingml/2006/main" noGrp="1"/>
          </p:cNvSpPr>
          <p:nvPr/>
        </p:nvSpPr>
        <p:spPr>
          <a:xfrm xmlns:a="http://schemas.openxmlformats.org/drawingml/2006/main">
            <a:off x="4457700" y="4714875"/>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Categorical evidence grades, not probabilities.</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Risk reasons remain separate from attribution.</a:t>
            </a:r>
            <a:endParaRPr/>
          </a:p>
        </p:txBody>
      </p:sp>
      <p:sp>
        <p:nvSpPr>
          <p:cNvPr id="367" name="Google Shape;367;p16">
            <a:extLst xmlns:a="http://schemas.openxmlformats.org/drawingml/2006/main">
              <a:ext uri="{FF2B5EF4-FFF2-40B4-BE49-F238E27FC236}">
                <a16:creationId xmlns:a16="http://schemas.microsoft.com/office/drawing/2014/main" id="{50B1B617-8E24-413D-8CA5-4751B48E97FB}"/>
              </a:ext>
            </a:extLst>
          </p:cNvPr>
          <p:cNvSpPr>
            <a:spLocks xmlns:a="http://schemas.openxmlformats.org/drawingml/2006/main" noGrp="1"/>
          </p:cNvSpPr>
          <p:nvPr/>
        </p:nvSpPr>
        <p:spPr>
          <a:xfrm xmlns:a="http://schemas.openxmlformats.org/drawingml/2006/main">
            <a:off x="4010025" y="5143500"/>
            <a:ext cx="304800" cy="304800"/>
          </a:xfrm>
          <a:prstGeom xmlns:a="http://schemas.openxmlformats.org/drawingml/2006/main" prst="roundRect">
            <a:avLst>
              <a:gd name="adj" fmla="val 25000"/>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8" name="Google Shape;368;p16">
            <a:extLst xmlns:a="http://schemas.openxmlformats.org/drawingml/2006/main">
              <a:ext uri="{FF2B5EF4-FFF2-40B4-BE49-F238E27FC236}">
                <a16:creationId xmlns:a16="http://schemas.microsoft.com/office/drawing/2014/main" id="{36A08790-1298-4F7D-BE9C-28D9758F9730}"/>
              </a:ext>
            </a:extLst>
          </p:cNvPr>
          <p:cNvSpPr>
            <a:spLocks xmlns:a="http://schemas.openxmlformats.org/drawingml/2006/main" noGrp="1"/>
          </p:cNvSpPr>
          <p:nvPr/>
        </p:nvSpPr>
        <p:spPr>
          <a:xfrm xmlns:a="http://schemas.openxmlformats.org/drawingml/2006/main">
            <a:off x="4057650" y="5191125"/>
            <a:ext cx="2095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1425" b="1" i="0" u="none" cap="none">
                <a:solidFill>
                  <a:srgbClr val="FFFFFF"/>
                </a:solidFill>
                <a:latin typeface="Arial"/>
                <a:ea typeface="Arial"/>
                <a:cs typeface="Arial"/>
              </a:rPr>
              <a:t>6</a:t>
            </a:r>
            <a:endParaRPr/>
          </a:p>
        </p:txBody>
      </p:sp>
      <p:sp>
        <p:nvSpPr>
          <p:cNvPr id="369" name="Google Shape;369;p16">
            <a:extLst xmlns:a="http://schemas.openxmlformats.org/drawingml/2006/main">
              <a:ext uri="{FF2B5EF4-FFF2-40B4-BE49-F238E27FC236}">
                <a16:creationId xmlns:a16="http://schemas.microsoft.com/office/drawing/2014/main" id="{882AF55F-AAB1-4916-9005-0DA6269579DB}"/>
              </a:ext>
            </a:extLst>
          </p:cNvPr>
          <p:cNvSpPr>
            <a:spLocks xmlns:a="http://schemas.openxmlformats.org/drawingml/2006/main" noGrp="1"/>
          </p:cNvSpPr>
          <p:nvPr/>
        </p:nvSpPr>
        <p:spPr>
          <a:xfrm xmlns:a="http://schemas.openxmlformats.org/drawingml/2006/main">
            <a:off x="4457700" y="5114925"/>
            <a:ext cx="382905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88" b="1" i="0" u="none" cap="none">
                <a:solidFill>
                  <a:srgbClr val="1F497D"/>
                </a:solidFill>
                <a:latin typeface="Arial"/>
                <a:ea typeface="Arial"/>
                <a:cs typeface="Arial"/>
              </a:rPr>
              <a:t>Scoped cross-chain verification</a:t>
            </a:r>
            <a:endParaRPr/>
          </a:p>
        </p:txBody>
      </p:sp>
      <p:sp>
        <p:nvSpPr>
          <p:cNvPr id="370" name="Google Shape;370;p16">
            <a:extLst xmlns:a="http://schemas.openxmlformats.org/drawingml/2006/main">
              <a:ext uri="{FF2B5EF4-FFF2-40B4-BE49-F238E27FC236}">
                <a16:creationId xmlns:a16="http://schemas.microsoft.com/office/drawing/2014/main" id="{3DD4DDAE-42AE-4711-8EDD-989839022F88}"/>
              </a:ext>
            </a:extLst>
          </p:cNvPr>
          <p:cNvSpPr>
            <a:spLocks xmlns:a="http://schemas.openxmlformats.org/drawingml/2006/main" noGrp="1"/>
          </p:cNvSpPr>
          <p:nvPr/>
        </p:nvSpPr>
        <p:spPr>
          <a:xfrm xmlns:a="http://schemas.openxmlformats.org/drawingml/2006/main">
            <a:off x="4457700" y="5372100"/>
            <a:ext cx="38290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CCTP V2 USDC: Ethereum–Polygon only.</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Synthetic tests passed; live proof pending.</a:t>
            </a:r>
            <a:endParaRPr/>
          </a:p>
        </p:txBody>
      </p:sp>
      <p:sp>
        <p:nvSpPr>
          <p:cNvPr id="371" name="Google Shape;371;p16">
            <a:extLst xmlns:a="http://schemas.openxmlformats.org/drawingml/2006/main">
              <a:ext uri="{FF2B5EF4-FFF2-40B4-BE49-F238E27FC236}">
                <a16:creationId xmlns:a16="http://schemas.microsoft.com/office/drawing/2014/main" id="{6FEDC2D4-2B85-47D5-B0FD-760E22CCB0E4}"/>
              </a:ext>
            </a:extLst>
          </p:cNvPr>
          <p:cNvSpPr>
            <a:spLocks xmlns:a="http://schemas.openxmlformats.org/drawingml/2006/main" noGrp="1"/>
          </p:cNvSpPr>
          <p:nvPr/>
        </p:nvSpPr>
        <p:spPr>
          <a:xfrm xmlns:a="http://schemas.openxmlformats.org/drawingml/2006/main">
            <a:off x="371475" y="5905500"/>
            <a:ext cx="11420475" cy="333375"/>
          </a:xfrm>
          <a:prstGeom xmlns:a="http://schemas.openxmlformats.org/drawingml/2006/main" prst="rect">
            <a:avLst/>
          </a:prstGeom>
          <a:solidFill xmlns:a="http://schemas.openxmlformats.org/drawingml/2006/main">
            <a:srgbClr val="EDF3F9"/>
          </a:solidFill>
          <a:ln xmlns:a="http://schemas.openxmlformats.org/drawingml/2006/main" w="9525" cmpd="sng">
            <a:solidFill>
              <a:srgbClr val="B8C8DA"/>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2" name="Google Shape;372;p16">
            <a:extLst xmlns:a="http://schemas.openxmlformats.org/drawingml/2006/main">
              <a:ext uri="{FF2B5EF4-FFF2-40B4-BE49-F238E27FC236}">
                <a16:creationId xmlns:a16="http://schemas.microsoft.com/office/drawing/2014/main" id="{E8C92D91-3301-4340-9CC7-45B085EFB002}"/>
              </a:ext>
            </a:extLst>
          </p:cNvPr>
          <p:cNvSpPr>
            <a:spLocks xmlns:a="http://schemas.openxmlformats.org/drawingml/2006/main" noGrp="1"/>
          </p:cNvSpPr>
          <p:nvPr/>
        </p:nvSpPr>
        <p:spPr>
          <a:xfrm xmlns:a="http://schemas.openxmlformats.org/drawingml/2006/main">
            <a:off x="476250" y="5981700"/>
            <a:ext cx="51911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1" i="0" u="none" cap="none">
                <a:solidFill>
                  <a:srgbClr val="1F497D"/>
                </a:solidFill>
                <a:latin typeface="Arial"/>
                <a:ea typeface="Arial"/>
                <a:cs typeface="Arial"/>
              </a:rPr>
              <a:t>PROTOTYPE:  [paste public URL]</a:t>
            </a:r>
            <a:endParaRPr/>
          </a:p>
        </p:txBody>
      </p:sp>
      <p:cxnSp>
        <p:nvCxnSpPr>
          <p:cNvPr id="523" name="Google Shape;373;p16"/>
          <p:cNvCxnSpPr/>
          <p:nvPr/>
        </p:nvCxnSpPr>
        <p:spPr>
          <a:xfrm xmlns:a="http://schemas.openxmlformats.org/drawingml/2006/main">
            <a:off x="2543175" y="6153150"/>
            <a:ext cx="8048625" cy="0"/>
          </a:xfrm>
          <a:prstGeom xmlns:a="http://schemas.openxmlformats.org/drawingml/2006/main" prst="straightConnector1">
            <a:avLst/>
          </a:prstGeom>
          <a:ln xmlns:a="http://schemas.openxmlformats.org/drawingml/2006/main" w="9525" cap="flat">
            <a:solidFill>
              <a:srgbClr val="B8C8DA"/>
            </a:solidFill>
            <a:prstDash val="solid"/>
            <a:round/>
            <a:headEnd type="none" w="sm" len="sm"/>
            <a:tailEnd type="none" w="sm" len="sm"/>
          </a:ln>
        </p:spPr>
      </p:cxnSp>
      <p:sp>
        <p:nvSpPr>
          <p:cNvPr id="375" name="Google Shape;375;p16">
            <a:extLst xmlns:a="http://schemas.openxmlformats.org/drawingml/2006/main">
              <a:ext uri="{FF2B5EF4-FFF2-40B4-BE49-F238E27FC236}">
                <a16:creationId xmlns:a16="http://schemas.microsoft.com/office/drawing/2014/main" id="{19AC3690-5790-465F-B332-42E29C25CD45}"/>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cap="none">
              <a:solidFill>
                <a:srgbClr val="953734"/>
              </a:solidFill>
              <a:latin typeface="Calibri"/>
              <a:ea typeface="Calibri"/>
              <a:cs typeface="Calibri"/>
            </a:endParaRPr>
          </a:p>
        </p:txBody>
      </p:sp>
      <p:sp>
        <p:nvSpPr>
          <p:cNvPr id="376" name="Google Shape;376;p16">
            <a:extLst xmlns:a="http://schemas.openxmlformats.org/drawingml/2006/main">
              <a:ext uri="{FF2B5EF4-FFF2-40B4-BE49-F238E27FC236}">
                <a16:creationId xmlns:a16="http://schemas.microsoft.com/office/drawing/2014/main" id="{B86D7F6D-328B-4829-818B-B95F118F585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TECHNICAL APPROACH</a:t>
            </a:r>
            <a:endParaRPr/>
          </a:p>
        </p:txBody>
      </p:sp>
      <p:sp>
        <p:nvSpPr>
          <p:cNvPr id="377" name="Google Shape;377;p16">
            <a:extLst xmlns:a="http://schemas.openxmlformats.org/drawingml/2006/main">
              <a:ext uri="{FF2B5EF4-FFF2-40B4-BE49-F238E27FC236}">
                <a16:creationId xmlns:a16="http://schemas.microsoft.com/office/drawing/2014/main" id="{EC2612AC-61B7-4ADE-8949-724E468C38AC}"/>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202359C0-8A7A-196E-DD58-8E6569619F09}" type="slidenum">
              <a:rPr b="1">
                <a:solidFill>
                  <a:schemeClr val="lt1"/>
                </a:solidFill>
              </a:rPr>
              <a:t>3</a:t>
            </a:fld>
            <a:endParaRPr b="1">
              <a:solidFill>
                <a:schemeClr val="lt1"/>
              </a:solidFill>
            </a:endParaRPr>
          </a:p>
        </p:txBody>
      </p:sp>
      <p:pic>
        <p:nvPicPr>
          <p:cNvPr id="527" name="Google Shape;380;p16"/>
          <p:cNvPicPr>
            <a:picLocks xmlns:a="http://schemas.openxmlformats.org/drawingml/2006/main" noChangeAspect="1"/>
          </p:cNvPicPr>
          <p:nvPr/>
        </p:nvPicPr>
        <p:blipFill rotWithShape="1">
          <a:blip xmlns:r="http://schemas.openxmlformats.org/officeDocument/2006/relationships" xmlns:a="http://schemas.openxmlformats.org/drawingml/2006/main" r:embed="Re27f84a7b7f44d56">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381" name="Google Shape;381;p16">
            <a:extLst xmlns:a="http://schemas.openxmlformats.org/drawingml/2006/main">
              <a:ext uri="{FF2B5EF4-FFF2-40B4-BE49-F238E27FC236}">
                <a16:creationId xmlns:a16="http://schemas.microsoft.com/office/drawing/2014/main" id="{71809CFF-896A-47AF-9CB1-F8DACE0401B0}"/>
              </a:ext>
            </a:extLst>
          </p:cNvPr>
          <p:cNvSpPr>
            <a:spLocks xmlns:a="http://schemas.openxmlformats.org/drawingml/2006/main" noGrp="1"/>
          </p:cNvSpPr>
          <p:nvPr/>
        </p:nvSpPr>
        <p:spPr>
          <a:xfrm xmlns:a="http://schemas.openxmlformats.org/drawingml/2006/main">
            <a:off x="7549526" y="1766925"/>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INTERFACE &amp; GRAPH</a:t>
            </a:r>
            <a:endParaRPr sz="1086"/>
          </a:p>
        </p:txBody>
      </p:sp>
      <p:cxnSp>
        <p:nvCxnSpPr>
          <p:cNvPr id="529" name="Google Shape;382;p16"/>
          <p:cNvCxnSpPr/>
          <p:nvPr/>
        </p:nvCxnSpPr>
        <p:spPr>
          <a:xfrm xmlns:a="http://schemas.openxmlformats.org/drawingml/2006/main">
            <a:off x="7549526" y="191465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30" name="Google Shape;383;p16"/>
          <p:cNvPicPr>
            <a:picLocks xmlns:a="http://schemas.openxmlformats.org/drawingml/2006/main" noChangeAspect="1"/>
          </p:cNvPicPr>
          <p:nvPr/>
        </p:nvPicPr>
        <p:blipFill rotWithShape="1">
          <a:blip xmlns:r="http://schemas.openxmlformats.org/officeDocument/2006/relationships" xmlns:a="http://schemas.openxmlformats.org/drawingml/2006/main" r:embed="R278512451567488f">
            <a:alphaModFix/>
          </a:blip>
          <a:srcRect xmlns:a="http://schemas.openxmlformats.org/drawingml/2006/main" l="0" t="0" r="0" b="0"/>
          <a:stretch xmlns:a="http://schemas.openxmlformats.org/drawingml/2006/main"/>
        </p:blipFill>
        <p:spPr>
          <a:xfrm xmlns:a="http://schemas.openxmlformats.org/drawingml/2006/main">
            <a:off x="7630777" y="1951586"/>
            <a:ext cx="709098" cy="265912"/>
          </a:xfrm>
          <a:prstGeom xmlns:a="http://schemas.openxmlformats.org/drawingml/2006/main" prst="rect">
            <a:avLst/>
          </a:prstGeom>
          <a:ln xmlns:a="http://schemas.openxmlformats.org/drawingml/2006/main">
            <a:noFill/>
          </a:ln>
        </p:spPr>
      </p:pic>
      <p:sp>
        <p:nvSpPr>
          <p:cNvPr id="384" name="Google Shape;384;p16">
            <a:extLst xmlns:a="http://schemas.openxmlformats.org/drawingml/2006/main">
              <a:ext uri="{FF2B5EF4-FFF2-40B4-BE49-F238E27FC236}">
                <a16:creationId xmlns:a16="http://schemas.microsoft.com/office/drawing/2014/main" id="{F2A5E9F7-B6A7-44A1-8116-7BD044E70947}"/>
              </a:ext>
            </a:extLst>
          </p:cNvPr>
          <p:cNvSpPr>
            <a:spLocks xmlns:a="http://schemas.openxmlformats.org/drawingml/2006/main" noGrp="1"/>
          </p:cNvSpPr>
          <p:nvPr/>
        </p:nvSpPr>
        <p:spPr>
          <a:xfrm xmlns:a="http://schemas.openxmlformats.org/drawingml/2006/main">
            <a:off x="752736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React</a:t>
            </a:r>
            <a:endParaRPr sz="1086"/>
          </a:p>
        </p:txBody>
      </p:sp>
      <p:pic>
        <p:nvPicPr>
          <p:cNvPr id="532" name="Google Shape;385;p16"/>
          <p:cNvPicPr>
            <a:picLocks xmlns:a="http://schemas.openxmlformats.org/drawingml/2006/main" noChangeAspect="1"/>
          </p:cNvPicPr>
          <p:nvPr/>
        </p:nvPicPr>
        <p:blipFill rotWithShape="1">
          <a:blip xmlns:r="http://schemas.openxmlformats.org/officeDocument/2006/relationships" xmlns:a="http://schemas.openxmlformats.org/drawingml/2006/main" r:embed="R9db26443ebdc4e28">
            <a:alphaModFix/>
          </a:blip>
          <a:srcRect xmlns:a="http://schemas.openxmlformats.org/drawingml/2006/main" l="0" t="0" r="0" b="0"/>
          <a:stretch xmlns:a="http://schemas.openxmlformats.org/drawingml/2006/main"/>
        </p:blipFill>
        <p:spPr>
          <a:xfrm xmlns:a="http://schemas.openxmlformats.org/drawingml/2006/main">
            <a:off x="8546699" y="1951586"/>
            <a:ext cx="709098" cy="265912"/>
          </a:xfrm>
          <a:prstGeom xmlns:a="http://schemas.openxmlformats.org/drawingml/2006/main" prst="rect">
            <a:avLst/>
          </a:prstGeom>
          <a:ln xmlns:a="http://schemas.openxmlformats.org/drawingml/2006/main">
            <a:noFill/>
          </a:ln>
        </p:spPr>
      </p:pic>
      <p:sp>
        <p:nvSpPr>
          <p:cNvPr id="386" name="Google Shape;386;p16">
            <a:extLst xmlns:a="http://schemas.openxmlformats.org/drawingml/2006/main">
              <a:ext uri="{FF2B5EF4-FFF2-40B4-BE49-F238E27FC236}">
                <a16:creationId xmlns:a16="http://schemas.microsoft.com/office/drawing/2014/main" id="{EE571B38-E648-4409-B760-6818B04CC7FD}"/>
              </a:ext>
            </a:extLst>
          </p:cNvPr>
          <p:cNvSpPr>
            <a:spLocks xmlns:a="http://schemas.openxmlformats.org/drawingml/2006/main" noGrp="1"/>
          </p:cNvSpPr>
          <p:nvPr/>
        </p:nvSpPr>
        <p:spPr>
          <a:xfrm xmlns:a="http://schemas.openxmlformats.org/drawingml/2006/main">
            <a:off x="8443289"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TypeScript</a:t>
            </a:r>
            <a:endParaRPr sz="1086"/>
          </a:p>
        </p:txBody>
      </p:sp>
      <p:pic>
        <p:nvPicPr>
          <p:cNvPr id="534" name="Google Shape;387;p16"/>
          <p:cNvPicPr>
            <a:picLocks xmlns:a="http://schemas.openxmlformats.org/drawingml/2006/main" noChangeAspect="1"/>
          </p:cNvPicPr>
          <p:nvPr/>
        </p:nvPicPr>
        <p:blipFill rotWithShape="1">
          <a:blip xmlns:r="http://schemas.openxmlformats.org/officeDocument/2006/relationships" xmlns:a="http://schemas.openxmlformats.org/drawingml/2006/main" r:embed="R02f4738cb6b7414f">
            <a:alphaModFix/>
          </a:blip>
          <a:srcRect xmlns:a="http://schemas.openxmlformats.org/drawingml/2006/main" l="0" t="0" r="0" b="0"/>
          <a:stretch xmlns:a="http://schemas.openxmlformats.org/drawingml/2006/main"/>
        </p:blipFill>
        <p:spPr>
          <a:xfrm xmlns:a="http://schemas.openxmlformats.org/drawingml/2006/main">
            <a:off x="9462622" y="1951586"/>
            <a:ext cx="709098" cy="265912"/>
          </a:xfrm>
          <a:prstGeom xmlns:a="http://schemas.openxmlformats.org/drawingml/2006/main" prst="rect">
            <a:avLst/>
          </a:prstGeom>
          <a:ln xmlns:a="http://schemas.openxmlformats.org/drawingml/2006/main">
            <a:noFill/>
          </a:ln>
        </p:spPr>
      </p:pic>
      <p:sp>
        <p:nvSpPr>
          <p:cNvPr id="388" name="Google Shape;388;p16">
            <a:extLst xmlns:a="http://schemas.openxmlformats.org/drawingml/2006/main">
              <a:ext uri="{FF2B5EF4-FFF2-40B4-BE49-F238E27FC236}">
                <a16:creationId xmlns:a16="http://schemas.microsoft.com/office/drawing/2014/main" id="{D8BD1974-35D1-4EE4-BC99-C78995597F77}"/>
              </a:ext>
            </a:extLst>
          </p:cNvPr>
          <p:cNvSpPr>
            <a:spLocks xmlns:a="http://schemas.openxmlformats.org/drawingml/2006/main" noGrp="1"/>
          </p:cNvSpPr>
          <p:nvPr/>
        </p:nvSpPr>
        <p:spPr>
          <a:xfrm xmlns:a="http://schemas.openxmlformats.org/drawingml/2006/main">
            <a:off x="9359211"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Vite</a:t>
            </a:r>
            <a:endParaRPr sz="1086"/>
          </a:p>
        </p:txBody>
      </p:sp>
      <p:pic>
        <p:nvPicPr>
          <p:cNvPr id="536" name="Google Shape;389;p16"/>
          <p:cNvPicPr>
            <a:picLocks xmlns:a="http://schemas.openxmlformats.org/drawingml/2006/main" noChangeAspect="1"/>
          </p:cNvPicPr>
          <p:nvPr/>
        </p:nvPicPr>
        <p:blipFill rotWithShape="1">
          <a:blip xmlns:r="http://schemas.openxmlformats.org/officeDocument/2006/relationships" xmlns:a="http://schemas.openxmlformats.org/drawingml/2006/main" r:embed="R98e094cdbd564f0a">
            <a:alphaModFix/>
          </a:blip>
          <a:srcRect xmlns:a="http://schemas.openxmlformats.org/drawingml/2006/main" l="0" t="0" r="0" b="0"/>
          <a:stretch xmlns:a="http://schemas.openxmlformats.org/drawingml/2006/main"/>
        </p:blipFill>
        <p:spPr>
          <a:xfrm xmlns:a="http://schemas.openxmlformats.org/drawingml/2006/main">
            <a:off x="10378544" y="1951586"/>
            <a:ext cx="709098" cy="265912"/>
          </a:xfrm>
          <a:prstGeom xmlns:a="http://schemas.openxmlformats.org/drawingml/2006/main" prst="rect">
            <a:avLst/>
          </a:prstGeom>
          <a:ln xmlns:a="http://schemas.openxmlformats.org/drawingml/2006/main">
            <a:noFill/>
          </a:ln>
        </p:spPr>
      </p:pic>
      <p:sp>
        <p:nvSpPr>
          <p:cNvPr id="390" name="Google Shape;390;p16">
            <a:extLst xmlns:a="http://schemas.openxmlformats.org/drawingml/2006/main">
              <a:ext uri="{FF2B5EF4-FFF2-40B4-BE49-F238E27FC236}">
                <a16:creationId xmlns:a16="http://schemas.microsoft.com/office/drawing/2014/main" id="{38961266-B953-48CD-B07D-E9EFA2A39CEC}"/>
              </a:ext>
            </a:extLst>
          </p:cNvPr>
          <p:cNvSpPr>
            <a:spLocks xmlns:a="http://schemas.openxmlformats.org/drawingml/2006/main" noGrp="1"/>
          </p:cNvSpPr>
          <p:nvPr/>
        </p:nvSpPr>
        <p:spPr>
          <a:xfrm xmlns:a="http://schemas.openxmlformats.org/drawingml/2006/main">
            <a:off x="10275134"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Cytoscape.js</a:t>
            </a:r>
            <a:endParaRPr sz="1086"/>
          </a:p>
        </p:txBody>
      </p:sp>
      <p:pic>
        <p:nvPicPr>
          <p:cNvPr id="538" name="Google Shape;391;p16"/>
          <p:cNvPicPr>
            <a:picLocks xmlns:a="http://schemas.openxmlformats.org/drawingml/2006/main" noChangeAspect="1"/>
          </p:cNvPicPr>
          <p:nvPr/>
        </p:nvPicPr>
        <p:blipFill rotWithShape="1">
          <a:blip xmlns:r="http://schemas.openxmlformats.org/officeDocument/2006/relationships" xmlns:a="http://schemas.openxmlformats.org/drawingml/2006/main" r:embed="R167290885f7c4a37">
            <a:alphaModFix/>
          </a:blip>
          <a:srcRect xmlns:a="http://schemas.openxmlformats.org/drawingml/2006/main" l="0" t="0" r="0" b="0"/>
          <a:stretch xmlns:a="http://schemas.openxmlformats.org/drawingml/2006/main"/>
        </p:blipFill>
        <p:spPr>
          <a:xfrm xmlns:a="http://schemas.openxmlformats.org/drawingml/2006/main">
            <a:off x="11294467" y="1951586"/>
            <a:ext cx="709098" cy="265912"/>
          </a:xfrm>
          <a:prstGeom xmlns:a="http://schemas.openxmlformats.org/drawingml/2006/main" prst="rect">
            <a:avLst/>
          </a:prstGeom>
          <a:ln xmlns:a="http://schemas.openxmlformats.org/drawingml/2006/main">
            <a:noFill/>
          </a:ln>
        </p:spPr>
      </p:pic>
      <p:sp>
        <p:nvSpPr>
          <p:cNvPr id="392" name="Google Shape;392;p16">
            <a:extLst xmlns:a="http://schemas.openxmlformats.org/drawingml/2006/main">
              <a:ext uri="{FF2B5EF4-FFF2-40B4-BE49-F238E27FC236}">
                <a16:creationId xmlns:a16="http://schemas.microsoft.com/office/drawing/2014/main" id="{6EA5B82A-6ED4-4126-8BB8-FC27698E41D0}"/>
              </a:ext>
            </a:extLst>
          </p:cNvPr>
          <p:cNvSpPr>
            <a:spLocks xmlns:a="http://schemas.openxmlformats.org/drawingml/2006/main" noGrp="1"/>
          </p:cNvSpPr>
          <p:nvPr/>
        </p:nvSpPr>
        <p:spPr>
          <a:xfrm xmlns:a="http://schemas.openxmlformats.org/drawingml/2006/main">
            <a:off x="11191056" y="2247044"/>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Lucide</a:t>
            </a:r>
            <a:endParaRPr sz="1086"/>
          </a:p>
        </p:txBody>
      </p:sp>
      <p:sp>
        <p:nvSpPr>
          <p:cNvPr id="393" name="Google Shape;393;p16">
            <a:extLst xmlns:a="http://schemas.openxmlformats.org/drawingml/2006/main">
              <a:ext uri="{FF2B5EF4-FFF2-40B4-BE49-F238E27FC236}">
                <a16:creationId xmlns:a16="http://schemas.microsoft.com/office/drawing/2014/main" id="{ED654DB0-A242-4CE3-BF5A-AFA6DD3B7817}"/>
              </a:ext>
            </a:extLst>
          </p:cNvPr>
          <p:cNvSpPr>
            <a:spLocks xmlns:a="http://schemas.openxmlformats.org/drawingml/2006/main" noGrp="1"/>
          </p:cNvSpPr>
          <p:nvPr/>
        </p:nvSpPr>
        <p:spPr>
          <a:xfrm xmlns:a="http://schemas.openxmlformats.org/drawingml/2006/main">
            <a:off x="7549526" y="2416932"/>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API &amp; VALIDATION</a:t>
            </a:r>
            <a:endParaRPr sz="1086"/>
          </a:p>
        </p:txBody>
      </p:sp>
      <p:cxnSp>
        <p:nvCxnSpPr>
          <p:cNvPr id="541" name="Google Shape;394;p16"/>
          <p:cNvCxnSpPr/>
          <p:nvPr/>
        </p:nvCxnSpPr>
        <p:spPr>
          <a:xfrm xmlns:a="http://schemas.openxmlformats.org/drawingml/2006/main">
            <a:off x="7549526" y="2564661"/>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42" name="Google Shape;395;p16"/>
          <p:cNvPicPr>
            <a:picLocks xmlns:a="http://schemas.openxmlformats.org/drawingml/2006/main" noChangeAspect="1"/>
          </p:cNvPicPr>
          <p:nvPr/>
        </p:nvPicPr>
        <p:blipFill rotWithShape="1">
          <a:blip xmlns:r="http://schemas.openxmlformats.org/officeDocument/2006/relationships" xmlns:a="http://schemas.openxmlformats.org/drawingml/2006/main" r:embed="Rbc1c3a1d88194baa">
            <a:alphaModFix/>
          </a:blip>
          <a:srcRect xmlns:a="http://schemas.openxmlformats.org/drawingml/2006/main" l="0" t="0" r="0" b="0"/>
          <a:stretch xmlns:a="http://schemas.openxmlformats.org/drawingml/2006/main"/>
        </p:blipFill>
        <p:spPr>
          <a:xfrm xmlns:a="http://schemas.openxmlformats.org/drawingml/2006/main">
            <a:off x="7630777" y="2601593"/>
            <a:ext cx="709098" cy="265912"/>
          </a:xfrm>
          <a:prstGeom xmlns:a="http://schemas.openxmlformats.org/drawingml/2006/main" prst="rect">
            <a:avLst/>
          </a:prstGeom>
          <a:ln xmlns:a="http://schemas.openxmlformats.org/drawingml/2006/main">
            <a:noFill/>
          </a:ln>
        </p:spPr>
      </p:pic>
      <p:sp>
        <p:nvSpPr>
          <p:cNvPr id="396" name="Google Shape;396;p16">
            <a:extLst xmlns:a="http://schemas.openxmlformats.org/drawingml/2006/main">
              <a:ext uri="{FF2B5EF4-FFF2-40B4-BE49-F238E27FC236}">
                <a16:creationId xmlns:a16="http://schemas.microsoft.com/office/drawing/2014/main" id="{7E740F68-F1FB-4ABA-88C1-32FEB1722631}"/>
              </a:ext>
            </a:extLst>
          </p:cNvPr>
          <p:cNvSpPr>
            <a:spLocks xmlns:a="http://schemas.openxmlformats.org/drawingml/2006/main" noGrp="1"/>
          </p:cNvSpPr>
          <p:nvPr/>
        </p:nvSpPr>
        <p:spPr>
          <a:xfrm xmlns:a="http://schemas.openxmlformats.org/drawingml/2006/main">
            <a:off x="752736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Python</a:t>
            </a:r>
            <a:endParaRPr sz="1086"/>
          </a:p>
        </p:txBody>
      </p:sp>
      <p:pic>
        <p:nvPicPr>
          <p:cNvPr id="544" name="Google Shape;397;p16"/>
          <p:cNvPicPr>
            <a:picLocks xmlns:a="http://schemas.openxmlformats.org/drawingml/2006/main" noChangeAspect="1"/>
          </p:cNvPicPr>
          <p:nvPr/>
        </p:nvPicPr>
        <p:blipFill rotWithShape="1">
          <a:blip xmlns:r="http://schemas.openxmlformats.org/officeDocument/2006/relationships" xmlns:a="http://schemas.openxmlformats.org/drawingml/2006/main" r:embed="R5facf3ad88b14102">
            <a:alphaModFix/>
          </a:blip>
          <a:srcRect xmlns:a="http://schemas.openxmlformats.org/drawingml/2006/main" l="0" t="0" r="0" b="0"/>
          <a:stretch xmlns:a="http://schemas.openxmlformats.org/drawingml/2006/main"/>
        </p:blipFill>
        <p:spPr>
          <a:xfrm xmlns:a="http://schemas.openxmlformats.org/drawingml/2006/main">
            <a:off x="8546699" y="2601593"/>
            <a:ext cx="709098" cy="265912"/>
          </a:xfrm>
          <a:prstGeom xmlns:a="http://schemas.openxmlformats.org/drawingml/2006/main" prst="rect">
            <a:avLst/>
          </a:prstGeom>
          <a:ln xmlns:a="http://schemas.openxmlformats.org/drawingml/2006/main">
            <a:noFill/>
          </a:ln>
        </p:spPr>
      </p:pic>
      <p:sp>
        <p:nvSpPr>
          <p:cNvPr id="398" name="Google Shape;398;p16">
            <a:extLst xmlns:a="http://schemas.openxmlformats.org/drawingml/2006/main">
              <a:ext uri="{FF2B5EF4-FFF2-40B4-BE49-F238E27FC236}">
                <a16:creationId xmlns:a16="http://schemas.microsoft.com/office/drawing/2014/main" id="{060DB438-1628-40A2-AA3E-05AD0C5391CC}"/>
              </a:ext>
            </a:extLst>
          </p:cNvPr>
          <p:cNvSpPr>
            <a:spLocks xmlns:a="http://schemas.openxmlformats.org/drawingml/2006/main" noGrp="1"/>
          </p:cNvSpPr>
          <p:nvPr/>
        </p:nvSpPr>
        <p:spPr>
          <a:xfrm xmlns:a="http://schemas.openxmlformats.org/drawingml/2006/main">
            <a:off x="8443289"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FastAPI</a:t>
            </a:r>
            <a:endParaRPr sz="1086"/>
          </a:p>
        </p:txBody>
      </p:sp>
      <p:pic>
        <p:nvPicPr>
          <p:cNvPr id="546" name="Google Shape;399;p16"/>
          <p:cNvPicPr>
            <a:picLocks xmlns:a="http://schemas.openxmlformats.org/drawingml/2006/main" noChangeAspect="1"/>
          </p:cNvPicPr>
          <p:nvPr/>
        </p:nvPicPr>
        <p:blipFill rotWithShape="1">
          <a:blip xmlns:r="http://schemas.openxmlformats.org/officeDocument/2006/relationships" xmlns:a="http://schemas.openxmlformats.org/drawingml/2006/main" r:embed="R17257dc09f9943c1">
            <a:alphaModFix/>
          </a:blip>
          <a:srcRect xmlns:a="http://schemas.openxmlformats.org/drawingml/2006/main" l="0" t="0" r="0" b="0"/>
          <a:stretch xmlns:a="http://schemas.openxmlformats.org/drawingml/2006/main"/>
        </p:blipFill>
        <p:spPr>
          <a:xfrm xmlns:a="http://schemas.openxmlformats.org/drawingml/2006/main">
            <a:off x="9462622" y="2601593"/>
            <a:ext cx="709098" cy="265912"/>
          </a:xfrm>
          <a:prstGeom xmlns:a="http://schemas.openxmlformats.org/drawingml/2006/main" prst="rect">
            <a:avLst/>
          </a:prstGeom>
          <a:ln xmlns:a="http://schemas.openxmlformats.org/drawingml/2006/main">
            <a:noFill/>
          </a:ln>
        </p:spPr>
      </p:pic>
      <p:sp>
        <p:nvSpPr>
          <p:cNvPr id="400" name="Google Shape;400;p16">
            <a:extLst xmlns:a="http://schemas.openxmlformats.org/drawingml/2006/main">
              <a:ext uri="{FF2B5EF4-FFF2-40B4-BE49-F238E27FC236}">
                <a16:creationId xmlns:a16="http://schemas.microsoft.com/office/drawing/2014/main" id="{A74954D6-C096-468B-88B3-79B338312841}"/>
              </a:ext>
            </a:extLst>
          </p:cNvPr>
          <p:cNvSpPr>
            <a:spLocks xmlns:a="http://schemas.openxmlformats.org/drawingml/2006/main" noGrp="1"/>
          </p:cNvSpPr>
          <p:nvPr/>
        </p:nvSpPr>
        <p:spPr>
          <a:xfrm xmlns:a="http://schemas.openxmlformats.org/drawingml/2006/main">
            <a:off x="9359211"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Uvicorn</a:t>
            </a:r>
            <a:endParaRPr sz="1086"/>
          </a:p>
        </p:txBody>
      </p:sp>
      <p:pic>
        <p:nvPicPr>
          <p:cNvPr id="548" name="Google Shape;401;p16"/>
          <p:cNvPicPr>
            <a:picLocks xmlns:a="http://schemas.openxmlformats.org/drawingml/2006/main" noChangeAspect="1"/>
          </p:cNvPicPr>
          <p:nvPr/>
        </p:nvPicPr>
        <p:blipFill rotWithShape="1">
          <a:blip xmlns:r="http://schemas.openxmlformats.org/officeDocument/2006/relationships" xmlns:a="http://schemas.openxmlformats.org/drawingml/2006/main" r:embed="R4981ea0da4954680">
            <a:alphaModFix/>
          </a:blip>
          <a:srcRect xmlns:a="http://schemas.openxmlformats.org/drawingml/2006/main" l="0" t="0" r="0" b="0"/>
          <a:stretch xmlns:a="http://schemas.openxmlformats.org/drawingml/2006/main"/>
        </p:blipFill>
        <p:spPr>
          <a:xfrm xmlns:a="http://schemas.openxmlformats.org/drawingml/2006/main">
            <a:off x="10378544" y="2601593"/>
            <a:ext cx="709098" cy="265912"/>
          </a:xfrm>
          <a:prstGeom xmlns:a="http://schemas.openxmlformats.org/drawingml/2006/main" prst="rect">
            <a:avLst/>
          </a:prstGeom>
          <a:ln xmlns:a="http://schemas.openxmlformats.org/drawingml/2006/main">
            <a:noFill/>
          </a:ln>
        </p:spPr>
      </p:pic>
      <p:sp>
        <p:nvSpPr>
          <p:cNvPr id="402" name="Google Shape;402;p16">
            <a:extLst xmlns:a="http://schemas.openxmlformats.org/drawingml/2006/main">
              <a:ext uri="{FF2B5EF4-FFF2-40B4-BE49-F238E27FC236}">
                <a16:creationId xmlns:a16="http://schemas.microsoft.com/office/drawing/2014/main" id="{609B02EA-B454-40B8-9263-D025A5790BD0}"/>
              </a:ext>
            </a:extLst>
          </p:cNvPr>
          <p:cNvSpPr>
            <a:spLocks xmlns:a="http://schemas.openxmlformats.org/drawingml/2006/main" noGrp="1"/>
          </p:cNvSpPr>
          <p:nvPr/>
        </p:nvSpPr>
        <p:spPr>
          <a:xfrm xmlns:a="http://schemas.openxmlformats.org/drawingml/2006/main">
            <a:off x="10275134"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Pydantic</a:t>
            </a:r>
            <a:endParaRPr sz="1086"/>
          </a:p>
        </p:txBody>
      </p:sp>
      <p:pic>
        <p:nvPicPr>
          <p:cNvPr id="550" name="Google Shape;403;p16"/>
          <p:cNvPicPr>
            <a:picLocks xmlns:a="http://schemas.openxmlformats.org/drawingml/2006/main" noChangeAspect="1"/>
          </p:cNvPicPr>
          <p:nvPr/>
        </p:nvPicPr>
        <p:blipFill rotWithShape="1">
          <a:blip xmlns:r="http://schemas.openxmlformats.org/officeDocument/2006/relationships" xmlns:a="http://schemas.openxmlformats.org/drawingml/2006/main" r:embed="Rd2f09f6a4c3d459c">
            <a:alphaModFix/>
          </a:blip>
          <a:srcRect xmlns:a="http://schemas.openxmlformats.org/drawingml/2006/main" l="0" t="0" r="0" b="0"/>
          <a:stretch xmlns:a="http://schemas.openxmlformats.org/drawingml/2006/main"/>
        </p:blipFill>
        <p:spPr>
          <a:xfrm xmlns:a="http://schemas.openxmlformats.org/drawingml/2006/main">
            <a:off x="11294467" y="2601593"/>
            <a:ext cx="709098" cy="265912"/>
          </a:xfrm>
          <a:prstGeom xmlns:a="http://schemas.openxmlformats.org/drawingml/2006/main" prst="rect">
            <a:avLst/>
          </a:prstGeom>
          <a:ln xmlns:a="http://schemas.openxmlformats.org/drawingml/2006/main">
            <a:noFill/>
          </a:ln>
        </p:spPr>
      </p:pic>
      <p:sp>
        <p:nvSpPr>
          <p:cNvPr id="404" name="Google Shape;404;p16">
            <a:extLst xmlns:a="http://schemas.openxmlformats.org/drawingml/2006/main">
              <a:ext uri="{FF2B5EF4-FFF2-40B4-BE49-F238E27FC236}">
                <a16:creationId xmlns:a16="http://schemas.microsoft.com/office/drawing/2014/main" id="{B6CBB310-47A5-406B-990C-1E9D571D3FD1}"/>
              </a:ext>
            </a:extLst>
          </p:cNvPr>
          <p:cNvSpPr>
            <a:spLocks xmlns:a="http://schemas.openxmlformats.org/drawingml/2006/main" noGrp="1"/>
          </p:cNvSpPr>
          <p:nvPr/>
        </p:nvSpPr>
        <p:spPr>
          <a:xfrm xmlns:a="http://schemas.openxmlformats.org/drawingml/2006/main">
            <a:off x="11191056" y="2897051"/>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HTTPX</a:t>
            </a:r>
            <a:endParaRPr sz="1086"/>
          </a:p>
        </p:txBody>
      </p:sp>
      <p:sp>
        <p:nvSpPr>
          <p:cNvPr id="405" name="Google Shape;405;p16">
            <a:extLst xmlns:a="http://schemas.openxmlformats.org/drawingml/2006/main">
              <a:ext uri="{FF2B5EF4-FFF2-40B4-BE49-F238E27FC236}">
                <a16:creationId xmlns:a16="http://schemas.microsoft.com/office/drawing/2014/main" id="{D5EE2DD3-BF91-40C8-8BED-ED743F6B1B1A}"/>
              </a:ext>
            </a:extLst>
          </p:cNvPr>
          <p:cNvSpPr>
            <a:spLocks xmlns:a="http://schemas.openxmlformats.org/drawingml/2006/main" noGrp="1"/>
          </p:cNvSpPr>
          <p:nvPr/>
        </p:nvSpPr>
        <p:spPr>
          <a:xfrm xmlns:a="http://schemas.openxmlformats.org/drawingml/2006/main">
            <a:off x="7549526" y="3066939"/>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STORAGE &amp; EVIDENCE</a:t>
            </a:r>
            <a:endParaRPr sz="1086"/>
          </a:p>
        </p:txBody>
      </p:sp>
      <p:cxnSp>
        <p:nvCxnSpPr>
          <p:cNvPr id="553" name="Google Shape;406;p16"/>
          <p:cNvCxnSpPr/>
          <p:nvPr/>
        </p:nvCxnSpPr>
        <p:spPr>
          <a:xfrm xmlns:a="http://schemas.openxmlformats.org/drawingml/2006/main">
            <a:off x="7549526" y="3214668"/>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54" name="Google Shape;407;p16"/>
          <p:cNvPicPr>
            <a:picLocks xmlns:a="http://schemas.openxmlformats.org/drawingml/2006/main" noChangeAspect="1"/>
          </p:cNvPicPr>
          <p:nvPr/>
        </p:nvPicPr>
        <p:blipFill rotWithShape="1">
          <a:blip xmlns:r="http://schemas.openxmlformats.org/officeDocument/2006/relationships" xmlns:a="http://schemas.openxmlformats.org/drawingml/2006/main" r:embed="R17b08f95bdaf4403">
            <a:alphaModFix/>
          </a:blip>
          <a:srcRect xmlns:a="http://schemas.openxmlformats.org/drawingml/2006/main" l="0" t="0" r="0" b="0"/>
          <a:stretch xmlns:a="http://schemas.openxmlformats.org/drawingml/2006/main"/>
        </p:blipFill>
        <p:spPr>
          <a:xfrm xmlns:a="http://schemas.openxmlformats.org/drawingml/2006/main">
            <a:off x="7630777" y="3251600"/>
            <a:ext cx="709098" cy="265912"/>
          </a:xfrm>
          <a:prstGeom xmlns:a="http://schemas.openxmlformats.org/drawingml/2006/main" prst="rect">
            <a:avLst/>
          </a:prstGeom>
          <a:ln xmlns:a="http://schemas.openxmlformats.org/drawingml/2006/main">
            <a:noFill/>
          </a:ln>
        </p:spPr>
      </p:pic>
      <p:sp>
        <p:nvSpPr>
          <p:cNvPr id="408" name="Google Shape;408;p16">
            <a:extLst xmlns:a="http://schemas.openxmlformats.org/drawingml/2006/main">
              <a:ext uri="{FF2B5EF4-FFF2-40B4-BE49-F238E27FC236}">
                <a16:creationId xmlns:a16="http://schemas.microsoft.com/office/drawing/2014/main" id="{48F0D163-ABCE-4784-87A4-35239490E855}"/>
              </a:ext>
            </a:extLst>
          </p:cNvPr>
          <p:cNvSpPr>
            <a:spLocks xmlns:a="http://schemas.openxmlformats.org/drawingml/2006/main" noGrp="1"/>
          </p:cNvSpPr>
          <p:nvPr/>
        </p:nvSpPr>
        <p:spPr>
          <a:xfrm xmlns:a="http://schemas.openxmlformats.org/drawingml/2006/main">
            <a:off x="752736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SQLite WAL</a:t>
            </a:r>
            <a:endParaRPr sz="1086"/>
          </a:p>
        </p:txBody>
      </p:sp>
      <p:pic>
        <p:nvPicPr>
          <p:cNvPr id="556" name="Google Shape;409;p16"/>
          <p:cNvPicPr>
            <a:picLocks xmlns:a="http://schemas.openxmlformats.org/drawingml/2006/main" noChangeAspect="1"/>
          </p:cNvPicPr>
          <p:nvPr/>
        </p:nvPicPr>
        <p:blipFill rotWithShape="1">
          <a:blip xmlns:r="http://schemas.openxmlformats.org/officeDocument/2006/relationships" xmlns:a="http://schemas.openxmlformats.org/drawingml/2006/main" r:embed="Ra848e64e0d0e4dea">
            <a:alphaModFix/>
          </a:blip>
          <a:srcRect xmlns:a="http://schemas.openxmlformats.org/drawingml/2006/main" l="0" t="0" r="0" b="0"/>
          <a:stretch xmlns:a="http://schemas.openxmlformats.org/drawingml/2006/main"/>
        </p:blipFill>
        <p:spPr>
          <a:xfrm xmlns:a="http://schemas.openxmlformats.org/drawingml/2006/main">
            <a:off x="8546699" y="3251600"/>
            <a:ext cx="709098" cy="265912"/>
          </a:xfrm>
          <a:prstGeom xmlns:a="http://schemas.openxmlformats.org/drawingml/2006/main" prst="rect">
            <a:avLst/>
          </a:prstGeom>
          <a:ln xmlns:a="http://schemas.openxmlformats.org/drawingml/2006/main">
            <a:noFill/>
          </a:ln>
        </p:spPr>
      </p:pic>
      <p:sp>
        <p:nvSpPr>
          <p:cNvPr id="410" name="Google Shape;410;p16">
            <a:extLst xmlns:a="http://schemas.openxmlformats.org/drawingml/2006/main">
              <a:ext uri="{FF2B5EF4-FFF2-40B4-BE49-F238E27FC236}">
                <a16:creationId xmlns:a16="http://schemas.microsoft.com/office/drawing/2014/main" id="{60EC7F77-CCF5-4C2F-8762-01AE73AB7E15}"/>
              </a:ext>
            </a:extLst>
          </p:cNvPr>
          <p:cNvSpPr>
            <a:spLocks xmlns:a="http://schemas.openxmlformats.org/drawingml/2006/main" noGrp="1"/>
          </p:cNvSpPr>
          <p:nvPr/>
        </p:nvSpPr>
        <p:spPr>
          <a:xfrm xmlns:a="http://schemas.openxmlformats.org/drawingml/2006/main">
            <a:off x="8443289"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SQLAlchemy</a:t>
            </a:r>
            <a:endParaRPr sz="1086"/>
          </a:p>
        </p:txBody>
      </p:sp>
      <p:pic>
        <p:nvPicPr>
          <p:cNvPr id="558" name="Google Shape;411;p16"/>
          <p:cNvPicPr>
            <a:picLocks xmlns:a="http://schemas.openxmlformats.org/drawingml/2006/main" noChangeAspect="1"/>
          </p:cNvPicPr>
          <p:nvPr/>
        </p:nvPicPr>
        <p:blipFill rotWithShape="1">
          <a:blip xmlns:r="http://schemas.openxmlformats.org/officeDocument/2006/relationships" xmlns:a="http://schemas.openxmlformats.org/drawingml/2006/main" r:embed="R47c98105192f4686">
            <a:alphaModFix/>
          </a:blip>
          <a:srcRect xmlns:a="http://schemas.openxmlformats.org/drawingml/2006/main" l="0" t="0" r="0" b="0"/>
          <a:stretch xmlns:a="http://schemas.openxmlformats.org/drawingml/2006/main"/>
        </p:blipFill>
        <p:spPr>
          <a:xfrm xmlns:a="http://schemas.openxmlformats.org/drawingml/2006/main">
            <a:off x="9462622" y="3251600"/>
            <a:ext cx="709098" cy="265912"/>
          </a:xfrm>
          <a:prstGeom xmlns:a="http://schemas.openxmlformats.org/drawingml/2006/main" prst="rect">
            <a:avLst/>
          </a:prstGeom>
          <a:ln xmlns:a="http://schemas.openxmlformats.org/drawingml/2006/main">
            <a:noFill/>
          </a:ln>
        </p:spPr>
      </p:pic>
      <p:sp>
        <p:nvSpPr>
          <p:cNvPr id="412" name="Google Shape;412;p16">
            <a:extLst xmlns:a="http://schemas.openxmlformats.org/drawingml/2006/main">
              <a:ext uri="{FF2B5EF4-FFF2-40B4-BE49-F238E27FC236}">
                <a16:creationId xmlns:a16="http://schemas.microsoft.com/office/drawing/2014/main" id="{F765CEB0-4200-40C0-BBFF-95800BE42EE3}"/>
              </a:ext>
            </a:extLst>
          </p:cNvPr>
          <p:cNvSpPr>
            <a:spLocks xmlns:a="http://schemas.openxmlformats.org/drawingml/2006/main" noGrp="1"/>
          </p:cNvSpPr>
          <p:nvPr/>
        </p:nvSpPr>
        <p:spPr>
          <a:xfrm xmlns:a="http://schemas.openxmlformats.org/drawingml/2006/main">
            <a:off x="9359211"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ReportLab</a:t>
            </a:r>
            <a:endParaRPr sz="1086"/>
          </a:p>
        </p:txBody>
      </p:sp>
      <p:pic>
        <p:nvPicPr>
          <p:cNvPr id="560" name="Google Shape;413;p16"/>
          <p:cNvPicPr>
            <a:picLocks xmlns:a="http://schemas.openxmlformats.org/drawingml/2006/main" noChangeAspect="1"/>
          </p:cNvPicPr>
          <p:nvPr/>
        </p:nvPicPr>
        <p:blipFill rotWithShape="1">
          <a:blip xmlns:r="http://schemas.openxmlformats.org/officeDocument/2006/relationships" xmlns:a="http://schemas.openxmlformats.org/drawingml/2006/main" r:embed="R55220e5be4644e1b">
            <a:alphaModFix/>
          </a:blip>
          <a:srcRect xmlns:a="http://schemas.openxmlformats.org/drawingml/2006/main" l="0" t="0" r="0" b="0"/>
          <a:stretch xmlns:a="http://schemas.openxmlformats.org/drawingml/2006/main"/>
        </p:blipFill>
        <p:spPr>
          <a:xfrm xmlns:a="http://schemas.openxmlformats.org/drawingml/2006/main">
            <a:off x="10570593" y="3273759"/>
            <a:ext cx="236366" cy="236366"/>
          </a:xfrm>
          <a:prstGeom xmlns:a="http://schemas.openxmlformats.org/drawingml/2006/main" prst="rect">
            <a:avLst/>
          </a:prstGeom>
          <a:ln xmlns:a="http://schemas.openxmlformats.org/drawingml/2006/main">
            <a:noFill/>
          </a:ln>
        </p:spPr>
      </p:pic>
      <p:sp>
        <p:nvSpPr>
          <p:cNvPr id="414" name="Google Shape;414;p16">
            <a:extLst xmlns:a="http://schemas.openxmlformats.org/drawingml/2006/main">
              <a:ext uri="{FF2B5EF4-FFF2-40B4-BE49-F238E27FC236}">
                <a16:creationId xmlns:a16="http://schemas.microsoft.com/office/drawing/2014/main" id="{233676BC-F69B-49FF-A2C7-F2B5BD37006A}"/>
              </a:ext>
            </a:extLst>
          </p:cNvPr>
          <p:cNvSpPr>
            <a:spLocks xmlns:a="http://schemas.openxmlformats.org/drawingml/2006/main" noGrp="1"/>
          </p:cNvSpPr>
          <p:nvPr/>
        </p:nvSpPr>
        <p:spPr>
          <a:xfrm xmlns:a="http://schemas.openxmlformats.org/drawingml/2006/main">
            <a:off x="10275134"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cryptography</a:t>
            </a:r>
            <a:endParaRPr sz="1086"/>
          </a:p>
        </p:txBody>
      </p:sp>
      <p:pic>
        <p:nvPicPr>
          <p:cNvPr id="562" name="Google Shape;415;p16"/>
          <p:cNvPicPr>
            <a:picLocks xmlns:a="http://schemas.openxmlformats.org/drawingml/2006/main" noChangeAspect="1"/>
          </p:cNvPicPr>
          <p:nvPr/>
        </p:nvPicPr>
        <p:blipFill rotWithShape="1">
          <a:blip xmlns:r="http://schemas.openxmlformats.org/officeDocument/2006/relationships" xmlns:a="http://schemas.openxmlformats.org/drawingml/2006/main" r:embed="R1ed17a6632fd4491">
            <a:alphaModFix/>
          </a:blip>
          <a:srcRect xmlns:a="http://schemas.openxmlformats.org/drawingml/2006/main" l="0" t="0" r="0" b="0"/>
          <a:stretch xmlns:a="http://schemas.openxmlformats.org/drawingml/2006/main"/>
        </p:blipFill>
        <p:spPr>
          <a:xfrm xmlns:a="http://schemas.openxmlformats.org/drawingml/2006/main">
            <a:off x="11294467" y="3251600"/>
            <a:ext cx="709098" cy="265912"/>
          </a:xfrm>
          <a:prstGeom xmlns:a="http://schemas.openxmlformats.org/drawingml/2006/main" prst="rect">
            <a:avLst/>
          </a:prstGeom>
          <a:ln xmlns:a="http://schemas.openxmlformats.org/drawingml/2006/main">
            <a:noFill/>
          </a:ln>
        </p:spPr>
      </p:pic>
      <p:sp>
        <p:nvSpPr>
          <p:cNvPr id="416" name="Google Shape;416;p16">
            <a:extLst xmlns:a="http://schemas.openxmlformats.org/drawingml/2006/main">
              <a:ext uri="{FF2B5EF4-FFF2-40B4-BE49-F238E27FC236}">
                <a16:creationId xmlns:a16="http://schemas.microsoft.com/office/drawing/2014/main" id="{0BD556B0-24C2-4C6B-918B-E41DD8616D2C}"/>
              </a:ext>
            </a:extLst>
          </p:cNvPr>
          <p:cNvSpPr>
            <a:spLocks xmlns:a="http://schemas.openxmlformats.org/drawingml/2006/main" noGrp="1"/>
          </p:cNvSpPr>
          <p:nvPr/>
        </p:nvSpPr>
        <p:spPr>
          <a:xfrm xmlns:a="http://schemas.openxmlformats.org/drawingml/2006/main">
            <a:off x="11191056" y="3547058"/>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Ethereum tools</a:t>
            </a:r>
            <a:endParaRPr sz="1086"/>
          </a:p>
        </p:txBody>
      </p:sp>
      <p:sp>
        <p:nvSpPr>
          <p:cNvPr id="417" name="Google Shape;417;p16">
            <a:extLst xmlns:a="http://schemas.openxmlformats.org/drawingml/2006/main">
              <a:ext uri="{FF2B5EF4-FFF2-40B4-BE49-F238E27FC236}">
                <a16:creationId xmlns:a16="http://schemas.microsoft.com/office/drawing/2014/main" id="{09046AB0-CF0C-4366-8F9C-FE22D67CB420}"/>
              </a:ext>
            </a:extLst>
          </p:cNvPr>
          <p:cNvSpPr>
            <a:spLocks xmlns:a="http://schemas.openxmlformats.org/drawingml/2006/main" noGrp="1"/>
          </p:cNvSpPr>
          <p:nvPr/>
        </p:nvSpPr>
        <p:spPr>
          <a:xfrm xmlns:a="http://schemas.openxmlformats.org/drawingml/2006/main">
            <a:off x="7549526" y="3716946"/>
            <a:ext cx="44688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TESTING &amp; BUILD</a:t>
            </a:r>
            <a:endParaRPr sz="1086"/>
          </a:p>
        </p:txBody>
      </p:sp>
      <p:cxnSp>
        <p:nvCxnSpPr>
          <p:cNvPr id="565" name="Google Shape;418;p16"/>
          <p:cNvCxnSpPr/>
          <p:nvPr/>
        </p:nvCxnSpPr>
        <p:spPr>
          <a:xfrm xmlns:a="http://schemas.openxmlformats.org/drawingml/2006/main">
            <a:off x="7549526" y="3864675"/>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66" name="Google Shape;419;p16"/>
          <p:cNvPicPr>
            <a:picLocks xmlns:a="http://schemas.openxmlformats.org/drawingml/2006/main" noChangeAspect="1"/>
          </p:cNvPicPr>
          <p:nvPr/>
        </p:nvPicPr>
        <p:blipFill rotWithShape="1">
          <a:blip xmlns:r="http://schemas.openxmlformats.org/officeDocument/2006/relationships" xmlns:a="http://schemas.openxmlformats.org/drawingml/2006/main" r:embed="R05deb14529ea4389">
            <a:alphaModFix/>
          </a:blip>
          <a:srcRect xmlns:a="http://schemas.openxmlformats.org/drawingml/2006/main" l="0" t="0" r="0" b="0"/>
          <a:stretch xmlns:a="http://schemas.openxmlformats.org/drawingml/2006/main"/>
        </p:blipFill>
        <p:spPr>
          <a:xfrm xmlns:a="http://schemas.openxmlformats.org/drawingml/2006/main">
            <a:off x="7630777" y="3901607"/>
            <a:ext cx="709098" cy="265912"/>
          </a:xfrm>
          <a:prstGeom xmlns:a="http://schemas.openxmlformats.org/drawingml/2006/main" prst="rect">
            <a:avLst/>
          </a:prstGeom>
          <a:ln xmlns:a="http://schemas.openxmlformats.org/drawingml/2006/main">
            <a:noFill/>
          </a:ln>
        </p:spPr>
      </p:pic>
      <p:sp>
        <p:nvSpPr>
          <p:cNvPr id="420" name="Google Shape;420;p16">
            <a:extLst xmlns:a="http://schemas.openxmlformats.org/drawingml/2006/main">
              <a:ext uri="{FF2B5EF4-FFF2-40B4-BE49-F238E27FC236}">
                <a16:creationId xmlns:a16="http://schemas.microsoft.com/office/drawing/2014/main" id="{871218C0-1B21-4C4C-8EA9-3FE76489E821}"/>
              </a:ext>
            </a:extLst>
          </p:cNvPr>
          <p:cNvSpPr>
            <a:spLocks xmlns:a="http://schemas.openxmlformats.org/drawingml/2006/main" noGrp="1"/>
          </p:cNvSpPr>
          <p:nvPr/>
        </p:nvSpPr>
        <p:spPr>
          <a:xfrm xmlns:a="http://schemas.openxmlformats.org/drawingml/2006/main">
            <a:off x="752736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pytest</a:t>
            </a:r>
            <a:endParaRPr sz="1086"/>
          </a:p>
        </p:txBody>
      </p:sp>
      <p:pic>
        <p:nvPicPr>
          <p:cNvPr id="568" name="Google Shape;421;p16"/>
          <p:cNvPicPr>
            <a:picLocks xmlns:a="http://schemas.openxmlformats.org/drawingml/2006/main" noChangeAspect="1"/>
          </p:cNvPicPr>
          <p:nvPr/>
        </p:nvPicPr>
        <p:blipFill rotWithShape="1">
          <a:blip xmlns:r="http://schemas.openxmlformats.org/officeDocument/2006/relationships" xmlns:a="http://schemas.openxmlformats.org/drawingml/2006/main" r:embed="R15d78533f6584876">
            <a:alphaModFix/>
          </a:blip>
          <a:srcRect xmlns:a="http://schemas.openxmlformats.org/drawingml/2006/main" l="0" t="0" r="0" b="0"/>
          <a:stretch xmlns:a="http://schemas.openxmlformats.org/drawingml/2006/main"/>
        </p:blipFill>
        <p:spPr>
          <a:xfrm xmlns:a="http://schemas.openxmlformats.org/drawingml/2006/main">
            <a:off x="8546699" y="3901607"/>
            <a:ext cx="709098" cy="265912"/>
          </a:xfrm>
          <a:prstGeom xmlns:a="http://schemas.openxmlformats.org/drawingml/2006/main" prst="rect">
            <a:avLst/>
          </a:prstGeom>
          <a:ln xmlns:a="http://schemas.openxmlformats.org/drawingml/2006/main">
            <a:noFill/>
          </a:ln>
        </p:spPr>
      </p:pic>
      <p:sp>
        <p:nvSpPr>
          <p:cNvPr id="422" name="Google Shape;422;p16">
            <a:extLst xmlns:a="http://schemas.openxmlformats.org/drawingml/2006/main">
              <a:ext uri="{FF2B5EF4-FFF2-40B4-BE49-F238E27FC236}">
                <a16:creationId xmlns:a16="http://schemas.microsoft.com/office/drawing/2014/main" id="{BB72B59A-57F1-4693-8DC3-6177EC21CB0F}"/>
              </a:ext>
            </a:extLst>
          </p:cNvPr>
          <p:cNvSpPr>
            <a:spLocks xmlns:a="http://schemas.openxmlformats.org/drawingml/2006/main" noGrp="1"/>
          </p:cNvSpPr>
          <p:nvPr/>
        </p:nvSpPr>
        <p:spPr>
          <a:xfrm xmlns:a="http://schemas.openxmlformats.org/drawingml/2006/main">
            <a:off x="8443289"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Playwright</a:t>
            </a:r>
            <a:endParaRPr sz="1086"/>
          </a:p>
        </p:txBody>
      </p:sp>
      <p:pic>
        <p:nvPicPr>
          <p:cNvPr id="570" name="Google Shape;423;p16"/>
          <p:cNvPicPr>
            <a:picLocks xmlns:a="http://schemas.openxmlformats.org/drawingml/2006/main" noChangeAspect="1"/>
          </p:cNvPicPr>
          <p:nvPr/>
        </p:nvPicPr>
        <p:blipFill rotWithShape="1">
          <a:blip xmlns:r="http://schemas.openxmlformats.org/officeDocument/2006/relationships" xmlns:a="http://schemas.openxmlformats.org/drawingml/2006/main" r:embed="R15687a66fcc042d3">
            <a:alphaModFix/>
          </a:blip>
          <a:srcRect xmlns:a="http://schemas.openxmlformats.org/drawingml/2006/main" l="0" t="0" r="0" b="0"/>
          <a:stretch xmlns:a="http://schemas.openxmlformats.org/drawingml/2006/main"/>
        </p:blipFill>
        <p:spPr>
          <a:xfrm xmlns:a="http://schemas.openxmlformats.org/drawingml/2006/main">
            <a:off x="9462622" y="3901607"/>
            <a:ext cx="709098" cy="265912"/>
          </a:xfrm>
          <a:prstGeom xmlns:a="http://schemas.openxmlformats.org/drawingml/2006/main" prst="rect">
            <a:avLst/>
          </a:prstGeom>
          <a:ln xmlns:a="http://schemas.openxmlformats.org/drawingml/2006/main">
            <a:noFill/>
          </a:ln>
        </p:spPr>
      </p:pic>
      <p:sp>
        <p:nvSpPr>
          <p:cNvPr id="424" name="Google Shape;424;p16">
            <a:extLst xmlns:a="http://schemas.openxmlformats.org/drawingml/2006/main">
              <a:ext uri="{FF2B5EF4-FFF2-40B4-BE49-F238E27FC236}">
                <a16:creationId xmlns:a16="http://schemas.microsoft.com/office/drawing/2014/main" id="{A2CAA5A4-D21A-47E2-BAA2-1FC027F22D39}"/>
              </a:ext>
            </a:extLst>
          </p:cNvPr>
          <p:cNvSpPr>
            <a:spLocks xmlns:a="http://schemas.openxmlformats.org/drawingml/2006/main" noGrp="1"/>
          </p:cNvSpPr>
          <p:nvPr/>
        </p:nvSpPr>
        <p:spPr>
          <a:xfrm xmlns:a="http://schemas.openxmlformats.org/drawingml/2006/main">
            <a:off x="9359211"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Ruff</a:t>
            </a:r>
            <a:endParaRPr sz="1086"/>
          </a:p>
        </p:txBody>
      </p:sp>
      <p:pic>
        <p:nvPicPr>
          <p:cNvPr id="572" name="Google Shape;425;p16"/>
          <p:cNvPicPr>
            <a:picLocks xmlns:a="http://schemas.openxmlformats.org/drawingml/2006/main" noChangeAspect="1"/>
          </p:cNvPicPr>
          <p:nvPr/>
        </p:nvPicPr>
        <p:blipFill rotWithShape="1">
          <a:blip xmlns:r="http://schemas.openxmlformats.org/officeDocument/2006/relationships" xmlns:a="http://schemas.openxmlformats.org/drawingml/2006/main" r:embed="Rd83977eec7e54449">
            <a:alphaModFix/>
          </a:blip>
          <a:srcRect xmlns:a="http://schemas.openxmlformats.org/drawingml/2006/main" l="0" t="0" r="0" b="0"/>
          <a:stretch xmlns:a="http://schemas.openxmlformats.org/drawingml/2006/main"/>
        </p:blipFill>
        <p:spPr>
          <a:xfrm xmlns:a="http://schemas.openxmlformats.org/drawingml/2006/main">
            <a:off x="10378544" y="3901607"/>
            <a:ext cx="709098" cy="265912"/>
          </a:xfrm>
          <a:prstGeom xmlns:a="http://schemas.openxmlformats.org/drawingml/2006/main" prst="rect">
            <a:avLst/>
          </a:prstGeom>
          <a:ln xmlns:a="http://schemas.openxmlformats.org/drawingml/2006/main">
            <a:noFill/>
          </a:ln>
        </p:spPr>
      </p:pic>
      <p:sp>
        <p:nvSpPr>
          <p:cNvPr id="426" name="Google Shape;426;p16">
            <a:extLst xmlns:a="http://schemas.openxmlformats.org/drawingml/2006/main">
              <a:ext uri="{FF2B5EF4-FFF2-40B4-BE49-F238E27FC236}">
                <a16:creationId xmlns:a16="http://schemas.microsoft.com/office/drawing/2014/main" id="{1B41F75C-ABAE-46AA-B78F-CCCAE215ADDB}"/>
              </a:ext>
            </a:extLst>
          </p:cNvPr>
          <p:cNvSpPr>
            <a:spLocks xmlns:a="http://schemas.openxmlformats.org/drawingml/2006/main" noGrp="1"/>
          </p:cNvSpPr>
          <p:nvPr/>
        </p:nvSpPr>
        <p:spPr>
          <a:xfrm xmlns:a="http://schemas.openxmlformats.org/drawingml/2006/main">
            <a:off x="10275134"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Prettier</a:t>
            </a:r>
            <a:endParaRPr sz="1086"/>
          </a:p>
        </p:txBody>
      </p:sp>
      <p:pic>
        <p:nvPicPr>
          <p:cNvPr id="574" name="Google Shape;427;p16"/>
          <p:cNvPicPr>
            <a:picLocks xmlns:a="http://schemas.openxmlformats.org/drawingml/2006/main" noChangeAspect="1"/>
          </p:cNvPicPr>
          <p:nvPr/>
        </p:nvPicPr>
        <p:blipFill rotWithShape="1">
          <a:blip xmlns:r="http://schemas.openxmlformats.org/officeDocument/2006/relationships" xmlns:a="http://schemas.openxmlformats.org/drawingml/2006/main" r:embed="Raa5ba301e76044e2">
            <a:alphaModFix/>
          </a:blip>
          <a:srcRect xmlns:a="http://schemas.openxmlformats.org/drawingml/2006/main" l="0" t="0" r="0" b="0"/>
          <a:stretch xmlns:a="http://schemas.openxmlformats.org/drawingml/2006/main"/>
        </p:blipFill>
        <p:spPr>
          <a:xfrm xmlns:a="http://schemas.openxmlformats.org/drawingml/2006/main">
            <a:off x="11294467" y="3901607"/>
            <a:ext cx="709098" cy="265912"/>
          </a:xfrm>
          <a:prstGeom xmlns:a="http://schemas.openxmlformats.org/drawingml/2006/main" prst="rect">
            <a:avLst/>
          </a:prstGeom>
          <a:ln xmlns:a="http://schemas.openxmlformats.org/drawingml/2006/main">
            <a:noFill/>
          </a:ln>
        </p:spPr>
      </p:pic>
      <p:sp>
        <p:nvSpPr>
          <p:cNvPr id="428" name="Google Shape;428;p16">
            <a:extLst xmlns:a="http://schemas.openxmlformats.org/drawingml/2006/main">
              <a:ext uri="{FF2B5EF4-FFF2-40B4-BE49-F238E27FC236}">
                <a16:creationId xmlns:a16="http://schemas.microsoft.com/office/drawing/2014/main" id="{4E8BDB06-CF30-422C-AB04-A1770B57C14C}"/>
              </a:ext>
            </a:extLst>
          </p:cNvPr>
          <p:cNvSpPr>
            <a:spLocks xmlns:a="http://schemas.openxmlformats.org/drawingml/2006/main" noGrp="1"/>
          </p:cNvSpPr>
          <p:nvPr/>
        </p:nvSpPr>
        <p:spPr>
          <a:xfrm xmlns:a="http://schemas.openxmlformats.org/drawingml/2006/main">
            <a:off x="11191056" y="4197065"/>
            <a:ext cx="893700" cy="1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32" b="1" i="0" u="none" cap="none">
                <a:solidFill>
                  <a:srgbClr val="1F497D"/>
                </a:solidFill>
                <a:latin typeface="Arial"/>
                <a:ea typeface="Arial"/>
                <a:cs typeface="Arial"/>
              </a:rPr>
              <a:t>pnpm</a:t>
            </a:r>
            <a:endParaRPr sz="1086"/>
          </a:p>
        </p:txBody>
      </p:sp>
      <p:sp>
        <p:nvSpPr>
          <p:cNvPr id="429" name="Google Shape;429;p16">
            <a:extLst xmlns:a="http://schemas.openxmlformats.org/drawingml/2006/main">
              <a:ext uri="{FF2B5EF4-FFF2-40B4-BE49-F238E27FC236}">
                <a16:creationId xmlns:a16="http://schemas.microsoft.com/office/drawing/2014/main" id="{01BC1C34-8D2A-4674-B9BA-DE6277C5B539}"/>
              </a:ext>
            </a:extLst>
          </p:cNvPr>
          <p:cNvSpPr>
            <a:spLocks xmlns:a="http://schemas.openxmlformats.org/drawingml/2006/main" noGrp="1"/>
          </p:cNvSpPr>
          <p:nvPr/>
        </p:nvSpPr>
        <p:spPr>
          <a:xfrm xmlns:a="http://schemas.openxmlformats.org/drawingml/2006/main">
            <a:off x="7549526" y="4426045"/>
            <a:ext cx="26517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788">
                <a:latin typeface="Arial"/>
                <a:ea typeface="Arial"/>
                <a:cs typeface="Arial"/>
              </a:defRPr>
            </a:pPr>
            <a:r>
              <a:rPr sz="788" b="1" i="0" u="none" cap="none">
                <a:solidFill>
                  <a:srgbClr val="526273"/>
                </a:solidFill>
                <a:latin typeface="Arial"/>
                <a:ea typeface="Arial"/>
                <a:cs typeface="Arial"/>
              </a:rPr>
              <a:t>LOCAL RUNTIME</a:t>
            </a:r>
            <a:endParaRPr sz="1086"/>
          </a:p>
        </p:txBody>
      </p:sp>
      <p:sp>
        <p:nvSpPr>
          <p:cNvPr id="430" name="Google Shape;430;p16">
            <a:extLst xmlns:a="http://schemas.openxmlformats.org/drawingml/2006/main">
              <a:ext uri="{FF2B5EF4-FFF2-40B4-BE49-F238E27FC236}">
                <a16:creationId xmlns:a16="http://schemas.microsoft.com/office/drawing/2014/main" id="{CA3997C0-94EE-4217-80BC-3F368553BDD4}"/>
              </a:ext>
            </a:extLst>
          </p:cNvPr>
          <p:cNvSpPr>
            <a:spLocks xmlns:a="http://schemas.openxmlformats.org/drawingml/2006/main" noGrp="1"/>
          </p:cNvSpPr>
          <p:nvPr/>
        </p:nvSpPr>
        <p:spPr>
          <a:xfrm xmlns:a="http://schemas.openxmlformats.org/drawingml/2006/main">
            <a:off x="10297293" y="4426045"/>
            <a:ext cx="1809600" cy="14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03" b="1" i="0" u="none" cap="none">
                <a:solidFill>
                  <a:srgbClr val="526273"/>
                </a:solidFill>
                <a:latin typeface="Arial"/>
                <a:ea typeface="Arial"/>
                <a:cs typeface="Arial"/>
              </a:rPr>
              <a:t>EVIDENCE STANDARDS</a:t>
            </a:r>
            <a:endParaRPr sz="1086"/>
          </a:p>
        </p:txBody>
      </p:sp>
      <p:cxnSp>
        <p:nvCxnSpPr>
          <p:cNvPr id="578" name="Google Shape;431;p16"/>
          <p:cNvCxnSpPr/>
          <p:nvPr/>
        </p:nvCxnSpPr>
        <p:spPr>
          <a:xfrm xmlns:a="http://schemas.openxmlformats.org/drawingml/2006/main">
            <a:off x="7549526" y="4573774"/>
            <a:ext cx="4468800" cy="0"/>
          </a:xfrm>
          <a:prstGeom xmlns:a="http://schemas.openxmlformats.org/drawingml/2006/main" prst="straightConnector1">
            <a:avLst/>
          </a:prstGeom>
          <a:ln xmlns:a="http://schemas.openxmlformats.org/drawingml/2006/main" w="7400" cap="flat">
            <a:solidFill>
              <a:srgbClr val="B8C8DA"/>
            </a:solidFill>
            <a:prstDash val="solid"/>
            <a:round/>
            <a:headEnd type="none" w="sm" len="sm"/>
            <a:tailEnd type="none" w="sm" len="sm"/>
          </a:ln>
        </p:spPr>
      </p:cxnSp>
      <p:pic>
        <p:nvPicPr>
          <p:cNvPr id="579" name="Google Shape;436;p16"/>
          <p:cNvPicPr>
            <a:picLocks xmlns:a="http://schemas.openxmlformats.org/drawingml/2006/main" noChangeAspect="1"/>
          </p:cNvPicPr>
          <p:nvPr/>
        </p:nvPicPr>
        <p:blipFill rotWithShape="1">
          <a:blip xmlns:r="http://schemas.openxmlformats.org/officeDocument/2006/relationships" xmlns:a="http://schemas.openxmlformats.org/drawingml/2006/main" r:embed="Rc3a0c95a7e474f65">
            <a:alphaModFix/>
          </a:blip>
          <a:srcRect xmlns:a="http://schemas.openxmlformats.org/drawingml/2006/main" l="0" t="0" r="0" b="0"/>
          <a:stretch xmlns:a="http://schemas.openxmlformats.org/drawingml/2006/main"/>
        </p:blipFill>
        <p:spPr>
          <a:xfrm xmlns:a="http://schemas.openxmlformats.org/drawingml/2006/main">
            <a:off x="9492168" y="4625479"/>
            <a:ext cx="635234" cy="214207"/>
          </a:xfrm>
          <a:prstGeom xmlns:a="http://schemas.openxmlformats.org/drawingml/2006/main" prst="rect">
            <a:avLst/>
          </a:prstGeom>
          <a:ln xmlns:a="http://schemas.openxmlformats.org/drawingml/2006/main">
            <a:noFill/>
          </a:ln>
        </p:spPr>
      </p:pic>
      <p:sp>
        <p:nvSpPr>
          <p:cNvPr id="437" name="Google Shape;437;p16">
            <a:extLst xmlns:a="http://schemas.openxmlformats.org/drawingml/2006/main">
              <a:ext uri="{FF2B5EF4-FFF2-40B4-BE49-F238E27FC236}">
                <a16:creationId xmlns:a16="http://schemas.microsoft.com/office/drawing/2014/main" id="{C9C83C42-B8D1-4B6C-9D65-7067CEDE93D0}"/>
              </a:ext>
            </a:extLst>
          </p:cNvPr>
          <p:cNvSpPr>
            <a:spLocks xmlns:a="http://schemas.openxmlformats.org/drawingml/2006/main" noGrp="1"/>
          </p:cNvSpPr>
          <p:nvPr/>
        </p:nvSpPr>
        <p:spPr>
          <a:xfrm xmlns:a="http://schemas.openxmlformats.org/drawingml/2006/main">
            <a:off x="9359211"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Node.js</a:t>
            </a:r>
            <a:endParaRPr sz="1086"/>
          </a:p>
        </p:txBody>
      </p:sp>
      <p:pic>
        <p:nvPicPr>
          <p:cNvPr id="581" name="Google Shape;438;p16"/>
          <p:cNvPicPr>
            <a:picLocks xmlns:a="http://schemas.openxmlformats.org/drawingml/2006/main" noChangeAspect="1"/>
          </p:cNvPicPr>
          <p:nvPr/>
        </p:nvPicPr>
        <p:blipFill rotWithShape="1">
          <a:blip xmlns:r="http://schemas.openxmlformats.org/officeDocument/2006/relationships" xmlns:a="http://schemas.openxmlformats.org/drawingml/2006/main" r:embed="R7f4760e3596342ff">
            <a:alphaModFix/>
          </a:blip>
          <a:srcRect xmlns:a="http://schemas.openxmlformats.org/drawingml/2006/main" l="0" t="0" r="0" b="0"/>
          <a:stretch xmlns:a="http://schemas.openxmlformats.org/drawingml/2006/main"/>
        </p:blipFill>
        <p:spPr>
          <a:xfrm xmlns:a="http://schemas.openxmlformats.org/drawingml/2006/main">
            <a:off x="10607525" y="4632865"/>
            <a:ext cx="214207" cy="214207"/>
          </a:xfrm>
          <a:prstGeom xmlns:a="http://schemas.openxmlformats.org/drawingml/2006/main" prst="rect">
            <a:avLst/>
          </a:prstGeom>
          <a:ln xmlns:a="http://schemas.openxmlformats.org/drawingml/2006/main">
            <a:noFill/>
          </a:ln>
        </p:spPr>
      </p:pic>
      <p:sp>
        <p:nvSpPr>
          <p:cNvPr id="439" name="Google Shape;439;p16">
            <a:extLst xmlns:a="http://schemas.openxmlformats.org/drawingml/2006/main">
              <a:ext uri="{FF2B5EF4-FFF2-40B4-BE49-F238E27FC236}">
                <a16:creationId xmlns:a16="http://schemas.microsoft.com/office/drawing/2014/main" id="{1AC2609F-FB22-4310-96C0-5A96F30AA1B3}"/>
              </a:ext>
            </a:extLst>
          </p:cNvPr>
          <p:cNvSpPr>
            <a:spLocks xmlns:a="http://schemas.openxmlformats.org/drawingml/2006/main" noGrp="1"/>
          </p:cNvSpPr>
          <p:nvPr/>
        </p:nvSpPr>
        <p:spPr>
          <a:xfrm xmlns:a="http://schemas.openxmlformats.org/drawingml/2006/main">
            <a:off x="10275134"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Ed25519</a:t>
            </a:r>
            <a:endParaRPr sz="1086"/>
          </a:p>
        </p:txBody>
      </p:sp>
      <p:pic>
        <p:nvPicPr>
          <p:cNvPr id="583" name="Google Shape;440;p16"/>
          <p:cNvPicPr>
            <a:picLocks xmlns:a="http://schemas.openxmlformats.org/drawingml/2006/main" noChangeAspect="1"/>
          </p:cNvPicPr>
          <p:nvPr/>
        </p:nvPicPr>
        <p:blipFill rotWithShape="1">
          <a:blip xmlns:r="http://schemas.openxmlformats.org/officeDocument/2006/relationships" xmlns:a="http://schemas.openxmlformats.org/drawingml/2006/main" r:embed="Rc33de68caed84536">
            <a:alphaModFix/>
          </a:blip>
          <a:srcRect xmlns:a="http://schemas.openxmlformats.org/drawingml/2006/main" l="0" t="0" r="0" b="0"/>
          <a:stretch xmlns:a="http://schemas.openxmlformats.org/drawingml/2006/main"/>
        </p:blipFill>
        <p:spPr>
          <a:xfrm xmlns:a="http://schemas.openxmlformats.org/drawingml/2006/main">
            <a:off x="11523448" y="4632865"/>
            <a:ext cx="214207" cy="214207"/>
          </a:xfrm>
          <a:prstGeom xmlns:a="http://schemas.openxmlformats.org/drawingml/2006/main" prst="rect">
            <a:avLst/>
          </a:prstGeom>
          <a:ln xmlns:a="http://schemas.openxmlformats.org/drawingml/2006/main">
            <a:noFill/>
          </a:ln>
        </p:spPr>
      </p:pic>
      <p:sp>
        <p:nvSpPr>
          <p:cNvPr id="441" name="Google Shape;441;p16">
            <a:extLst xmlns:a="http://schemas.openxmlformats.org/drawingml/2006/main">
              <a:ext uri="{FF2B5EF4-FFF2-40B4-BE49-F238E27FC236}">
                <a16:creationId xmlns:a16="http://schemas.microsoft.com/office/drawing/2014/main" id="{35C1658D-CE0B-45B5-8DB8-BBEABD727A3C}"/>
              </a:ext>
            </a:extLst>
          </p:cNvPr>
          <p:cNvSpPr>
            <a:spLocks xmlns:a="http://schemas.openxmlformats.org/drawingml/2006/main" noGrp="1"/>
          </p:cNvSpPr>
          <p:nvPr/>
        </p:nvSpPr>
        <p:spPr>
          <a:xfrm xmlns:a="http://schemas.openxmlformats.org/drawingml/2006/main">
            <a:off x="11191056" y="4861845"/>
            <a:ext cx="893700" cy="1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pPr>
            <a:r>
              <a:rPr sz="803" b="1" i="0" u="none" cap="none">
                <a:solidFill>
                  <a:srgbClr val="1F497D"/>
                </a:solidFill>
                <a:latin typeface="Arial"/>
                <a:ea typeface="Arial"/>
                <a:cs typeface="Arial"/>
              </a:rPr>
              <a:t>SHA-256</a:t>
            </a:r>
            <a:endParaRPr sz="1086"/>
          </a:p>
        </p:txBody>
      </p:sp>
      <p:sp>
        <p:nvSpPr>
          <p:cNvPr id="468" name="">
            <a:extLst xmlns:a="http://schemas.openxmlformats.org/drawingml/2006/main">
              <a:ext uri="{FF2B5EF4-FFF2-40B4-BE49-F238E27FC236}">
                <a16:creationId xmlns:a16="http://schemas.microsoft.com/office/drawing/2014/main" id="{5ED4A506-9EFC-4ADC-BB6A-6EAA5F3799A5}"/>
              </a:ext>
            </a:extLst>
          </p:cNvPr>
          <p:cNvSpPr>
            <a:spLocks xmlns:a="http://schemas.openxmlformats.org/drawingml/2006/main" noGrp="1"/>
          </p:cNvSpPr>
          <p:nvPr/>
        </p:nvSpPr>
        <p:spPr>
          <a:xfrm xmlns:a="http://schemas.openxmlformats.org/drawingml/2006/main">
            <a:off x="7581900" y="46767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234D7F"/>
                </a:solidFill>
                <a:latin typeface="Arial"/>
                <a:ea typeface="Arial"/>
                <a:cs typeface="Arial"/>
              </a:defRPr>
            </a:pPr>
            <a:r>
              <a:rPr sz="1050" b="0">
                <a:solidFill>
                  <a:srgbClr val="234D7F"/>
                </a:solidFill>
                <a:latin typeface="Arial"/>
                <a:ea typeface="Arial"/>
                <a:cs typeface="Arial"/>
              </a:rPr>
              <a:t>Python worker + SQLite</a:t>
            </a:r>
          </a:p>
        </p:txBody>
      </p:sp>
      <p:sp>
        <p:nvSpPr>
          <p:cNvPr id="469" name="">
            <a:extLst xmlns:a="http://schemas.openxmlformats.org/drawingml/2006/main">
              <a:ext uri="{FF2B5EF4-FFF2-40B4-BE49-F238E27FC236}">
                <a16:creationId xmlns:a16="http://schemas.microsoft.com/office/drawing/2014/main" id="{1E0C0016-4B13-4033-A115-3FFB0933B430}"/>
              </a:ext>
            </a:extLst>
          </p:cNvPr>
          <p:cNvSpPr>
            <a:spLocks xmlns:a="http://schemas.openxmlformats.org/drawingml/2006/main" noGrp="1"/>
          </p:cNvSpPr>
          <p:nvPr/>
        </p:nvSpPr>
        <p:spPr>
          <a:xfrm xmlns:a="http://schemas.openxmlformats.org/drawingml/2006/main">
            <a:off x="6191250" y="59817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234D7F"/>
                </a:solidFill>
                <a:latin typeface="Arial"/>
                <a:ea typeface="Arial"/>
                <a:cs typeface="Arial"/>
              </a:defRPr>
            </a:pPr>
            <a:r>
              <a:rPr sz="1125" b="1">
                <a:solidFill>
                  <a:srgbClr val="234D7F"/>
                </a:solidFill>
                <a:latin typeface="Arial"/>
                <a:ea typeface="Arial"/>
                <a:cs typeface="Arial"/>
              </a:rPr>
              <a:t>REPOSITORY:  [paste repository URL]</a:t>
            </a:r>
          </a:p>
        </p:txBody>
      </p:sp>
      <p:sp>
        <p:nvSpPr>
          <p:cNvPr id="470" name="">
            <a:extLst xmlns:a="http://schemas.openxmlformats.org/drawingml/2006/main">
              <a:ext uri="{FF2B5EF4-FFF2-40B4-BE49-F238E27FC236}">
                <a16:creationId xmlns:a16="http://schemas.microsoft.com/office/drawing/2014/main" id="{361D8FBD-5C42-48F8-9831-32F880A42733}"/>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471" name="">
            <a:extLst xmlns:a="http://schemas.openxmlformats.org/drawingml/2006/main">
              <a:ext uri="{FF2B5EF4-FFF2-40B4-BE49-F238E27FC236}">
                <a16:creationId xmlns:a16="http://schemas.microsoft.com/office/drawing/2014/main" id="{2258E90C-897A-4ECA-B6F9-8172390A88EC}"/>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111621839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47" name="Google Shape;447;p17">
            <a:extLst xmlns:a="http://schemas.openxmlformats.org/drawingml/2006/main">
              <a:ext uri="{FF2B5EF4-FFF2-40B4-BE49-F238E27FC236}">
                <a16:creationId xmlns:a16="http://schemas.microsoft.com/office/drawing/2014/main" id="{B07248B3-0E40-4C7D-B9D7-44DF1689EF70}"/>
              </a:ext>
            </a:extLst>
          </p:cNvPr>
          <p:cNvSpPr>
            <a:spLocks xmlns:a="http://schemas.openxmlformats.org/drawingml/2006/main" noGrp="1"/>
          </p:cNvSpPr>
          <p:nvPr/>
        </p:nvSpPr>
        <p:spPr>
          <a:xfrm xmlns:a="http://schemas.openxmlformats.org/drawingml/2006/main">
            <a:off x="333375" y="1381125"/>
            <a:ext cx="268605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8" name="Google Shape;448;p17">
            <a:extLst xmlns:a="http://schemas.openxmlformats.org/drawingml/2006/main">
              <a:ext uri="{FF2B5EF4-FFF2-40B4-BE49-F238E27FC236}">
                <a16:creationId xmlns:a16="http://schemas.microsoft.com/office/drawing/2014/main" id="{E9003CAC-803B-42A5-9C86-14E6BCBB01DA}"/>
              </a:ext>
            </a:extLst>
          </p:cNvPr>
          <p:cNvSpPr>
            <a:spLocks xmlns:a="http://schemas.openxmlformats.org/drawingml/2006/main" noGrp="1"/>
          </p:cNvSpPr>
          <p:nvPr/>
        </p:nvSpPr>
        <p:spPr>
          <a:xfrm xmlns:a="http://schemas.openxmlformats.org/drawingml/2006/main">
            <a:off x="419100" y="1428750"/>
            <a:ext cx="25146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FEASIBILITY ANALYSIS</a:t>
            </a:r>
            <a:endParaRPr/>
          </a:p>
        </p:txBody>
      </p:sp>
      <p:sp>
        <p:nvSpPr>
          <p:cNvPr id="449" name="Google Shape;449;p17">
            <a:extLst xmlns:a="http://schemas.openxmlformats.org/drawingml/2006/main">
              <a:ext uri="{FF2B5EF4-FFF2-40B4-BE49-F238E27FC236}">
                <a16:creationId xmlns:a16="http://schemas.microsoft.com/office/drawing/2014/main" id="{CB94986D-F15C-464E-B1F4-8470444AE273}"/>
              </a:ext>
            </a:extLst>
          </p:cNvPr>
          <p:cNvSpPr>
            <a:spLocks xmlns:a="http://schemas.openxmlformats.org/drawingml/2006/main" noGrp="1"/>
          </p:cNvSpPr>
          <p:nvPr/>
        </p:nvSpPr>
        <p:spPr>
          <a:xfrm xmlns:a="http://schemas.openxmlformats.org/drawingml/2006/main">
            <a:off x="3248025" y="1381125"/>
            <a:ext cx="4648200"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0" name="Google Shape;450;p17">
            <a:extLst xmlns:a="http://schemas.openxmlformats.org/drawingml/2006/main">
              <a:ext uri="{FF2B5EF4-FFF2-40B4-BE49-F238E27FC236}">
                <a16:creationId xmlns:a16="http://schemas.microsoft.com/office/drawing/2014/main" id="{16AAB4E3-003B-4476-8156-30C1CE0D1CC4}"/>
              </a:ext>
            </a:extLst>
          </p:cNvPr>
          <p:cNvSpPr>
            <a:spLocks xmlns:a="http://schemas.openxmlformats.org/drawingml/2006/main" noGrp="1"/>
          </p:cNvSpPr>
          <p:nvPr/>
        </p:nvSpPr>
        <p:spPr>
          <a:xfrm xmlns:a="http://schemas.openxmlformats.org/drawingml/2006/main">
            <a:off x="3333750" y="1428750"/>
            <a:ext cx="4476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CURRENT PROTOTYPE</a:t>
            </a:r>
            <a:endParaRPr/>
          </a:p>
        </p:txBody>
      </p:sp>
      <p:sp>
        <p:nvSpPr>
          <p:cNvPr id="451" name="Google Shape;451;p17">
            <a:extLst xmlns:a="http://schemas.openxmlformats.org/drawingml/2006/main">
              <a:ext uri="{FF2B5EF4-FFF2-40B4-BE49-F238E27FC236}">
                <a16:creationId xmlns:a16="http://schemas.microsoft.com/office/drawing/2014/main" id="{E805222B-451A-426D-A8CD-4CAF44117532}"/>
              </a:ext>
            </a:extLst>
          </p:cNvPr>
          <p:cNvSpPr>
            <a:spLocks xmlns:a="http://schemas.openxmlformats.org/drawingml/2006/main" noGrp="1"/>
          </p:cNvSpPr>
          <p:nvPr/>
        </p:nvSpPr>
        <p:spPr>
          <a:xfrm xmlns:a="http://schemas.openxmlformats.org/drawingml/2006/main">
            <a:off x="8124825" y="1381125"/>
            <a:ext cx="3762375" cy="295275"/>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2" name="Google Shape;452;p17">
            <a:extLst xmlns:a="http://schemas.openxmlformats.org/drawingml/2006/main">
              <a:ext uri="{FF2B5EF4-FFF2-40B4-BE49-F238E27FC236}">
                <a16:creationId xmlns:a16="http://schemas.microsoft.com/office/drawing/2014/main" id="{CF84DF0F-6A4E-4992-86E7-DDDD407CF35E}"/>
              </a:ext>
            </a:extLst>
          </p:cNvPr>
          <p:cNvSpPr>
            <a:spLocks xmlns:a="http://schemas.openxmlformats.org/drawingml/2006/main" noGrp="1"/>
          </p:cNvSpPr>
          <p:nvPr/>
        </p:nvSpPr>
        <p:spPr>
          <a:xfrm xmlns:a="http://schemas.openxmlformats.org/drawingml/2006/main">
            <a:off x="8210550" y="1428750"/>
            <a:ext cx="35909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25" b="1" i="0" u="none" cap="none">
                <a:solidFill>
                  <a:srgbClr val="FFFFFF"/>
                </a:solidFill>
                <a:latin typeface="Arial"/>
                <a:ea typeface="Arial"/>
                <a:cs typeface="Arial"/>
              </a:rPr>
              <a:t>VIABILITY &amp; CONTROLS</a:t>
            </a:r>
            <a:endParaRPr/>
          </a:p>
        </p:txBody>
      </p:sp>
      <p:sp>
        <p:nvSpPr>
          <p:cNvPr id="453" name="Google Shape;453;p17">
            <a:extLst xmlns:a="http://schemas.openxmlformats.org/drawingml/2006/main">
              <a:ext uri="{FF2B5EF4-FFF2-40B4-BE49-F238E27FC236}">
                <a16:creationId xmlns:a16="http://schemas.microsoft.com/office/drawing/2014/main" id="{5FEDE11B-AFFD-4062-A6A4-F3F979928873}"/>
              </a:ext>
            </a:extLst>
          </p:cNvPr>
          <p:cNvSpPr>
            <a:spLocks xmlns:a="http://schemas.openxmlformats.org/drawingml/2006/main" noGrp="1"/>
          </p:cNvSpPr>
          <p:nvPr/>
        </p:nvSpPr>
        <p:spPr>
          <a:xfrm xmlns:a="http://schemas.openxmlformats.org/drawingml/2006/main">
            <a:off x="3248025" y="1752600"/>
            <a:ext cx="4648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None/>
              <a:defRPr sz="1050">
                <a:latin typeface="Arial"/>
                <a:ea typeface="Arial"/>
                <a:cs typeface="Arial"/>
              </a:defRPr>
            </a:pPr>
            <a:r>
              <a:rPr sz="1050" b="1" i="0" u="none" cap="none">
                <a:solidFill>
                  <a:srgbClr val="526273"/>
                </a:solidFill>
                <a:latin typeface="Arial"/>
                <a:ea typeface="Arial"/>
                <a:cs typeface="Arial"/>
              </a:rPr>
              <a:t>Actual prototype / labelled synthetic custody exercise</a:t>
            </a:r>
            <a:endParaRPr/>
          </a:p>
        </p:txBody>
      </p:sp>
      <p:pic>
        <p:nvPicPr>
          <p:cNvPr id="501" name="Google Shape;454;p17"/>
          <p:cNvPicPr>
            <a:picLocks xmlns:a="http://schemas.openxmlformats.org/drawingml/2006/main" noChangeAspect="1"/>
          </p:cNvPicPr>
          <p:nvPr/>
        </p:nvPicPr>
        <p:blipFill rotWithShape="1">
          <a:blip xmlns:r="http://schemas.openxmlformats.org/officeDocument/2006/relationships" xmlns:a="http://schemas.openxmlformats.org/drawingml/2006/main" r:embed="R03ae0a75bf1d47ac">
            <a:alphaModFix/>
          </a:blip>
          <a:srcRect xmlns:a="http://schemas.openxmlformats.org/drawingml/2006/main" l="0" t="0" r="0" b="0"/>
          <a:stretch xmlns:a="http://schemas.openxmlformats.org/drawingml/2006/main"/>
        </p:blipFill>
        <p:spPr>
          <a:xfrm xmlns:a="http://schemas.openxmlformats.org/drawingml/2006/main">
            <a:off x="3343488" y="2028825"/>
            <a:ext cx="4457274" cy="3095625"/>
          </a:xfrm>
          <a:prstGeom xmlns:a="http://schemas.openxmlformats.org/drawingml/2006/main" prst="rect">
            <a:avLst/>
          </a:prstGeom>
          <a:ln xmlns:a="http://schemas.openxmlformats.org/drawingml/2006/main">
            <a:noFill/>
          </a:ln>
        </p:spPr>
      </p:pic>
      <p:pic>
        <p:nvPicPr>
          <p:cNvPr id="502" name="Google Shape;455;p17"/>
          <p:cNvPicPr>
            <a:picLocks xmlns:a="http://schemas.openxmlformats.org/drawingml/2006/main" noChangeAspect="1"/>
          </p:cNvPicPr>
          <p:nvPr/>
        </p:nvPicPr>
        <p:blipFill rotWithShape="1">
          <a:blip xmlns:r="http://schemas.openxmlformats.org/officeDocument/2006/relationships" xmlns:a="http://schemas.openxmlformats.org/drawingml/2006/main" r:embed="R0e41707b302243c8">
            <a:alphaModFix/>
          </a:blip>
          <a:srcRect xmlns:a="http://schemas.openxmlformats.org/drawingml/2006/main" l="0" t="0" r="0" b="0"/>
          <a:stretch xmlns:a="http://schemas.openxmlformats.org/drawingml/2006/main"/>
        </p:blipFill>
        <p:spPr>
          <a:xfrm xmlns:a="http://schemas.openxmlformats.org/drawingml/2006/main">
            <a:off x="3350345" y="5219700"/>
            <a:ext cx="4443560" cy="1028700"/>
          </a:xfrm>
          <a:prstGeom xmlns:a="http://schemas.openxmlformats.org/drawingml/2006/main" prst="rect">
            <a:avLst/>
          </a:prstGeom>
          <a:ln xmlns:a="http://schemas.openxmlformats.org/drawingml/2006/main">
            <a:noFill/>
          </a:ln>
        </p:spPr>
      </p:pic>
      <p:graphicFrame>
        <p:nvGraphicFramePr>
          <p:cNvPr id="503" name="Google Shape;456;p17"/>
          <p:cNvGraphicFramePr/>
          <p:nvPr/>
        </p:nvGraphicFramePr>
        <p:xfrm>
          <a:off xmlns:a="http://schemas.openxmlformats.org/drawingml/2006/main" x="8124825" y="1838325"/>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190625"/>
                <a:gridCol w="2571750"/>
              </a:tblGrid>
              <a:tr h="342900">
                <a:tc>
                  <a:txBody>
                    <a:bodyPr/>
                    <a:lstStyle/>
                    <a:p>
                      <a:pPr marL="0" marR="0" lvl="0" indent="0" algn="l">
                        <a:spcBef>
                          <a:spcPts val="0"/>
                        </a:spcBef>
                        <a:spcAft>
                          <a:spcPts val="0"/>
                        </a:spcAft>
                        <a:buNone/>
                      </a:pPr>
                      <a:r>
                        <a:rPr sz="1200" b="1" u="none" cap="none">
                          <a:solidFill>
                            <a:srgbClr val="FFFFFF"/>
                          </a:solidFill>
                          <a:latin typeface="Arial"/>
                          <a:ea typeface="Arial"/>
                          <a:cs typeface="Arial"/>
                        </a:rPr>
                        <a:t>Risk</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200" b="1">
                          <a:solidFill>
                            <a:srgbClr val="FFFFFF"/>
                          </a:solidFill>
                          <a:latin typeface="Arial"/>
                          <a:ea typeface="Arial"/>
                          <a:cs typeface="Arial"/>
                        </a:rPr>
                        <a:t>Control</a:t>
                      </a:r>
                      <a:endParaRPr/>
                    </a:p>
                  </a:txBody>
                  <a:tcPr marL="95250" marR="76200" marT="66675" marB="66675" anchor="ctr">
                    <a:solidFill>
                      <a:srgbClr val="1F497D"/>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Stale labels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Source challenge and independent review</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History / quota gaps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Explicit stops, checkpoints and a hard cap</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Official integration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Pending: approved SAHYOG contract</a:t>
                      </a:r>
                      <a:endParaRPr/>
                    </a:p>
                  </a:txBody>
                  <a:tcPr marL="95250" marR="76200" marT="66675" marB="66675" anchor="ctr">
                    <a:solidFill>
                      <a:srgbClr val="EDF3F9"/>
                    </a:solidFill>
                  </a:tcPr>
                </a:tc>
              </a:tr>
              <a:tr h="504825">
                <a:tc>
                  <a:txBody>
                    <a:bodyPr/>
                    <a:lstStyle/>
                    <a:p>
                      <a:pPr marL="0" marR="0" lvl="0" indent="0" algn="l">
                        <a:spcBef>
                          <a:spcPts val="0"/>
                        </a:spcBef>
                        <a:spcAft>
                          <a:spcPts val="0"/>
                        </a:spcAft>
                        <a:buNone/>
                      </a:pPr>
                      <a:r>
                        <a:rPr sz="1200" b="1">
                          <a:solidFill>
                            <a:srgbClr val="17232F"/>
                          </a:solidFill>
                          <a:latin typeface="Arial"/>
                          <a:ea typeface="Arial"/>
                          <a:cs typeface="Arial"/>
                        </a:rPr>
                        <a:t>Agency operations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200" b="0">
                          <a:solidFill>
                            <a:srgbClr val="17232F"/>
                          </a:solidFill>
                          <a:latin typeface="Arial"/>
                          <a:ea typeface="Arial"/>
                          <a:cs typeface="Arial"/>
                        </a:rPr>
                        <a:t>Future: agency identity and security validation</a:t>
                      </a:r>
                      <a:endParaRPr/>
                    </a:p>
                  </a:txBody>
                  <a:tcPr marL="95250" marR="76200" marT="66675" marB="66675" anchor="ctr">
                    <a:solidFill>
                      <a:srgbClr val="EDF3F9"/>
                    </a:solidFill>
                  </a:tcPr>
                </a:tc>
              </a:tr>
            </a:tbl>
          </a:graphicData>
        </a:graphic>
      </p:graphicFrame>
      <p:sp>
        <p:nvSpPr>
          <p:cNvPr id="457" name="Google Shape;457;p17">
            <a:extLst xmlns:a="http://schemas.openxmlformats.org/drawingml/2006/main">
              <a:ext uri="{FF2B5EF4-FFF2-40B4-BE49-F238E27FC236}">
                <a16:creationId xmlns:a16="http://schemas.microsoft.com/office/drawing/2014/main" id="{E6ADCA26-7C4D-4AD7-9E6E-2C0363ED3BB4}"/>
              </a:ext>
            </a:extLst>
          </p:cNvPr>
          <p:cNvSpPr>
            <a:spLocks xmlns:a="http://schemas.openxmlformats.org/drawingml/2006/main" noGrp="1"/>
          </p:cNvSpPr>
          <p:nvPr/>
        </p:nvSpPr>
        <p:spPr>
          <a:xfrm xmlns:a="http://schemas.openxmlformats.org/drawingml/2006/main">
            <a:off x="8124825" y="4457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725" b="1" i="0" u="none" cap="none">
                <a:solidFill>
                  <a:srgbClr val="1F497D"/>
                </a:solidFill>
                <a:latin typeface="Arial"/>
                <a:ea typeface="Arial"/>
                <a:cs typeface="Arial"/>
              </a:rPr>
              <a:t>Staged adoption</a:t>
            </a:r>
            <a:endParaRPr/>
          </a:p>
        </p:txBody>
      </p:sp>
      <p:sp>
        <p:nvSpPr>
          <p:cNvPr id="458" name="Google Shape;458;p17">
            <a:extLst xmlns:a="http://schemas.openxmlformats.org/drawingml/2006/main">
              <a:ext uri="{FF2B5EF4-FFF2-40B4-BE49-F238E27FC236}">
                <a16:creationId xmlns:a16="http://schemas.microsoft.com/office/drawing/2014/main" id="{87101814-577A-48F1-A48F-D16C4C1EF73D}"/>
              </a:ext>
            </a:extLst>
          </p:cNvPr>
          <p:cNvSpPr>
            <a:spLocks xmlns:a="http://schemas.openxmlformats.org/drawingml/2006/main" noGrp="1"/>
          </p:cNvSpPr>
          <p:nvPr/>
        </p:nvSpPr>
        <p:spPr>
          <a:xfrm xmlns:a="http://schemas.openxmlformats.org/drawingml/2006/main">
            <a:off x="8124825" y="4838700"/>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1F497D"/>
                </a:solidFill>
                <a:latin typeface="Arial"/>
                <a:ea typeface="Arial"/>
                <a:cs typeface="Arial"/>
              </a:rPr>
              <a:t>1  Agency pilot</a:t>
            </a:r>
            <a:endParaRPr/>
          </a:p>
        </p:txBody>
      </p:sp>
      <p:sp>
        <p:nvSpPr>
          <p:cNvPr id="459" name="Google Shape;459;p17">
            <a:extLst xmlns:a="http://schemas.openxmlformats.org/drawingml/2006/main">
              <a:ext uri="{FF2B5EF4-FFF2-40B4-BE49-F238E27FC236}">
                <a16:creationId xmlns:a16="http://schemas.microsoft.com/office/drawing/2014/main" id="{4E23943D-5E1A-4A2B-9BCF-9B04D490C738}"/>
              </a:ext>
            </a:extLst>
          </p:cNvPr>
          <p:cNvSpPr>
            <a:spLocks xmlns:a="http://schemas.openxmlformats.org/drawingml/2006/main" noGrp="1"/>
          </p:cNvSpPr>
          <p:nvPr/>
        </p:nvSpPr>
        <p:spPr>
          <a:xfrm xmlns:a="http://schemas.openxmlformats.org/drawingml/2006/main">
            <a:off x="8124825" y="5133975"/>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Verified labels, approved recipients and</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independent first-service evaluation.</a:t>
            </a:r>
            <a:endParaRPr/>
          </a:p>
        </p:txBody>
      </p:sp>
      <p:sp>
        <p:nvSpPr>
          <p:cNvPr id="460" name="Google Shape;460;p17">
            <a:extLst xmlns:a="http://schemas.openxmlformats.org/drawingml/2006/main">
              <a:ext uri="{FF2B5EF4-FFF2-40B4-BE49-F238E27FC236}">
                <a16:creationId xmlns:a16="http://schemas.microsoft.com/office/drawing/2014/main" id="{6D44E779-7336-4196-B517-3D812F39ADA9}"/>
              </a:ext>
            </a:extLst>
          </p:cNvPr>
          <p:cNvSpPr>
            <a:spLocks xmlns:a="http://schemas.openxmlformats.org/drawingml/2006/main" noGrp="1"/>
          </p:cNvSpPr>
          <p:nvPr/>
        </p:nvSpPr>
        <p:spPr>
          <a:xfrm xmlns:a="http://schemas.openxmlformats.org/drawingml/2006/main">
            <a:off x="8124825" y="5610225"/>
            <a:ext cx="3762375"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75" b="1" i="0" u="none" cap="none">
                <a:solidFill>
                  <a:srgbClr val="8064A2"/>
                </a:solidFill>
                <a:latin typeface="Arial"/>
                <a:ea typeface="Arial"/>
                <a:cs typeface="Arial"/>
              </a:rPr>
              <a:t>2  Validated scale-up</a:t>
            </a:r>
            <a:endParaRPr/>
          </a:p>
        </p:txBody>
      </p:sp>
      <p:sp>
        <p:nvSpPr>
          <p:cNvPr id="461" name="Google Shape;461;p17">
            <a:extLst xmlns:a="http://schemas.openxmlformats.org/drawingml/2006/main">
              <a:ext uri="{FF2B5EF4-FFF2-40B4-BE49-F238E27FC236}">
                <a16:creationId xmlns:a16="http://schemas.microsoft.com/office/drawing/2014/main" id="{BD0D897C-827A-4B9D-B71F-68DE1C80268A}"/>
              </a:ext>
            </a:extLst>
          </p:cNvPr>
          <p:cNvSpPr>
            <a:spLocks xmlns:a="http://schemas.openxmlformats.org/drawingml/2006/main" noGrp="1"/>
          </p:cNvSpPr>
          <p:nvPr/>
        </p:nvSpPr>
        <p:spPr>
          <a:xfrm xmlns:a="http://schemas.openxmlformats.org/drawingml/2006/main">
            <a:off x="8124825" y="5905500"/>
            <a:ext cx="376237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Agency identity, storage and orchestration</a:t>
            </a:r>
            <a:endParaRPr/>
          </a:p>
          <a:p xmlns:a="http://schemas.openxmlformats.org/drawingml/2006/main">
            <a:pPr marL="0" marR="0" lvl="0" indent="0" algn="l">
              <a:spcBef>
                <a:spcPts val="0"/>
              </a:spcBef>
              <a:spcAft>
                <a:spcPts val="0"/>
              </a:spcAft>
              <a:buNone/>
              <a:defRPr sz="1125">
                <a:latin typeface="Arial"/>
                <a:ea typeface="Arial"/>
                <a:cs typeface="Arial"/>
              </a:defRPr>
            </a:pPr>
            <a:r>
              <a:rPr sz="1125" b="0" i="0" u="none" cap="none">
                <a:solidFill>
                  <a:srgbClr val="17232F"/>
                </a:solidFill>
                <a:latin typeface="Arial"/>
                <a:ea typeface="Arial"/>
                <a:cs typeface="Arial"/>
              </a:rPr>
              <a:t>after security, load and restore testing.</a:t>
            </a:r>
            <a:endParaRPr/>
          </a:p>
        </p:txBody>
      </p:sp>
      <p:sp>
        <p:nvSpPr>
          <p:cNvPr id="462" name="Google Shape;462;p17">
            <a:extLst xmlns:a="http://schemas.openxmlformats.org/drawingml/2006/main">
              <a:ext uri="{FF2B5EF4-FFF2-40B4-BE49-F238E27FC236}">
                <a16:creationId xmlns:a16="http://schemas.microsoft.com/office/drawing/2014/main" id="{0D3FA7AA-0DE4-4C86-8D64-E819A8F2180B}"/>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463" name="Google Shape;463;p17">
            <a:extLst xmlns:a="http://schemas.openxmlformats.org/drawingml/2006/main">
              <a:ext uri="{FF2B5EF4-FFF2-40B4-BE49-F238E27FC236}">
                <a16:creationId xmlns:a16="http://schemas.microsoft.com/office/drawing/2014/main" id="{3AAC5CDB-BA1C-47E1-8F84-07C90AD7C153}"/>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FEASIBILITY AND VIABILITY</a:t>
            </a:r>
            <a:endParaRPr/>
          </a:p>
        </p:txBody>
      </p:sp>
      <p:sp>
        <p:nvSpPr>
          <p:cNvPr id="464" name="Google Shape;464;p17">
            <a:extLst xmlns:a="http://schemas.openxmlformats.org/drawingml/2006/main">
              <a:ext uri="{FF2B5EF4-FFF2-40B4-BE49-F238E27FC236}">
                <a16:creationId xmlns:a16="http://schemas.microsoft.com/office/drawing/2014/main" id="{12179801-21E6-4F40-9C36-C5A51D9FC0DA}"/>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EFD6AB9A-5F9E-5F59-51AB-3C8734130965}" type="slidenum">
              <a:rPr sz="1200" b="1" i="0" u="none" cap="none">
                <a:solidFill>
                  <a:srgbClr val="FFFFFF"/>
                </a:solidFill>
                <a:latin typeface="Oswald"/>
                <a:ea typeface="Oswald"/>
                <a:cs typeface="Oswald"/>
              </a:rPr>
              <a:t>4</a:t>
            </a:fld>
            <a:endParaRPr sz="1200" b="1" i="0" u="none" cap="none">
              <a:solidFill>
                <a:srgbClr val="FFFFFF"/>
              </a:solidFill>
              <a:latin typeface="Oswald"/>
              <a:ea typeface="Oswald"/>
              <a:cs typeface="Oswald"/>
            </a:endParaRPr>
          </a:p>
        </p:txBody>
      </p:sp>
      <p:sp>
        <p:nvSpPr>
          <p:cNvPr id="468" name="Google Shape;468;p17">
            <a:extLst xmlns:a="http://schemas.openxmlformats.org/drawingml/2006/main">
              <a:ext uri="{FF2B5EF4-FFF2-40B4-BE49-F238E27FC236}">
                <a16:creationId xmlns:a16="http://schemas.microsoft.com/office/drawing/2014/main" id="{BF9FA709-F785-447C-9569-628B4B704891}"/>
              </a:ext>
            </a:extLst>
          </p:cNvPr>
          <p:cNvSpPr>
            <a:spLocks xmlns:a="http://schemas.openxmlformats.org/drawingml/2006/main" noGrp="1"/>
          </p:cNvSpPr>
          <p:nvPr/>
        </p:nvSpPr>
        <p:spPr>
          <a:xfrm xmlns:a="http://schemas.openxmlformats.org/drawingml/2006/main">
            <a:off x="502025" y="1838325"/>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69" name="Google Shape;469;p17">
            <a:extLst xmlns:a="http://schemas.openxmlformats.org/drawingml/2006/main">
              <a:ext uri="{FF2B5EF4-FFF2-40B4-BE49-F238E27FC236}">
                <a16:creationId xmlns:a16="http://schemas.microsoft.com/office/drawing/2014/main" id="{1E867C1B-4794-45F1-A905-B8771D5355A3}"/>
              </a:ext>
            </a:extLst>
          </p:cNvPr>
          <p:cNvSpPr>
            <a:spLocks xmlns:a="http://schemas.openxmlformats.org/drawingml/2006/main" noGrp="1"/>
          </p:cNvSpPr>
          <p:nvPr/>
        </p:nvSpPr>
        <p:spPr>
          <a:xfrm xmlns:a="http://schemas.openxmlformats.org/drawingml/2006/main">
            <a:off x="558241" y="1869556"/>
            <a:ext cx="2236200" cy="1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TECHNICAL FEASIBILITY</a:t>
            </a:r>
            <a:endParaRPr sz="918"/>
          </a:p>
        </p:txBody>
      </p:sp>
      <p:pic>
        <p:nvPicPr>
          <p:cNvPr id="514" name="Google Shape;470;p17"/>
          <p:cNvPicPr>
            <a:picLocks xmlns:a="http://schemas.openxmlformats.org/drawingml/2006/main" noChangeAspect="1"/>
          </p:cNvPicPr>
          <p:nvPr/>
        </p:nvPicPr>
        <p:blipFill rotWithShape="1">
          <a:blip xmlns:r="http://schemas.openxmlformats.org/officeDocument/2006/relationships" xmlns:a="http://schemas.openxmlformats.org/drawingml/2006/main" r:embed="R1a0bb9f111e74afa">
            <a:alphaModFix/>
          </a:blip>
          <a:srcRect xmlns:a="http://schemas.openxmlformats.org/drawingml/2006/main" l="0" t="0" r="0" b="0"/>
          <a:stretch xmlns:a="http://schemas.openxmlformats.org/drawingml/2006/main"/>
        </p:blipFill>
        <p:spPr>
          <a:xfrm xmlns:a="http://schemas.openxmlformats.org/drawingml/2006/main">
            <a:off x="508271" y="2113160"/>
            <a:ext cx="181141" cy="181141"/>
          </a:xfrm>
          <a:prstGeom xmlns:a="http://schemas.openxmlformats.org/drawingml/2006/main" prst="rect">
            <a:avLst/>
          </a:prstGeom>
          <a:ln xmlns:a="http://schemas.openxmlformats.org/drawingml/2006/main">
            <a:noFill/>
          </a:ln>
        </p:spPr>
      </p:pic>
      <p:sp>
        <p:nvSpPr>
          <p:cNvPr id="471" name="Google Shape;471;p17">
            <a:extLst xmlns:a="http://schemas.openxmlformats.org/drawingml/2006/main">
              <a:ext uri="{FF2B5EF4-FFF2-40B4-BE49-F238E27FC236}">
                <a16:creationId xmlns:a16="http://schemas.microsoft.com/office/drawing/2014/main" id="{61474D8B-F5B7-4AB9-A8B7-D7C8C644E3F0}"/>
              </a:ext>
            </a:extLst>
          </p:cNvPr>
          <p:cNvSpPr>
            <a:spLocks xmlns:a="http://schemas.openxmlformats.org/drawingml/2006/main" noGrp="1"/>
          </p:cNvSpPr>
          <p:nvPr/>
        </p:nvSpPr>
        <p:spPr>
          <a:xfrm xmlns:a="http://schemas.openxmlformats.org/drawingml/2006/main">
            <a:off x="770614" y="212565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4" b="1" i="0" u="none" cap="none">
                <a:solidFill>
                  <a:srgbClr val="1F497D"/>
                </a:solidFill>
                <a:latin typeface="Arial"/>
                <a:ea typeface="Arial"/>
                <a:cs typeface="Arial"/>
              </a:rPr>
              <a:t>Working local MVP</a:t>
            </a:r>
            <a:endParaRPr sz="918"/>
          </a:p>
        </p:txBody>
      </p:sp>
      <p:sp>
        <p:nvSpPr>
          <p:cNvPr id="472" name="Google Shape;472;p17">
            <a:extLst xmlns:a="http://schemas.openxmlformats.org/drawingml/2006/main">
              <a:ext uri="{FF2B5EF4-FFF2-40B4-BE49-F238E27FC236}">
                <a16:creationId xmlns:a16="http://schemas.microsoft.com/office/drawing/2014/main" id="{0D3B4EB0-3EC3-4FCD-89E6-6458464E1A56}"/>
              </a:ext>
            </a:extLst>
          </p:cNvPr>
          <p:cNvSpPr>
            <a:spLocks xmlns:a="http://schemas.openxmlformats.org/drawingml/2006/main" noGrp="1"/>
          </p:cNvSpPr>
          <p:nvPr/>
        </p:nvSpPr>
        <p:spPr>
          <a:xfrm xmlns:a="http://schemas.openxmlformats.org/drawingml/2006/main">
            <a:off x="502025" y="2387996"/>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React / FastAPI case workspace.</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Causal tracing, PDF reports and replay.</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Six chain adapter parsers implemented.</a:t>
            </a:r>
            <a:endParaRPr sz="918"/>
          </a:p>
        </p:txBody>
      </p:sp>
      <p:sp>
        <p:nvSpPr>
          <p:cNvPr id="473" name="Google Shape;473;p17">
            <a:extLst xmlns:a="http://schemas.openxmlformats.org/drawingml/2006/main">
              <a:ext uri="{FF2B5EF4-FFF2-40B4-BE49-F238E27FC236}">
                <a16:creationId xmlns:a16="http://schemas.microsoft.com/office/drawing/2014/main" id="{1F91C89E-8D1A-4813-85B1-D02FFA248A39}"/>
              </a:ext>
            </a:extLst>
          </p:cNvPr>
          <p:cNvSpPr>
            <a:spLocks xmlns:a="http://schemas.openxmlformats.org/drawingml/2006/main" noGrp="1"/>
          </p:cNvSpPr>
          <p:nvPr/>
        </p:nvSpPr>
        <p:spPr>
          <a:xfrm xmlns:a="http://schemas.openxmlformats.org/drawingml/2006/main">
            <a:off x="502025" y="2887697"/>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116 backend tests passed.</a:t>
            </a:r>
            <a:endParaRPr sz="918"/>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Live data alone does not establish ownership.</a:t>
            </a:r>
            <a:endParaRPr sz="918"/>
          </a:p>
        </p:txBody>
      </p:sp>
      <p:sp>
        <p:nvSpPr>
          <p:cNvPr id="474" name="Google Shape;474;p17">
            <a:extLst xmlns:a="http://schemas.openxmlformats.org/drawingml/2006/main">
              <a:ext uri="{FF2B5EF4-FFF2-40B4-BE49-F238E27FC236}">
                <a16:creationId xmlns:a16="http://schemas.microsoft.com/office/drawing/2014/main" id="{39D95849-190D-4C4A-9E50-87523E89C907}"/>
              </a:ext>
            </a:extLst>
          </p:cNvPr>
          <p:cNvSpPr>
            <a:spLocks xmlns:a="http://schemas.openxmlformats.org/drawingml/2006/main" noGrp="1"/>
          </p:cNvSpPr>
          <p:nvPr/>
        </p:nvSpPr>
        <p:spPr>
          <a:xfrm xmlns:a="http://schemas.openxmlformats.org/drawingml/2006/main">
            <a:off x="502046" y="3319049"/>
            <a:ext cx="2348700" cy="181200"/>
          </a:xfrm>
          <a:prstGeom xmlns:a="http://schemas.openxmlformats.org/drawingml/2006/main" prst="rect">
            <a:avLst/>
          </a:prstGeom>
          <a:solidFill xmlns:a="http://schemas.openxmlformats.org/drawingml/2006/main">
            <a:srgbClr val="1F497D"/>
          </a:solidFill>
          <a:ln xmlns:a="http://schemas.openxmlformats.org/drawingml/2006/main" w="6250" cmpd="sng">
            <a:solidFill>
              <a:srgbClr val="1F497D"/>
            </a:solidFill>
            <a:prstDash val="solid"/>
            <a:headEnd type="none" w="sm" len="sm"/>
            <a:tailEnd type="none" w="sm" len="sm"/>
          </a:ln>
        </p:spPr>
        <p:txBody>
          <a:bodyPr xmlns:a="http://schemas.openxmlformats.org/drawingml/2006/main" spcFirstLastPara="1" wrap="square" lIns="59950" tIns="59950" rIns="59950" bIns="59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5" name="Google Shape;475;p17">
            <a:extLst xmlns:a="http://schemas.openxmlformats.org/drawingml/2006/main">
              <a:ext uri="{FF2B5EF4-FFF2-40B4-BE49-F238E27FC236}">
                <a16:creationId xmlns:a16="http://schemas.microsoft.com/office/drawing/2014/main" id="{31B6F308-A627-4857-88FA-98390993D6BD}"/>
              </a:ext>
            </a:extLst>
          </p:cNvPr>
          <p:cNvSpPr>
            <a:spLocks xmlns:a="http://schemas.openxmlformats.org/drawingml/2006/main" noGrp="1"/>
          </p:cNvSpPr>
          <p:nvPr/>
        </p:nvSpPr>
        <p:spPr>
          <a:xfrm xmlns:a="http://schemas.openxmlformats.org/drawingml/2006/main">
            <a:off x="558264" y="3350281"/>
            <a:ext cx="2236200" cy="13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46" b="1" i="0" u="none" cap="none">
                <a:solidFill>
                  <a:srgbClr val="FFFFFF"/>
                </a:solidFill>
                <a:latin typeface="Arial"/>
                <a:ea typeface="Arial"/>
                <a:cs typeface="Arial"/>
              </a:rPr>
              <a:t>OPERATIONAL VIABILITY</a:t>
            </a:r>
            <a:endParaRPr sz="918"/>
          </a:p>
        </p:txBody>
      </p:sp>
      <p:pic>
        <p:nvPicPr>
          <p:cNvPr id="520" name="Google Shape;476;p17"/>
          <p:cNvPicPr>
            <a:picLocks xmlns:a="http://schemas.openxmlformats.org/drawingml/2006/main" noChangeAspect="1"/>
          </p:cNvPicPr>
          <p:nvPr/>
        </p:nvPicPr>
        <p:blipFill rotWithShape="1">
          <a:blip xmlns:r="http://schemas.openxmlformats.org/officeDocument/2006/relationships" xmlns:a="http://schemas.openxmlformats.org/drawingml/2006/main" r:embed="R9152b6fdca8449d3">
            <a:alphaModFix/>
          </a:blip>
          <a:srcRect xmlns:a="http://schemas.openxmlformats.org/drawingml/2006/main" l="0" t="0" r="0" b="0"/>
          <a:stretch xmlns:a="http://schemas.openxmlformats.org/drawingml/2006/main"/>
        </p:blipFill>
        <p:spPr>
          <a:xfrm xmlns:a="http://schemas.openxmlformats.org/drawingml/2006/main">
            <a:off x="508292" y="3593890"/>
            <a:ext cx="181145" cy="181145"/>
          </a:xfrm>
          <a:prstGeom xmlns:a="http://schemas.openxmlformats.org/drawingml/2006/main" prst="rect">
            <a:avLst/>
          </a:prstGeom>
          <a:ln xmlns:a="http://schemas.openxmlformats.org/drawingml/2006/main">
            <a:noFill/>
          </a:ln>
        </p:spPr>
      </p:pic>
      <p:sp>
        <p:nvSpPr>
          <p:cNvPr id="477" name="Google Shape;477;p17">
            <a:extLst xmlns:a="http://schemas.openxmlformats.org/drawingml/2006/main">
              <a:ext uri="{FF2B5EF4-FFF2-40B4-BE49-F238E27FC236}">
                <a16:creationId xmlns:a16="http://schemas.microsoft.com/office/drawing/2014/main" id="{CB6E6A90-56CD-4EAE-AF4B-3FCED239BB35}"/>
              </a:ext>
            </a:extLst>
          </p:cNvPr>
          <p:cNvSpPr>
            <a:spLocks xmlns:a="http://schemas.openxmlformats.org/drawingml/2006/main" noGrp="1"/>
          </p:cNvSpPr>
          <p:nvPr/>
        </p:nvSpPr>
        <p:spPr>
          <a:xfrm xmlns:a="http://schemas.openxmlformats.org/drawingml/2006/main">
            <a:off x="770642" y="3606383"/>
            <a:ext cx="2080200" cy="18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35" b="1" i="0" u="none" cap="none">
                <a:solidFill>
                  <a:srgbClr val="1F497D"/>
                </a:solidFill>
                <a:latin typeface="Arial"/>
                <a:ea typeface="Arial"/>
                <a:cs typeface="Arial"/>
              </a:rPr>
              <a:t>Review remains with officers</a:t>
            </a:r>
            <a:endParaRPr sz="918"/>
          </a:p>
        </p:txBody>
      </p:sp>
      <p:sp>
        <p:nvSpPr>
          <p:cNvPr id="478" name="Google Shape;478;p17">
            <a:extLst xmlns:a="http://schemas.openxmlformats.org/drawingml/2006/main">
              <a:ext uri="{FF2B5EF4-FFF2-40B4-BE49-F238E27FC236}">
                <a16:creationId xmlns:a16="http://schemas.microsoft.com/office/drawing/2014/main" id="{102CCD7E-BD64-4EB5-BE6B-E311EAB16BB7}"/>
              </a:ext>
            </a:extLst>
          </p:cNvPr>
          <p:cNvSpPr>
            <a:spLocks xmlns:a="http://schemas.openxmlformats.org/drawingml/2006/main" noGrp="1"/>
          </p:cNvSpPr>
          <p:nvPr/>
        </p:nvSpPr>
        <p:spPr>
          <a:xfrm xmlns:a="http://schemas.openxmlformats.org/drawingml/2006/main">
            <a:off x="502046" y="3868731"/>
            <a:ext cx="2348700" cy="48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Investigators inspect paths and sources.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An independent reviewer approves requests.</a:t>
            </a:r>
            <a:endParaRPr sz="918"/>
          </a:p>
          <a:p xmlns:a="http://schemas.openxmlformats.org/drawingml/2006/main">
            <a:pPr marL="0" marR="0" lvl="0" indent="0" algn="l">
              <a:spcBef>
                <a:spcPts val="0"/>
              </a:spcBef>
              <a:spcAft>
                <a:spcPts val="0"/>
              </a:spcAft>
              <a:buNone/>
            </a:pPr>
            <a:r>
              <a:rPr sz="812" b="0" i="0" u="none" cap="none">
                <a:solidFill>
                  <a:srgbClr val="17232F"/>
                </a:solidFill>
                <a:latin typeface="Arial"/>
                <a:ea typeface="Arial"/>
                <a:cs typeface="Arial"/>
              </a:rPr>
              <a:t>SAHYOG delivery needs approved access.</a:t>
            </a:r>
            <a:endParaRPr sz="918"/>
          </a:p>
        </p:txBody>
      </p:sp>
      <p:sp>
        <p:nvSpPr>
          <p:cNvPr id="479" name="Google Shape;479;p17">
            <a:extLst xmlns:a="http://schemas.openxmlformats.org/drawingml/2006/main">
              <a:ext uri="{FF2B5EF4-FFF2-40B4-BE49-F238E27FC236}">
                <a16:creationId xmlns:a16="http://schemas.microsoft.com/office/drawing/2014/main" id="{8E5C6632-6F66-47EB-9E18-79D63C3B9597}"/>
              </a:ext>
            </a:extLst>
          </p:cNvPr>
          <p:cNvSpPr>
            <a:spLocks xmlns:a="http://schemas.openxmlformats.org/drawingml/2006/main" noGrp="1"/>
          </p:cNvSpPr>
          <p:nvPr/>
        </p:nvSpPr>
        <p:spPr>
          <a:xfrm xmlns:a="http://schemas.openxmlformats.org/drawingml/2006/main">
            <a:off x="502046" y="4368441"/>
            <a:ext cx="2348700" cy="25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Pilot requires licensed labels, known recipients</a:t>
            </a:r>
            <a:endParaRPr sz="918"/>
          </a:p>
          <a:p xmlns:a="http://schemas.openxmlformats.org/drawingml/2006/main">
            <a:pPr marL="0" marR="0" lvl="0" indent="0" algn="l">
              <a:spcBef>
                <a:spcPts val="0"/>
              </a:spcBef>
              <a:spcAft>
                <a:spcPts val="0"/>
              </a:spcAft>
              <a:buNone/>
            </a:pPr>
            <a:r>
              <a:rPr sz="684" b="0" i="0" u="none" cap="none">
                <a:solidFill>
                  <a:srgbClr val="526273"/>
                </a:solidFill>
                <a:latin typeface="Arial"/>
                <a:ea typeface="Arial"/>
                <a:cs typeface="Arial"/>
              </a:rPr>
              <a:t>and independent first-VASP ground truth.</a:t>
            </a:r>
            <a:endParaRPr sz="918"/>
          </a:p>
        </p:txBody>
      </p:sp>
      <p:sp>
        <p:nvSpPr>
          <p:cNvPr id="480" name="Google Shape;480;p17">
            <a:extLst xmlns:a="http://schemas.openxmlformats.org/drawingml/2006/main">
              <a:ext uri="{FF2B5EF4-FFF2-40B4-BE49-F238E27FC236}">
                <a16:creationId xmlns:a16="http://schemas.microsoft.com/office/drawing/2014/main" id="{96FFFB56-F21A-4750-B5AD-3750B9D15939}"/>
              </a:ext>
            </a:extLst>
          </p:cNvPr>
          <p:cNvSpPr>
            <a:spLocks xmlns:a="http://schemas.openxmlformats.org/drawingml/2006/main" noGrp="1"/>
          </p:cNvSpPr>
          <p:nvPr/>
        </p:nvSpPr>
        <p:spPr>
          <a:xfrm xmlns:a="http://schemas.openxmlformats.org/drawingml/2006/main">
            <a:off x="501938" y="4736975"/>
            <a:ext cx="2348700" cy="175200"/>
          </a:xfrm>
          <a:prstGeom xmlns:a="http://schemas.openxmlformats.org/drawingml/2006/main" prst="rect">
            <a:avLst/>
          </a:prstGeom>
          <a:solidFill xmlns:a="http://schemas.openxmlformats.org/drawingml/2006/main">
            <a:srgbClr val="1F497D"/>
          </a:solidFill>
          <a:ln xmlns:a="http://schemas.openxmlformats.org/drawingml/2006/main" w="6050" cmpd="sng">
            <a:solidFill>
              <a:srgbClr val="1F497D"/>
            </a:solidFill>
            <a:prstDash val="solid"/>
            <a:headEnd type="none" w="sm" len="sm"/>
            <a:tailEnd type="none" w="sm" len="sm"/>
          </a:ln>
        </p:spPr>
        <p:txBody>
          <a:bodyPr xmlns:a="http://schemas.openxmlformats.org/drawingml/2006/main" spcFirstLastPara="1" wrap="square" lIns="57950" tIns="57950" rIns="57950" bIns="5795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1" name="Google Shape;481;p17">
            <a:extLst xmlns:a="http://schemas.openxmlformats.org/drawingml/2006/main">
              <a:ext uri="{FF2B5EF4-FFF2-40B4-BE49-F238E27FC236}">
                <a16:creationId xmlns:a16="http://schemas.microsoft.com/office/drawing/2014/main" id="{20B2213E-E6AD-4557-B571-539B34FC42A5}"/>
              </a:ext>
            </a:extLst>
          </p:cNvPr>
          <p:cNvSpPr>
            <a:spLocks xmlns:a="http://schemas.openxmlformats.org/drawingml/2006/main" noGrp="1"/>
          </p:cNvSpPr>
          <p:nvPr/>
        </p:nvSpPr>
        <p:spPr>
          <a:xfrm xmlns:a="http://schemas.openxmlformats.org/drawingml/2006/main">
            <a:off x="556275" y="4767163"/>
            <a:ext cx="2239800" cy="1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818" b="1" i="0" u="none" cap="none">
                <a:solidFill>
                  <a:srgbClr val="FFFFFF"/>
                </a:solidFill>
                <a:latin typeface="Arial"/>
                <a:ea typeface="Arial"/>
                <a:cs typeface="Arial"/>
              </a:rPr>
              <a:t>COST &amp; DEPLOYMENT</a:t>
            </a:r>
            <a:endParaRPr sz="887"/>
          </a:p>
        </p:txBody>
      </p:sp>
      <p:sp>
        <p:nvSpPr>
          <p:cNvPr id="482" name="Google Shape;482;p17">
            <a:extLst xmlns:a="http://schemas.openxmlformats.org/drawingml/2006/main">
              <a:ext uri="{FF2B5EF4-FFF2-40B4-BE49-F238E27FC236}">
                <a16:creationId xmlns:a16="http://schemas.microsoft.com/office/drawing/2014/main" id="{F72DC756-0301-43FF-A5F7-399BFBEF35C3}"/>
              </a:ext>
            </a:extLst>
          </p:cNvPr>
          <p:cNvSpPr>
            <a:spLocks xmlns:a="http://schemas.openxmlformats.org/drawingml/2006/main" noGrp="1"/>
          </p:cNvSpPr>
          <p:nvPr/>
        </p:nvSpPr>
        <p:spPr>
          <a:xfrm xmlns:a="http://schemas.openxmlformats.org/drawingml/2006/main">
            <a:off x="761552" y="5014702"/>
            <a:ext cx="2089200" cy="17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903" b="1" i="0" u="none" cap="none">
                <a:solidFill>
                  <a:srgbClr val="1F497D"/>
                </a:solidFill>
                <a:latin typeface="Arial"/>
                <a:ea typeface="Arial"/>
                <a:cs typeface="Arial"/>
              </a:rPr>
              <a:t>Open-source core, explicit costs</a:t>
            </a:r>
            <a:endParaRPr sz="887"/>
          </a:p>
        </p:txBody>
      </p:sp>
      <p:sp>
        <p:nvSpPr>
          <p:cNvPr id="483" name="Google Shape;483;p17">
            <a:extLst xmlns:a="http://schemas.openxmlformats.org/drawingml/2006/main">
              <a:ext uri="{FF2B5EF4-FFF2-40B4-BE49-F238E27FC236}">
                <a16:creationId xmlns:a16="http://schemas.microsoft.com/office/drawing/2014/main" id="{9EDB691F-365A-4111-8327-1787F5C4EA6E}"/>
              </a:ext>
            </a:extLst>
          </p:cNvPr>
          <p:cNvSpPr>
            <a:spLocks xmlns:a="http://schemas.openxmlformats.org/drawingml/2006/main" noGrp="1"/>
          </p:cNvSpPr>
          <p:nvPr/>
        </p:nvSpPr>
        <p:spPr>
          <a:xfrm xmlns:a="http://schemas.openxmlformats.org/drawingml/2006/main">
            <a:off x="501938" y="5268279"/>
            <a:ext cx="2348700" cy="46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API quotas and licensed labels drive cost.</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Cache responses and cap each acquisition.</a:t>
            </a:r>
            <a:endParaRPr sz="887"/>
          </a:p>
          <a:p xmlns:a="http://schemas.openxmlformats.org/drawingml/2006/main">
            <a:pPr marL="0" marR="0" lvl="0" indent="0" algn="l">
              <a:spcBef>
                <a:spcPts val="0"/>
              </a:spcBef>
              <a:spcAft>
                <a:spcPts val="0"/>
              </a:spcAft>
              <a:buNone/>
              <a:defRPr sz="938">
                <a:latin typeface="Arial"/>
                <a:ea typeface="Arial"/>
                <a:cs typeface="Arial"/>
              </a:defRPr>
            </a:pPr>
            <a:r>
              <a:rPr sz="938" b="0" i="0" u="none" cap="none">
                <a:solidFill>
                  <a:srgbClr val="17232F"/>
                </a:solidFill>
                <a:latin typeface="Arial"/>
                <a:ea typeface="Arial"/>
                <a:cs typeface="Arial"/>
              </a:rPr>
              <a:t>Current: SQLite and local files.</a:t>
            </a:r>
            <a:endParaRPr sz="887"/>
          </a:p>
        </p:txBody>
      </p:sp>
      <p:sp>
        <p:nvSpPr>
          <p:cNvPr id="484" name="Google Shape;484;p17">
            <a:extLst xmlns:a="http://schemas.openxmlformats.org/drawingml/2006/main">
              <a:ext uri="{FF2B5EF4-FFF2-40B4-BE49-F238E27FC236}">
                <a16:creationId xmlns:a16="http://schemas.microsoft.com/office/drawing/2014/main" id="{68415E1C-B927-42BD-B4C9-D4B60240EDA1}"/>
              </a:ext>
            </a:extLst>
          </p:cNvPr>
          <p:cNvSpPr>
            <a:spLocks xmlns:a="http://schemas.openxmlformats.org/drawingml/2006/main" noGrp="1"/>
          </p:cNvSpPr>
          <p:nvPr/>
        </p:nvSpPr>
        <p:spPr>
          <a:xfrm xmlns:a="http://schemas.openxmlformats.org/drawingml/2006/main">
            <a:off x="501938" y="5751283"/>
            <a:ext cx="2348700" cy="24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Agency deployment remains future work.</a:t>
            </a:r>
            <a:endParaRPr sz="887"/>
          </a:p>
          <a:p xmlns:a="http://schemas.openxmlformats.org/drawingml/2006/main">
            <a:pPr marL="0" marR="0" lvl="0" indent="0" algn="l">
              <a:spcBef>
                <a:spcPts val="0"/>
              </a:spcBef>
              <a:spcAft>
                <a:spcPts val="0"/>
              </a:spcAft>
              <a:buNone/>
              <a:defRPr sz="825">
                <a:latin typeface="Arial"/>
                <a:ea typeface="Arial"/>
                <a:cs typeface="Arial"/>
              </a:defRPr>
            </a:pPr>
            <a:r>
              <a:rPr sz="825" b="0" i="0" u="none" cap="none">
                <a:solidFill>
                  <a:srgbClr val="526273"/>
                </a:solidFill>
                <a:latin typeface="Arial"/>
                <a:ea typeface="Arial"/>
                <a:cs typeface="Arial"/>
              </a:rPr>
              <a:t>Security, scale and restore validation required.</a:t>
            </a:r>
            <a:endParaRPr sz="887"/>
          </a:p>
        </p:txBody>
      </p:sp>
      <p:pic>
        <p:nvPicPr>
          <p:cNvPr id="529" name=""/>
          <p:cNvPicPr>
            <a:picLocks xmlns:a="http://schemas.openxmlformats.org/drawingml/2006/main" noChangeAspect="1"/>
          </p:cNvPicPr>
          <p:nvPr/>
        </p:nvPicPr>
        <p:blipFill>
          <a:blip xmlns:r="http://schemas.openxmlformats.org/officeDocument/2006/relationships" xmlns:a="http://schemas.openxmlformats.org/drawingml/2006/main" r:embed="R1056e976a732457c"/>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492" name="">
            <a:extLst xmlns:a="http://schemas.openxmlformats.org/drawingml/2006/main">
              <a:ext uri="{FF2B5EF4-FFF2-40B4-BE49-F238E27FC236}">
                <a16:creationId xmlns:a16="http://schemas.microsoft.com/office/drawing/2014/main" id="{7D42C6CD-F74D-447F-8390-B130D0FC208D}"/>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493" name="">
            <a:extLst xmlns:a="http://schemas.openxmlformats.org/drawingml/2006/main">
              <a:ext uri="{FF2B5EF4-FFF2-40B4-BE49-F238E27FC236}">
                <a16:creationId xmlns:a16="http://schemas.microsoft.com/office/drawing/2014/main" id="{B1A6B161-AB07-49B6-A9A0-94525045D2AF}"/>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553404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90" name="Google Shape;490;p18">
            <a:extLst xmlns:a="http://schemas.openxmlformats.org/drawingml/2006/main">
              <a:ext uri="{FF2B5EF4-FFF2-40B4-BE49-F238E27FC236}">
                <a16:creationId xmlns:a16="http://schemas.microsoft.com/office/drawing/2014/main" id="{75672016-E60E-45EF-BC13-3CC4B9A29410}"/>
              </a:ext>
            </a:extLst>
          </p:cNvPr>
          <p:cNvSpPr>
            <a:spLocks xmlns:a="http://schemas.openxmlformats.org/drawingml/2006/main" noGrp="1"/>
          </p:cNvSpPr>
          <p:nvPr/>
        </p:nvSpPr>
        <p:spPr>
          <a:xfrm xmlns:a="http://schemas.openxmlformats.org/drawingml/2006/main">
            <a:off x="333375" y="1381125"/>
            <a:ext cx="68010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725">
                <a:latin typeface="Arial"/>
                <a:ea typeface="Arial"/>
                <a:cs typeface="Arial"/>
              </a:defRPr>
            </a:pPr>
            <a:r>
              <a:rPr sz="1725" b="1" i="0" u="none" cap="none">
                <a:solidFill>
                  <a:srgbClr val="1F497D"/>
                </a:solidFill>
                <a:latin typeface="Arial"/>
                <a:ea typeface="Arial"/>
                <a:cs typeface="Arial"/>
              </a:rPr>
              <a:t>WHY THIS PROBLEM MATTERS</a:t>
            </a:r>
            <a:endParaRPr/>
          </a:p>
        </p:txBody>
      </p:sp>
      <p:sp>
        <p:nvSpPr>
          <p:cNvPr id="491" name="Google Shape;491;p18">
            <a:extLst xmlns:a="http://schemas.openxmlformats.org/drawingml/2006/main">
              <a:ext uri="{FF2B5EF4-FFF2-40B4-BE49-F238E27FC236}">
                <a16:creationId xmlns:a16="http://schemas.microsoft.com/office/drawing/2014/main" id="{961DC7F2-D71A-47F6-90B0-C78646D3DF99}"/>
              </a:ext>
            </a:extLst>
          </p:cNvPr>
          <p:cNvSpPr>
            <a:spLocks xmlns:a="http://schemas.openxmlformats.org/drawingml/2006/main" noGrp="1"/>
          </p:cNvSpPr>
          <p:nvPr/>
        </p:nvSpPr>
        <p:spPr>
          <a:xfrm xmlns:a="http://schemas.openxmlformats.org/drawingml/2006/main">
            <a:off x="7620000" y="1438275"/>
            <a:ext cx="4267200" cy="20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defRPr sz="1050">
                <a:latin typeface="Arial"/>
                <a:ea typeface="Arial"/>
                <a:cs typeface="Arial"/>
              </a:defRPr>
            </a:pPr>
            <a:r>
              <a:rPr sz="1050" b="0" i="0" u="none" cap="none">
                <a:solidFill>
                  <a:srgbClr val="526273"/>
                </a:solidFill>
                <a:latin typeface="Arial"/>
                <a:ea typeface="Arial"/>
                <a:cs typeface="Arial"/>
              </a:rPr>
              <a:t>Public context and the prototype’s contribution</a:t>
            </a:r>
            <a:endParaRPr/>
          </a:p>
        </p:txBody>
      </p:sp>
      <p:pic>
        <p:nvPicPr>
          <p:cNvPr id="540" name="Google Shape;492;p18"/>
          <p:cNvPicPr>
            <a:picLocks xmlns:a="http://schemas.openxmlformats.org/drawingml/2006/main" noChangeAspect="1"/>
          </p:cNvPicPr>
          <p:nvPr/>
        </p:nvPicPr>
        <p:blipFill rotWithShape="1">
          <a:blip xmlns:r="http://schemas.openxmlformats.org/officeDocument/2006/relationships" xmlns:a="http://schemas.openxmlformats.org/drawingml/2006/main" r:embed="R85230285869949ef">
            <a:alphaModFix/>
          </a:blip>
          <a:srcRect xmlns:a="http://schemas.openxmlformats.org/drawingml/2006/main" l="0" t="0" r="0" b="0"/>
          <a:stretch xmlns:a="http://schemas.openxmlformats.org/drawingml/2006/main"/>
        </p:blipFill>
        <p:spPr>
          <a:xfrm xmlns:a="http://schemas.openxmlformats.org/drawingml/2006/main">
            <a:off x="333375" y="1828800"/>
            <a:ext cx="400050" cy="400050"/>
          </a:xfrm>
          <a:prstGeom xmlns:a="http://schemas.openxmlformats.org/drawingml/2006/main" prst="rect">
            <a:avLst/>
          </a:prstGeom>
          <a:ln xmlns:a="http://schemas.openxmlformats.org/drawingml/2006/main">
            <a:noFill/>
          </a:ln>
        </p:spPr>
      </p:pic>
      <p:sp>
        <p:nvSpPr>
          <p:cNvPr id="493" name="Google Shape;493;p18">
            <a:extLst xmlns:a="http://schemas.openxmlformats.org/drawingml/2006/main">
              <a:ext uri="{FF2B5EF4-FFF2-40B4-BE49-F238E27FC236}">
                <a16:creationId xmlns:a16="http://schemas.microsoft.com/office/drawing/2014/main" id="{9CA29565-0426-485D-9924-11330BD7FF68}"/>
              </a:ext>
            </a:extLst>
          </p:cNvPr>
          <p:cNvSpPr>
            <a:spLocks xmlns:a="http://schemas.openxmlformats.org/drawingml/2006/main" noGrp="1"/>
          </p:cNvSpPr>
          <p:nvPr/>
        </p:nvSpPr>
        <p:spPr>
          <a:xfrm xmlns:a="http://schemas.openxmlformats.org/drawingml/2006/main">
            <a:off x="8953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1F497D"/>
                </a:solidFill>
                <a:latin typeface="Arial"/>
                <a:ea typeface="Arial"/>
                <a:cs typeface="Arial"/>
              </a:rPr>
              <a:t>₹1,646 cr</a:t>
            </a:r>
            <a:endParaRPr/>
          </a:p>
        </p:txBody>
      </p:sp>
      <p:sp>
        <p:nvSpPr>
          <p:cNvPr id="494" name="Google Shape;494;p18">
            <a:extLst xmlns:a="http://schemas.openxmlformats.org/drawingml/2006/main">
              <a:ext uri="{FF2B5EF4-FFF2-40B4-BE49-F238E27FC236}">
                <a16:creationId xmlns:a16="http://schemas.microsoft.com/office/drawing/2014/main" id="{751AF4F0-1944-4167-AA1E-424E5EBFB16D}"/>
              </a:ext>
            </a:extLst>
          </p:cNvPr>
          <p:cNvSpPr>
            <a:spLocks xmlns:a="http://schemas.openxmlformats.org/drawingml/2006/main" noGrp="1"/>
          </p:cNvSpPr>
          <p:nvPr/>
        </p:nvSpPr>
        <p:spPr>
          <a:xfrm xmlns:a="http://schemas.openxmlformats.org/drawingml/2006/main">
            <a:off x="3333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Crypto seized in a fraud case [9]</a:t>
            </a:r>
            <a:endParaRPr/>
          </a:p>
        </p:txBody>
      </p:sp>
      <p:sp>
        <p:nvSpPr>
          <p:cNvPr id="495" name="Google Shape;495;p18">
            <a:extLst xmlns:a="http://schemas.openxmlformats.org/drawingml/2006/main">
              <a:ext uri="{FF2B5EF4-FFF2-40B4-BE49-F238E27FC236}">
                <a16:creationId xmlns:a16="http://schemas.microsoft.com/office/drawing/2014/main" id="{A7C8A219-4FCC-4EA0-85B2-59BF673131F5}"/>
              </a:ext>
            </a:extLst>
          </p:cNvPr>
          <p:cNvSpPr>
            <a:spLocks xmlns:a="http://schemas.openxmlformats.org/drawingml/2006/main" noGrp="1"/>
          </p:cNvSpPr>
          <p:nvPr/>
        </p:nvSpPr>
        <p:spPr>
          <a:xfrm xmlns:a="http://schemas.openxmlformats.org/drawingml/2006/main">
            <a:off x="3333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ED reported a ₹1,646 crore crypto seizure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in the BitConnect fraud investigation.</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Official release, 15 February 2025.</a:t>
            </a:r>
            <a:endParaRPr/>
          </a:p>
        </p:txBody>
      </p:sp>
      <p:pic>
        <p:nvPicPr>
          <p:cNvPr id="544" name="Google Shape;496;p18"/>
          <p:cNvPicPr>
            <a:picLocks xmlns:a="http://schemas.openxmlformats.org/drawingml/2006/main" noChangeAspect="1"/>
          </p:cNvPicPr>
          <p:nvPr/>
        </p:nvPicPr>
        <p:blipFill rotWithShape="1">
          <a:blip xmlns:r="http://schemas.openxmlformats.org/officeDocument/2006/relationships" xmlns:a="http://schemas.openxmlformats.org/drawingml/2006/main" r:embed="R148d607759524643">
            <a:alphaModFix/>
          </a:blip>
          <a:srcRect xmlns:a="http://schemas.openxmlformats.org/drawingml/2006/main" l="0" t="0" r="0" b="0"/>
          <a:stretch xmlns:a="http://schemas.openxmlformats.org/drawingml/2006/main"/>
        </p:blipFill>
        <p:spPr>
          <a:xfrm xmlns:a="http://schemas.openxmlformats.org/drawingml/2006/main">
            <a:off x="4257675" y="1828800"/>
            <a:ext cx="400050" cy="400050"/>
          </a:xfrm>
          <a:prstGeom xmlns:a="http://schemas.openxmlformats.org/drawingml/2006/main" prst="rect">
            <a:avLst/>
          </a:prstGeom>
          <a:ln xmlns:a="http://schemas.openxmlformats.org/drawingml/2006/main">
            <a:noFill/>
          </a:ln>
        </p:spPr>
      </p:pic>
      <p:sp>
        <p:nvSpPr>
          <p:cNvPr id="497" name="Google Shape;497;p18">
            <a:extLst xmlns:a="http://schemas.openxmlformats.org/drawingml/2006/main">
              <a:ext uri="{FF2B5EF4-FFF2-40B4-BE49-F238E27FC236}">
                <a16:creationId xmlns:a16="http://schemas.microsoft.com/office/drawing/2014/main" id="{3B67DAD9-9E24-4C07-9D0C-2A0C1F9B2B53}"/>
              </a:ext>
            </a:extLst>
          </p:cNvPr>
          <p:cNvSpPr>
            <a:spLocks xmlns:a="http://schemas.openxmlformats.org/drawingml/2006/main" noGrp="1"/>
          </p:cNvSpPr>
          <p:nvPr/>
        </p:nvSpPr>
        <p:spPr>
          <a:xfrm xmlns:a="http://schemas.openxmlformats.org/drawingml/2006/main">
            <a:off x="48196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2400">
                <a:latin typeface="Arial"/>
                <a:ea typeface="Arial"/>
                <a:cs typeface="Arial"/>
              </a:defRPr>
            </a:pPr>
            <a:r>
              <a:rPr sz="2400" b="1" i="0" u="none" cap="none">
                <a:solidFill>
                  <a:srgbClr val="4BACC6"/>
                </a:solidFill>
                <a:latin typeface="Arial"/>
                <a:ea typeface="Arial"/>
                <a:cs typeface="Arial"/>
              </a:rPr>
              <a:t>First custody</a:t>
            </a:r>
            <a:endParaRPr/>
          </a:p>
        </p:txBody>
      </p:sp>
      <p:sp>
        <p:nvSpPr>
          <p:cNvPr id="498" name="Google Shape;498;p18">
            <a:extLst xmlns:a="http://schemas.openxmlformats.org/drawingml/2006/main">
              <a:ext uri="{FF2B5EF4-FFF2-40B4-BE49-F238E27FC236}">
                <a16:creationId xmlns:a16="http://schemas.microsoft.com/office/drawing/2014/main" id="{84BD112F-672D-46BA-9762-3270EDD1F57A}"/>
              </a:ext>
            </a:extLst>
          </p:cNvPr>
          <p:cNvSpPr>
            <a:spLocks xmlns:a="http://schemas.openxmlformats.org/drawingml/2006/main" noGrp="1"/>
          </p:cNvSpPr>
          <p:nvPr/>
        </p:nvSpPr>
        <p:spPr>
          <a:xfrm xmlns:a="http://schemas.openxmlformats.org/drawingml/2006/main">
            <a:off x="42576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75">
                <a:latin typeface="Arial"/>
                <a:ea typeface="Arial"/>
                <a:cs typeface="Arial"/>
              </a:defRPr>
            </a:pPr>
            <a:r>
              <a:rPr sz="1275" b="1" i="0" u="none" cap="none">
                <a:solidFill>
                  <a:srgbClr val="1F497D"/>
                </a:solidFill>
                <a:latin typeface="Arial"/>
                <a:ea typeface="Arial"/>
                <a:cs typeface="Arial"/>
              </a:rPr>
              <a:t>A bounded decision for officers</a:t>
            </a:r>
            <a:endParaRPr/>
          </a:p>
        </p:txBody>
      </p:sp>
      <p:sp>
        <p:nvSpPr>
          <p:cNvPr id="499" name="Google Shape;499;p18">
            <a:extLst xmlns:a="http://schemas.openxmlformats.org/drawingml/2006/main">
              <a:ext uri="{FF2B5EF4-FFF2-40B4-BE49-F238E27FC236}">
                <a16:creationId xmlns:a16="http://schemas.microsoft.com/office/drawing/2014/main" id="{089CDD2A-B226-4C27-8568-9151C3B77946}"/>
              </a:ext>
            </a:extLst>
          </p:cNvPr>
          <p:cNvSpPr>
            <a:spLocks xmlns:a="http://schemas.openxmlformats.org/drawingml/2006/main" noGrp="1"/>
          </p:cNvSpPr>
          <p:nvPr/>
        </p:nvSpPr>
        <p:spPr>
          <a:xfrm xmlns:a="http://schemas.openxmlformats.org/drawingml/2006/main">
            <a:off x="42576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Show the first supported receiving service</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on each path, with sources and gaps.</a:t>
            </a:r>
            <a:endParaRPr/>
          </a:p>
          <a:p xmlns:a="http://schemas.openxmlformats.org/drawingml/2006/main">
            <a:pPr marL="0" marR="0" lvl="0" indent="0" algn="l">
              <a:spcBef>
                <a:spcPts val="0"/>
              </a:spcBef>
              <a:spcAft>
                <a:spcPts val="0"/>
              </a:spcAft>
              <a:buNone/>
              <a:defRPr sz="1200">
                <a:latin typeface="Arial"/>
                <a:ea typeface="Arial"/>
                <a:cs typeface="Arial"/>
              </a:defRPr>
            </a:pPr>
            <a:r>
              <a:rPr sz="1200" b="0" i="0" u="none" cap="none">
                <a:solidFill>
                  <a:srgbClr val="17232F"/>
                </a:solidFill>
                <a:latin typeface="Arial"/>
                <a:ea typeface="Arial"/>
                <a:cs typeface="Arial"/>
              </a:rPr>
              <a:t>Unknown wallets remain unknown.</a:t>
            </a:r>
            <a:endParaRPr/>
          </a:p>
        </p:txBody>
      </p:sp>
      <p:pic>
        <p:nvPicPr>
          <p:cNvPr id="548" name="Google Shape;500;p18"/>
          <p:cNvPicPr>
            <a:picLocks xmlns:a="http://schemas.openxmlformats.org/drawingml/2006/main" noChangeAspect="1"/>
          </p:cNvPicPr>
          <p:nvPr/>
        </p:nvPicPr>
        <p:blipFill rotWithShape="1">
          <a:blip xmlns:r="http://schemas.openxmlformats.org/officeDocument/2006/relationships" xmlns:a="http://schemas.openxmlformats.org/drawingml/2006/main" r:embed="Rb63f2464bdc448d2">
            <a:alphaModFix/>
          </a:blip>
          <a:srcRect xmlns:a="http://schemas.openxmlformats.org/drawingml/2006/main" l="0" t="0" r="0" b="0"/>
          <a:stretch xmlns:a="http://schemas.openxmlformats.org/drawingml/2006/main"/>
        </p:blipFill>
        <p:spPr>
          <a:xfrm xmlns:a="http://schemas.openxmlformats.org/drawingml/2006/main">
            <a:off x="8181975" y="1828800"/>
            <a:ext cx="400050" cy="400050"/>
          </a:xfrm>
          <a:prstGeom xmlns:a="http://schemas.openxmlformats.org/drawingml/2006/main" prst="rect">
            <a:avLst/>
          </a:prstGeom>
          <a:ln xmlns:a="http://schemas.openxmlformats.org/drawingml/2006/main">
            <a:noFill/>
          </a:ln>
        </p:spPr>
      </p:pic>
      <p:sp>
        <p:nvSpPr>
          <p:cNvPr id="501" name="Google Shape;501;p18">
            <a:extLst xmlns:a="http://schemas.openxmlformats.org/drawingml/2006/main">
              <a:ext uri="{FF2B5EF4-FFF2-40B4-BE49-F238E27FC236}">
                <a16:creationId xmlns:a16="http://schemas.microsoft.com/office/drawing/2014/main" id="{96D8E7BF-3BBD-40BA-8089-E5E755CDEE1E}"/>
              </a:ext>
            </a:extLst>
          </p:cNvPr>
          <p:cNvSpPr>
            <a:spLocks xmlns:a="http://schemas.openxmlformats.org/drawingml/2006/main" noGrp="1"/>
          </p:cNvSpPr>
          <p:nvPr/>
        </p:nvSpPr>
        <p:spPr>
          <a:xfrm xmlns:a="http://schemas.openxmlformats.org/drawingml/2006/main">
            <a:off x="8743950" y="1762125"/>
            <a:ext cx="3143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775" b="1" i="0" u="none" cap="none">
                <a:solidFill>
                  <a:srgbClr val="8064A2"/>
                </a:solidFill>
                <a:latin typeface="Arial"/>
                <a:ea typeface="Arial"/>
                <a:cs typeface="Arial"/>
              </a:rPr>
              <a:t>35 VASPs</a:t>
            </a:r>
            <a:endParaRPr/>
          </a:p>
        </p:txBody>
      </p:sp>
      <p:sp>
        <p:nvSpPr>
          <p:cNvPr id="502" name="Google Shape;502;p18">
            <a:extLst xmlns:a="http://schemas.openxmlformats.org/drawingml/2006/main">
              <a:ext uri="{FF2B5EF4-FFF2-40B4-BE49-F238E27FC236}">
                <a16:creationId xmlns:a16="http://schemas.microsoft.com/office/drawing/2014/main" id="{A2EEF1DB-B12D-46AC-9372-931FBD92F428}"/>
              </a:ext>
            </a:extLst>
          </p:cNvPr>
          <p:cNvSpPr>
            <a:spLocks xmlns:a="http://schemas.openxmlformats.org/drawingml/2006/main" noGrp="1"/>
          </p:cNvSpPr>
          <p:nvPr/>
        </p:nvSpPr>
        <p:spPr>
          <a:xfrm xmlns:a="http://schemas.openxmlformats.org/drawingml/2006/main">
            <a:off x="8181975" y="2352675"/>
            <a:ext cx="3705300" cy="27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1F497D"/>
                </a:solidFill>
                <a:latin typeface="Arial"/>
                <a:ea typeface="Arial"/>
                <a:cs typeface="Arial"/>
              </a:rPr>
              <a:t>Onboarded on SAHYOG [6]</a:t>
            </a:r>
            <a:endParaRPr/>
          </a:p>
        </p:txBody>
      </p:sp>
      <p:sp>
        <p:nvSpPr>
          <p:cNvPr id="503" name="Google Shape;503;p18">
            <a:extLst xmlns:a="http://schemas.openxmlformats.org/drawingml/2006/main">
              <a:ext uri="{FF2B5EF4-FFF2-40B4-BE49-F238E27FC236}">
                <a16:creationId xmlns:a16="http://schemas.microsoft.com/office/drawing/2014/main" id="{8FFB71D2-991C-4F15-8461-CC93FA714A8A}"/>
              </a:ext>
            </a:extLst>
          </p:cNvPr>
          <p:cNvSpPr>
            <a:spLocks xmlns:a="http://schemas.openxmlformats.org/drawingml/2006/main" noGrp="1"/>
          </p:cNvSpPr>
          <p:nvPr/>
        </p:nvSpPr>
        <p:spPr>
          <a:xfrm xmlns:a="http://schemas.openxmlformats.org/drawingml/2006/main">
            <a:off x="8181975" y="2695575"/>
            <a:ext cx="3705300" cy="5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Official parliamentary reply, 23 July 2025.</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 service network for agency coordination.</a:t>
            </a:r>
            <a:endParaRPr/>
          </a:p>
          <a:p xmlns:a="http://schemas.openxmlformats.org/drawingml/2006/main">
            <a:pPr marL="0" marR="0" lvl="0" indent="0" algn="l">
              <a:spcBef>
                <a:spcPts val="0"/>
              </a:spcBef>
              <a:spcAft>
                <a:spcPts val="0"/>
              </a:spcAft>
              <a:buNone/>
            </a:pPr>
            <a:r>
              <a:rPr sz="1140" b="0" i="0" u="none" cap="none">
                <a:solidFill>
                  <a:srgbClr val="17232F"/>
                </a:solidFill>
                <a:latin typeface="Arial"/>
                <a:ea typeface="Arial"/>
                <a:cs typeface="Arial"/>
              </a:rPr>
              <a:t>Access and integration still need approval.</a:t>
            </a:r>
            <a:endParaRPr/>
          </a:p>
        </p:txBody>
      </p:sp>
      <p:sp>
        <p:nvSpPr>
          <p:cNvPr id="504" name="Google Shape;504;p18">
            <a:extLst xmlns:a="http://schemas.openxmlformats.org/drawingml/2006/main">
              <a:ext uri="{FF2B5EF4-FFF2-40B4-BE49-F238E27FC236}">
                <a16:creationId xmlns:a16="http://schemas.microsoft.com/office/drawing/2014/main" id="{FA499286-AEB1-42C4-B735-5B5E85F9CBB8}"/>
              </a:ext>
            </a:extLst>
          </p:cNvPr>
          <p:cNvSpPr>
            <a:spLocks xmlns:a="http://schemas.openxmlformats.org/drawingml/2006/main" noGrp="1"/>
          </p:cNvSpPr>
          <p:nvPr/>
        </p:nvSpPr>
        <p:spPr>
          <a:xfrm xmlns:a="http://schemas.openxmlformats.org/drawingml/2006/main">
            <a:off x="333375" y="3362325"/>
            <a:ext cx="11553900" cy="2667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05" name="Google Shape;505;p18">
            <a:extLst xmlns:a="http://schemas.openxmlformats.org/drawingml/2006/main">
              <a:ext uri="{FF2B5EF4-FFF2-40B4-BE49-F238E27FC236}">
                <a16:creationId xmlns:a16="http://schemas.microsoft.com/office/drawing/2014/main" id="{DE99673D-911A-4347-B701-C38EDAE60287}"/>
              </a:ext>
            </a:extLst>
          </p:cNvPr>
          <p:cNvSpPr>
            <a:spLocks xmlns:a="http://schemas.openxmlformats.org/drawingml/2006/main" noGrp="1"/>
          </p:cNvSpPr>
          <p:nvPr/>
        </p:nvSpPr>
        <p:spPr>
          <a:xfrm xmlns:a="http://schemas.openxmlformats.org/drawingml/2006/main">
            <a:off x="419100" y="3409950"/>
            <a:ext cx="113823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350" b="1" i="0" u="none" cap="none">
                <a:solidFill>
                  <a:srgbClr val="FFFFFF"/>
                </a:solidFill>
                <a:latin typeface="Arial"/>
                <a:ea typeface="Arial"/>
                <a:cs typeface="Arial"/>
              </a:rPr>
              <a:t>HOW TRACESETU CAN SUPPORT INVESTIGATORS</a:t>
            </a:r>
            <a:endParaRPr/>
          </a:p>
        </p:txBody>
      </p:sp>
      <p:pic>
        <p:nvPicPr>
          <p:cNvPr id="554" name="Google Shape;506;p18"/>
          <p:cNvPicPr>
            <a:picLocks xmlns:a="http://schemas.openxmlformats.org/drawingml/2006/main" noChangeAspect="1"/>
          </p:cNvPicPr>
          <p:nvPr/>
        </p:nvPicPr>
        <p:blipFill rotWithShape="1">
          <a:blip xmlns:r="http://schemas.openxmlformats.org/officeDocument/2006/relationships" xmlns:a="http://schemas.openxmlformats.org/drawingml/2006/main" r:embed="Rc223f9b88fdc4a80">
            <a:alphaModFix/>
          </a:blip>
          <a:srcRect xmlns:a="http://schemas.openxmlformats.org/drawingml/2006/main" l="0" t="0" r="0" b="0"/>
          <a:stretch xmlns:a="http://schemas.openxmlformats.org/drawingml/2006/main"/>
        </p:blipFill>
        <p:spPr>
          <a:xfrm xmlns:a="http://schemas.openxmlformats.org/drawingml/2006/main">
            <a:off x="333375" y="3762375"/>
            <a:ext cx="333375" cy="333375"/>
          </a:xfrm>
          <a:prstGeom xmlns:a="http://schemas.openxmlformats.org/drawingml/2006/main" prst="rect">
            <a:avLst/>
          </a:prstGeom>
          <a:ln xmlns:a="http://schemas.openxmlformats.org/drawingml/2006/main">
            <a:noFill/>
          </a:ln>
        </p:spPr>
      </p:pic>
      <p:sp>
        <p:nvSpPr>
          <p:cNvPr id="507" name="Google Shape;507;p18">
            <a:extLst xmlns:a="http://schemas.openxmlformats.org/drawingml/2006/main">
              <a:ext uri="{FF2B5EF4-FFF2-40B4-BE49-F238E27FC236}">
                <a16:creationId xmlns:a16="http://schemas.microsoft.com/office/drawing/2014/main" id="{7915210E-EB07-4926-9F6B-7BF1462D9DB1}"/>
              </a:ext>
            </a:extLst>
          </p:cNvPr>
          <p:cNvSpPr>
            <a:spLocks xmlns:a="http://schemas.openxmlformats.org/drawingml/2006/main" noGrp="1"/>
          </p:cNvSpPr>
          <p:nvPr/>
        </p:nvSpPr>
        <p:spPr>
          <a:xfrm xmlns:a="http://schemas.openxmlformats.org/drawingml/2006/main">
            <a:off x="78105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Less tracing effort</a:t>
            </a:r>
            <a:endParaRPr/>
          </a:p>
        </p:txBody>
      </p:sp>
      <p:sp>
        <p:nvSpPr>
          <p:cNvPr id="508" name="Google Shape;508;p18">
            <a:extLst xmlns:a="http://schemas.openxmlformats.org/drawingml/2006/main">
              <a:ext uri="{FF2B5EF4-FFF2-40B4-BE49-F238E27FC236}">
                <a16:creationId xmlns:a16="http://schemas.microsoft.com/office/drawing/2014/main" id="{BA318436-CCC3-41AD-9F7F-BE549DDDCFEC}"/>
              </a:ext>
            </a:extLst>
          </p:cNvPr>
          <p:cNvSpPr>
            <a:spLocks xmlns:a="http://schemas.openxmlformats.org/drawingml/2006/main" noGrp="1"/>
          </p:cNvSpPr>
          <p:nvPr/>
        </p:nvSpPr>
        <p:spPr>
          <a:xfrm xmlns:a="http://schemas.openxmlformats.org/drawingml/2006/main">
            <a:off x="78105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Automate the path to a</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supported receiving VASP.</a:t>
            </a:r>
            <a:endParaRPr/>
          </a:p>
        </p:txBody>
      </p:sp>
      <p:pic>
        <p:nvPicPr>
          <p:cNvPr id="557" name="Google Shape;509;p18"/>
          <p:cNvPicPr>
            <a:picLocks xmlns:a="http://schemas.openxmlformats.org/drawingml/2006/main" noChangeAspect="1"/>
          </p:cNvPicPr>
          <p:nvPr/>
        </p:nvPicPr>
        <p:blipFill rotWithShape="1">
          <a:blip xmlns:r="http://schemas.openxmlformats.org/officeDocument/2006/relationships" xmlns:a="http://schemas.openxmlformats.org/drawingml/2006/main" r:embed="R876b43fa29864e67">
            <a:alphaModFix/>
          </a:blip>
          <a:srcRect xmlns:a="http://schemas.openxmlformats.org/drawingml/2006/main" l="0" t="0" r="0" b="0"/>
          <a:stretch xmlns:a="http://schemas.openxmlformats.org/drawingml/2006/main"/>
        </p:blipFill>
        <p:spPr>
          <a:xfrm xmlns:a="http://schemas.openxmlformats.org/drawingml/2006/main">
            <a:off x="3257550" y="3762375"/>
            <a:ext cx="333375" cy="333375"/>
          </a:xfrm>
          <a:prstGeom xmlns:a="http://schemas.openxmlformats.org/drawingml/2006/main" prst="rect">
            <a:avLst/>
          </a:prstGeom>
          <a:ln xmlns:a="http://schemas.openxmlformats.org/drawingml/2006/main">
            <a:noFill/>
          </a:ln>
        </p:spPr>
      </p:pic>
      <p:sp>
        <p:nvSpPr>
          <p:cNvPr id="510" name="Google Shape;510;p18">
            <a:extLst xmlns:a="http://schemas.openxmlformats.org/drawingml/2006/main">
              <a:ext uri="{FF2B5EF4-FFF2-40B4-BE49-F238E27FC236}">
                <a16:creationId xmlns:a16="http://schemas.microsoft.com/office/drawing/2014/main" id="{5696A419-A937-4653-B9C1-13BAADB53087}"/>
              </a:ext>
            </a:extLst>
          </p:cNvPr>
          <p:cNvSpPr>
            <a:spLocks xmlns:a="http://schemas.openxmlformats.org/drawingml/2006/main" noGrp="1"/>
          </p:cNvSpPr>
          <p:nvPr/>
        </p:nvSpPr>
        <p:spPr>
          <a:xfrm xmlns:a="http://schemas.openxmlformats.org/drawingml/2006/main">
            <a:off x="370522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Support asset action</a:t>
            </a:r>
            <a:endParaRPr/>
          </a:p>
        </p:txBody>
      </p:sp>
      <p:sp>
        <p:nvSpPr>
          <p:cNvPr id="511" name="Google Shape;511;p18">
            <a:extLst xmlns:a="http://schemas.openxmlformats.org/drawingml/2006/main">
              <a:ext uri="{FF2B5EF4-FFF2-40B4-BE49-F238E27FC236}">
                <a16:creationId xmlns:a16="http://schemas.microsoft.com/office/drawing/2014/main" id="{C3A0AD56-5856-4D3B-9E83-6898738E382D}"/>
              </a:ext>
            </a:extLst>
          </p:cNvPr>
          <p:cNvSpPr>
            <a:spLocks xmlns:a="http://schemas.openxmlformats.org/drawingml/2006/main" noGrp="1"/>
          </p:cNvSpPr>
          <p:nvPr/>
        </p:nvSpPr>
        <p:spPr>
          <a:xfrm xmlns:a="http://schemas.openxmlformats.org/drawingml/2006/main">
            <a:off x="370522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Prepare evidence for lawful</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disclosure or freezing requests.</a:t>
            </a:r>
            <a:endParaRPr/>
          </a:p>
        </p:txBody>
      </p:sp>
      <p:pic>
        <p:nvPicPr>
          <p:cNvPr id="560" name="Google Shape;512;p18"/>
          <p:cNvPicPr>
            <a:picLocks xmlns:a="http://schemas.openxmlformats.org/drawingml/2006/main" noChangeAspect="1"/>
          </p:cNvPicPr>
          <p:nvPr/>
        </p:nvPicPr>
        <p:blipFill rotWithShape="1">
          <a:blip xmlns:r="http://schemas.openxmlformats.org/officeDocument/2006/relationships" xmlns:a="http://schemas.openxmlformats.org/drawingml/2006/main" r:embed="R743273e833674707">
            <a:alphaModFix/>
          </a:blip>
          <a:srcRect xmlns:a="http://schemas.openxmlformats.org/drawingml/2006/main" l="0" t="0" r="0" b="0"/>
          <a:stretch xmlns:a="http://schemas.openxmlformats.org/drawingml/2006/main"/>
        </p:blipFill>
        <p:spPr>
          <a:xfrm xmlns:a="http://schemas.openxmlformats.org/drawingml/2006/main">
            <a:off x="6181725" y="3762375"/>
            <a:ext cx="333375" cy="333375"/>
          </a:xfrm>
          <a:prstGeom xmlns:a="http://schemas.openxmlformats.org/drawingml/2006/main" prst="rect">
            <a:avLst/>
          </a:prstGeom>
          <a:ln xmlns:a="http://schemas.openxmlformats.org/drawingml/2006/main">
            <a:noFill/>
          </a:ln>
        </p:spPr>
      </p:pic>
      <p:sp>
        <p:nvSpPr>
          <p:cNvPr id="513" name="Google Shape;513;p18">
            <a:extLst xmlns:a="http://schemas.openxmlformats.org/drawingml/2006/main">
              <a:ext uri="{FF2B5EF4-FFF2-40B4-BE49-F238E27FC236}">
                <a16:creationId xmlns:a16="http://schemas.microsoft.com/office/drawing/2014/main" id="{E4AF46E3-B5C3-4D78-9E06-65FDADD4E916}"/>
              </a:ext>
            </a:extLst>
          </p:cNvPr>
          <p:cNvSpPr>
            <a:spLocks xmlns:a="http://schemas.openxmlformats.org/drawingml/2006/main" noGrp="1"/>
          </p:cNvSpPr>
          <p:nvPr/>
        </p:nvSpPr>
        <p:spPr>
          <a:xfrm xmlns:a="http://schemas.openxmlformats.org/drawingml/2006/main">
            <a:off x="6629400"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Expose uncertainty</a:t>
            </a:r>
            <a:endParaRPr/>
          </a:p>
        </p:txBody>
      </p:sp>
      <p:sp>
        <p:nvSpPr>
          <p:cNvPr id="514" name="Google Shape;514;p18">
            <a:extLst xmlns:a="http://schemas.openxmlformats.org/drawingml/2006/main">
              <a:ext uri="{FF2B5EF4-FFF2-40B4-BE49-F238E27FC236}">
                <a16:creationId xmlns:a16="http://schemas.microsoft.com/office/drawing/2014/main" id="{6E7969E3-8430-4B99-834D-BB2D6F33BFE7}"/>
              </a:ext>
            </a:extLst>
          </p:cNvPr>
          <p:cNvSpPr>
            <a:spLocks xmlns:a="http://schemas.openxmlformats.org/drawingml/2006/main" noGrp="1"/>
          </p:cNvSpPr>
          <p:nvPr/>
        </p:nvSpPr>
        <p:spPr>
          <a:xfrm xmlns:a="http://schemas.openxmlformats.org/drawingml/2006/main">
            <a:off x="6629400"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Surface gaps and disputed</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labels before recipient approval.</a:t>
            </a:r>
            <a:endParaRPr/>
          </a:p>
        </p:txBody>
      </p:sp>
      <p:pic>
        <p:nvPicPr>
          <p:cNvPr id="563" name="Google Shape;515;p18"/>
          <p:cNvPicPr>
            <a:picLocks xmlns:a="http://schemas.openxmlformats.org/drawingml/2006/main" noChangeAspect="1"/>
          </p:cNvPicPr>
          <p:nvPr/>
        </p:nvPicPr>
        <p:blipFill rotWithShape="1">
          <a:blip xmlns:r="http://schemas.openxmlformats.org/officeDocument/2006/relationships" xmlns:a="http://schemas.openxmlformats.org/drawingml/2006/main" r:embed="R8f9984eda5ed4fa8">
            <a:alphaModFix/>
          </a:blip>
          <a:srcRect xmlns:a="http://schemas.openxmlformats.org/drawingml/2006/main" l="0" t="0" r="0" b="0"/>
          <a:stretch xmlns:a="http://schemas.openxmlformats.org/drawingml/2006/main"/>
        </p:blipFill>
        <p:spPr>
          <a:xfrm xmlns:a="http://schemas.openxmlformats.org/drawingml/2006/main">
            <a:off x="9105900" y="3762375"/>
            <a:ext cx="333375" cy="333375"/>
          </a:xfrm>
          <a:prstGeom xmlns:a="http://schemas.openxmlformats.org/drawingml/2006/main" prst="rect">
            <a:avLst/>
          </a:prstGeom>
          <a:ln xmlns:a="http://schemas.openxmlformats.org/drawingml/2006/main">
            <a:noFill/>
          </a:ln>
        </p:spPr>
      </p:pic>
      <p:sp>
        <p:nvSpPr>
          <p:cNvPr id="516" name="Google Shape;516;p18">
            <a:extLst xmlns:a="http://schemas.openxmlformats.org/drawingml/2006/main">
              <a:ext uri="{FF2B5EF4-FFF2-40B4-BE49-F238E27FC236}">
                <a16:creationId xmlns:a16="http://schemas.microsoft.com/office/drawing/2014/main" id="{AFAB7F91-EEFD-4929-97D8-689F362E32F7}"/>
              </a:ext>
            </a:extLst>
          </p:cNvPr>
          <p:cNvSpPr>
            <a:spLocks xmlns:a="http://schemas.openxmlformats.org/drawingml/2006/main" noGrp="1"/>
          </p:cNvSpPr>
          <p:nvPr/>
        </p:nvSpPr>
        <p:spPr>
          <a:xfrm xmlns:a="http://schemas.openxmlformats.org/drawingml/2006/main">
            <a:off x="9553575" y="3762375"/>
            <a:ext cx="2352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402" b="1" i="0" u="none" cap="none">
                <a:solidFill>
                  <a:srgbClr val="1F497D"/>
                </a:solidFill>
                <a:latin typeface="Arial"/>
                <a:ea typeface="Arial"/>
                <a:cs typeface="Arial"/>
              </a:rPr>
              <a:t>Verifiable handoff</a:t>
            </a:r>
            <a:endParaRPr/>
          </a:p>
        </p:txBody>
      </p:sp>
      <p:sp>
        <p:nvSpPr>
          <p:cNvPr id="517" name="Google Shape;517;p18">
            <a:extLst xmlns:a="http://schemas.openxmlformats.org/drawingml/2006/main">
              <a:ext uri="{FF2B5EF4-FFF2-40B4-BE49-F238E27FC236}">
                <a16:creationId xmlns:a16="http://schemas.microsoft.com/office/drawing/2014/main" id="{FBAC6FFC-DB60-473D-BC5F-257E27862962}"/>
              </a:ext>
            </a:extLst>
          </p:cNvPr>
          <p:cNvSpPr>
            <a:spLocks xmlns:a="http://schemas.openxmlformats.org/drawingml/2006/main" noGrp="1"/>
          </p:cNvSpPr>
          <p:nvPr/>
        </p:nvSpPr>
        <p:spPr>
          <a:xfrm xmlns:a="http://schemas.openxmlformats.org/drawingml/2006/main">
            <a:off x="9553575" y="4076700"/>
            <a:ext cx="2352600" cy="3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Share signed case evidence</a:t>
            </a:r>
            <a:endParaRPr/>
          </a:p>
          <a:p xmlns:a="http://schemas.openxmlformats.org/drawingml/2006/main">
            <a:pPr marL="0" marR="0" lvl="0" indent="0" algn="l">
              <a:spcBef>
                <a:spcPts val="0"/>
              </a:spcBef>
              <a:spcAft>
                <a:spcPts val="0"/>
              </a:spcAft>
              <a:buNone/>
            </a:pPr>
            <a:r>
              <a:rPr sz="1163" b="0" i="0" u="none" cap="none">
                <a:solidFill>
                  <a:srgbClr val="17232F"/>
                </a:solidFill>
                <a:latin typeface="Arial"/>
                <a:ea typeface="Arial"/>
                <a:cs typeface="Arial"/>
              </a:rPr>
              <a:t>with deterministic replay.</a:t>
            </a:r>
            <a:endParaRPr/>
          </a:p>
        </p:txBody>
      </p:sp>
      <p:sp>
        <p:nvSpPr>
          <p:cNvPr id="518" name="Google Shape;518;p18">
            <a:extLst xmlns:a="http://schemas.openxmlformats.org/drawingml/2006/main">
              <a:ext uri="{FF2B5EF4-FFF2-40B4-BE49-F238E27FC236}">
                <a16:creationId xmlns:a16="http://schemas.microsoft.com/office/drawing/2014/main" id="{E62487C9-F76B-41E9-963E-5AA95734E25B}"/>
              </a:ext>
            </a:extLst>
          </p:cNvPr>
          <p:cNvSpPr>
            <a:spLocks xmlns:a="http://schemas.openxmlformats.org/drawingml/2006/main" noGrp="1"/>
          </p:cNvSpPr>
          <p:nvPr/>
        </p:nvSpPr>
        <p:spPr>
          <a:xfrm xmlns:a="http://schemas.openxmlformats.org/drawingml/2006/main">
            <a:off x="333375" y="4619625"/>
            <a:ext cx="11553900" cy="22860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19" name="Google Shape;519;p18">
            <a:extLst xmlns:a="http://schemas.openxmlformats.org/drawingml/2006/main">
              <a:ext uri="{FF2B5EF4-FFF2-40B4-BE49-F238E27FC236}">
                <a16:creationId xmlns:a16="http://schemas.microsoft.com/office/drawing/2014/main" id="{5772C291-D19E-4BDC-8DE4-EED08C0E5C87}"/>
              </a:ext>
            </a:extLst>
          </p:cNvPr>
          <p:cNvSpPr>
            <a:spLocks xmlns:a="http://schemas.openxmlformats.org/drawingml/2006/main" noGrp="1"/>
          </p:cNvSpPr>
          <p:nvPr/>
        </p:nvSpPr>
        <p:spPr>
          <a:xfrm xmlns:a="http://schemas.openxmlformats.org/drawingml/2006/main">
            <a:off x="419100" y="4667250"/>
            <a:ext cx="11382300" cy="15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38" b="1" i="0" u="none" cap="none">
                <a:solidFill>
                  <a:srgbClr val="FFFFFF"/>
                </a:solidFill>
                <a:latin typeface="Arial"/>
                <a:ea typeface="Arial"/>
                <a:cs typeface="Arial"/>
              </a:rPr>
              <a:t>EXISTING APPROACHES AND TRACESETU’S CONTRIBUTION</a:t>
            </a:r>
            <a:endParaRPr/>
          </a:p>
        </p:txBody>
      </p:sp>
      <p:graphicFrame>
        <p:nvGraphicFramePr>
          <p:cNvPr id="568" name="Google Shape;520;p18"/>
          <p:cNvGraphicFramePr/>
          <p:nvPr/>
        </p:nvGraphicFramePr>
        <p:xfrm>
          <a:off xmlns:a="http://schemas.openxmlformats.org/drawingml/2006/main" x="333375" y="489585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524000"/>
                <a:gridCol w="3105150"/>
                <a:gridCol w="3105150"/>
                <a:gridCol w="3819525"/>
              </a:tblGrid>
              <a:tr h="285750">
                <a:tc>
                  <a:txBody>
                    <a:bodyPr/>
                    <a:lstStyle/>
                    <a:p>
                      <a:pPr marL="0" marR="0" lvl="0" indent="0" algn="l">
                        <a:spcBef>
                          <a:spcPts val="0"/>
                        </a:spcBef>
                        <a:spcAft>
                          <a:spcPts val="0"/>
                        </a:spcAft>
                        <a:buNone/>
                      </a:pPr>
                      <a:r>
                        <a:rPr sz="1110" b="1">
                          <a:solidFill>
                            <a:srgbClr val="FFFFFF"/>
                          </a:solidFill>
                          <a:latin typeface="Arial"/>
                          <a:ea typeface="Arial"/>
                          <a:cs typeface="Arial"/>
                        </a:rPr>
                        <a:t>Dimension</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Explorer + SAHYOG workflow</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Chainalysis Reactor [8]</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10" b="1">
                          <a:solidFill>
                            <a:srgbClr val="FFFFFF"/>
                          </a:solidFill>
                          <a:latin typeface="Arial"/>
                          <a:ea typeface="Arial"/>
                          <a:cs typeface="Arial"/>
                        </a:rPr>
                        <a:t>TraceSetu MVP</a:t>
                      </a:r>
                      <a:endParaRPr/>
                    </a:p>
                  </a:txBody>
                  <a:tcPr marL="95250" marR="76200" marT="66675" marB="66675" anchor="ctr">
                    <a:solidFill>
                      <a:srgbClr val="1F497D"/>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follows transfers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Automated graph / entity tracing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First custody on each supported path</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Manual case assembly</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Entity intelligence and reports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Source challenge + evidence certificate</a:t>
                      </a:r>
                      <a:endParaRPr/>
                    </a:p>
                  </a:txBody>
                  <a:tcPr marL="95250" marR="76200" marT="66675" marB="66675" anchor="ctr">
                    <a:solidFill>
                      <a:srgbClr val="EDF3F9"/>
                    </a:solidFill>
                  </a:tcPr>
                </a:tc>
              </a:tr>
              <a:tr h="314325">
                <a:tc>
                  <a:txBody>
                    <a:bodyPr/>
                    <a:lstStyle/>
                    <a:p>
                      <a:pPr marL="0" marR="0" lvl="0" indent="0" algn="l">
                        <a:spcBef>
                          <a:spcPts val="0"/>
                        </a:spcBef>
                        <a:spcAft>
                          <a:spcPts val="0"/>
                        </a:spcAft>
                        <a:buNone/>
                      </a:pPr>
                      <a:r>
                        <a:rPr sz="1110" b="1">
                          <a:solidFill>
                            <a:srgbClr val="17232F"/>
                          </a:solidFill>
                          <a:latin typeface="Arial"/>
                          <a:ea typeface="Arial"/>
                          <a:cs typeface="Arial"/>
                        </a:rPr>
                        <a:t>Handoff</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Officer selects recipient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Case investigation tooling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10" b="0">
                          <a:solidFill>
                            <a:srgbClr val="17232F"/>
                          </a:solidFill>
                          <a:latin typeface="Arial"/>
                          <a:ea typeface="Arial"/>
                          <a:cs typeface="Arial"/>
                        </a:rPr>
                        <a:t>Reviewed export; SAHYOG API proposed</a:t>
                      </a:r>
                      <a:endParaRPr/>
                    </a:p>
                  </a:txBody>
                  <a:tcPr marL="95250" marR="76200" marT="66675" marB="66675" anchor="ctr">
                    <a:solidFill>
                      <a:srgbClr val="EDF3F9"/>
                    </a:solidFill>
                  </a:tcPr>
                </a:tc>
              </a:tr>
            </a:tbl>
          </a:graphicData>
        </a:graphic>
      </p:graphicFrame>
      <p:sp>
        <p:nvSpPr>
          <p:cNvPr id="521" name="Google Shape;521;p18">
            <a:extLst xmlns:a="http://schemas.openxmlformats.org/drawingml/2006/main">
              <a:ext uri="{FF2B5EF4-FFF2-40B4-BE49-F238E27FC236}">
                <a16:creationId xmlns:a16="http://schemas.microsoft.com/office/drawing/2014/main" id="{D462B3FB-5172-472C-90CE-755885D86F0E}"/>
              </a:ext>
            </a:extLst>
          </p:cNvPr>
          <p:cNvSpPr>
            <a:spLocks xmlns:a="http://schemas.openxmlformats.org/drawingml/2006/main" noGrp="1"/>
          </p:cNvSpPr>
          <p:nvPr/>
        </p:nvSpPr>
        <p:spPr>
          <a:xfrm xmlns:a="http://schemas.openxmlformats.org/drawingml/2006/main">
            <a:off x="333375" y="6162675"/>
            <a:ext cx="115539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900">
                <a:latin typeface="Arial"/>
                <a:ea typeface="Arial"/>
                <a:cs typeface="Arial"/>
              </a:defRPr>
            </a:pPr>
            <a:r>
              <a:rPr sz="900" b="0" i="0" u="none" cap="none">
                <a:solidFill>
                  <a:srgbClr val="526273"/>
                </a:solidFill>
                <a:latin typeface="Arial"/>
                <a:ea typeface="Arial"/>
                <a:cs typeface="Arial"/>
              </a:rPr>
              <a:t>Intended benefits require operational evaluation. TraceSetu has no validated recovery amount or official SAHYOG connection.</a:t>
            </a:r>
            <a:endParaRPr/>
          </a:p>
        </p:txBody>
      </p:sp>
      <p:sp>
        <p:nvSpPr>
          <p:cNvPr id="522" name="Google Shape;522;p18">
            <a:extLst xmlns:a="http://schemas.openxmlformats.org/drawingml/2006/main">
              <a:ext uri="{FF2B5EF4-FFF2-40B4-BE49-F238E27FC236}">
                <a16:creationId xmlns:a16="http://schemas.microsoft.com/office/drawing/2014/main" id="{1B090F0F-A775-458E-9D43-CEC1BAA6E5A4}"/>
              </a:ext>
            </a:extLst>
          </p:cNvPr>
          <p:cNvSpPr>
            <a:spLocks xmlns:a="http://schemas.openxmlformats.org/drawingml/2006/main" noGrp="1"/>
          </p:cNvSpPr>
          <p:nvPr/>
        </p:nvSpPr>
        <p:spPr>
          <a:xfrm xmlns:a="http://schemas.openxmlformats.org/drawingml/2006/main">
            <a:off x="0" y="6354762"/>
            <a:ext cx="12192000" cy="503100"/>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0"/>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Calibri"/>
              <a:buNone/>
            </a:pPr>
            <a:r>
              <a:t/>
            </a:r>
            <a:endParaRPr sz="1800" b="0" i="0" u="none" cap="none">
              <a:solidFill>
                <a:srgbClr val="953734"/>
              </a:solidFill>
              <a:latin typeface="Calibri"/>
              <a:ea typeface="Calibri"/>
              <a:cs typeface="Calibri"/>
            </a:endParaRPr>
          </a:p>
        </p:txBody>
      </p:sp>
      <p:sp>
        <p:nvSpPr>
          <p:cNvPr id="523" name="Google Shape;523;p18">
            <a:extLst xmlns:a="http://schemas.openxmlformats.org/drawingml/2006/main">
              <a:ext uri="{FF2B5EF4-FFF2-40B4-BE49-F238E27FC236}">
                <a16:creationId xmlns:a16="http://schemas.microsoft.com/office/drawing/2014/main" id="{F41DAF26-2B80-4102-BD6B-E1241A6B4A7A}"/>
              </a:ext>
            </a:extLst>
          </p:cNvPr>
          <p:cNvSpPr>
            <a:spLocks xmlns:a="http://schemas.openxmlformats.org/drawingml/2006/main" noGrp="1"/>
          </p:cNvSpPr>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solidFill>
                  <a:srgbClr val="000000"/>
                </a:solidFill>
                <a:latin typeface="Times New Roman"/>
                <a:ea typeface="Times New Roman"/>
                <a:cs typeface="Times New Roman"/>
              </a:rPr>
              <a:t>IMPACT AND BENEFITS</a:t>
            </a:r>
            <a:endParaRPr sz="4400">
              <a:solidFill>
                <a:srgbClr val="000000"/>
              </a:solidFill>
              <a:latin typeface="Oswald"/>
              <a:ea typeface="Oswald"/>
              <a:cs typeface="Oswald"/>
            </a:endParaRPr>
          </a:p>
        </p:txBody>
      </p:sp>
      <p:sp>
        <p:nvSpPr>
          <p:cNvPr id="524" name="Google Shape;524;p18">
            <a:extLst xmlns:a="http://schemas.openxmlformats.org/drawingml/2006/main">
              <a:ext uri="{FF2B5EF4-FFF2-40B4-BE49-F238E27FC236}">
                <a16:creationId xmlns:a16="http://schemas.microsoft.com/office/drawing/2014/main" id="{885357B1-C63A-425F-A5EB-8CCB40CECC56}"/>
              </a:ext>
            </a:extLst>
          </p:cNvPr>
          <p:cNvSpPr>
            <a:spLocks xmlns:a="http://schemas.openxmlformats.org/drawingml/2006/main" noGrp="1"/>
          </p:cNvSpPr>
          <p:nvPr/>
        </p:nvSpPr>
        <p:spPr>
          <a:xfrm xmlns:a="http://schemas.openxmlformats.org/drawingml/2006/main">
            <a:off x="8737600" y="6356353"/>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spcBef>
                <a:spcPts val="0"/>
              </a:spcBef>
              <a:spcAft>
                <a:spcPts val="0"/>
              </a:spcAft>
              <a:buNone/>
            </a:pPr>
            <a:fld id="{EE5B3003-2C54-13C6-9832-7637201064DE}" type="slidenum">
              <a:rPr sz="1200" b="1">
                <a:solidFill>
                  <a:srgbClr val="FFFFFF"/>
                </a:solidFill>
                <a:latin typeface="Oswald"/>
                <a:ea typeface="Oswald"/>
                <a:cs typeface="Oswald"/>
              </a:rPr>
              <a:t>5</a:t>
            </a:fld>
            <a:endParaRPr sz="1200" b="1">
              <a:solidFill>
                <a:srgbClr val="FFFFFF"/>
              </a:solidFill>
              <a:latin typeface="Oswald"/>
              <a:ea typeface="Oswald"/>
              <a:cs typeface="Oswald"/>
            </a:endParaRPr>
          </a:p>
        </p:txBody>
      </p:sp>
      <p:pic>
        <p:nvPicPr>
          <p:cNvPr id="573" name=""/>
          <p:cNvPicPr>
            <a:picLocks xmlns:a="http://schemas.openxmlformats.org/drawingml/2006/main" noChangeAspect="1"/>
          </p:cNvPicPr>
          <p:nvPr/>
        </p:nvPicPr>
        <p:blipFill>
          <a:blip xmlns:r="http://schemas.openxmlformats.org/officeDocument/2006/relationships" xmlns:a="http://schemas.openxmlformats.org/drawingml/2006/main" r:embed="R678076181da54696"/>
          <a:stretch xmlns:a="http://schemas.openxmlformats.org/drawingml/2006/main"/>
        </p:blipFill>
        <p:spPr>
          <a:xfrm xmlns:a="http://schemas.openxmlformats.org/drawingml/2006/main">
            <a:off x="9908960" y="28575"/>
            <a:ext cx="2118155" cy="1000125"/>
          </a:xfrm>
          <a:prstGeom xmlns:a="http://schemas.openxmlformats.org/drawingml/2006/main" prst="rect">
            <a:avLst/>
          </a:prstGeom>
        </p:spPr>
      </p:pic>
      <p:sp>
        <p:nvSpPr>
          <p:cNvPr id="536" name="">
            <a:extLst xmlns:a="http://schemas.openxmlformats.org/drawingml/2006/main">
              <a:ext uri="{FF2B5EF4-FFF2-40B4-BE49-F238E27FC236}">
                <a16:creationId xmlns:a16="http://schemas.microsoft.com/office/drawing/2014/main" id="{B6EC41BF-3116-4423-ABAB-7C08EE8C89DB}"/>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537" name="">
            <a:extLst xmlns:a="http://schemas.openxmlformats.org/drawingml/2006/main">
              <a:ext uri="{FF2B5EF4-FFF2-40B4-BE49-F238E27FC236}">
                <a16:creationId xmlns:a16="http://schemas.microsoft.com/office/drawing/2014/main" id="{6A061AD4-A74F-4EB9-97A0-367D8D260C4C}"/>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196421278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549" name="Google Shape;533;p19"/>
          <p:cNvGraphicFramePr/>
          <p:nvPr/>
        </p:nvGraphicFramePr>
        <p:xfrm>
          <a:off xmlns:a="http://schemas.openxmlformats.org/drawingml/2006/main" x="333375" y="1409700"/>
          <a:ext xmlns:a="http://schemas.openxmlformats.org/drawingml/2006/main" cx="3000000" cy="3000000"/>
        </p:xfrm>
        <a:graphic xmlns:a="http://schemas.openxmlformats.org/drawingml/2006/main">
          <a:graphicData uri="http://schemas.openxmlformats.org/drawingml/2006/table">
            <a:tbl>
              <a:tblPr>
                <a:tableStyleId>{503B619A-9704-4A30-834C-D90841D23277}</a:tableStyleId>
              </a:tblPr>
              <a:tblGrid>
                <a:gridCol w="1952625"/>
                <a:gridCol w="2705100"/>
                <a:gridCol w="3028950"/>
                <a:gridCol w="3867150"/>
              </a:tblGrid>
              <a:tr h="361950">
                <a:tc>
                  <a:txBody>
                    <a:bodyPr/>
                    <a:lstStyle/>
                    <a:p>
                      <a:pPr marL="0" marR="0" lvl="0" indent="0" algn="l">
                        <a:spcBef>
                          <a:spcPts val="0"/>
                        </a:spcBef>
                        <a:spcAft>
                          <a:spcPts val="0"/>
                        </a:spcAft>
                        <a:buNone/>
                      </a:pPr>
                      <a:r>
                        <a:rPr sz="1148" b="1">
                          <a:solidFill>
                            <a:srgbClr val="FFFFFF"/>
                          </a:solidFill>
                          <a:latin typeface="Arial"/>
                          <a:ea typeface="Arial"/>
                          <a:cs typeface="Arial"/>
                        </a:rPr>
                        <a:t>Technology / research</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Research insight</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Role in TraceSetu</a:t>
                      </a:r>
                      <a:endParaRPr/>
                    </a:p>
                  </a:txBody>
                  <a:tcPr marL="95250" marR="76200" marT="66675" marB="66675" anchor="ctr">
                    <a:solidFill>
                      <a:srgbClr val="1F497D"/>
                    </a:solidFill>
                  </a:tcPr>
                </a:tc>
                <a:tc>
                  <a:txBody>
                    <a:bodyPr/>
                    <a:lstStyle/>
                    <a:p>
                      <a:pPr marL="0" marR="0" lvl="0" indent="0" algn="l">
                        <a:spcBef>
                          <a:spcPts val="0"/>
                        </a:spcBef>
                        <a:spcAft>
                          <a:spcPts val="0"/>
                        </a:spcAft>
                        <a:buNone/>
                      </a:pPr>
                      <a:r>
                        <a:rPr sz="1148" b="1">
                          <a:solidFill>
                            <a:srgbClr val="FFFFFF"/>
                          </a:solidFill>
                          <a:latin typeface="Arial"/>
                          <a:ea typeface="Arial"/>
                          <a:cs typeface="Arial"/>
                        </a:rPr>
                        <a:t>Paper / primary reference</a:t>
                      </a:r>
                      <a:endParaRPr/>
                    </a:p>
                  </a:txBody>
                  <a:tcPr marL="95250" marR="76200" marT="66675" marB="66675" anchor="ctr">
                    <a:solidFill>
                      <a:srgbClr val="1F497D"/>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[1] Bitcoin service</a:t>
                      </a:r>
                      <a:endParaRPr/>
                    </a:p>
                    <a:p>
                      <a:pPr marL="0" marR="0" lvl="0" indent="0" algn="l">
                        <a:spcBef>
                          <a:spcPts val="0"/>
                        </a:spcBef>
                        <a:spcAft>
                          <a:spcPts val="0"/>
                        </a:spcAft>
                        <a:buNone/>
                      </a:pPr>
                      <a:r>
                        <a:rPr sz="1148" b="1">
                          <a:solidFill>
                            <a:srgbClr val="17232F"/>
                          </a:solidFill>
                          <a:latin typeface="Arial"/>
                          <a:ea typeface="Arial"/>
                          <a:cs typeface="Arial"/>
                        </a:rPr>
                        <a:t>attribution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Shared-control heuristics connect</a:t>
                      </a:r>
                      <a:endParaRPr/>
                    </a:p>
                    <a:p>
                      <a:pPr marL="0" marR="0" lvl="0" indent="0" algn="l">
                        <a:spcBef>
                          <a:spcPts val="0"/>
                        </a:spcBef>
                        <a:spcAft>
                          <a:spcPts val="0"/>
                        </a:spcAft>
                        <a:buNone/>
                      </a:pPr>
                      <a:r>
                        <a:rPr sz="1148" b="0">
                          <a:solidFill>
                            <a:srgbClr val="17232F"/>
                          </a:solidFill>
                          <a:latin typeface="Arial"/>
                          <a:ea typeface="Arial"/>
                          <a:cs typeface="Arial"/>
                        </a:rPr>
                        <a:t>address activity with service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Design basis for sourced assertions.</a:t>
                      </a:r>
                      <a:endParaRPr/>
                    </a:p>
                    <a:p>
                      <a:pPr marL="0" marR="0" lvl="0" indent="0" algn="l">
                        <a:spcBef>
                          <a:spcPts val="0"/>
                        </a:spcBef>
                        <a:spcAft>
                          <a:spcPts val="0"/>
                        </a:spcAft>
                        <a:buNone/>
                      </a:pPr>
                      <a:r>
                        <a:rPr sz="1148" b="0">
                          <a:solidFill>
                            <a:srgbClr val="17232F"/>
                          </a:solidFill>
                          <a:latin typeface="Arial"/>
                          <a:ea typeface="Arial"/>
                          <a:cs typeface="Arial"/>
                        </a:rPr>
                        <a:t>Ownership remains evidence-dependent.</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Meiklejohn et al., IMC 2013</a:t>
                      </a:r>
                      <a:endParaRPr/>
                    </a:p>
                    <a:p>
                      <a:pPr marL="0" marR="0" lvl="0" indent="0" algn="l">
                        <a:spcBef>
                          <a:spcPts val="0"/>
                        </a:spcBef>
                        <a:spcAft>
                          <a:spcPts val="0"/>
                        </a:spcAft>
                        <a:buNone/>
                      </a:pPr>
                      <a:r>
                        <a:rPr sz="1148" b="0">
                          <a:solidFill>
                            <a:srgbClr val="17232F"/>
                          </a:solidFill>
                          <a:latin typeface="Arial"/>
                          <a:ea typeface="Arial"/>
                          <a:cs typeface="Arial"/>
                        </a:rPr>
                        <a:t>A Fistful of Bitcoins</a:t>
                      </a:r>
                      <a:endParaRPr/>
                    </a:p>
                    <a:p>
                      <a:pPr marL="0" marR="0" lvl="0" indent="0" algn="l">
                        <a:spcBef>
                          <a:spcPts val="0"/>
                        </a:spcBef>
                        <a:spcAft>
                          <a:spcPts val="0"/>
                        </a:spcAft>
                        <a:buNone/>
                      </a:pPr>
                      <a:r>
                        <a:rPr sz="1148" b="0" u="sng">
                          <a:solidFill>
                            <a:schemeClr val="hlink"/>
                          </a:solidFill>
                          <a:latin typeface="Arial"/>
                          <a:ea typeface="Arial"/>
                          <a:cs typeface="Arial"/>
                        </a:rPr>
                        <a:t>doi.org/10.1145/2504730.2504747</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[2] Ethereum address</a:t>
                      </a:r>
                      <a:endParaRPr/>
                    </a:p>
                    <a:p>
                      <a:pPr marL="0" marR="0" lvl="0" indent="0" algn="l">
                        <a:spcBef>
                          <a:spcPts val="0"/>
                        </a:spcBef>
                        <a:spcAft>
                          <a:spcPts val="0"/>
                        </a:spcAft>
                        <a:buNone/>
                      </a:pPr>
                      <a:r>
                        <a:rPr sz="1148" b="1">
                          <a:solidFill>
                            <a:srgbClr val="17232F"/>
                          </a:solidFill>
                          <a:latin typeface="Arial"/>
                          <a:ea typeface="Arial"/>
                          <a:cs typeface="Arial"/>
                        </a:rPr>
                        <a:t>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Deposit-address patterns are</a:t>
                      </a:r>
                      <a:endParaRPr/>
                    </a:p>
                    <a:p>
                      <a:pPr marL="0" marR="0" lvl="0" indent="0" algn="l">
                        <a:spcBef>
                          <a:spcPts val="0"/>
                        </a:spcBef>
                        <a:spcAft>
                          <a:spcPts val="0"/>
                        </a:spcAft>
                        <a:buNone/>
                      </a:pPr>
                      <a:r>
                        <a:rPr sz="1148" b="0">
                          <a:solidFill>
                            <a:srgbClr val="17232F"/>
                          </a:solidFill>
                          <a:latin typeface="Arial"/>
                          <a:ea typeface="Arial"/>
                          <a:cs typeface="Arial"/>
                        </a:rPr>
                        <a:t>specific to account-based chains.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Guides chain-specific label caution.</a:t>
                      </a:r>
                      <a:endParaRPr/>
                    </a:p>
                    <a:p>
                      <a:pPr marL="0" marR="0" lvl="0" indent="0" algn="l">
                        <a:spcBef>
                          <a:spcPts val="0"/>
                        </a:spcBef>
                        <a:spcAft>
                          <a:spcPts val="0"/>
                        </a:spcAft>
                        <a:buNone/>
                      </a:pPr>
                      <a:r>
                        <a:rPr sz="1148" b="0">
                          <a:solidFill>
                            <a:srgbClr val="17232F"/>
                          </a:solidFill>
                          <a:latin typeface="Arial"/>
                          <a:ea typeface="Arial"/>
                          <a:cs typeface="Arial"/>
                        </a:rPr>
                        <a:t>MVP does not implement this clustering.</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Victor, Financial Cryptography 2020</a:t>
                      </a:r>
                      <a:endParaRPr/>
                    </a:p>
                    <a:p>
                      <a:pPr marL="0" marR="0" lvl="0" indent="0" algn="l">
                        <a:spcBef>
                          <a:spcPts val="0"/>
                        </a:spcBef>
                        <a:spcAft>
                          <a:spcPts val="0"/>
                        </a:spcAft>
                        <a:buNone/>
                      </a:pPr>
                      <a:r>
                        <a:rPr sz="1148" b="0">
                          <a:solidFill>
                            <a:srgbClr val="17232F"/>
                          </a:solidFill>
                          <a:latin typeface="Arial"/>
                          <a:ea typeface="Arial"/>
                          <a:cs typeface="Arial"/>
                        </a:rPr>
                        <a:t>Address Clustering Heuristics for Ethereum</a:t>
                      </a:r>
                      <a:endParaRPr/>
                    </a:p>
                    <a:p>
                      <a:pPr marL="0" marR="0" lvl="0" indent="0" algn="l">
                        <a:spcBef>
                          <a:spcPts val="0"/>
                        </a:spcBef>
                        <a:spcAft>
                          <a:spcPts val="0"/>
                        </a:spcAft>
                        <a:buNone/>
                      </a:pPr>
                      <a:r>
                        <a:rPr sz="1148" b="0" u="sng">
                          <a:solidFill>
                            <a:schemeClr val="hlink"/>
                          </a:solidFill>
                          <a:latin typeface="Arial"/>
                          <a:ea typeface="Arial"/>
                          <a:cs typeface="Arial"/>
                        </a:rPr>
                        <a:t>Paper: fc20.ifca.ai/preproceedings/31.pdf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[3] Blockchain graph</a:t>
                      </a:r>
                      <a:endParaRPr/>
                    </a:p>
                    <a:p>
                      <a:pPr marL="0" marR="0" lvl="0" indent="0" algn="l">
                        <a:spcBef>
                          <a:spcPts val="0"/>
                        </a:spcBef>
                        <a:spcAft>
                          <a:spcPts val="0"/>
                        </a:spcAft>
                        <a:buNone/>
                      </a:pPr>
                      <a:r>
                        <a:rPr sz="1148" b="1">
                          <a:solidFill>
                            <a:srgbClr val="17232F"/>
                          </a:solidFill>
                          <a:latin typeface="Arial"/>
                          <a:ea typeface="Arial"/>
                          <a:cs typeface="Arial"/>
                        </a:rPr>
                        <a:t>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BlockSci describes specialised</a:t>
                      </a:r>
                      <a:endParaRPr/>
                    </a:p>
                    <a:p>
                      <a:pPr marL="0" marR="0" lvl="0" indent="0" algn="l">
                        <a:spcBef>
                          <a:spcPts val="0"/>
                        </a:spcBef>
                        <a:spcAft>
                          <a:spcPts val="0"/>
                        </a:spcAft>
                        <a:buNone/>
                      </a:pPr>
                      <a:r>
                        <a:rPr sz="1148" b="0">
                          <a:solidFill>
                            <a:srgbClr val="17232F"/>
                          </a:solidFill>
                          <a:latin typeface="Arial"/>
                          <a:ea typeface="Arial"/>
                          <a:cs typeface="Arial"/>
                        </a:rPr>
                        <a:t>transaction data structures and analysis.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Performance reference for future</a:t>
                      </a:r>
                      <a:endParaRPr/>
                    </a:p>
                    <a:p>
                      <a:pPr marL="0" marR="0" lvl="0" indent="0" algn="l">
                        <a:spcBef>
                          <a:spcPts val="0"/>
                        </a:spcBef>
                        <a:spcAft>
                          <a:spcPts val="0"/>
                        </a:spcAft>
                        <a:buNone/>
                      </a:pPr>
                      <a:r>
                        <a:rPr sz="1148" b="0">
                          <a:solidFill>
                            <a:srgbClr val="17232F"/>
                          </a:solidFill>
                          <a:latin typeface="Arial"/>
                          <a:ea typeface="Arial"/>
                          <a:cs typeface="Arial"/>
                        </a:rPr>
                        <a:t>scaling and baseline evaluation.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Kalodner et al., USENIX Security 2020</a:t>
                      </a:r>
                      <a:endParaRPr/>
                    </a:p>
                    <a:p>
                      <a:pPr marL="0" marR="0" lvl="0" indent="0" algn="l">
                        <a:spcBef>
                          <a:spcPts val="0"/>
                        </a:spcBef>
                        <a:spcAft>
                          <a:spcPts val="0"/>
                        </a:spcAft>
                        <a:buNone/>
                      </a:pPr>
                      <a:r>
                        <a:rPr sz="1148" b="0">
                          <a:solidFill>
                            <a:srgbClr val="17232F"/>
                          </a:solidFill>
                          <a:latin typeface="Arial"/>
                          <a:ea typeface="Arial"/>
                          <a:cs typeface="Arial"/>
                        </a:rPr>
                        <a:t>BlockSci: Design and applications</a:t>
                      </a:r>
                      <a:endParaRPr/>
                    </a:p>
                    <a:p>
                      <a:pPr marL="0" marR="0" lvl="0" indent="0" algn="l">
                        <a:spcBef>
                          <a:spcPts val="0"/>
                        </a:spcBef>
                        <a:spcAft>
                          <a:spcPts val="0"/>
                        </a:spcAft>
                        <a:buNone/>
                      </a:pPr>
                      <a:r>
                        <a:rPr sz="1148" b="0" u="sng">
                          <a:solidFill>
                            <a:schemeClr val="hlink"/>
                          </a:solidFill>
                          <a:latin typeface="Arial"/>
                          <a:ea typeface="Arial"/>
                          <a:cs typeface="Arial"/>
                        </a:rPr>
                        <a:t>Paper: usenix.org/system/files/sec20-kalodner.pdf</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[4] Cross-chain</a:t>
                      </a:r>
                      <a:endParaRPr/>
                    </a:p>
                    <a:p>
                      <a:pPr marL="0" marR="0" lvl="0" indent="0" algn="l">
                        <a:spcBef>
                          <a:spcPts val="0"/>
                        </a:spcBef>
                        <a:spcAft>
                          <a:spcPts val="0"/>
                        </a:spcAft>
                        <a:buNone/>
                      </a:pPr>
                      <a:r>
                        <a:rPr sz="1148" b="1">
                          <a:solidFill>
                            <a:srgbClr val="17232F"/>
                          </a:solidFill>
                          <a:latin typeface="Arial"/>
                          <a:ea typeface="Arial"/>
                          <a:cs typeface="Arial"/>
                        </a:rPr>
                        <a:t>protocol 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CCTP links a USDC burn and mint</a:t>
                      </a:r>
                      <a:endParaRPr/>
                    </a:p>
                    <a:p>
                      <a:pPr marL="0" marR="0" lvl="0" indent="0" algn="l">
                        <a:spcBef>
                          <a:spcPts val="0"/>
                        </a:spcBef>
                        <a:spcAft>
                          <a:spcPts val="0"/>
                        </a:spcAft>
                        <a:buNone/>
                      </a:pPr>
                      <a:r>
                        <a:rPr sz="1148" b="0">
                          <a:solidFill>
                            <a:srgbClr val="17232F"/>
                          </a:solidFill>
                          <a:latin typeface="Arial"/>
                          <a:ea typeface="Arial"/>
                          <a:cs typeface="Arial"/>
                        </a:rPr>
                        <a:t>through a message and attestation.</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Scoped V2 Ethereum–Polygon verifier.</a:t>
                      </a:r>
                      <a:endParaRPr/>
                    </a:p>
                    <a:p>
                      <a:pPr marL="0" marR="0" lvl="0" indent="0" algn="l">
                        <a:spcBef>
                          <a:spcPts val="0"/>
                        </a:spcBef>
                        <a:spcAft>
                          <a:spcPts val="0"/>
                        </a:spcAft>
                        <a:buNone/>
                      </a:pPr>
                      <a:r>
                        <a:rPr sz="1148" b="0">
                          <a:solidFill>
                            <a:srgbClr val="17232F"/>
                          </a:solidFill>
                          <a:latin typeface="Arial"/>
                          <a:ea typeface="Arial"/>
                          <a:cs typeface="Arial"/>
                        </a:rPr>
                        <a:t>Synthetic proof tests in the MVP.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Circle, CCTP documentation</a:t>
                      </a:r>
                      <a:endParaRPr/>
                    </a:p>
                    <a:p>
                      <a:pPr marL="0" marR="0" lvl="0" indent="0" algn="l">
                        <a:spcBef>
                          <a:spcPts val="0"/>
                        </a:spcBef>
                        <a:spcAft>
                          <a:spcPts val="0"/>
                        </a:spcAft>
                        <a:buNone/>
                      </a:pPr>
                      <a:r>
                        <a:rPr sz="1148" b="0">
                          <a:solidFill>
                            <a:srgbClr val="17232F"/>
                          </a:solidFill>
                          <a:latin typeface="Arial"/>
                          <a:ea typeface="Arial"/>
                          <a:cs typeface="Arial"/>
                        </a:rPr>
                        <a:t>Messages, attestations and protocol flow</a:t>
                      </a:r>
                      <a:endParaRPr/>
                    </a:p>
                    <a:p>
                      <a:pPr marL="0" marR="0" lvl="0" indent="0" algn="l">
                        <a:spcBef>
                          <a:spcPts val="0"/>
                        </a:spcBef>
                        <a:spcAft>
                          <a:spcPts val="0"/>
                        </a:spcAft>
                        <a:buNone/>
                      </a:pPr>
                      <a:r>
                        <a:rPr sz="1148" b="0" u="sng">
                          <a:solidFill>
                            <a:schemeClr val="hlink"/>
                          </a:solidFill>
                          <a:latin typeface="Arial"/>
                          <a:ea typeface="Arial"/>
                          <a:cs typeface="Arial"/>
                        </a:rPr>
                        <a:t>developers.circle.com/cctp</a:t>
                      </a:r>
                      <a:endParaRPr/>
                    </a:p>
                  </a:txBody>
                  <a:tcPr marL="95250" marR="76200" marT="66675" marB="66675" anchor="ctr">
                    <a:solidFill>
                      <a:srgbClr val="EDF3F9"/>
                    </a:solidFill>
                  </a:tcPr>
                </a:tc>
              </a:tr>
              <a:tr h="742950">
                <a:tc>
                  <a:txBody>
                    <a:bodyPr/>
                    <a:lstStyle/>
                    <a:p>
                      <a:pPr marL="0" marR="0" lvl="0" indent="0" algn="l">
                        <a:spcBef>
                          <a:spcPts val="0"/>
                        </a:spcBef>
                        <a:spcAft>
                          <a:spcPts val="0"/>
                        </a:spcAft>
                        <a:buNone/>
                      </a:pPr>
                      <a:r>
                        <a:rPr sz="1148" b="1">
                          <a:solidFill>
                            <a:srgbClr val="17232F"/>
                          </a:solidFill>
                          <a:latin typeface="Arial"/>
                          <a:ea typeface="Arial"/>
                          <a:cs typeface="Arial"/>
                        </a:rPr>
                        <a:t>[5] Signed, replayable</a:t>
                      </a:r>
                      <a:endParaRPr/>
                    </a:p>
                    <a:p>
                      <a:pPr marL="0" marR="0" lvl="0" indent="0" algn="l">
                        <a:spcBef>
                          <a:spcPts val="0"/>
                        </a:spcBef>
                        <a:spcAft>
                          <a:spcPts val="0"/>
                        </a:spcAft>
                        <a:buNone/>
                      </a:pPr>
                      <a:r>
                        <a:rPr sz="1148" b="1">
                          <a:solidFill>
                            <a:srgbClr val="17232F"/>
                          </a:solidFill>
                          <a:latin typeface="Arial"/>
                          <a:ea typeface="Arial"/>
                          <a:cs typeface="Arial"/>
                        </a:rPr>
                        <a:t>evidence</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Ed25519 authenticates signed bytes.</a:t>
                      </a:r>
                      <a:endParaRPr/>
                    </a:p>
                    <a:p>
                      <a:pPr marL="0" marR="0" lvl="0" indent="0" algn="l">
                        <a:spcBef>
                          <a:spcPts val="0"/>
                        </a:spcBef>
                        <a:spcAft>
                          <a:spcPts val="0"/>
                        </a:spcAft>
                        <a:buNone/>
                      </a:pPr>
                      <a:r>
                        <a:rPr sz="1148" b="0">
                          <a:solidFill>
                            <a:srgbClr val="17232F"/>
                          </a:solidFill>
                          <a:latin typeface="Arial"/>
                          <a:ea typeface="Arial"/>
                          <a:cs typeface="Arial"/>
                        </a:rPr>
                        <a:t>Hashes detect changed artifacts.</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Signed manifest + deterministic replay.</a:t>
                      </a:r>
                      <a:endParaRPr/>
                    </a:p>
                    <a:p>
                      <a:pPr marL="0" marR="0" lvl="0" indent="0" algn="l">
                        <a:spcBef>
                          <a:spcPts val="0"/>
                        </a:spcBef>
                        <a:spcAft>
                          <a:spcPts val="0"/>
                        </a:spcAft>
                        <a:buNone/>
                      </a:pPr>
                      <a:r>
                        <a:rPr sz="1148" b="0">
                          <a:solidFill>
                            <a:srgbClr val="17232F"/>
                          </a:solidFill>
                          <a:latin typeface="Arial"/>
                          <a:ea typeface="Arial"/>
                          <a:cs typeface="Arial"/>
                        </a:rPr>
                        <a:t>Integrity does not establish ownership.</a:t>
                      </a:r>
                      <a:endParaRPr/>
                    </a:p>
                  </a:txBody>
                  <a:tcPr marL="95250" marR="76200" marT="66675" marB="66675" anchor="ctr">
                    <a:solidFill>
                      <a:srgbClr val="FFFFFF"/>
                    </a:solidFill>
                  </a:tcPr>
                </a:tc>
                <a:tc>
                  <a:txBody>
                    <a:bodyPr/>
                    <a:lstStyle/>
                    <a:p>
                      <a:pPr marL="0" marR="0" lvl="0" indent="0" algn="l">
                        <a:spcBef>
                          <a:spcPts val="0"/>
                        </a:spcBef>
                        <a:spcAft>
                          <a:spcPts val="0"/>
                        </a:spcAft>
                        <a:buNone/>
                      </a:pPr>
                      <a:r>
                        <a:rPr sz="1148" b="0">
                          <a:solidFill>
                            <a:srgbClr val="17232F"/>
                          </a:solidFill>
                          <a:latin typeface="Arial"/>
                          <a:ea typeface="Arial"/>
                          <a:cs typeface="Arial"/>
                        </a:rPr>
                        <a:t>Josefsson &amp; Liusvaara, RFC 8032 (2017)</a:t>
                      </a:r>
                      <a:endParaRPr/>
                    </a:p>
                    <a:p>
                      <a:pPr marL="0" marR="0" lvl="0" indent="0" algn="l">
                        <a:spcBef>
                          <a:spcPts val="0"/>
                        </a:spcBef>
                        <a:spcAft>
                          <a:spcPts val="0"/>
                        </a:spcAft>
                        <a:buNone/>
                      </a:pPr>
                      <a:r>
                        <a:rPr sz="1148" b="0">
                          <a:solidFill>
                            <a:srgbClr val="17232F"/>
                          </a:solidFill>
                          <a:latin typeface="Arial"/>
                          <a:ea typeface="Arial"/>
                          <a:cs typeface="Arial"/>
                        </a:rPr>
                        <a:t>Edwards-Curve Digital Signature Algorithm</a:t>
                      </a:r>
                      <a:endParaRPr/>
                    </a:p>
                    <a:p>
                      <a:pPr marL="0" marR="0" lvl="0" indent="0" algn="l">
                        <a:spcBef>
                          <a:spcPts val="0"/>
                        </a:spcBef>
                        <a:spcAft>
                          <a:spcPts val="0"/>
                        </a:spcAft>
                        <a:buNone/>
                      </a:pPr>
                      <a:r>
                        <a:rPr sz="1148" b="0" u="sng">
                          <a:solidFill>
                            <a:schemeClr val="hlink"/>
                          </a:solidFill>
                          <a:latin typeface="Arial"/>
                          <a:ea typeface="Arial"/>
                          <a:cs typeface="Arial"/>
                        </a:rPr>
                        <a:t>rfc-editor.org/rfc/rfc8032</a:t>
                      </a:r>
                      <a:endParaRPr/>
                    </a:p>
                  </a:txBody>
                  <a:tcPr marL="95250" marR="76200" marT="66675" marB="66675" anchor="ctr">
                    <a:solidFill>
                      <a:srgbClr val="EDF3F9"/>
                    </a:solidFill>
                  </a:tcPr>
                </a:tc>
              </a:tr>
            </a:tbl>
          </a:graphicData>
        </a:graphic>
      </p:graphicFrame>
      <p:sp>
        <p:nvSpPr>
          <p:cNvPr id="534" name="Google Shape;534;p19">
            <a:extLst xmlns:a="http://schemas.openxmlformats.org/drawingml/2006/main">
              <a:ext uri="{FF2B5EF4-FFF2-40B4-BE49-F238E27FC236}">
                <a16:creationId xmlns:a16="http://schemas.microsoft.com/office/drawing/2014/main" id="{D94088C7-F19E-4323-BE65-F2B3E4234FAB}"/>
              </a:ext>
            </a:extLst>
          </p:cNvPr>
          <p:cNvSpPr>
            <a:spLocks xmlns:a="http://schemas.openxmlformats.org/drawingml/2006/main" noGrp="1"/>
          </p:cNvSpPr>
          <p:nvPr/>
        </p:nvSpPr>
        <p:spPr>
          <a:xfrm xmlns:a="http://schemas.openxmlformats.org/drawingml/2006/main">
            <a:off x="333375" y="5629275"/>
            <a:ext cx="11553825" cy="247650"/>
          </a:xfrm>
          <a:prstGeom xmlns:a="http://schemas.openxmlformats.org/drawingml/2006/main" prst="rect">
            <a:avLst/>
          </a:prstGeom>
          <a:solidFill xmlns:a="http://schemas.openxmlformats.org/drawingml/2006/main">
            <a:srgbClr val="1F497D"/>
          </a:solidFill>
          <a:ln xmlns:a="http://schemas.openxmlformats.org/drawingml/2006/main" w="9525" cmpd="sng">
            <a:solidFill>
              <a:srgbClr val="1F497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35" name="Google Shape;535;p19">
            <a:extLst xmlns:a="http://schemas.openxmlformats.org/drawingml/2006/main">
              <a:ext uri="{FF2B5EF4-FFF2-40B4-BE49-F238E27FC236}">
                <a16:creationId xmlns:a16="http://schemas.microsoft.com/office/drawing/2014/main" id="{FFBB7792-DCDD-4357-A59B-EE7653DFCE10}"/>
              </a:ext>
            </a:extLst>
          </p:cNvPr>
          <p:cNvSpPr>
            <a:spLocks xmlns:a="http://schemas.openxmlformats.org/drawingml/2006/main" noGrp="1"/>
          </p:cNvSpPr>
          <p:nvPr/>
        </p:nvSpPr>
        <p:spPr>
          <a:xfrm xmlns:a="http://schemas.openxmlformats.org/drawingml/2006/main">
            <a:off x="419100" y="5676900"/>
            <a:ext cx="113823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350">
                <a:latin typeface="Arial"/>
                <a:ea typeface="Arial"/>
                <a:cs typeface="Arial"/>
              </a:defRPr>
            </a:pPr>
            <a:r>
              <a:rPr sz="1350" b="1" i="0" u="none" cap="none">
                <a:solidFill>
                  <a:srgbClr val="FFFFFF"/>
                </a:solidFill>
                <a:latin typeface="Arial"/>
                <a:ea typeface="Arial"/>
                <a:cs typeface="Arial"/>
              </a:rPr>
              <a:t>PRIMARY SOURCES AND IMPLEMENTATION REFERENCES</a:t>
            </a:r>
            <a:endParaRPr/>
          </a:p>
        </p:txBody>
      </p:sp>
      <p:sp>
        <p:nvSpPr>
          <p:cNvPr id="536" name="Google Shape;536;p19">
            <a:extLst xmlns:a="http://schemas.openxmlformats.org/drawingml/2006/main">
              <a:ext uri="{FF2B5EF4-FFF2-40B4-BE49-F238E27FC236}">
                <a16:creationId xmlns:a16="http://schemas.microsoft.com/office/drawing/2014/main" id="{BD093FFA-D47E-48B5-B366-60B49125852D}"/>
              </a:ext>
            </a:extLst>
          </p:cNvPr>
          <p:cNvSpPr>
            <a:spLocks xmlns:a="http://schemas.openxmlformats.org/drawingml/2006/main" noGrp="1"/>
          </p:cNvSpPr>
          <p:nvPr/>
        </p:nvSpPr>
        <p:spPr>
          <a:xfrm xmlns:a="http://schemas.openxmlformats.org/drawingml/2006/main">
            <a:off x="333375" y="6019800"/>
            <a:ext cx="3762375"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6f96fcf9ed8e41c3"/>
              </a:rPr>
              <a:t>[6] MHA / SAHYOG, Q.399 (2025)</a:t>
            </a:r>
            <a:endParaRPr/>
          </a:p>
        </p:txBody>
      </p:sp>
      <p:sp>
        <p:nvSpPr>
          <p:cNvPr id="537" name="Google Shape;537;p19">
            <a:extLst xmlns:a="http://schemas.openxmlformats.org/drawingml/2006/main">
              <a:ext uri="{FF2B5EF4-FFF2-40B4-BE49-F238E27FC236}">
                <a16:creationId xmlns:a16="http://schemas.microsoft.com/office/drawing/2014/main" id="{CDF82515-5FE4-4092-B1E3-E82066A82668}"/>
              </a:ext>
            </a:extLst>
          </p:cNvPr>
          <p:cNvSpPr>
            <a:spLocks xmlns:a="http://schemas.openxmlformats.org/drawingml/2006/main" noGrp="1"/>
          </p:cNvSpPr>
          <p:nvPr/>
        </p:nvSpPr>
        <p:spPr>
          <a:xfrm xmlns:a="http://schemas.openxmlformats.org/drawingml/2006/main">
            <a:off x="4286250" y="6019800"/>
            <a:ext cx="2286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35c2ad70424a4e9e"/>
              </a:rPr>
              <a:t>[7] Esplora API</a:t>
            </a:r>
            <a:endParaRPr/>
          </a:p>
        </p:txBody>
      </p:sp>
      <p:sp>
        <p:nvSpPr>
          <p:cNvPr id="538" name="Google Shape;538;p19">
            <a:extLst xmlns:a="http://schemas.openxmlformats.org/drawingml/2006/main">
              <a:ext uri="{FF2B5EF4-FFF2-40B4-BE49-F238E27FC236}">
                <a16:creationId xmlns:a16="http://schemas.microsoft.com/office/drawing/2014/main" id="{C608203F-D7E2-47A0-8F45-E243532B87B5}"/>
              </a:ext>
            </a:extLst>
          </p:cNvPr>
          <p:cNvSpPr>
            <a:spLocks xmlns:a="http://schemas.openxmlformats.org/drawingml/2006/main" noGrp="1"/>
          </p:cNvSpPr>
          <p:nvPr/>
        </p:nvSpPr>
        <p:spPr>
          <a:xfrm xmlns:a="http://schemas.openxmlformats.org/drawingml/2006/main">
            <a:off x="6858000" y="6019800"/>
            <a:ext cx="24765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defRPr sz="1050">
                <a:latin typeface="Arial"/>
                <a:ea typeface="Arial"/>
                <a:cs typeface="Arial"/>
              </a:defRPr>
            </a:pPr>
            <a:r>
              <a:rPr sz="1050" b="1" i="0" u="sng" cap="none">
                <a:solidFill>
                  <a:schemeClr val="hlink"/>
                </a:solidFill>
                <a:latin typeface="Arial"/>
                <a:ea typeface="Arial"/>
                <a:cs typeface="Arial"/>
                <a:hlinkClick xmlns:r="http://schemas.openxmlformats.org/officeDocument/2006/relationships" r:id="R0843d8322b0a47d8"/>
              </a:rPr>
              <a:t>[8] Chainalysis Reactor</a:t>
            </a:r>
            <a:endParaRPr/>
          </a:p>
        </p:txBody>
      </p:sp>
      <p:sp>
        <p:nvSpPr>
          <p:cNvPr id="539" name="Google Shape;539;p19">
            <a:extLst xmlns:a="http://schemas.openxmlformats.org/drawingml/2006/main">
              <a:ext uri="{FF2B5EF4-FFF2-40B4-BE49-F238E27FC236}">
                <a16:creationId xmlns:a16="http://schemas.microsoft.com/office/drawing/2014/main" id="{9B92C6BF-95F8-4D16-B80F-6C4AD07F155F}"/>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a:noFill/>
          </a:ln>
          <a:effectLst xmlns:a="http://schemas.openxmlformats.org/drawingml/2006/main">
            <a:outerShdw dist="23000" dir="5400000" rotWithShape="0">
              <a:srgbClr val="80808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chemeClr val="dk1"/>
              </a:buClr>
              <a:buSzPts val="1800"/>
              <a:buFont typeface="Calibri"/>
              <a:buNone/>
            </a:pPr>
            <a:r>
              <a:t/>
            </a:r>
            <a:endParaRPr sz="1800" b="0" i="0" u="none" cap="none">
              <a:solidFill>
                <a:srgbClr val="953734"/>
              </a:solidFill>
              <a:latin typeface="Calibri"/>
              <a:ea typeface="Calibri"/>
              <a:cs typeface="Calibri"/>
            </a:endParaRPr>
          </a:p>
        </p:txBody>
      </p:sp>
      <p:sp>
        <p:nvSpPr>
          <p:cNvPr id="540" name="Google Shape;540;p19">
            <a:extLst xmlns:a="http://schemas.openxmlformats.org/drawingml/2006/main">
              <a:ext uri="{FF2B5EF4-FFF2-40B4-BE49-F238E27FC236}">
                <a16:creationId xmlns:a16="http://schemas.microsoft.com/office/drawing/2014/main" id="{8D1009CE-8147-4E4D-B58F-9A424F78158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spcBef>
                <a:spcPts val="0"/>
              </a:spcBef>
              <a:spcAft>
                <a:spcPts val="0"/>
              </a:spcAft>
              <a:buNone/>
            </a:pPr>
            <a:r>
              <a:rPr sz="3600" b="1">
                <a:latin typeface="Times New Roman"/>
                <a:ea typeface="Times New Roman"/>
                <a:cs typeface="Times New Roman"/>
              </a:rPr>
              <a:t>RESEARCH  AND REFERENCES</a:t>
            </a:r>
            <a:endParaRPr/>
          </a:p>
        </p:txBody>
      </p:sp>
      <p:sp>
        <p:nvSpPr>
          <p:cNvPr id="541" name="Google Shape;541;p19">
            <a:extLst xmlns:a="http://schemas.openxmlformats.org/drawingml/2006/main">
              <a:ext uri="{FF2B5EF4-FFF2-40B4-BE49-F238E27FC236}">
                <a16:creationId xmlns:a16="http://schemas.microsoft.com/office/drawing/2014/main" id="{6263F6A8-A71A-4253-93A3-F6293B9DDE29}"/>
              </a:ext>
            </a:extLst>
          </p:cNvPr>
          <p:cNvSpPr>
            <a:spLocks xmlns:a="http://schemas.openxmlformats.org/drawingml/2006/main" noGrp="1"/>
          </p:cNvSpPr>
          <p:nvPr>
            <p:ph type="sldNum" idx="12"/>
          </p:nvPr>
        </p:nvSpPr>
        <p:spPr>
          <a:xfrm xmlns:a="http://schemas.openxmlformats.org/drawingml/2006/main">
            <a:off x="8737600" y="6356353"/>
            <a:ext cx="2844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FFFFFF"/>
              </a:buClr>
              <a:buSzPts val="1200"/>
              <a:buFont typeface="Oswald"/>
              <a:buNone/>
            </a:pPr>
            <a:fld id="{8C630A04-5A25-9E0C-9436-126091DB86B3}" type="slidenum">
              <a:rPr sz="1200" b="1" i="0" u="none" cap="none">
                <a:solidFill>
                  <a:srgbClr val="FFFFFF"/>
                </a:solidFill>
                <a:latin typeface="Oswald"/>
                <a:ea typeface="Oswald"/>
                <a:cs typeface="Oswald"/>
              </a:rPr>
              <a:t>6</a:t>
            </a:fld>
            <a:endParaRPr sz="1200" b="1" i="0" u="none" cap="none">
              <a:solidFill>
                <a:srgbClr val="FFFFFF"/>
              </a:solidFill>
              <a:latin typeface="Oswald"/>
              <a:ea typeface="Oswald"/>
              <a:cs typeface="Oswald"/>
            </a:endParaRPr>
          </a:p>
        </p:txBody>
      </p:sp>
      <p:pic>
        <p:nvPicPr>
          <p:cNvPr id="558" name="Google Shape;544;p19"/>
          <p:cNvPicPr>
            <a:picLocks xmlns:a="http://schemas.openxmlformats.org/drawingml/2006/main" noChangeAspect="1"/>
          </p:cNvPicPr>
          <p:nvPr/>
        </p:nvPicPr>
        <p:blipFill rotWithShape="1">
          <a:blip xmlns:r="http://schemas.openxmlformats.org/officeDocument/2006/relationships" xmlns:a="http://schemas.openxmlformats.org/drawingml/2006/main" r:embed="Rfa3566485ee74471">
            <a:alphaModFix/>
          </a:blip>
          <a:srcRect xmlns:a="http://schemas.openxmlformats.org/drawingml/2006/main" l="0" t="0" r="0" b="0"/>
          <a:stretch xmlns:a="http://schemas.openxmlformats.org/drawingml/2006/main"/>
        </p:blipFill>
        <p:spPr>
          <a:xfrm xmlns:a="http://schemas.openxmlformats.org/drawingml/2006/main">
            <a:off x="9780086" y="1500"/>
            <a:ext cx="2249850" cy="1062337"/>
          </a:xfrm>
          <a:prstGeom xmlns:a="http://schemas.openxmlformats.org/drawingml/2006/main" prst="rect">
            <a:avLst/>
          </a:prstGeom>
          <a:ln xmlns:a="http://schemas.openxmlformats.org/drawingml/2006/main">
            <a:noFill/>
          </a:ln>
        </p:spPr>
      </p:pic>
      <p:sp>
        <p:nvSpPr>
          <p:cNvPr id="546" name="">
            <a:extLst xmlns:a="http://schemas.openxmlformats.org/drawingml/2006/main">
              <a:ext uri="{FF2B5EF4-FFF2-40B4-BE49-F238E27FC236}">
                <a16:creationId xmlns:a16="http://schemas.microsoft.com/office/drawing/2014/main" id="{E56D01F1-641F-4707-9945-AE60F75A7046}"/>
              </a:ext>
            </a:extLst>
          </p:cNvPr>
          <p:cNvSpPr>
            <a:spLocks xmlns:a="http://schemas.openxmlformats.org/drawingml/2006/main" noGrp="1"/>
          </p:cNvSpPr>
          <p:nvPr/>
        </p:nvSpPr>
        <p:spPr>
          <a:xfrm xmlns:a="http://schemas.openxmlformats.org/drawingml/2006/main">
            <a:off x="333375" y="6210300"/>
            <a:ext cx="6572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1">
                <a:solidFill>
                  <a:srgbClr val="234D7F"/>
                </a:solidFill>
                <a:latin typeface="Arial"/>
                <a:ea typeface="Arial"/>
                <a:cs typeface="Arial"/>
              </a:defRPr>
            </a:pPr>
            <a:r>
              <a:rPr>
                <a:hlinkClick xmlns:r="http://schemas.openxmlformats.org/officeDocument/2006/relationships" r:id="Rea748e9e646444e9"/>
              </a:rPr>
              <a:t>[9] ED: BitConnect seizure, 15 February 2025</a:t>
            </a:r>
          </a:p>
        </p:txBody>
      </p:sp>
      <p:sp>
        <p:nvSpPr>
          <p:cNvPr id="547" name="">
            <a:extLst xmlns:a="http://schemas.openxmlformats.org/drawingml/2006/main">
              <a:ext uri="{FF2B5EF4-FFF2-40B4-BE49-F238E27FC236}">
                <a16:creationId xmlns:a16="http://schemas.microsoft.com/office/drawing/2014/main" id="{FCF769C0-9E02-48B2-943E-1683E3ECE435}"/>
              </a:ext>
            </a:extLst>
          </p:cNvPr>
          <p:cNvSpPr>
            <a:spLocks xmlns:a="http://schemas.openxmlformats.org/drawingml/2006/main" noGrp="1"/>
          </p:cNvSpPr>
          <p:nvPr/>
        </p:nvSpPr>
        <p:spPr>
          <a:xfrm xmlns:a="http://schemas.openxmlformats.org/drawingml/2006/main">
            <a:off x="381000" y="447675"/>
            <a:ext cx="119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1">
                <a:solidFill>
                  <a:srgbClr val="234D7F"/>
                </a:solidFill>
                <a:latin typeface="Arial"/>
                <a:ea typeface="Arial"/>
                <a:cs typeface="Arial"/>
              </a:defRPr>
            </a:pPr>
            <a:r>
              <a:rPr sz="1275" b="1">
                <a:solidFill>
                  <a:srgbClr val="234D7F"/>
                </a:solidFill>
                <a:latin typeface="Arial"/>
                <a:ea typeface="Arial"/>
                <a:cs typeface="Arial"/>
              </a:rPr>
              <a:t>ANANTHA</a:t>
            </a:r>
          </a:p>
        </p:txBody>
      </p:sp>
      <p:sp>
        <p:nvSpPr>
          <p:cNvPr id="548" name="">
            <a:extLst xmlns:a="http://schemas.openxmlformats.org/drawingml/2006/main">
              <a:ext uri="{FF2B5EF4-FFF2-40B4-BE49-F238E27FC236}">
                <a16:creationId xmlns:a16="http://schemas.microsoft.com/office/drawing/2014/main" id="{C3212DAC-4084-4DE6-9A95-BFC18A6F7B74}"/>
              </a:ext>
            </a:extLst>
          </p:cNvPr>
          <p:cNvSpPr>
            <a:spLocks xmlns:a="http://schemas.openxmlformats.org/drawingml/2006/main" noGrp="1"/>
          </p:cNvSpPr>
          <p:nvPr/>
        </p:nvSpPr>
        <p:spPr>
          <a:xfrm xmlns:a="http://schemas.openxmlformats.org/drawingml/2006/main">
            <a:off x="4000500" y="652462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@SIH Idea submission - Template</a:t>
            </a:r>
          </a:p>
        </p:txBody>
      </p:sp>
    </p:spTree>
    <p:extLst>
      <p:ext uri="{BB962C8B-B14F-4D97-AF65-F5344CB8AC3E}">
        <p14:creationId xmlns:p14="http://schemas.microsoft.com/office/powerpoint/2010/main" val="2050131550"/>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2026-09-25T14:29:25.1480000Z</dcterms:created>
  <dcterms:modified xsi:type="dcterms:W3CDTF">2026-09-25T14:29:25.1480000Z</dcterms:modified>
</coreProperties>
</file>