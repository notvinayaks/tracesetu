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traceNotes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traceNotes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An investigator starts with a reported wallet, blockchain and case scope. The task is to establish the first evidenced service custody boundary on each reachable branch, with the associated address, role and source. A named hot wallet can be farther away than an unlabelled deposit address. The diagram is illustrative, not a live case or ownership finding. The current prototype traces sourced labels, records gaps, generates a bounded nearestness certificate, supports source-family exclusion and budgeted acquisition, and packages a reviewed request. Naming a company requires outside identity evidence: provider/public service assertions with provenance, or independently reviewed service responses. A transfer alone cannot establish who controls its recipient. Requests require permissions, a verified recipient and payload-bound independent review. The current installation has no approved SAHYOG connection and exports remain NOT_SENT. It cannot obtain customer KYC from a public graph, compel VASP cooperation or itself freeze assets.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The implemented tracing engine preserves chain-qualified identities, exact integer amounts, event order, sources and bounded case scope. Bitcoin uses observed spent-output links; input-to-output allocation is a separate assumption. Account-based and token parsers cover Ethereum, BNB Chain, Polygon, Tron and Solana, subject to provider access and coverage. Cross-chain continuation requires matched proof; the current CCTP V2 native-USDC Ethereum/Polygon workflow has training-proof validation only. Unsupported bridges, swaps and mixers remain gaps. The nearest result means minimum observed transfers within the recorded scope, not globally nearest actual custody. Reachability in an account graph does not prove that the same units of money traversed a multi-hop path. The right-hand diagram describes the separate, unintegrated research reference: one plain token and an isolated account window, repeated receive–fee funding–sweep cycles, complete attested history, receipts and balances. Both feeder and collection-wallet roles need dated source assertions for the same service. Three cycles are an uncalibrated toy threshold. The detector does not independently prove completeness, identify the holder of the key, or make a new trusted seed. Victor’s forwarding heuristic motivates candidate generation [1]; Brechlin et al. report service-specific fee-funding behaviour and use Evonax records to confirm roles [2]. Our adaptation is narrower and is not an exact reproduction. Wu et al. motivate time-respecting rather than static paths [3]. Sources: https://www.ifca.ai/fc20/preproceedings/31.pdf ; https://onlinelibrary.wiley.com/doi/10.1002/nem.2325 ; https://www.vldb.org/pvldb/vol7/p721-wu.pdf</a:t>
            </a:r>
          </a:p>
          <a:p>
            <a:pPr eaLnBrk="1" hangingPunct="1" algn="l">
              <a:spcBef>
                <a:spcPts val="0"/>
              </a:spcBef>
              <a:spcAft>
                <a:spcPts val="0"/>
              </a:spcAft>
            </a:pPr>
            <a:r>
              <a:rPr lang="en-US">
                <a:ea typeface="ＭＳ Ｐゴシック" pitchFamily="1" charset="-128"/>
              </a:rPr>
              <a:t>Technology rationale: FastAPI provides the typed API boundary; Python implements inspectable graph/evidence rules. React and TypeScript support the review interface; Cytoscape renders the graph, it is not an attribution oracle. SQLite serves the local demo; the foundation supports PostgreSQL and separate workers for concurrent queued jobs. SHA-256 detects evidence changes and Ed25519 signs export manifests; neither proves wallet ownership. Framework choice alone does not establish scalability. Official deployment guidance: https://fastapi.tiangolo.com/deployment/concepts/ ; PostgreSQL queue-lock semantics: https://www.postgresql.org/docs/current/sql-select.html</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Working scope is recorded in the repository’s PRODUCT_FOUNDATION_VERIFICATION and complete handover. Public/free APIs are the current constraint. All six adapters exist; this does not establish six-chain live attribution. The bounded historical WannaCry Bitcoin check acquired two transactions and three outputs from BlockCypher; exact same-provider reference matches and signed replay check data handling, not independent ownership accuracy. No VASP was established. The 64 synthetic reference tests were rerun on 3 October 2026 and passed. These are adversarial/functional checks, not a measured attribution-accuracy percentage. Worker separation, PostgreSQL claims, migrations and readiness checks exist in the foundation; production-scale operation and independent service-labelled evaluation remain pending. No paid or official intelligence access is assumed. A customer may replicate the entire fee/sweep pattern. Such an output remains an unconfirmed candidate even when every pattern condition passes. Sourced risk tags support triage, not a finding of criminal conduct. Chain reorganisation and confirmation status, stale labels and provider limits remain relevant operational concerns. Customer disclosure and freezing depend on lawful authority, service cooperation and actual official integration.</a:t>
            </a:r>
          </a:p>
          <a:p>
            <a:pPr eaLnBrk="1" hangingPunct="1" algn="l">
              <a:spcBef>
                <a:spcPts val="0"/>
              </a:spcBef>
              <a:spcAft>
                <a:spcPts val="0"/>
              </a:spcAft>
            </a:pPr>
            <a:r>
              <a:rPr lang="en-US">
                <a:ea typeface="ＭＳ Ｐゴシック" pitchFamily="1" charset="-128"/>
              </a:rPr>
              <a:t>The 36-hour sequence is a proposed delivery sprint using the existing code foundation, not a claim that all historic research, six-chain coverage, independent evaluation and national deployment can be built from nothing in 36 hours. Scope is one bounded public Bitcoin case plus the existing reproducible research experiment; live outcomes may be unresolved. Definition of done: acquire actual data without synthetic fallback, inspect paths and sources, exercise a failure/gap, review and export a verifiable package. Additional chains and official integration are staged after the hackathon. Ministry practicality requires horizontal API/worker capacity, bounded searches, caching, shared provider quotas, agency fairness, SSO/MFA, protected evidence storage, restoration testing and load/fault tests. Existing code supplies only part of that path. No national-scale throughput is claimed. Public/free APIs alone do not guarantee national coverage.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The controlled comparison is reproduced from research/method-review-20260929/reference: entirely synthetic addresses, assets, service anchors and events. The label-only baseline reaches an asserted hot wallet at two transfers. With the complete toy pattern the separate candidate frontier flags the predecessor at one transfer, as an UNCONFIRMED possible deposit. If required feeder evidence is missing it leaves the assessed boundary unresolved instead of claiming the farther wallet is the nearest deposit. An adversary who reproduces the exact public observations cannot be distinguished on graph evidence alone; the passing test ensures the detector never upgrades that pattern to proven ownership. No accuracy or speed gain is inferred from this toy example. The prototype’s differentiation combines a bounded custody frontier, inspectable nearestness certificate, source-family challenge, budgeted next-query planning and reviewed signed service feedback. These are testable workflow contributions, not a world-first claim. The next evaluation must use independent service-confirmed deposits and realistic negative cases, measuring recipient/role precision, missed deposits, abstention and answer coverage, provider calls and investigator time. Lubbertsen et al. show why independent ground truth and address roles matter [5]. Source: https://www.usenix.org/system/files/usenixsecurity25-lubbertsen.pdf</a:t>
            </a:r>
          </a:p>
          <a:p>
            <a:pPr eaLnBrk="1" hangingPunct="1" algn="l">
              <a:spcBef>
                <a:spcPts val="0"/>
              </a:spcBef>
              <a:spcAft>
                <a:spcPts val="0"/>
              </a:spcAft>
            </a:pPr>
            <a:r>
              <a:rPr lang="en-US">
                <a:ea typeface="ＭＳ Ｐゴシック" pitchFamily="1" charset="-128"/>
              </a:rPr>
              <a:t>The novelty claim is an investigator decision workflow under incomplete attribution evidence: bounded custody stops, a scope/gap certificate, source exclusion with recomputation, budgeted next-query selection and reviewed feedback. The temporal-graph and clustering ingredients are published prior art. Case CRUD and graph visualisation are supporting interface capabilities, not the proposed contribution. Independent comparative evaluation is necessary before claiming superior performance or scientific novelty.</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Primary sources: [1] Friedhelm Victor, Address Clustering Heuristics for Ethereum, Financial Cryptography 2020: https://www.ifca.ai/fc20/preproceedings/31.pdf. [2] Alexander Brechlin, Jochen Schäfer and Frederik Armknecht, Buy Crypto, Sell Privacy: An Extended Investigation of the Cryptocurrency Exchange Evonax, International Journal of Network Management 2025: https://onlinelibrary.wiley.com/doi/10.1002/nem.2325. [3] Huanhuan Wu et al., Path Problems in Temporal Graphs, PVLDB 2014: https://www.vldb.org/pvldb/vol7/p721-wu.pdf. [4] George Kappos et al., How to Peel a Million: Validating and Expanding Bitcoin Clusters, USENIX Security 2022: https://www.usenix.org/system/files/sec22-kappos.pdf. [5] Lubbertsen et al., Ghost Clusters, USENIX Security 2025: https://www.usenix.org/system/files/usenixsecurity25-lubbertsen.pdf. Published research informs the method; TraceSetu does not claim to have invented temporal graph search or exchange clustering. Screenshot is the actual TraceSetu workspace captured on 26 September 2026, with fictional training addresses/services and explicitly labelled here. It is cropped only for composition. The public-data check is separately described on slide 4. Repository: https://github.com/notvinayaks/TraceSetu/tree/product/live-foundation. Main preserves the original MVP; product/live-foundation contains completed research and foundation work. Team-supplied prototype video: https://www.youtube.com/watch?v=V_qB6dL934w. The video predates integration of the separate deposit detector, which remains pending.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traceNotes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lgn="l">
              <a:spcBef>
                <a:spcPts val="0"/>
              </a:spcBef>
              <a:spcAft>
                <a:spcPts val="0"/>
              </a:spcAft>
            </a:pPr>
            <a:r>
              <a:rPr lang="en-US">
                <a:ea typeface="ＭＳ Ｐゴシック" pitchFamily="1" charset="-128"/>
              </a:rPr>
              <a:t>TraceSetu is Team ANANTHA’s submission for the MHA / I4C cryptocurrency VASP-attribution problem. The problem statement ID PS26182 and team ID 170835 are retained from the team’s supplied submission metadata. The exact problem title is retained on the cover. VASP means Virtual Asset Service Provider. The intended users are law-enforcement investigators and reviewers; the system supports identification of the service to approach lawfully, not public disclosure of a customer’s identity. Bitcoin is a cryptocurrency/network, not an exchange.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TraceNotes" Type="http://schemas.openxmlformats.org/officeDocument/2006/relationships/notesSlide" Target="../notesSlides/traceNotes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Type="http://schemas.openxmlformats.org/officeDocument/2006/relationships/hyperlink" Target="https://www.ifca.ai/fc20/preproceedings/31.pdf" TargetMode="External" Id="rIdTraceSetu1"/><Relationship Type="http://schemas.openxmlformats.org/officeDocument/2006/relationships/hyperlink" Target="https://onlinelibrary.wiley.com/doi/10.1002/nem.2325" TargetMode="External" Id="rIdTraceSetu2"/><Relationship Type="http://schemas.openxmlformats.org/officeDocument/2006/relationships/hyperlink" Target="https://www.vldb.org/pvldb/vol7/p721-wu.pdf" TargetMode="External" Id="rIdTraceSetu3"/><Relationship Type="http://schemas.openxmlformats.org/officeDocument/2006/relationships/hyperlink" Target="https://www.usenix.org/system/files/sec22-kappos.pdf" TargetMode="External" Id="rIdTraceSetu4"/><Relationship Type="http://schemas.openxmlformats.org/officeDocument/2006/relationships/hyperlink" Target="https://www.usenix.org/system/files/usenixsecurity25-lubbertsen.pdf" TargetMode="External" Id="rIdTraceSetu5"/><Relationship Type="http://schemas.openxmlformats.org/officeDocument/2006/relationships/image" Target="../media/tracesetu-screenshot-6-6.png" Id="rIdTraceSetu6"/><Relationship Type="http://schemas.openxmlformats.org/officeDocument/2006/relationships/hyperlink" Target="https://github.com/notvinayaks/TraceSetu/tree/product/live-foundation" TargetMode="External" Id="rIdTraceSetu7"/><Relationship Type="http://schemas.openxmlformats.org/officeDocument/2006/relationships/hyperlink" Target="https://github.com/notvinayaks/TraceSetu/tree/product/live-foundation" TargetMode="External" Id="rIdTraceSetu8"/><Relationship Type="http://schemas.openxmlformats.org/officeDocument/2006/relationships/hyperlink" Target="https://www.youtube.com/watch?v=V_qB6dL934w" TargetMode="External" Id="rIdTraceSetu9"/><Relationship Type="http://schemas.openxmlformats.org/officeDocument/2006/relationships/hyperlink" Target="https://www.youtube.com/watch?v=V_qB6dL934w" TargetMode="External" Id="rIdTraceSetu10"/></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r>
              <a:rPr lang="en-US" b="1" dirty="0">
                <a:solidFill>
                  <a:schemeClr val="tx1"/>
                </a:solidFill>
                <a:latin typeface="Times New Roman" panose="02020603050405020304" pitchFamily="18" charset="0"/>
                <a:cs typeface="Times New Roman" panose="02020603050405020304" pitchFamily="18" charset="0"/>
              </a:rPr>
              <a:t/>
            </a:r>
          </a:p>
          <a:p>
            <a:r>
              <a:rPr lang="en-US" b="1" dirty="0">
                <a:solidFill>
                  <a:schemeClr val="tx1"/>
                </a:solidFill>
                <a:latin typeface="Times New Roman" panose="02020603050405020304" pitchFamily="18" charset="0"/>
                <a:cs typeface="Times New Roman" panose="02020603050405020304" pitchFamily="18" charset="0"/>
              </a:rPr>
              <a:t>TRACESETU</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Problem Statement ID – PS26182</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Problem Statement Title – Automated Attribution of Unknown Cryptocurrency Wallets to Nearest Virtual Asset Service Providers (VASPs) through Blockchain Intelligence APIs</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Theme – Blockchain &amp; Cybersecurity</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PS Category – Software</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Team ID – 170835</a:t>
            </a:r>
          </a:p>
          <a:p>
            <a:pPr marL="285750" indent="-285750" algn="l">
              <a:buFont typeface="Arial" panose="020B0604020202020204" pitchFamily="34" charset="0"/>
              <a:buChar char="•"/>
              <a:spcBef>
                <a:spcPts val="0"/>
              </a:spcBef>
              <a:spcAft>
                <a:spcPts val="0"/>
              </a:spcAft>
            </a:pPr>
            <a:r>
              <a:rPr lang="en-US" sz="2400" b="1" dirty="0">
                <a:latin typeface="Arial" panose="020B0604020202020204" pitchFamily="34" charset="0"/>
                <a:cs typeface="Arial" panose="020B0604020202020204" pitchFamily="34" charset="0"/>
              </a:rPr>
              <a:t>Team Name – ANANTHA</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
            </a:r>
          </a:p>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TRACESETU</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7" name="tsf_1">
            <a:extLst>
              <a:ext uri="{FF2B5EF4-FFF2-40B4-BE49-F238E27FC236}">
                <a16:creationId xmlns:a16="http://schemas.microsoft.com/office/drawing/2014/main" id="{489DCE75-4107-49B3-90A6-E168EE81C9EA}"/>
              </a:ext>
            </a:extLst>
          </p:cNvPr>
          <p:cNvSpPr>
            <a:spLocks noGrp="1"/>
          </p:cNvSpPr>
          <p:nvPr/>
        </p:nvSpPr>
        <p:spPr>
          <a:xfrm>
            <a:off x="419100" y="1352550"/>
            <a:ext cx="7200900" cy="1266825"/>
          </a:xfrm>
          <a:prstGeom prst="rect">
            <a:avLst/>
          </a:prstGeom>
          <a:solidFill>
            <a:srgbClr val="F0F5FA"/>
          </a:solidFill>
          <a:ln w="10478">
            <a:solidFill>
              <a:srgbClr val="B7C6D5"/>
            </a:solidFill>
          </a:ln>
        </p:spPr>
      </p:sp>
      <p:sp>
        <p:nvSpPr>
          <p:cNvPr id="15368" name="tsf_2">
            <a:extLst>
              <a:ext uri="{FF2B5EF4-FFF2-40B4-BE49-F238E27FC236}">
                <a16:creationId xmlns:a16="http://schemas.microsoft.com/office/drawing/2014/main" id="{56902ED7-D3D2-44DF-B1EE-D079157F5FD8}"/>
              </a:ext>
            </a:extLst>
          </p:cNvPr>
          <p:cNvSpPr>
            <a:spLocks noGrp="1"/>
          </p:cNvSpPr>
          <p:nvPr/>
        </p:nvSpPr>
        <p:spPr>
          <a:xfrm>
            <a:off x="419100" y="1352550"/>
            <a:ext cx="7200900" cy="295275"/>
          </a:xfrm>
          <a:prstGeom prst="rect">
            <a:avLst/>
          </a:prstGeom>
          <a:solidFill>
            <a:srgbClr val="1F497D"/>
          </a:solidFill>
          <a:ln w="10478">
            <a:solidFill>
              <a:srgbClr val="1F497D"/>
            </a:solidFill>
          </a:ln>
        </p:spPr>
      </p:sp>
      <p:sp>
        <p:nvSpPr>
          <p:cNvPr id="15369" name="tsf_3">
            <a:extLst>
              <a:ext uri="{FF2B5EF4-FFF2-40B4-BE49-F238E27FC236}">
                <a16:creationId xmlns:a16="http://schemas.microsoft.com/office/drawing/2014/main" id="{5824F916-D38B-4301-8A2A-3ACB46F3762B}"/>
              </a:ext>
            </a:extLst>
          </p:cNvPr>
          <p:cNvSpPr>
            <a:spLocks noGrp="1"/>
          </p:cNvSpPr>
          <p:nvPr/>
        </p:nvSpPr>
        <p:spPr>
          <a:xfrm>
            <a:off x="533400" y="1390650"/>
            <a:ext cx="6972300"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THE INVESTIGATOR’S PROBLEM</a:t>
            </a:r>
          </a:p>
        </p:txBody>
      </p:sp>
      <p:sp>
        <p:nvSpPr>
          <p:cNvPr id="15370" name="tsf_4">
            <a:extLst>
              <a:ext uri="{FF2B5EF4-FFF2-40B4-BE49-F238E27FC236}">
                <a16:creationId xmlns:a16="http://schemas.microsoft.com/office/drawing/2014/main" id="{0EB4B9DA-D003-4BD0-AB7E-AEA61B7BA5F2}"/>
              </a:ext>
            </a:extLst>
          </p:cNvPr>
          <p:cNvSpPr>
            <a:spLocks noGrp="1"/>
          </p:cNvSpPr>
          <p:nvPr/>
        </p:nvSpPr>
        <p:spPr>
          <a:xfrm>
            <a:off x="552450" y="1733550"/>
            <a:ext cx="6877050" cy="7429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Officers often start with a wallet address, not a service name.</a:t>
            </a:r>
          </a:p>
          <a:p>
            <a:pPr algn="l">
              <a:defRPr sz="1518" b="0">
                <a:solidFill>
                  <a:srgbClr val="171C23"/>
                </a:solidFill>
                <a:latin typeface="Arial"/>
                <a:ea typeface="Arial"/>
                <a:cs typeface="Arial"/>
              </a:defRPr>
            </a:pPr>
            <a:r>
              <a:rPr sz="1518" b="0">
                <a:solidFill>
                  <a:srgbClr val="171C23"/>
                </a:solidFill>
                <a:latin typeface="Arial"/>
                <a:ea typeface="Arial"/>
                <a:cs typeface="Arial"/>
              </a:rPr>
              <a:t>Funds may cross several wallets before reaching an exchange.</a:t>
            </a:r>
          </a:p>
          <a:p>
            <a:pPr algn="l">
              <a:defRPr sz="1518" b="0">
                <a:solidFill>
                  <a:srgbClr val="171C23"/>
                </a:solidFill>
                <a:latin typeface="Arial"/>
                <a:ea typeface="Arial"/>
                <a:cs typeface="Arial"/>
              </a:defRPr>
            </a:pPr>
            <a:r>
              <a:rPr sz="1518" b="0">
                <a:solidFill>
                  <a:srgbClr val="171C23"/>
                </a:solidFill>
                <a:latin typeface="Arial"/>
                <a:ea typeface="Arial"/>
                <a:cs typeface="Arial"/>
              </a:rPr>
              <a:t>They need to know which service to approach with a lawful request.</a:t>
            </a:r>
          </a:p>
        </p:txBody>
      </p:sp>
      <p:sp>
        <p:nvSpPr>
          <p:cNvPr id="15371" name="tsf_5">
            <a:extLst>
              <a:ext uri="{FF2B5EF4-FFF2-40B4-BE49-F238E27FC236}">
                <a16:creationId xmlns:a16="http://schemas.microsoft.com/office/drawing/2014/main" id="{7602AB70-55CF-4267-B9B3-C79C9DBB8B54}"/>
              </a:ext>
            </a:extLst>
          </p:cNvPr>
          <p:cNvSpPr>
            <a:spLocks noGrp="1"/>
          </p:cNvSpPr>
          <p:nvPr/>
        </p:nvSpPr>
        <p:spPr>
          <a:xfrm>
            <a:off x="428625" y="2781300"/>
            <a:ext cx="7086600" cy="247650"/>
          </a:xfrm>
          <a:prstGeom prst="rect">
            <a:avLst/>
          </a:prstGeom>
          <a:noFill/>
          <a:ln w="10478">
            <a:noFill/>
          </a:ln>
        </p:spPr>
        <p:txBody>
          <a:bodyPr wrap="square" lIns="0" tIns="0" rIns="0" bIns="0" anchor="t">
            <a:noAutofit/>
          </a:bodyPr>
          <a:lstStyle>
            <a:defPPr algn="l">
              <a:defRPr sz="1587" b="1">
                <a:solidFill>
                  <a:srgbClr val="1F497D"/>
                </a:solidFill>
                <a:latin typeface="Arial"/>
                <a:ea typeface="Arial"/>
                <a:cs typeface="Arial"/>
              </a:defRPr>
            </a:defPPr>
          </a:lstStyle>
          <a:p>
            <a:pPr algn="l">
              <a:defRPr sz="1587" b="1">
                <a:solidFill>
                  <a:srgbClr val="1F497D"/>
                </a:solidFill>
                <a:latin typeface="Arial"/>
                <a:ea typeface="Arial"/>
                <a:cs typeface="Arial"/>
              </a:defRPr>
            </a:pPr>
            <a:r>
              <a:rPr sz="1587" b="1">
                <a:solidFill>
                  <a:srgbClr val="1F497D"/>
                </a:solidFill>
                <a:latin typeface="Arial"/>
                <a:ea typeface="Arial"/>
                <a:cs typeface="Arial"/>
              </a:rPr>
              <a:t>THE ADDRESS WE NEED MAY BE ONE STEP EARLIER</a:t>
            </a:r>
          </a:p>
        </p:txBody>
      </p:sp>
      <p:sp>
        <p:nvSpPr>
          <p:cNvPr id="15372" name="tsf_6">
            <a:extLst>
              <a:ext uri="{FF2B5EF4-FFF2-40B4-BE49-F238E27FC236}">
                <a16:creationId xmlns:a16="http://schemas.microsoft.com/office/drawing/2014/main" id="{6CAC979B-B46E-445A-8887-5364A38B10DF}"/>
              </a:ext>
            </a:extLst>
          </p:cNvPr>
          <p:cNvSpPr>
            <a:spLocks noGrp="1"/>
          </p:cNvSpPr>
          <p:nvPr/>
        </p:nvSpPr>
        <p:spPr>
          <a:xfrm>
            <a:off x="457200" y="3200400"/>
            <a:ext cx="1752600" cy="6000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568" b="0">
                <a:solidFill>
                  <a:srgbClr val="171C23"/>
                </a:solidFill>
                <a:latin typeface="Arial"/>
                <a:ea typeface="Arial"/>
                <a:cs typeface="Arial"/>
              </a:defRPr>
            </a:defPPr>
          </a:lstStyle>
          <a:p>
            <a:pPr algn="ctr">
              <a:defRPr sz="1568" b="0">
                <a:solidFill>
                  <a:srgbClr val="171C23"/>
                </a:solidFill>
                <a:latin typeface="Arial"/>
                <a:ea typeface="Arial"/>
                <a:cs typeface="Arial"/>
              </a:defRPr>
            </a:pPr>
            <a:r>
              <a:rPr sz="1568" b="0">
                <a:solidFill>
                  <a:srgbClr val="171C23"/>
                </a:solidFill>
                <a:latin typeface="Arial"/>
                <a:ea typeface="Arial"/>
                <a:cs typeface="Arial"/>
              </a:rPr>
              <a:t>Reported wallet</a:t>
            </a:r>
          </a:p>
        </p:txBody>
      </p:sp>
      <p:sp>
        <p:nvSpPr>
          <p:cNvPr id="15373" name="tsf_7">
            <a:extLst>
              <a:ext uri="{FF2B5EF4-FFF2-40B4-BE49-F238E27FC236}">
                <a16:creationId xmlns:a16="http://schemas.microsoft.com/office/drawing/2014/main" id="{3AFACB57-B0CC-4A30-BB69-163DC221D904}"/>
              </a:ext>
            </a:extLst>
          </p:cNvPr>
          <p:cNvSpPr>
            <a:spLocks noGrp="1"/>
          </p:cNvSpPr>
          <p:nvPr/>
        </p:nvSpPr>
        <p:spPr>
          <a:xfrm>
            <a:off x="2990850" y="3200400"/>
            <a:ext cx="1943100" cy="600075"/>
          </a:xfrm>
          <a:prstGeom prst="rect">
            <a:avLst/>
          </a:prstGeom>
          <a:solidFill>
            <a:srgbClr val="FCF6EB"/>
          </a:solidFill>
          <a:ln w="10478">
            <a:solidFill>
              <a:srgbClr val="A66213"/>
            </a:solidFill>
          </a:ln>
        </p:spPr>
        <p:txBody>
          <a:bodyPr wrap="square" lIns="76200" tIns="38100" rIns="76200" bIns="38100" anchor="ctr">
            <a:noAutofit/>
          </a:bodyPr>
          <a:lstStyle>
            <a:defPPr algn="ctr">
              <a:defRPr sz="1568" b="0">
                <a:solidFill>
                  <a:srgbClr val="171C23"/>
                </a:solidFill>
                <a:latin typeface="Arial"/>
                <a:ea typeface="Arial"/>
                <a:cs typeface="Arial"/>
              </a:defRPr>
            </a:defPPr>
          </a:lstStyle>
          <a:p>
            <a:pPr algn="ctr">
              <a:defRPr sz="1568" b="0">
                <a:solidFill>
                  <a:srgbClr val="171C23"/>
                </a:solidFill>
                <a:latin typeface="Arial"/>
                <a:ea typeface="Arial"/>
                <a:cs typeface="Arial"/>
              </a:defRPr>
            </a:pPr>
            <a:r>
              <a:rPr sz="1568" b="0">
                <a:solidFill>
                  <a:srgbClr val="171C23"/>
                </a:solidFill>
                <a:latin typeface="Arial"/>
                <a:ea typeface="Arial"/>
                <a:cs typeface="Arial"/>
              </a:rPr>
              <a:t>Unlabelled wallet</a:t>
            </a:r>
          </a:p>
        </p:txBody>
      </p:sp>
      <p:sp>
        <p:nvSpPr>
          <p:cNvPr id="15374" name="tsf_8">
            <a:extLst>
              <a:ext uri="{FF2B5EF4-FFF2-40B4-BE49-F238E27FC236}">
                <a16:creationId xmlns:a16="http://schemas.microsoft.com/office/drawing/2014/main" id="{BC12CACC-95F7-4502-BF47-8B8C955B7CCE}"/>
              </a:ext>
            </a:extLst>
          </p:cNvPr>
          <p:cNvSpPr>
            <a:spLocks noGrp="1"/>
          </p:cNvSpPr>
          <p:nvPr/>
        </p:nvSpPr>
        <p:spPr>
          <a:xfrm>
            <a:off x="5686425" y="3200400"/>
            <a:ext cx="1905000" cy="6000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568" b="0">
                <a:solidFill>
                  <a:srgbClr val="171C23"/>
                </a:solidFill>
                <a:latin typeface="Arial"/>
                <a:ea typeface="Arial"/>
                <a:cs typeface="Arial"/>
              </a:defRPr>
            </a:defPPr>
          </a:lstStyle>
          <a:p>
            <a:pPr algn="ctr">
              <a:defRPr sz="1568" b="0">
                <a:solidFill>
                  <a:srgbClr val="171C23"/>
                </a:solidFill>
                <a:latin typeface="Arial"/>
                <a:ea typeface="Arial"/>
                <a:cs typeface="Arial"/>
              </a:defRPr>
            </a:pPr>
            <a:r>
              <a:rPr sz="1568" b="0">
                <a:solidFill>
                  <a:srgbClr val="171C23"/>
                </a:solidFill>
                <a:latin typeface="Arial"/>
                <a:ea typeface="Arial"/>
                <a:cs typeface="Arial"/>
              </a:rPr>
              <a:t>Known exchange</a:t>
            </a:r>
          </a:p>
          <a:p>
            <a:pPr algn="ctr">
              <a:defRPr sz="1568" b="0">
                <a:solidFill>
                  <a:srgbClr val="171C23"/>
                </a:solidFill>
                <a:latin typeface="Arial"/>
                <a:ea typeface="Arial"/>
                <a:cs typeface="Arial"/>
              </a:defRPr>
            </a:pPr>
            <a:r>
              <a:rPr sz="1568" b="0">
                <a:solidFill>
                  <a:srgbClr val="171C23"/>
                </a:solidFill>
                <a:latin typeface="Arial"/>
                <a:ea typeface="Arial"/>
                <a:cs typeface="Arial"/>
              </a:rPr>
              <a:t>collection wallet</a:t>
            </a:r>
          </a:p>
        </p:txBody>
      </p:sp>
      <p:sp>
        <p:nvSpPr>
          <p:cNvPr id="15375" name="tsf_11">
            <a:extLst>
              <a:ext uri="{FF2B5EF4-FFF2-40B4-BE49-F238E27FC236}">
                <a16:creationId xmlns:a16="http://schemas.microsoft.com/office/drawing/2014/main" id="{8616B498-1F57-4EBE-8B54-239F594A8E56}"/>
              </a:ext>
            </a:extLst>
          </p:cNvPr>
          <p:cNvSpPr>
            <a:spLocks noGrp="1"/>
          </p:cNvSpPr>
          <p:nvPr/>
        </p:nvSpPr>
        <p:spPr>
          <a:xfrm>
            <a:off x="466725" y="3905250"/>
            <a:ext cx="7124700" cy="323850"/>
          </a:xfrm>
          <a:prstGeom prst="rect">
            <a:avLst/>
          </a:prstGeom>
          <a:noFill/>
          <a:ln w="10478">
            <a:noFill/>
          </a:ln>
        </p:spPr>
        <p:txBody>
          <a:bodyPr wrap="square" lIns="0" tIns="0" rIns="0" bIns="0" anchor="t">
            <a:noAutofit/>
          </a:bodyPr>
          <a:lstStyle>
            <a:defPPr algn="l">
              <a:defRPr sz="1656" b="1">
                <a:solidFill>
                  <a:srgbClr val="A66213"/>
                </a:solidFill>
                <a:latin typeface="Arial"/>
                <a:ea typeface="Arial"/>
                <a:cs typeface="Arial"/>
              </a:defRPr>
            </a:defPPr>
          </a:lstStyle>
          <a:p>
            <a:pPr algn="l">
              <a:defRPr sz="1656" b="1">
                <a:solidFill>
                  <a:srgbClr val="A66213"/>
                </a:solidFill>
                <a:latin typeface="Arial"/>
                <a:ea typeface="Arial"/>
                <a:cs typeface="Arial"/>
              </a:defRPr>
            </a:pPr>
            <a:r>
              <a:rPr sz="1656" b="1">
                <a:solidFill>
                  <a:srgbClr val="A66213"/>
                </a:solidFill>
                <a:latin typeface="Arial"/>
                <a:ea typeface="Arial"/>
                <a:cs typeface="Arial"/>
              </a:rPr>
              <a:t>Is the middle wallet already an exchange deposit address?</a:t>
            </a:r>
          </a:p>
        </p:txBody>
      </p:sp>
      <p:sp>
        <p:nvSpPr>
          <p:cNvPr id="15376" name="tsf_12">
            <a:extLst>
              <a:ext uri="{FF2B5EF4-FFF2-40B4-BE49-F238E27FC236}">
                <a16:creationId xmlns:a16="http://schemas.microsoft.com/office/drawing/2014/main" id="{1840EEDD-8FC0-4045-A5B6-95A2E7C66A3B}"/>
              </a:ext>
            </a:extLst>
          </p:cNvPr>
          <p:cNvSpPr>
            <a:spLocks noGrp="1"/>
          </p:cNvSpPr>
          <p:nvPr/>
        </p:nvSpPr>
        <p:spPr>
          <a:xfrm>
            <a:off x="419100" y="4352925"/>
            <a:ext cx="7200900" cy="1200150"/>
          </a:xfrm>
          <a:prstGeom prst="rect">
            <a:avLst/>
          </a:prstGeom>
          <a:solidFill>
            <a:srgbClr val="F0F5FA"/>
          </a:solidFill>
          <a:ln w="10478">
            <a:solidFill>
              <a:srgbClr val="B7C6D5"/>
            </a:solidFill>
          </a:ln>
        </p:spPr>
      </p:sp>
      <p:sp>
        <p:nvSpPr>
          <p:cNvPr id="15377" name="tsf_13">
            <a:extLst>
              <a:ext uri="{FF2B5EF4-FFF2-40B4-BE49-F238E27FC236}">
                <a16:creationId xmlns:a16="http://schemas.microsoft.com/office/drawing/2014/main" id="{C9AEBE5E-A4A4-411D-8ECC-66DEA49805A1}"/>
              </a:ext>
            </a:extLst>
          </p:cNvPr>
          <p:cNvSpPr>
            <a:spLocks noGrp="1"/>
          </p:cNvSpPr>
          <p:nvPr/>
        </p:nvSpPr>
        <p:spPr>
          <a:xfrm>
            <a:off x="419100" y="4352925"/>
            <a:ext cx="7200900" cy="295275"/>
          </a:xfrm>
          <a:prstGeom prst="rect">
            <a:avLst/>
          </a:prstGeom>
          <a:solidFill>
            <a:srgbClr val="1F497D"/>
          </a:solidFill>
          <a:ln w="10478">
            <a:solidFill>
              <a:srgbClr val="1F497D"/>
            </a:solidFill>
          </a:ln>
        </p:spPr>
      </p:sp>
      <p:sp>
        <p:nvSpPr>
          <p:cNvPr id="15378" name="tsf_14">
            <a:extLst>
              <a:ext uri="{FF2B5EF4-FFF2-40B4-BE49-F238E27FC236}">
                <a16:creationId xmlns:a16="http://schemas.microsoft.com/office/drawing/2014/main" id="{3565A048-C9FE-4C52-B07F-BE538658CD14}"/>
              </a:ext>
            </a:extLst>
          </p:cNvPr>
          <p:cNvSpPr>
            <a:spLocks noGrp="1"/>
          </p:cNvSpPr>
          <p:nvPr/>
        </p:nvSpPr>
        <p:spPr>
          <a:xfrm>
            <a:off x="533400" y="4391025"/>
            <a:ext cx="6972300"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PROPOSED SOLUTION</a:t>
            </a:r>
          </a:p>
        </p:txBody>
      </p:sp>
      <p:sp>
        <p:nvSpPr>
          <p:cNvPr id="15379" name="tsf_15">
            <a:extLst>
              <a:ext uri="{FF2B5EF4-FFF2-40B4-BE49-F238E27FC236}">
                <a16:creationId xmlns:a16="http://schemas.microsoft.com/office/drawing/2014/main" id="{40B6670B-3E3F-49A2-ABC3-81F97866F586}"/>
              </a:ext>
            </a:extLst>
          </p:cNvPr>
          <p:cNvSpPr>
            <a:spLocks noGrp="1"/>
          </p:cNvSpPr>
          <p:nvPr/>
        </p:nvSpPr>
        <p:spPr>
          <a:xfrm>
            <a:off x="552450" y="4724400"/>
            <a:ext cx="6877050" cy="723900"/>
          </a:xfrm>
          <a:prstGeom prst="rect">
            <a:avLst/>
          </a:prstGeom>
          <a:noFill/>
          <a:ln w="10478">
            <a:noFill/>
          </a:ln>
        </p:spPr>
        <p:txBody>
          <a:bodyPr wrap="square" lIns="0" tIns="0" rIns="0" bIns="0" anchor="t">
            <a:noAutofit/>
          </a:bodyPr>
          <a:lstStyle>
            <a:defPPr algn="l">
              <a:defRPr sz="1587" b="0">
                <a:solidFill>
                  <a:srgbClr val="171C23"/>
                </a:solidFill>
                <a:latin typeface="Arial"/>
                <a:ea typeface="Arial"/>
                <a:cs typeface="Arial"/>
              </a:defRPr>
            </a:defPPr>
          </a:lstStyle>
          <a:p>
            <a:pPr algn="l">
              <a:defRPr sz="1587" b="0">
                <a:solidFill>
                  <a:srgbClr val="171C23"/>
                </a:solidFill>
                <a:latin typeface="Arial"/>
                <a:ea typeface="Arial"/>
                <a:cs typeface="Arial"/>
              </a:defRPr>
            </a:pPr>
            <a:r>
              <a:rPr sz="1587" b="0">
                <a:solidFill>
                  <a:srgbClr val="171C23"/>
                </a:solidFill>
                <a:latin typeface="Arial"/>
                <a:ea typeface="Arial"/>
                <a:cs typeface="Arial"/>
              </a:rPr>
              <a:t>Trace transfers and check public/provider service labels.</a:t>
            </a:r>
          </a:p>
          <a:p>
            <a:pPr algn="l">
              <a:defRPr sz="1587" b="0">
                <a:solidFill>
                  <a:srgbClr val="171C23"/>
                </a:solidFill>
                <a:latin typeface="Arial"/>
                <a:ea typeface="Arial"/>
                <a:cs typeface="Arial"/>
              </a:defRPr>
            </a:pPr>
            <a:r>
              <a:rPr sz="1587" b="0">
                <a:solidFill>
                  <a:srgbClr val="171C23"/>
                </a:solidFill>
                <a:latin typeface="Arial"/>
                <a:ea typeface="Arial"/>
                <a:cs typeface="Arial"/>
              </a:rPr>
              <a:t>Test possible deposit wallets, then return the first supported</a:t>
            </a:r>
          </a:p>
          <a:p>
            <a:pPr algn="l">
              <a:defRPr sz="1587" b="0">
                <a:solidFill>
                  <a:srgbClr val="171C23"/>
                </a:solidFill>
                <a:latin typeface="Arial"/>
                <a:ea typeface="Arial"/>
                <a:cs typeface="Arial"/>
              </a:defRPr>
            </a:pPr>
            <a:r>
              <a:rPr sz="1587" b="0">
                <a:solidFill>
                  <a:srgbClr val="171C23"/>
                </a:solidFill>
                <a:latin typeface="Arial"/>
                <a:ea typeface="Arial"/>
                <a:cs typeface="Arial"/>
              </a:rPr>
              <a:t>custodian on each path, with the evidence and missing links.</a:t>
            </a:r>
          </a:p>
        </p:txBody>
      </p:sp>
      <p:sp>
        <p:nvSpPr>
          <p:cNvPr id="15380" name="tsf_16">
            <a:extLst>
              <a:ext uri="{FF2B5EF4-FFF2-40B4-BE49-F238E27FC236}">
                <a16:creationId xmlns:a16="http://schemas.microsoft.com/office/drawing/2014/main" id="{06475C36-5A2A-44EB-A45E-E87068D84D15}"/>
              </a:ext>
            </a:extLst>
          </p:cNvPr>
          <p:cNvSpPr>
            <a:spLocks noGrp="1"/>
          </p:cNvSpPr>
          <p:nvPr/>
        </p:nvSpPr>
        <p:spPr>
          <a:xfrm>
            <a:off x="438150" y="5724525"/>
            <a:ext cx="7181850" cy="247650"/>
          </a:xfrm>
          <a:prstGeom prst="rect">
            <a:avLst/>
          </a:prstGeom>
          <a:noFill/>
          <a:ln w="10478">
            <a:noFill/>
          </a:ln>
        </p:spPr>
        <p:txBody>
          <a:bodyPr wrap="square" lIns="0" tIns="0" rIns="0" bIns="0" anchor="t">
            <a:noAutofit/>
          </a:bodyPr>
          <a:lstStyle>
            <a:defPPr algn="l">
              <a:defRPr sz="1587" b="1">
                <a:solidFill>
                  <a:srgbClr val="1F497D"/>
                </a:solidFill>
                <a:latin typeface="Arial"/>
                <a:ea typeface="Arial"/>
                <a:cs typeface="Arial"/>
              </a:defRPr>
            </a:defPPr>
          </a:lstStyle>
          <a:p>
            <a:pPr algn="l">
              <a:defRPr sz="1587" b="1">
                <a:solidFill>
                  <a:srgbClr val="1F497D"/>
                </a:solidFill>
                <a:latin typeface="Arial"/>
                <a:ea typeface="Arial"/>
                <a:cs typeface="Arial"/>
              </a:defRPr>
            </a:pPr>
            <a:r>
              <a:rPr sz="1587" b="1">
                <a:solidFill>
                  <a:srgbClr val="1F497D"/>
                </a:solidFill>
                <a:latin typeface="Arial"/>
                <a:ea typeface="Arial"/>
                <a:cs typeface="Arial"/>
              </a:rPr>
              <a:t>OUR FOCUS</a:t>
            </a:r>
          </a:p>
        </p:txBody>
      </p:sp>
      <p:sp>
        <p:nvSpPr>
          <p:cNvPr id="15381" name="tsf_17">
            <a:extLst>
              <a:ext uri="{FF2B5EF4-FFF2-40B4-BE49-F238E27FC236}">
                <a16:creationId xmlns:a16="http://schemas.microsoft.com/office/drawing/2014/main" id="{E25E99D9-BCE9-4F4F-9D52-25597F386970}"/>
              </a:ext>
            </a:extLst>
          </p:cNvPr>
          <p:cNvSpPr>
            <a:spLocks noGrp="1"/>
          </p:cNvSpPr>
          <p:nvPr/>
        </p:nvSpPr>
        <p:spPr>
          <a:xfrm>
            <a:off x="438150" y="6010275"/>
            <a:ext cx="7181850" cy="257175"/>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Explain the recipient. Challenge the evidence. Choose the next useful check.</a:t>
            </a:r>
          </a:p>
        </p:txBody>
      </p:sp>
      <p:sp>
        <p:nvSpPr>
          <p:cNvPr id="15382" name="tsf_18">
            <a:extLst>
              <a:ext uri="{FF2B5EF4-FFF2-40B4-BE49-F238E27FC236}">
                <a16:creationId xmlns:a16="http://schemas.microsoft.com/office/drawing/2014/main" id="{B7D73F27-C2E5-44BC-8675-5C7D20666038}"/>
              </a:ext>
            </a:extLst>
          </p:cNvPr>
          <p:cNvSpPr>
            <a:spLocks noGrp="1"/>
          </p:cNvSpPr>
          <p:nvPr/>
        </p:nvSpPr>
        <p:spPr>
          <a:xfrm>
            <a:off x="7858125" y="1352550"/>
            <a:ext cx="3914775" cy="4914900"/>
          </a:xfrm>
          <a:prstGeom prst="rect">
            <a:avLst/>
          </a:prstGeom>
          <a:solidFill>
            <a:srgbClr val="F0F5FA"/>
          </a:solidFill>
          <a:ln w="10478">
            <a:solidFill>
              <a:srgbClr val="B7C6D5"/>
            </a:solidFill>
          </a:ln>
        </p:spPr>
      </p:sp>
      <p:sp>
        <p:nvSpPr>
          <p:cNvPr id="15383" name="tsf_19">
            <a:extLst>
              <a:ext uri="{FF2B5EF4-FFF2-40B4-BE49-F238E27FC236}">
                <a16:creationId xmlns:a16="http://schemas.microsoft.com/office/drawing/2014/main" id="{B57DCCD0-36CF-4E03-A8D3-7F6B2B849197}"/>
              </a:ext>
            </a:extLst>
          </p:cNvPr>
          <p:cNvSpPr>
            <a:spLocks noGrp="1"/>
          </p:cNvSpPr>
          <p:nvPr/>
        </p:nvSpPr>
        <p:spPr>
          <a:xfrm>
            <a:off x="7858125" y="1352550"/>
            <a:ext cx="3914775" cy="295275"/>
          </a:xfrm>
          <a:prstGeom prst="rect">
            <a:avLst/>
          </a:prstGeom>
          <a:solidFill>
            <a:srgbClr val="1F497D"/>
          </a:solidFill>
          <a:ln w="10478">
            <a:solidFill>
              <a:srgbClr val="1F497D"/>
            </a:solidFill>
          </a:ln>
        </p:spPr>
      </p:sp>
      <p:sp>
        <p:nvSpPr>
          <p:cNvPr id="15384" name="tsf_20">
            <a:extLst>
              <a:ext uri="{FF2B5EF4-FFF2-40B4-BE49-F238E27FC236}">
                <a16:creationId xmlns:a16="http://schemas.microsoft.com/office/drawing/2014/main" id="{73B22A77-FFAC-47B4-B7C4-0DFB348D7A02}"/>
              </a:ext>
            </a:extLst>
          </p:cNvPr>
          <p:cNvSpPr>
            <a:spLocks noGrp="1"/>
          </p:cNvSpPr>
          <p:nvPr/>
        </p:nvSpPr>
        <p:spPr>
          <a:xfrm>
            <a:off x="7972425" y="1390650"/>
            <a:ext cx="3686175"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OFFICER WORKFLOW</a:t>
            </a:r>
          </a:p>
        </p:txBody>
      </p:sp>
      <p:sp>
        <p:nvSpPr>
          <p:cNvPr id="15385" name="tsf_21">
            <a:extLst>
              <a:ext uri="{FF2B5EF4-FFF2-40B4-BE49-F238E27FC236}">
                <a16:creationId xmlns:a16="http://schemas.microsoft.com/office/drawing/2014/main" id="{EBF2401A-CDC8-4EC1-B892-23D8C8155440}"/>
              </a:ext>
            </a:extLst>
          </p:cNvPr>
          <p:cNvSpPr>
            <a:spLocks noGrp="1"/>
          </p:cNvSpPr>
          <p:nvPr/>
        </p:nvSpPr>
        <p:spPr>
          <a:xfrm>
            <a:off x="8096250" y="1819275"/>
            <a:ext cx="3438525" cy="5619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639" b="0">
                <a:solidFill>
                  <a:srgbClr val="171C23"/>
                </a:solidFill>
                <a:latin typeface="Arial"/>
                <a:ea typeface="Arial"/>
                <a:cs typeface="Arial"/>
              </a:defRPr>
            </a:defPPr>
          </a:lstStyle>
          <a:p>
            <a:pPr algn="ctr">
              <a:defRPr sz="1639" b="0">
                <a:solidFill>
                  <a:srgbClr val="171C23"/>
                </a:solidFill>
                <a:latin typeface="Arial"/>
                <a:ea typeface="Arial"/>
                <a:cs typeface="Arial"/>
              </a:defRPr>
            </a:pPr>
            <a:r>
              <a:rPr sz="1639" b="0">
                <a:solidFill>
                  <a:srgbClr val="171C23"/>
                </a:solidFill>
                <a:latin typeface="Arial"/>
                <a:ea typeface="Arial"/>
                <a:cs typeface="Arial"/>
              </a:rPr>
              <a:t>1  Open a case</a:t>
            </a:r>
          </a:p>
          <a:p>
            <a:pPr algn="ctr">
              <a:defRPr sz="1639" b="0">
                <a:solidFill>
                  <a:srgbClr val="171C23"/>
                </a:solidFill>
                <a:latin typeface="Arial"/>
                <a:ea typeface="Arial"/>
                <a:cs typeface="Arial"/>
              </a:defRPr>
            </a:pPr>
            <a:r>
              <a:rPr sz="1639" b="0">
                <a:solidFill>
                  <a:srgbClr val="171C23"/>
                </a:solidFill>
                <a:latin typeface="Arial"/>
                <a:ea typeface="Arial"/>
                <a:cs typeface="Arial"/>
              </a:rPr>
              <a:t>Wallet, chain, time window</a:t>
            </a:r>
          </a:p>
        </p:txBody>
      </p:sp>
      <p:sp>
        <p:nvSpPr>
          <p:cNvPr id="15386" name="tsf_22">
            <a:extLst>
              <a:ext uri="{FF2B5EF4-FFF2-40B4-BE49-F238E27FC236}">
                <a16:creationId xmlns:a16="http://schemas.microsoft.com/office/drawing/2014/main" id="{B87BC72B-14F5-490F-8C62-F04F39E4670A}"/>
              </a:ext>
            </a:extLst>
          </p:cNvPr>
          <p:cNvSpPr>
            <a:spLocks noGrp="1"/>
          </p:cNvSpPr>
          <p:nvPr/>
        </p:nvSpPr>
        <p:spPr>
          <a:xfrm>
            <a:off x="8096250" y="2667000"/>
            <a:ext cx="3438525" cy="58102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639" b="0">
                <a:solidFill>
                  <a:srgbClr val="171C23"/>
                </a:solidFill>
                <a:latin typeface="Arial"/>
                <a:ea typeface="Arial"/>
                <a:cs typeface="Arial"/>
              </a:defRPr>
            </a:defPPr>
          </a:lstStyle>
          <a:p>
            <a:pPr algn="ctr">
              <a:defRPr sz="1639" b="0">
                <a:solidFill>
                  <a:srgbClr val="171C23"/>
                </a:solidFill>
                <a:latin typeface="Arial"/>
                <a:ea typeface="Arial"/>
                <a:cs typeface="Arial"/>
              </a:defRPr>
            </a:pPr>
            <a:r>
              <a:rPr sz="1639" b="0">
                <a:solidFill>
                  <a:srgbClr val="171C23"/>
                </a:solidFill>
                <a:latin typeface="Arial"/>
                <a:ea typeface="Arial"/>
                <a:cs typeface="Arial"/>
              </a:rPr>
              <a:t>2  Acquire and analyse</a:t>
            </a:r>
          </a:p>
          <a:p>
            <a:pPr algn="ctr">
              <a:defRPr sz="1639" b="0">
                <a:solidFill>
                  <a:srgbClr val="171C23"/>
                </a:solidFill>
                <a:latin typeface="Arial"/>
                <a:ea typeface="Arial"/>
                <a:cs typeface="Arial"/>
              </a:defRPr>
            </a:pPr>
            <a:r>
              <a:rPr sz="1639" b="0">
                <a:solidFill>
                  <a:srgbClr val="171C23"/>
                </a:solidFill>
                <a:latin typeface="Arial"/>
                <a:ea typeface="Arial"/>
                <a:cs typeface="Arial"/>
              </a:rPr>
              <a:t>Transfers + service evidence</a:t>
            </a:r>
          </a:p>
        </p:txBody>
      </p:sp>
      <p:sp>
        <p:nvSpPr>
          <p:cNvPr id="15387" name="tsf_23">
            <a:extLst>
              <a:ext uri="{FF2B5EF4-FFF2-40B4-BE49-F238E27FC236}">
                <a16:creationId xmlns:a16="http://schemas.microsoft.com/office/drawing/2014/main" id="{6956633F-34E2-4435-832A-8B697E0577C0}"/>
              </a:ext>
            </a:extLst>
          </p:cNvPr>
          <p:cNvSpPr>
            <a:spLocks noGrp="1"/>
          </p:cNvSpPr>
          <p:nvPr/>
        </p:nvSpPr>
        <p:spPr>
          <a:xfrm>
            <a:off x="8096250" y="3533775"/>
            <a:ext cx="3438525" cy="6381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568" b="0">
                <a:solidFill>
                  <a:srgbClr val="171C23"/>
                </a:solidFill>
                <a:latin typeface="Arial"/>
                <a:ea typeface="Arial"/>
                <a:cs typeface="Arial"/>
              </a:defRPr>
            </a:defPPr>
          </a:lstStyle>
          <a:p>
            <a:pPr algn="ctr">
              <a:defRPr sz="1568" b="0">
                <a:solidFill>
                  <a:srgbClr val="171C23"/>
                </a:solidFill>
                <a:latin typeface="Arial"/>
                <a:ea typeface="Arial"/>
                <a:cs typeface="Arial"/>
              </a:defRPr>
            </a:pPr>
            <a:r>
              <a:rPr sz="1568" b="0">
                <a:solidFill>
                  <a:srgbClr val="171C23"/>
                </a:solidFill>
                <a:latin typeface="Arial"/>
                <a:ea typeface="Arial"/>
                <a:cs typeface="Arial"/>
              </a:rPr>
              <a:t>3  Inspect the evidence</a:t>
            </a:r>
          </a:p>
          <a:p>
            <a:pPr algn="ctr">
              <a:defRPr sz="1568" b="0">
                <a:solidFill>
                  <a:srgbClr val="171C23"/>
                </a:solidFill>
                <a:latin typeface="Arial"/>
                <a:ea typeface="Arial"/>
                <a:cs typeface="Arial"/>
              </a:defRPr>
            </a:pPr>
            <a:r>
              <a:rPr sz="1568" b="0">
                <a:solidFill>
                  <a:srgbClr val="171C23"/>
                </a:solidFill>
                <a:latin typeface="Arial"/>
                <a:ea typeface="Arial"/>
                <a:cs typeface="Arial"/>
              </a:rPr>
              <a:t>Service lead + path + gaps</a:t>
            </a:r>
          </a:p>
        </p:txBody>
      </p:sp>
      <p:sp>
        <p:nvSpPr>
          <p:cNvPr id="15388" name="tsf_24">
            <a:extLst>
              <a:ext uri="{FF2B5EF4-FFF2-40B4-BE49-F238E27FC236}">
                <a16:creationId xmlns:a16="http://schemas.microsoft.com/office/drawing/2014/main" id="{6B592ED7-FC0A-4CF2-BA67-1AF113961BD9}"/>
              </a:ext>
            </a:extLst>
          </p:cNvPr>
          <p:cNvSpPr>
            <a:spLocks noGrp="1"/>
          </p:cNvSpPr>
          <p:nvPr/>
        </p:nvSpPr>
        <p:spPr>
          <a:xfrm>
            <a:off x="8096250" y="4457700"/>
            <a:ext cx="3438525" cy="65722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568" b="0">
                <a:solidFill>
                  <a:srgbClr val="171C23"/>
                </a:solidFill>
                <a:latin typeface="Arial"/>
                <a:ea typeface="Arial"/>
                <a:cs typeface="Arial"/>
              </a:defRPr>
            </a:defPPr>
          </a:lstStyle>
          <a:p>
            <a:pPr algn="ctr">
              <a:defRPr sz="1568" b="0">
                <a:solidFill>
                  <a:srgbClr val="171C23"/>
                </a:solidFill>
                <a:latin typeface="Arial"/>
                <a:ea typeface="Arial"/>
                <a:cs typeface="Arial"/>
              </a:defRPr>
            </a:pPr>
            <a:r>
              <a:rPr sz="1568" b="0">
                <a:solidFill>
                  <a:srgbClr val="171C23"/>
                </a:solidFill>
                <a:latin typeface="Arial"/>
                <a:ea typeface="Arial"/>
                <a:cs typeface="Arial"/>
              </a:rPr>
              <a:t>4  Review and export</a:t>
            </a:r>
          </a:p>
          <a:p>
            <a:pPr algn="ctr">
              <a:defRPr sz="1568" b="0">
                <a:solidFill>
                  <a:srgbClr val="171C23"/>
                </a:solidFill>
                <a:latin typeface="Arial"/>
                <a:ea typeface="Arial"/>
                <a:cs typeface="Arial"/>
              </a:defRPr>
            </a:pPr>
            <a:r>
              <a:rPr sz="1568" b="0">
                <a:solidFill>
                  <a:srgbClr val="171C23"/>
                </a:solidFill>
                <a:latin typeface="Arial"/>
                <a:ea typeface="Arial"/>
                <a:cs typeface="Arial"/>
              </a:rPr>
              <a:t>Signed evidence + request package</a:t>
            </a:r>
          </a:p>
        </p:txBody>
      </p:sp>
      <p:sp>
        <p:nvSpPr>
          <p:cNvPr id="15389" name="tsf_28">
            <a:extLst>
              <a:ext uri="{FF2B5EF4-FFF2-40B4-BE49-F238E27FC236}">
                <a16:creationId xmlns:a16="http://schemas.microsoft.com/office/drawing/2014/main" id="{5B5C9B8E-1911-4893-AB9A-D1FEBE108509}"/>
              </a:ext>
            </a:extLst>
          </p:cNvPr>
          <p:cNvSpPr>
            <a:spLocks noGrp="1"/>
          </p:cNvSpPr>
          <p:nvPr/>
        </p:nvSpPr>
        <p:spPr>
          <a:xfrm>
            <a:off x="8086725" y="5276850"/>
            <a:ext cx="3495675" cy="514350"/>
          </a:xfrm>
          <a:prstGeom prst="rect">
            <a:avLst/>
          </a:prstGeom>
          <a:noFill/>
          <a:ln w="10478">
            <a:noFill/>
          </a:ln>
        </p:spPr>
        <p:txBody>
          <a:bodyPr wrap="square" lIns="0" tIns="0" rIns="0" bIns="0" anchor="t">
            <a:noAutofit/>
          </a:bodyPr>
          <a:lstStyle>
            <a:defPPr algn="l">
              <a:defRPr sz="1449" b="0">
                <a:solidFill>
                  <a:srgbClr val="536170"/>
                </a:solidFill>
                <a:latin typeface="Arial"/>
                <a:ea typeface="Arial"/>
                <a:cs typeface="Arial"/>
              </a:defRPr>
            </a:defPPr>
          </a:lstStyle>
          <a:p>
            <a:pPr algn="l">
              <a:defRPr sz="1449" b="0">
                <a:solidFill>
                  <a:srgbClr val="536170"/>
                </a:solidFill>
                <a:latin typeface="Arial"/>
                <a:ea typeface="Arial"/>
                <a:cs typeface="Arial"/>
              </a:defRPr>
            </a:pPr>
            <a:r>
              <a:rPr sz="1449" b="0">
                <a:solidFill>
                  <a:srgbClr val="536170"/>
                </a:solidFill>
                <a:latin typeface="Arial"/>
                <a:ea typeface="Arial"/>
                <a:cs typeface="Arial"/>
              </a:rPr>
              <a:t>SAHYOG access is pending.</a:t>
            </a:r>
          </a:p>
          <a:p>
            <a:pPr algn="l">
              <a:defRPr sz="1449" b="0">
                <a:solidFill>
                  <a:srgbClr val="536170"/>
                </a:solidFill>
                <a:latin typeface="Arial"/>
                <a:ea typeface="Arial"/>
                <a:cs typeface="Arial"/>
              </a:defRPr>
            </a:pPr>
            <a:r>
              <a:rPr sz="1449" b="0">
                <a:solidFill>
                  <a:srgbClr val="536170"/>
                </a:solidFill>
                <a:latin typeface="Arial"/>
                <a:ea typeface="Arial"/>
                <a:cs typeface="Arial"/>
              </a:rPr>
              <a:t>Current exports remain NOT_SENT.</a:t>
            </a:r>
          </a:p>
        </p:txBody>
      </p:sp>
      <p:sp>
        <p:nvSpPr>
          <p:cNvPr id="15390" name="tsf_29">
            <a:extLst>
              <a:ext uri="{FF2B5EF4-FFF2-40B4-BE49-F238E27FC236}">
                <a16:creationId xmlns:a16="http://schemas.microsoft.com/office/drawing/2014/main" id="{6189DDD2-78F3-4563-B87B-8AAD44A90BFD}"/>
              </a:ext>
            </a:extLst>
          </p:cNvPr>
          <p:cNvSpPr>
            <a:spLocks noGrp="1"/>
          </p:cNvSpPr>
          <p:nvPr/>
        </p:nvSpPr>
        <p:spPr>
          <a:xfrm>
            <a:off x="8086725" y="5876925"/>
            <a:ext cx="3495675" cy="323850"/>
          </a:xfrm>
          <a:prstGeom prst="rect">
            <a:avLst/>
          </a:prstGeom>
          <a:noFill/>
          <a:ln w="10478">
            <a:noFill/>
          </a:ln>
        </p:spPr>
        <p:txBody>
          <a:bodyPr wrap="square" lIns="0" tIns="0" rIns="0" bIns="0" anchor="t">
            <a:noAutofit/>
          </a:bodyPr>
          <a:lstStyle>
            <a:defPPr algn="l">
              <a:defRPr sz="1380" b="1">
                <a:solidFill>
                  <a:srgbClr val="1F497D"/>
                </a:solidFill>
                <a:latin typeface="Arial"/>
                <a:ea typeface="Arial"/>
                <a:cs typeface="Arial"/>
              </a:defRPr>
            </a:defPPr>
          </a:lstStyle>
          <a:p>
            <a:pPr algn="l">
              <a:defRPr sz="1380" b="1">
                <a:solidFill>
                  <a:srgbClr val="1F497D"/>
                </a:solidFill>
                <a:latin typeface="Arial"/>
                <a:ea typeface="Arial"/>
                <a:cs typeface="Arial"/>
              </a:defRPr>
            </a:pPr>
            <a:r>
              <a:rPr sz="1380" b="1">
                <a:solidFill>
                  <a:srgbClr val="1F497D"/>
                </a:solidFill>
                <a:latin typeface="Arial"/>
                <a:ea typeface="Arial"/>
                <a:cs typeface="Arial"/>
              </a:rPr>
              <a:t>VASP = exchange or crypto custodian</a:t>
            </a:r>
          </a:p>
        </p:txBody>
      </p:sp>
      <p:cxnSp>
        <p:nvCxnSpPr>
          <p:cNvPr id="15362" name="tsf_27">
            <a:extLst>
              <a:ext uri="{FF2B5EF4-FFF2-40B4-BE49-F238E27FC236}">
                <a16:creationId xmlns:a16="http://schemas.microsoft.com/office/drawing/2014/main" id="{B7A9B721-24ED-49BA-AB55-93D8F5BBCDBB}"/>
              </a:ext>
            </a:extLst>
          </p:cNvPr>
          <p:cNvCxnSpPr>
            <a:stCxn id="15387" idx="2"/>
            <a:endCxn id="15388" idx="0"/>
          </p:cNvCxnSpPr>
          <p:nvPr/>
        </p:nvCxnSpPr>
        <p:spPr>
          <a:xfrm>
            <a:off x="9815513" y="4171950"/>
            <a:ext cx="0" cy="285750"/>
          </a:xfrm>
          <a:prstGeom prst="straightConnector1">
            <a:avLst/>
          </a:prstGeom>
          <a:ln w="17145">
            <a:solidFill>
              <a:srgbClr val="1F497D"/>
            </a:solidFill>
            <a:tailEnd type="triangle" w="sm" len="sm"/>
          </a:ln>
        </p:spPr>
      </p:cxnSp>
      <p:cxnSp>
        <p:nvCxnSpPr>
          <p:cNvPr id="15363" name="tsf_26">
            <a:extLst>
              <a:ext uri="{FF2B5EF4-FFF2-40B4-BE49-F238E27FC236}">
                <a16:creationId xmlns:a16="http://schemas.microsoft.com/office/drawing/2014/main" id="{BE6887DC-16FE-4662-9DB1-3F6CFAC65092}"/>
              </a:ext>
            </a:extLst>
          </p:cNvPr>
          <p:cNvCxnSpPr>
            <a:stCxn id="15386" idx="2"/>
            <a:endCxn id="15387" idx="0"/>
          </p:cNvCxnSpPr>
          <p:nvPr/>
        </p:nvCxnSpPr>
        <p:spPr>
          <a:xfrm>
            <a:off x="9815513" y="3248025"/>
            <a:ext cx="0" cy="285750"/>
          </a:xfrm>
          <a:prstGeom prst="straightConnector1">
            <a:avLst/>
          </a:prstGeom>
          <a:ln w="17145">
            <a:solidFill>
              <a:srgbClr val="1F497D"/>
            </a:solidFill>
            <a:tailEnd type="triangle" w="sm" len="sm"/>
          </a:ln>
        </p:spPr>
      </p:cxnSp>
      <p:cxnSp>
        <p:nvCxnSpPr>
          <p:cNvPr id="15364" name="tsf_25">
            <a:extLst>
              <a:ext uri="{FF2B5EF4-FFF2-40B4-BE49-F238E27FC236}">
                <a16:creationId xmlns:a16="http://schemas.microsoft.com/office/drawing/2014/main" id="{3F494651-BF50-430B-BA24-B1A1FE81D5E9}"/>
              </a:ext>
            </a:extLst>
          </p:cNvPr>
          <p:cNvCxnSpPr>
            <a:stCxn id="15385" idx="2"/>
            <a:endCxn id="15386" idx="0"/>
          </p:cNvCxnSpPr>
          <p:nvPr/>
        </p:nvCxnSpPr>
        <p:spPr>
          <a:xfrm>
            <a:off x="9815513" y="2381250"/>
            <a:ext cx="0" cy="285750"/>
          </a:xfrm>
          <a:prstGeom prst="straightConnector1">
            <a:avLst/>
          </a:prstGeom>
          <a:ln w="17145">
            <a:solidFill>
              <a:srgbClr val="1F497D"/>
            </a:solidFill>
            <a:tailEnd type="triangle" w="sm" len="sm"/>
          </a:ln>
        </p:spPr>
      </p:cxnSp>
      <p:cxnSp>
        <p:nvCxnSpPr>
          <p:cNvPr id="15365" name="tsf_10">
            <a:extLst>
              <a:ext uri="{FF2B5EF4-FFF2-40B4-BE49-F238E27FC236}">
                <a16:creationId xmlns:a16="http://schemas.microsoft.com/office/drawing/2014/main" id="{3DDDBEDF-48AC-4944-B81F-191BC64DFB7B}"/>
              </a:ext>
            </a:extLst>
          </p:cNvPr>
          <p:cNvCxnSpPr>
            <a:stCxn id="15373" idx="3"/>
            <a:endCxn id="15374" idx="1"/>
          </p:cNvCxnSpPr>
          <p:nvPr/>
        </p:nvCxnSpPr>
        <p:spPr>
          <a:xfrm>
            <a:off x="4933950" y="3500438"/>
            <a:ext cx="752475" cy="0"/>
          </a:xfrm>
          <a:prstGeom prst="straightConnector1">
            <a:avLst/>
          </a:prstGeom>
          <a:ln w="17145">
            <a:solidFill>
              <a:srgbClr val="1F497D"/>
            </a:solidFill>
            <a:tailEnd type="triangle" w="sm" len="sm"/>
          </a:ln>
        </p:spPr>
      </p:cxnSp>
      <p:cxnSp>
        <p:nvCxnSpPr>
          <p:cNvPr id="15366" name="tsf_9">
            <a:extLst>
              <a:ext uri="{FF2B5EF4-FFF2-40B4-BE49-F238E27FC236}">
                <a16:creationId xmlns:a16="http://schemas.microsoft.com/office/drawing/2014/main" id="{FF0EF84D-2057-4C68-90AE-4EB1A0E21CBB}"/>
              </a:ext>
            </a:extLst>
          </p:cNvPr>
          <p:cNvCxnSpPr>
            <a:stCxn id="15372" idx="3"/>
            <a:endCxn id="15373" idx="1"/>
          </p:cNvCxnSpPr>
          <p:nvPr/>
        </p:nvCxnSpPr>
        <p:spPr>
          <a:xfrm>
            <a:off x="2209800" y="3500438"/>
            <a:ext cx="781050" cy="0"/>
          </a:xfrm>
          <a:prstGeom prst="straightConnector1">
            <a:avLst/>
          </a:prstGeom>
          <a:ln w="17145">
            <a:solidFill>
              <a:srgbClr val="1F497D"/>
            </a:solidFill>
            <a:tailEnd type="triangl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8" name="tsf_30">
            <a:extLst>
              <a:ext uri="{FF2B5EF4-FFF2-40B4-BE49-F238E27FC236}">
                <a16:creationId xmlns:a16="http://schemas.microsoft.com/office/drawing/2014/main" id="{8BCD5119-9A90-4AAB-A54D-0C05B7710E2F}"/>
              </a:ext>
            </a:extLst>
          </p:cNvPr>
          <p:cNvSpPr>
            <a:spLocks noGrp="1"/>
          </p:cNvSpPr>
          <p:nvPr/>
        </p:nvSpPr>
        <p:spPr>
          <a:xfrm>
            <a:off x="419100" y="1352550"/>
            <a:ext cx="7296150" cy="4076700"/>
          </a:xfrm>
          <a:prstGeom prst="rect">
            <a:avLst/>
          </a:prstGeom>
          <a:solidFill>
            <a:srgbClr val="F0F5FA"/>
          </a:solidFill>
          <a:ln w="10478">
            <a:solidFill>
              <a:srgbClr val="B7C6D5"/>
            </a:solidFill>
          </a:ln>
        </p:spPr>
      </p:sp>
      <p:sp>
        <p:nvSpPr>
          <p:cNvPr id="17419" name="tsf_31">
            <a:extLst>
              <a:ext uri="{FF2B5EF4-FFF2-40B4-BE49-F238E27FC236}">
                <a16:creationId xmlns:a16="http://schemas.microsoft.com/office/drawing/2014/main" id="{BE9459F5-4DDF-4354-B244-C65DE8A64D33}"/>
              </a:ext>
            </a:extLst>
          </p:cNvPr>
          <p:cNvSpPr>
            <a:spLocks noGrp="1"/>
          </p:cNvSpPr>
          <p:nvPr/>
        </p:nvSpPr>
        <p:spPr>
          <a:xfrm>
            <a:off x="419100" y="1352550"/>
            <a:ext cx="7296150" cy="295275"/>
          </a:xfrm>
          <a:prstGeom prst="rect">
            <a:avLst/>
          </a:prstGeom>
          <a:solidFill>
            <a:srgbClr val="1F497D"/>
          </a:solidFill>
          <a:ln w="10478">
            <a:solidFill>
              <a:srgbClr val="1F497D"/>
            </a:solidFill>
          </a:ln>
        </p:spPr>
      </p:sp>
      <p:sp>
        <p:nvSpPr>
          <p:cNvPr id="17420" name="tsf_32">
            <a:extLst>
              <a:ext uri="{FF2B5EF4-FFF2-40B4-BE49-F238E27FC236}">
                <a16:creationId xmlns:a16="http://schemas.microsoft.com/office/drawing/2014/main" id="{81888222-88DC-4CFA-8CCF-85C664ACDA8A}"/>
              </a:ext>
            </a:extLst>
          </p:cNvPr>
          <p:cNvSpPr>
            <a:spLocks noGrp="1"/>
          </p:cNvSpPr>
          <p:nvPr/>
        </p:nvSpPr>
        <p:spPr>
          <a:xfrm>
            <a:off x="533400" y="1390650"/>
            <a:ext cx="7067550"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CHAIN-AWARE TRACING</a:t>
            </a:r>
          </a:p>
        </p:txBody>
      </p:sp>
      <p:sp>
        <p:nvSpPr>
          <p:cNvPr id="17421" name="tsf_33">
            <a:extLst>
              <a:ext uri="{FF2B5EF4-FFF2-40B4-BE49-F238E27FC236}">
                <a16:creationId xmlns:a16="http://schemas.microsoft.com/office/drawing/2014/main" id="{87467933-203F-433C-A289-BB7363FC7BD7}"/>
              </a:ext>
            </a:extLst>
          </p:cNvPr>
          <p:cNvSpPr>
            <a:spLocks noGrp="1"/>
          </p:cNvSpPr>
          <p:nvPr/>
        </p:nvSpPr>
        <p:spPr>
          <a:xfrm>
            <a:off x="2009775" y="1819275"/>
            <a:ext cx="4086225" cy="5238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710" b="0">
                <a:solidFill>
                  <a:srgbClr val="171C23"/>
                </a:solidFill>
                <a:latin typeface="Arial"/>
                <a:ea typeface="Arial"/>
                <a:cs typeface="Arial"/>
              </a:defRPr>
            </a:defPPr>
          </a:lstStyle>
          <a:p>
            <a:pPr algn="ctr">
              <a:defRPr sz="1710" b="0">
                <a:solidFill>
                  <a:srgbClr val="171C23"/>
                </a:solidFill>
                <a:latin typeface="Arial"/>
                <a:ea typeface="Arial"/>
                <a:cs typeface="Arial"/>
              </a:defRPr>
            </a:pPr>
            <a:r>
              <a:rPr sz="1710" b="0">
                <a:solidFill>
                  <a:srgbClr val="171C23"/>
                </a:solidFill>
                <a:latin typeface="Arial"/>
                <a:ea typeface="Arial"/>
                <a:cs typeface="Arial"/>
              </a:rPr>
              <a:t>1  Acquire a bounded case snapshot</a:t>
            </a:r>
          </a:p>
        </p:txBody>
      </p:sp>
      <p:sp>
        <p:nvSpPr>
          <p:cNvPr id="17422" name="tsf_34">
            <a:extLst>
              <a:ext uri="{FF2B5EF4-FFF2-40B4-BE49-F238E27FC236}">
                <a16:creationId xmlns:a16="http://schemas.microsoft.com/office/drawing/2014/main" id="{BB7A2FC6-3E4B-48E1-A4EB-8879887CE0C0}"/>
              </a:ext>
            </a:extLst>
          </p:cNvPr>
          <p:cNvSpPr>
            <a:spLocks noGrp="1"/>
          </p:cNvSpPr>
          <p:nvPr/>
        </p:nvSpPr>
        <p:spPr>
          <a:xfrm>
            <a:off x="561975" y="2705100"/>
            <a:ext cx="2209800" cy="9048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425" b="0">
                <a:solidFill>
                  <a:srgbClr val="171C23"/>
                </a:solidFill>
                <a:latin typeface="Arial"/>
                <a:ea typeface="Arial"/>
                <a:cs typeface="Arial"/>
              </a:defRPr>
            </a:defPPr>
          </a:lstStyle>
          <a:p>
            <a:pPr algn="ctr">
              <a:defRPr sz="1425" b="0">
                <a:solidFill>
                  <a:srgbClr val="171C23"/>
                </a:solidFill>
                <a:latin typeface="Arial"/>
                <a:ea typeface="Arial"/>
                <a:cs typeface="Arial"/>
              </a:defRPr>
            </a:pPr>
            <a:r>
              <a:rPr sz="1425" b="0">
                <a:solidFill>
                  <a:srgbClr val="171C23"/>
                </a:solidFill>
                <a:latin typeface="Arial"/>
                <a:ea typeface="Arial"/>
                <a:cs typeface="Arial"/>
              </a:rPr>
              <a:t>Bitcoin</a:t>
            </a:r>
          </a:p>
          <a:p>
            <a:pPr algn="ctr">
              <a:defRPr sz="1425" b="0">
                <a:solidFill>
                  <a:srgbClr val="171C23"/>
                </a:solidFill>
                <a:latin typeface="Arial"/>
                <a:ea typeface="Arial"/>
                <a:cs typeface="Arial"/>
              </a:defRPr>
            </a:pPr>
            <a:r>
              <a:rPr sz="1425" b="0">
                <a:solidFill>
                  <a:srgbClr val="171C23"/>
                </a:solidFill>
                <a:latin typeface="Arial"/>
                <a:ea typeface="Arial"/>
                <a:cs typeface="Arial"/>
              </a:rPr>
              <a:t>Spent-output links</a:t>
            </a:r>
          </a:p>
          <a:p>
            <a:pPr algn="ctr">
              <a:defRPr sz="1425" b="0">
                <a:solidFill>
                  <a:srgbClr val="171C23"/>
                </a:solidFill>
                <a:latin typeface="Arial"/>
                <a:ea typeface="Arial"/>
                <a:cs typeface="Arial"/>
              </a:defRPr>
            </a:pPr>
            <a:r>
              <a:rPr sz="1425" b="0">
                <a:solidFill>
                  <a:srgbClr val="171C23"/>
                </a:solidFill>
                <a:latin typeface="Arial"/>
                <a:ea typeface="Arial"/>
                <a:cs typeface="Arial"/>
              </a:rPr>
              <a:t>Allocation kept separate</a:t>
            </a:r>
          </a:p>
        </p:txBody>
      </p:sp>
      <p:sp>
        <p:nvSpPr>
          <p:cNvPr id="17423" name="tsf_35">
            <a:extLst>
              <a:ext uri="{FF2B5EF4-FFF2-40B4-BE49-F238E27FC236}">
                <a16:creationId xmlns:a16="http://schemas.microsoft.com/office/drawing/2014/main" id="{026D5562-9EBA-49AE-B00B-9DD0CF55A7FF}"/>
              </a:ext>
            </a:extLst>
          </p:cNvPr>
          <p:cNvSpPr>
            <a:spLocks noGrp="1"/>
          </p:cNvSpPr>
          <p:nvPr/>
        </p:nvSpPr>
        <p:spPr>
          <a:xfrm>
            <a:off x="2952750" y="2705100"/>
            <a:ext cx="2209800" cy="9048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425" b="0">
                <a:solidFill>
                  <a:srgbClr val="171C23"/>
                </a:solidFill>
                <a:latin typeface="Arial"/>
                <a:ea typeface="Arial"/>
                <a:cs typeface="Arial"/>
              </a:defRPr>
            </a:defPPr>
          </a:lstStyle>
          <a:p>
            <a:pPr algn="ctr">
              <a:defRPr sz="1425" b="0">
                <a:solidFill>
                  <a:srgbClr val="171C23"/>
                </a:solidFill>
                <a:latin typeface="Arial"/>
                <a:ea typeface="Arial"/>
                <a:cs typeface="Arial"/>
              </a:defRPr>
            </a:pPr>
            <a:r>
              <a:rPr sz="1425" b="0">
                <a:solidFill>
                  <a:srgbClr val="171C23"/>
                </a:solidFill>
                <a:latin typeface="Arial"/>
                <a:ea typeface="Arial"/>
                <a:cs typeface="Arial"/>
              </a:rPr>
              <a:t>ETH / BNB / Polygon</a:t>
            </a:r>
          </a:p>
          <a:p>
            <a:pPr algn="ctr">
              <a:defRPr sz="1425" b="0">
                <a:solidFill>
                  <a:srgbClr val="171C23"/>
                </a:solidFill>
                <a:latin typeface="Arial"/>
                <a:ea typeface="Arial"/>
                <a:cs typeface="Arial"/>
              </a:defRPr>
            </a:pPr>
            <a:r>
              <a:rPr sz="1425" b="0">
                <a:solidFill>
                  <a:srgbClr val="171C23"/>
                </a:solidFill>
                <a:latin typeface="Arial"/>
                <a:ea typeface="Arial"/>
                <a:cs typeface="Arial"/>
              </a:rPr>
              <a:t>Tron / Solana</a:t>
            </a:r>
          </a:p>
          <a:p>
            <a:pPr algn="ctr">
              <a:defRPr sz="1425" b="0">
                <a:solidFill>
                  <a:srgbClr val="171C23"/>
                </a:solidFill>
                <a:latin typeface="Arial"/>
                <a:ea typeface="Arial"/>
                <a:cs typeface="Arial"/>
              </a:defRPr>
            </a:pPr>
            <a:r>
              <a:rPr sz="1425" b="0">
                <a:solidFill>
                  <a:srgbClr val="171C23"/>
                </a:solidFill>
                <a:latin typeface="Arial"/>
                <a:ea typeface="Arial"/>
                <a:cs typeface="Arial"/>
              </a:rPr>
              <a:t>Native + token events</a:t>
            </a:r>
          </a:p>
        </p:txBody>
      </p:sp>
      <p:sp>
        <p:nvSpPr>
          <p:cNvPr id="17424" name="tsf_36">
            <a:extLst>
              <a:ext uri="{FF2B5EF4-FFF2-40B4-BE49-F238E27FC236}">
                <a16:creationId xmlns:a16="http://schemas.microsoft.com/office/drawing/2014/main" id="{B90B0C2C-C4F7-4591-B9C2-84587086CD69}"/>
              </a:ext>
            </a:extLst>
          </p:cNvPr>
          <p:cNvSpPr>
            <a:spLocks noGrp="1"/>
          </p:cNvSpPr>
          <p:nvPr/>
        </p:nvSpPr>
        <p:spPr>
          <a:xfrm>
            <a:off x="5343525" y="2705100"/>
            <a:ext cx="2209800" cy="9048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425" b="0">
                <a:solidFill>
                  <a:srgbClr val="171C23"/>
                </a:solidFill>
                <a:latin typeface="Arial"/>
                <a:ea typeface="Arial"/>
                <a:cs typeface="Arial"/>
              </a:defRPr>
            </a:defPPr>
          </a:lstStyle>
          <a:p>
            <a:pPr algn="ctr">
              <a:defRPr sz="1425" b="0">
                <a:solidFill>
                  <a:srgbClr val="171C23"/>
                </a:solidFill>
                <a:latin typeface="Arial"/>
                <a:ea typeface="Arial"/>
                <a:cs typeface="Arial"/>
              </a:defRPr>
            </a:pPr>
            <a:r>
              <a:rPr sz="1425" b="0">
                <a:solidFill>
                  <a:srgbClr val="171C23"/>
                </a:solidFill>
                <a:latin typeface="Arial"/>
                <a:ea typeface="Arial"/>
                <a:cs typeface="Arial"/>
              </a:rPr>
              <a:t>Cross-chain hop</a:t>
            </a:r>
          </a:p>
          <a:p>
            <a:pPr algn="ctr">
              <a:defRPr sz="1425" b="0">
                <a:solidFill>
                  <a:srgbClr val="171C23"/>
                </a:solidFill>
                <a:latin typeface="Arial"/>
                <a:ea typeface="Arial"/>
                <a:cs typeface="Arial"/>
              </a:defRPr>
            </a:pPr>
            <a:r>
              <a:rPr sz="1425" b="0">
                <a:solidFill>
                  <a:srgbClr val="171C23"/>
                </a:solidFill>
                <a:latin typeface="Arial"/>
                <a:ea typeface="Arial"/>
                <a:cs typeface="Arial"/>
              </a:rPr>
              <a:t>Matched protocol proof</a:t>
            </a:r>
          </a:p>
          <a:p>
            <a:pPr algn="ctr">
              <a:defRPr sz="1425" b="0">
                <a:solidFill>
                  <a:srgbClr val="171C23"/>
                </a:solidFill>
                <a:latin typeface="Arial"/>
                <a:ea typeface="Arial"/>
                <a:cs typeface="Arial"/>
              </a:defRPr>
            </a:pPr>
            <a:r>
              <a:rPr sz="1425" b="0">
                <a:solidFill>
                  <a:srgbClr val="171C23"/>
                </a:solidFill>
                <a:latin typeface="Arial"/>
                <a:ea typeface="Arial"/>
                <a:cs typeface="Arial"/>
              </a:rPr>
              <a:t>Or an unresolved gap</a:t>
            </a:r>
          </a:p>
        </p:txBody>
      </p:sp>
      <p:sp>
        <p:nvSpPr>
          <p:cNvPr id="17425" name="tsf_40">
            <a:extLst>
              <a:ext uri="{FF2B5EF4-FFF2-40B4-BE49-F238E27FC236}">
                <a16:creationId xmlns:a16="http://schemas.microsoft.com/office/drawing/2014/main" id="{DE21EF8D-FF12-4974-A19A-D24292592B64}"/>
              </a:ext>
            </a:extLst>
          </p:cNvPr>
          <p:cNvSpPr>
            <a:spLocks noGrp="1"/>
          </p:cNvSpPr>
          <p:nvPr/>
        </p:nvSpPr>
        <p:spPr>
          <a:xfrm>
            <a:off x="561975" y="4038600"/>
            <a:ext cx="6991350" cy="65722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639" b="0">
                <a:solidFill>
                  <a:srgbClr val="171C23"/>
                </a:solidFill>
                <a:latin typeface="Arial"/>
                <a:ea typeface="Arial"/>
                <a:cs typeface="Arial"/>
              </a:defRPr>
            </a:defPPr>
          </a:lstStyle>
          <a:p>
            <a:pPr algn="ctr">
              <a:defRPr sz="1639" b="0">
                <a:solidFill>
                  <a:srgbClr val="171C23"/>
                </a:solidFill>
                <a:latin typeface="Arial"/>
                <a:ea typeface="Arial"/>
                <a:cs typeface="Arial"/>
              </a:defRPr>
            </a:pPr>
            <a:r>
              <a:rPr sz="1639" b="0">
                <a:solidFill>
                  <a:srgbClr val="171C23"/>
                </a:solidFill>
                <a:latin typeface="Arial"/>
                <a:ea typeface="Arial"/>
                <a:cs typeface="Arial"/>
              </a:rPr>
              <a:t>2  Search time-valid paths [3]</a:t>
            </a:r>
          </a:p>
          <a:p>
            <a:pPr algn="ctr">
              <a:defRPr sz="1639" b="0">
                <a:solidFill>
                  <a:srgbClr val="171C23"/>
                </a:solidFill>
                <a:latin typeface="Arial"/>
                <a:ea typeface="Arial"/>
                <a:cs typeface="Arial"/>
              </a:defRPr>
            </a:pPr>
            <a:r>
              <a:rPr sz="1639" b="0">
                <a:solidFill>
                  <a:srgbClr val="171C23"/>
                </a:solidFill>
                <a:latin typeface="Arial"/>
                <a:ea typeface="Arial"/>
                <a:cs typeface="Arial"/>
              </a:rPr>
              <a:t>Follow ledger order. Stop each branch at supported custody.</a:t>
            </a:r>
          </a:p>
        </p:txBody>
      </p:sp>
      <p:sp>
        <p:nvSpPr>
          <p:cNvPr id="17426" name="tsf_44">
            <a:extLst>
              <a:ext uri="{FF2B5EF4-FFF2-40B4-BE49-F238E27FC236}">
                <a16:creationId xmlns:a16="http://schemas.microsoft.com/office/drawing/2014/main" id="{1D5A8F12-E48D-42CE-8766-96951A80E747}"/>
              </a:ext>
            </a:extLst>
          </p:cNvPr>
          <p:cNvSpPr>
            <a:spLocks noGrp="1"/>
          </p:cNvSpPr>
          <p:nvPr/>
        </p:nvSpPr>
        <p:spPr>
          <a:xfrm>
            <a:off x="581025" y="4867275"/>
            <a:ext cx="6924675" cy="466725"/>
          </a:xfrm>
          <a:prstGeom prst="rect">
            <a:avLst/>
          </a:prstGeom>
          <a:noFill/>
          <a:ln w="10478">
            <a:noFill/>
          </a:ln>
        </p:spPr>
        <p:txBody>
          <a:bodyPr wrap="square" lIns="0" tIns="0" rIns="0" bIns="0" anchor="t">
            <a:noAutofit/>
          </a:bodyPr>
          <a:lstStyle>
            <a:defPPr algn="l">
              <a:defRPr sz="1587" b="0">
                <a:solidFill>
                  <a:srgbClr val="1F497D"/>
                </a:solidFill>
                <a:latin typeface="Arial"/>
                <a:ea typeface="Arial"/>
                <a:cs typeface="Arial"/>
              </a:defRPr>
            </a:defPPr>
          </a:lstStyle>
          <a:p>
            <a:pPr algn="l">
              <a:defRPr sz="1587" b="0">
                <a:solidFill>
                  <a:srgbClr val="1F497D"/>
                </a:solidFill>
                <a:latin typeface="Arial"/>
                <a:ea typeface="Arial"/>
                <a:cs typeface="Arial"/>
              </a:defRPr>
            </a:pPr>
            <a:r>
              <a:rPr sz="1587" b="0">
                <a:solidFill>
                  <a:srgbClr val="1F497D"/>
                </a:solidFill>
                <a:latin typeface="Arial"/>
                <a:ea typeface="Arial"/>
                <a:cs typeface="Arial"/>
              </a:rPr>
              <a:t>3  Rank by fewest transfers within the recorded scope.</a:t>
            </a:r>
          </a:p>
          <a:p>
            <a:pPr algn="l">
              <a:defRPr sz="1587" b="0">
                <a:solidFill>
                  <a:srgbClr val="1F497D"/>
                </a:solidFill>
                <a:latin typeface="Arial"/>
                <a:ea typeface="Arial"/>
                <a:cs typeface="Arial"/>
              </a:defRPr>
            </a:pPr>
            <a:r>
              <a:rPr sz="1587" b="0">
                <a:solidFill>
                  <a:srgbClr val="1F497D"/>
                </a:solidFill>
                <a:latin typeface="Arial"/>
                <a:ea typeface="Arial"/>
                <a:cs typeface="Arial"/>
              </a:rPr>
              <a:t>An unlabelled wallet may still be a nearer custodian.</a:t>
            </a:r>
          </a:p>
        </p:txBody>
      </p:sp>
      <p:sp>
        <p:nvSpPr>
          <p:cNvPr id="17427" name="tsf_45">
            <a:extLst>
              <a:ext uri="{FF2B5EF4-FFF2-40B4-BE49-F238E27FC236}">
                <a16:creationId xmlns:a16="http://schemas.microsoft.com/office/drawing/2014/main" id="{57D586E3-C318-4186-ABD4-E6AAC0008CEE}"/>
              </a:ext>
            </a:extLst>
          </p:cNvPr>
          <p:cNvSpPr>
            <a:spLocks noGrp="1"/>
          </p:cNvSpPr>
          <p:nvPr/>
        </p:nvSpPr>
        <p:spPr>
          <a:xfrm>
            <a:off x="7943850" y="1352550"/>
            <a:ext cx="3829050" cy="4076700"/>
          </a:xfrm>
          <a:prstGeom prst="rect">
            <a:avLst/>
          </a:prstGeom>
          <a:solidFill>
            <a:srgbClr val="FCF6EB"/>
          </a:solidFill>
          <a:ln w="10478">
            <a:solidFill>
              <a:srgbClr val="B7C6D5"/>
            </a:solidFill>
          </a:ln>
        </p:spPr>
      </p:sp>
      <p:sp>
        <p:nvSpPr>
          <p:cNvPr id="17428" name="tsf_46">
            <a:extLst>
              <a:ext uri="{FF2B5EF4-FFF2-40B4-BE49-F238E27FC236}">
                <a16:creationId xmlns:a16="http://schemas.microsoft.com/office/drawing/2014/main" id="{693C8F33-DA8B-4D56-BB1A-F54C01C6E252}"/>
              </a:ext>
            </a:extLst>
          </p:cNvPr>
          <p:cNvSpPr>
            <a:spLocks noGrp="1"/>
          </p:cNvSpPr>
          <p:nvPr/>
        </p:nvSpPr>
        <p:spPr>
          <a:xfrm>
            <a:off x="7943850" y="1352550"/>
            <a:ext cx="3829050" cy="295275"/>
          </a:xfrm>
          <a:prstGeom prst="rect">
            <a:avLst/>
          </a:prstGeom>
          <a:solidFill>
            <a:srgbClr val="A66213"/>
          </a:solidFill>
          <a:ln w="10478">
            <a:solidFill>
              <a:srgbClr val="A66213"/>
            </a:solidFill>
          </a:ln>
        </p:spPr>
      </p:sp>
      <p:sp>
        <p:nvSpPr>
          <p:cNvPr id="17429" name="tsf_47">
            <a:extLst>
              <a:ext uri="{FF2B5EF4-FFF2-40B4-BE49-F238E27FC236}">
                <a16:creationId xmlns:a16="http://schemas.microsoft.com/office/drawing/2014/main" id="{0E1B9D67-1FFE-4CDB-8A4F-3036C3A424BC}"/>
              </a:ext>
            </a:extLst>
          </p:cNvPr>
          <p:cNvSpPr>
            <a:spLocks noGrp="1"/>
          </p:cNvSpPr>
          <p:nvPr/>
        </p:nvSpPr>
        <p:spPr>
          <a:xfrm>
            <a:off x="8058150" y="1390650"/>
            <a:ext cx="3600450"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DEPOSIT CANDIDATE [1, 2]</a:t>
            </a:r>
          </a:p>
        </p:txBody>
      </p:sp>
      <p:sp>
        <p:nvSpPr>
          <p:cNvPr id="17430" name="tsf_48">
            <a:extLst>
              <a:ext uri="{FF2B5EF4-FFF2-40B4-BE49-F238E27FC236}">
                <a16:creationId xmlns:a16="http://schemas.microsoft.com/office/drawing/2014/main" id="{7D6C4C38-AA20-4BDF-83C4-4120D707521D}"/>
              </a:ext>
            </a:extLst>
          </p:cNvPr>
          <p:cNvSpPr>
            <a:spLocks noGrp="1"/>
          </p:cNvSpPr>
          <p:nvPr/>
        </p:nvSpPr>
        <p:spPr>
          <a:xfrm>
            <a:off x="8096250" y="1781175"/>
            <a:ext cx="3505200" cy="266700"/>
          </a:xfrm>
          <a:prstGeom prst="rect">
            <a:avLst/>
          </a:prstGeom>
          <a:noFill/>
          <a:ln w="10478">
            <a:noFill/>
          </a:ln>
        </p:spPr>
        <p:txBody>
          <a:bodyPr wrap="square" lIns="0" tIns="0" rIns="0" bIns="0" anchor="t">
            <a:noAutofit/>
          </a:bodyPr>
          <a:lstStyle>
            <a:defPPr algn="l">
              <a:defRPr sz="1587" b="1">
                <a:solidFill>
                  <a:srgbClr val="A66213"/>
                </a:solidFill>
                <a:latin typeface="Arial"/>
                <a:ea typeface="Arial"/>
                <a:cs typeface="Arial"/>
              </a:defRPr>
            </a:defPPr>
          </a:lstStyle>
          <a:p>
            <a:pPr algn="l">
              <a:defRPr sz="1587" b="1">
                <a:solidFill>
                  <a:srgbClr val="A66213"/>
                </a:solidFill>
                <a:latin typeface="Arial"/>
                <a:ea typeface="Arial"/>
                <a:cs typeface="Arial"/>
              </a:defRPr>
            </a:pPr>
            <a:r>
              <a:rPr sz="1587" b="1">
                <a:solidFill>
                  <a:srgbClr val="A66213"/>
                </a:solidFill>
                <a:latin typeface="Arial"/>
                <a:ea typeface="Arial"/>
                <a:cs typeface="Arial"/>
              </a:rPr>
              <a:t>Separate research module</a:t>
            </a:r>
          </a:p>
        </p:txBody>
      </p:sp>
      <p:sp>
        <p:nvSpPr>
          <p:cNvPr id="17431" name="tsf_49">
            <a:extLst>
              <a:ext uri="{FF2B5EF4-FFF2-40B4-BE49-F238E27FC236}">
                <a16:creationId xmlns:a16="http://schemas.microsoft.com/office/drawing/2014/main" id="{81D2DD96-2380-48DB-943C-FC10957DF2A1}"/>
              </a:ext>
            </a:extLst>
          </p:cNvPr>
          <p:cNvSpPr>
            <a:spLocks noGrp="1"/>
          </p:cNvSpPr>
          <p:nvPr/>
        </p:nvSpPr>
        <p:spPr>
          <a:xfrm>
            <a:off x="10210800" y="2238375"/>
            <a:ext cx="1381125" cy="73342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354" b="0">
                <a:solidFill>
                  <a:srgbClr val="171C23"/>
                </a:solidFill>
                <a:latin typeface="Arial"/>
                <a:ea typeface="Arial"/>
                <a:cs typeface="Arial"/>
              </a:defRPr>
            </a:defPPr>
          </a:lstStyle>
          <a:p>
            <a:pPr algn="ctr">
              <a:defRPr sz="1354" b="0">
                <a:solidFill>
                  <a:srgbClr val="171C23"/>
                </a:solidFill>
                <a:latin typeface="Arial"/>
                <a:ea typeface="Arial"/>
                <a:cs typeface="Arial"/>
              </a:defRPr>
            </a:pPr>
            <a:r>
              <a:rPr sz="1354" b="0">
                <a:solidFill>
                  <a:srgbClr val="171C23"/>
                </a:solidFill>
                <a:latin typeface="Arial"/>
                <a:ea typeface="Arial"/>
                <a:cs typeface="Arial"/>
              </a:rPr>
              <a:t>Known service</a:t>
            </a:r>
          </a:p>
          <a:p>
            <a:pPr algn="ctr">
              <a:defRPr sz="1354" b="0">
                <a:solidFill>
                  <a:srgbClr val="171C23"/>
                </a:solidFill>
                <a:latin typeface="Arial"/>
                <a:ea typeface="Arial"/>
                <a:cs typeface="Arial"/>
              </a:defRPr>
            </a:pPr>
            <a:r>
              <a:rPr sz="1354" b="0">
                <a:solidFill>
                  <a:srgbClr val="171C23"/>
                </a:solidFill>
                <a:latin typeface="Arial"/>
                <a:ea typeface="Arial"/>
                <a:cs typeface="Arial"/>
              </a:rPr>
              <a:t>collection</a:t>
            </a:r>
          </a:p>
          <a:p>
            <a:pPr algn="ctr">
              <a:defRPr sz="1354" b="0">
                <a:solidFill>
                  <a:srgbClr val="171C23"/>
                </a:solidFill>
                <a:latin typeface="Arial"/>
                <a:ea typeface="Arial"/>
                <a:cs typeface="Arial"/>
              </a:defRPr>
            </a:pPr>
            <a:r>
              <a:rPr sz="1354" b="0">
                <a:solidFill>
                  <a:srgbClr val="171C23"/>
                </a:solidFill>
                <a:latin typeface="Arial"/>
                <a:ea typeface="Arial"/>
                <a:cs typeface="Arial"/>
              </a:rPr>
              <a:t>wallet</a:t>
            </a:r>
          </a:p>
        </p:txBody>
      </p:sp>
      <p:sp>
        <p:nvSpPr>
          <p:cNvPr id="17432" name="tsf_50">
            <a:extLst>
              <a:ext uri="{FF2B5EF4-FFF2-40B4-BE49-F238E27FC236}">
                <a16:creationId xmlns:a16="http://schemas.microsoft.com/office/drawing/2014/main" id="{6505940C-1277-4BE3-853B-3C51383F49AF}"/>
              </a:ext>
            </a:extLst>
          </p:cNvPr>
          <p:cNvSpPr>
            <a:spLocks noGrp="1"/>
          </p:cNvSpPr>
          <p:nvPr/>
        </p:nvSpPr>
        <p:spPr>
          <a:xfrm>
            <a:off x="8096250" y="2238375"/>
            <a:ext cx="1400175" cy="733425"/>
          </a:xfrm>
          <a:prstGeom prst="rect">
            <a:avLst/>
          </a:prstGeom>
          <a:solidFill>
            <a:srgbClr val="FFFFFF"/>
          </a:solidFill>
          <a:ln w="10478">
            <a:solidFill>
              <a:srgbClr val="A66213"/>
            </a:solidFill>
          </a:ln>
        </p:spPr>
        <p:txBody>
          <a:bodyPr wrap="square" lIns="76200" tIns="38100" rIns="76200" bIns="38100" anchor="ctr">
            <a:noAutofit/>
          </a:bodyPr>
          <a:lstStyle>
            <a:defPPr algn="ctr">
              <a:defRPr sz="1425" b="0">
                <a:solidFill>
                  <a:srgbClr val="171C23"/>
                </a:solidFill>
                <a:latin typeface="Arial"/>
                <a:ea typeface="Arial"/>
                <a:cs typeface="Arial"/>
              </a:defRPr>
            </a:defPPr>
          </a:lstStyle>
          <a:p>
            <a:pPr algn="ctr">
              <a:defRPr sz="1425" b="0">
                <a:solidFill>
                  <a:srgbClr val="171C23"/>
                </a:solidFill>
                <a:latin typeface="Arial"/>
                <a:ea typeface="Arial"/>
                <a:cs typeface="Arial"/>
              </a:defRPr>
            </a:pPr>
            <a:r>
              <a:rPr sz="1425" b="0">
                <a:solidFill>
                  <a:srgbClr val="171C23"/>
                </a:solidFill>
                <a:latin typeface="Arial"/>
                <a:ea typeface="Arial"/>
                <a:cs typeface="Arial"/>
              </a:rPr>
              <a:t>Possible</a:t>
            </a:r>
          </a:p>
          <a:p>
            <a:pPr algn="ctr">
              <a:defRPr sz="1425" b="0">
                <a:solidFill>
                  <a:srgbClr val="171C23"/>
                </a:solidFill>
                <a:latin typeface="Arial"/>
                <a:ea typeface="Arial"/>
                <a:cs typeface="Arial"/>
              </a:defRPr>
            </a:pPr>
            <a:r>
              <a:rPr sz="1425" b="0">
                <a:solidFill>
                  <a:srgbClr val="171C23"/>
                </a:solidFill>
                <a:latin typeface="Arial"/>
                <a:ea typeface="Arial"/>
                <a:cs typeface="Arial"/>
              </a:rPr>
              <a:t>deposit</a:t>
            </a:r>
          </a:p>
          <a:p>
            <a:pPr algn="ctr">
              <a:defRPr sz="1425" b="0">
                <a:solidFill>
                  <a:srgbClr val="171C23"/>
                </a:solidFill>
                <a:latin typeface="Arial"/>
                <a:ea typeface="Arial"/>
                <a:cs typeface="Arial"/>
              </a:defRPr>
            </a:pPr>
            <a:r>
              <a:rPr sz="1425" b="0">
                <a:solidFill>
                  <a:srgbClr val="171C23"/>
                </a:solidFill>
                <a:latin typeface="Arial"/>
                <a:ea typeface="Arial"/>
                <a:cs typeface="Arial"/>
              </a:rPr>
              <a:t>wallet</a:t>
            </a:r>
          </a:p>
        </p:txBody>
      </p:sp>
      <p:sp>
        <p:nvSpPr>
          <p:cNvPr id="17433" name="tsf_52">
            <a:extLst>
              <a:ext uri="{FF2B5EF4-FFF2-40B4-BE49-F238E27FC236}">
                <a16:creationId xmlns:a16="http://schemas.microsoft.com/office/drawing/2014/main" id="{5351EE63-E62D-4DBE-AF20-8BEDCE6DF537}"/>
              </a:ext>
            </a:extLst>
          </p:cNvPr>
          <p:cNvSpPr>
            <a:spLocks noGrp="1"/>
          </p:cNvSpPr>
          <p:nvPr/>
        </p:nvSpPr>
        <p:spPr>
          <a:xfrm>
            <a:off x="9525000" y="2009775"/>
            <a:ext cx="657225" cy="209550"/>
          </a:xfrm>
          <a:prstGeom prst="rect">
            <a:avLst/>
          </a:prstGeom>
          <a:noFill/>
          <a:ln w="10478">
            <a:noFill/>
          </a:ln>
        </p:spPr>
        <p:txBody>
          <a:bodyPr wrap="square" lIns="0" tIns="0" rIns="0" bIns="0" anchor="t">
            <a:noAutofit/>
          </a:bodyPr>
          <a:lstStyle>
            <a:defPPr algn="ctr">
              <a:defRPr sz="1242" b="0">
                <a:solidFill>
                  <a:srgbClr val="536170"/>
                </a:solidFill>
                <a:latin typeface="Arial"/>
                <a:ea typeface="Arial"/>
                <a:cs typeface="Arial"/>
              </a:defRPr>
            </a:defPPr>
          </a:lstStyle>
          <a:p>
            <a:pPr algn="ctr">
              <a:defRPr sz="1242" b="0">
                <a:solidFill>
                  <a:srgbClr val="536170"/>
                </a:solidFill>
                <a:latin typeface="Arial"/>
                <a:ea typeface="Arial"/>
                <a:cs typeface="Arial"/>
              </a:defRPr>
            </a:pPr>
            <a:r>
              <a:rPr sz="1242" b="0">
                <a:solidFill>
                  <a:srgbClr val="536170"/>
                </a:solidFill>
                <a:latin typeface="Arial"/>
                <a:ea typeface="Arial"/>
                <a:cs typeface="Arial"/>
              </a:rPr>
              <a:t>sweep</a:t>
            </a:r>
          </a:p>
        </p:txBody>
      </p:sp>
      <p:sp>
        <p:nvSpPr>
          <p:cNvPr id="17434" name="tsf_53">
            <a:extLst>
              <a:ext uri="{FF2B5EF4-FFF2-40B4-BE49-F238E27FC236}">
                <a16:creationId xmlns:a16="http://schemas.microsoft.com/office/drawing/2014/main" id="{03B8E798-050C-4A0D-BEFD-354E0B1578DD}"/>
              </a:ext>
            </a:extLst>
          </p:cNvPr>
          <p:cNvSpPr>
            <a:spLocks noGrp="1"/>
          </p:cNvSpPr>
          <p:nvPr/>
        </p:nvSpPr>
        <p:spPr>
          <a:xfrm>
            <a:off x="8096250" y="3390900"/>
            <a:ext cx="1400175" cy="638175"/>
          </a:xfrm>
          <a:prstGeom prst="rect">
            <a:avLst/>
          </a:prstGeom>
          <a:solidFill>
            <a:srgbClr val="FFFFFF"/>
          </a:solidFill>
          <a:ln w="10478">
            <a:solidFill>
              <a:srgbClr val="1F497D"/>
            </a:solidFill>
          </a:ln>
        </p:spPr>
        <p:txBody>
          <a:bodyPr wrap="square" lIns="76200" tIns="38100" rIns="76200" bIns="38100" anchor="ctr">
            <a:noAutofit/>
          </a:bodyPr>
          <a:lstStyle>
            <a:defPPr algn="ctr">
              <a:defRPr sz="1425" b="0">
                <a:solidFill>
                  <a:srgbClr val="171C23"/>
                </a:solidFill>
                <a:latin typeface="Arial"/>
                <a:ea typeface="Arial"/>
                <a:cs typeface="Arial"/>
              </a:defRPr>
            </a:defPPr>
          </a:lstStyle>
          <a:p>
            <a:pPr algn="ctr">
              <a:defRPr sz="1425" b="0">
                <a:solidFill>
                  <a:srgbClr val="171C23"/>
                </a:solidFill>
                <a:latin typeface="Arial"/>
                <a:ea typeface="Arial"/>
                <a:cs typeface="Arial"/>
              </a:defRPr>
            </a:pPr>
            <a:r>
              <a:rPr sz="1425" b="0">
                <a:solidFill>
                  <a:srgbClr val="171C23"/>
                </a:solidFill>
                <a:latin typeface="Arial"/>
                <a:ea typeface="Arial"/>
                <a:cs typeface="Arial"/>
              </a:rPr>
              <a:t>Service</a:t>
            </a:r>
          </a:p>
          <a:p>
            <a:pPr algn="ctr">
              <a:defRPr sz="1425" b="0">
                <a:solidFill>
                  <a:srgbClr val="171C23"/>
                </a:solidFill>
                <a:latin typeface="Arial"/>
                <a:ea typeface="Arial"/>
                <a:cs typeface="Arial"/>
              </a:defRPr>
            </a:pPr>
            <a:r>
              <a:rPr sz="1425" b="0">
                <a:solidFill>
                  <a:srgbClr val="171C23"/>
                </a:solidFill>
                <a:latin typeface="Arial"/>
                <a:ea typeface="Arial"/>
                <a:cs typeface="Arial"/>
              </a:rPr>
              <a:t>fee wallet</a:t>
            </a:r>
          </a:p>
        </p:txBody>
      </p:sp>
      <p:sp>
        <p:nvSpPr>
          <p:cNvPr id="17435" name="tsf_55">
            <a:extLst>
              <a:ext uri="{FF2B5EF4-FFF2-40B4-BE49-F238E27FC236}">
                <a16:creationId xmlns:a16="http://schemas.microsoft.com/office/drawing/2014/main" id="{0494E7A6-D4C8-45B0-98CE-3C5D0EE01CAB}"/>
              </a:ext>
            </a:extLst>
          </p:cNvPr>
          <p:cNvSpPr>
            <a:spLocks noGrp="1"/>
          </p:cNvSpPr>
          <p:nvPr/>
        </p:nvSpPr>
        <p:spPr>
          <a:xfrm>
            <a:off x="9639300" y="3257550"/>
            <a:ext cx="1971675" cy="781050"/>
          </a:xfrm>
          <a:prstGeom prst="rect">
            <a:avLst/>
          </a:prstGeom>
          <a:noFill/>
          <a:ln w="10478">
            <a:noFill/>
          </a:ln>
        </p:spPr>
        <p:txBody>
          <a:bodyPr wrap="square" lIns="0" tIns="0" rIns="0" bIns="0" anchor="t">
            <a:noAutofit/>
          </a:bodyPr>
          <a:lstStyle>
            <a:defPPr algn="l">
              <a:defRPr sz="1380" b="0">
                <a:solidFill>
                  <a:srgbClr val="171C23"/>
                </a:solidFill>
                <a:latin typeface="Arial"/>
                <a:ea typeface="Arial"/>
                <a:cs typeface="Arial"/>
              </a:defRPr>
            </a:defPPr>
          </a:lstStyle>
          <a:p>
            <a:pPr algn="l">
              <a:defRPr sz="1380" b="0">
                <a:solidFill>
                  <a:srgbClr val="171C23"/>
                </a:solidFill>
                <a:latin typeface="Arial"/>
                <a:ea typeface="Arial"/>
                <a:cs typeface="Arial"/>
              </a:defRPr>
            </a:pPr>
            <a:r>
              <a:rPr sz="1380" b="0">
                <a:solidFill>
                  <a:srgbClr val="171C23"/>
                </a:solidFill>
                <a:latin typeface="Arial"/>
                <a:ea typeface="Arial"/>
                <a:cs typeface="Arial"/>
              </a:rPr>
              <a:t>Receive tokens,</a:t>
            </a:r>
          </a:p>
          <a:p>
            <a:pPr algn="l">
              <a:defRPr sz="1380" b="0">
                <a:solidFill>
                  <a:srgbClr val="171C23"/>
                </a:solidFill>
                <a:latin typeface="Arial"/>
                <a:ea typeface="Arial"/>
                <a:cs typeface="Arial"/>
              </a:defRPr>
            </a:pPr>
            <a:r>
              <a:rPr sz="1380" b="0">
                <a:solidFill>
                  <a:srgbClr val="171C23"/>
                </a:solidFill>
                <a:latin typeface="Arial"/>
                <a:ea typeface="Arial"/>
                <a:cs typeface="Arial"/>
              </a:rPr>
              <a:t>fund fees, then</a:t>
            </a:r>
          </a:p>
          <a:p>
            <a:pPr algn="l">
              <a:defRPr sz="1380" b="0">
                <a:solidFill>
                  <a:srgbClr val="171C23"/>
                </a:solidFill>
                <a:latin typeface="Arial"/>
                <a:ea typeface="Arial"/>
                <a:cs typeface="Arial"/>
              </a:defRPr>
            </a:pPr>
            <a:r>
              <a:rPr sz="1380" b="0">
                <a:solidFill>
                  <a:srgbClr val="171C23"/>
                </a:solidFill>
                <a:latin typeface="Arial"/>
                <a:ea typeface="Arial"/>
                <a:cs typeface="Arial"/>
              </a:rPr>
              <a:t>sweep to the service.</a:t>
            </a:r>
          </a:p>
        </p:txBody>
      </p:sp>
      <p:sp>
        <p:nvSpPr>
          <p:cNvPr id="17436" name="tsf_56">
            <a:extLst>
              <a:ext uri="{FF2B5EF4-FFF2-40B4-BE49-F238E27FC236}">
                <a16:creationId xmlns:a16="http://schemas.microsoft.com/office/drawing/2014/main" id="{7F8B7345-7CBB-4C39-B6EA-CF945139DE68}"/>
              </a:ext>
            </a:extLst>
          </p:cNvPr>
          <p:cNvSpPr>
            <a:spLocks noGrp="1"/>
          </p:cNvSpPr>
          <p:nvPr/>
        </p:nvSpPr>
        <p:spPr>
          <a:xfrm>
            <a:off x="8096250" y="4229100"/>
            <a:ext cx="3514725" cy="1019175"/>
          </a:xfrm>
          <a:prstGeom prst="rect">
            <a:avLst/>
          </a:prstGeom>
          <a:noFill/>
          <a:ln w="10478">
            <a:noFill/>
          </a:ln>
        </p:spPr>
        <p:txBody>
          <a:bodyPr wrap="square" lIns="0" tIns="0" rIns="0" bIns="0" anchor="t">
            <a:noAutofit/>
          </a:bodyPr>
          <a:lstStyle>
            <a:defPPr algn="l">
              <a:defRPr sz="1380" b="0">
                <a:solidFill>
                  <a:srgbClr val="171C23"/>
                </a:solidFill>
                <a:latin typeface="Arial"/>
                <a:ea typeface="Arial"/>
                <a:cs typeface="Arial"/>
              </a:defRPr>
            </a:defPPr>
          </a:lstStyle>
          <a:p>
            <a:pPr algn="l">
              <a:defRPr sz="1380" b="0">
                <a:solidFill>
                  <a:srgbClr val="171C23"/>
                </a:solidFill>
                <a:latin typeface="Arial"/>
                <a:ea typeface="Arial"/>
                <a:cs typeface="Arial"/>
              </a:defRPr>
            </a:pPr>
            <a:r>
              <a:rPr sz="1380" b="0">
                <a:solidFill>
                  <a:srgbClr val="171C23"/>
                </a:solidFill>
                <a:latin typeface="Arial"/>
                <a:ea typeface="Arial"/>
                <a:cs typeface="Arial"/>
              </a:rPr>
              <a:t>Match dated service anchors.</a:t>
            </a:r>
          </a:p>
          <a:p>
            <a:pPr algn="l">
              <a:defRPr sz="1380" b="0">
                <a:solidFill>
                  <a:srgbClr val="171C23"/>
                </a:solidFill>
                <a:latin typeface="Arial"/>
                <a:ea typeface="Arial"/>
                <a:cs typeface="Arial"/>
              </a:defRPr>
            </a:pPr>
            <a:r>
              <a:rPr sz="1380" b="0">
                <a:solidFill>
                  <a:srgbClr val="171C23"/>
                </a:solidFill>
                <a:latin typeface="Arial"/>
                <a:ea typeface="Arial"/>
                <a:cs typeface="Arial"/>
              </a:rPr>
              <a:t>Check complete history, receipts</a:t>
            </a:r>
          </a:p>
          <a:p>
            <a:pPr algn="l">
              <a:defRPr sz="1380" b="0">
                <a:solidFill>
                  <a:srgbClr val="171C23"/>
                </a:solidFill>
                <a:latin typeface="Arial"/>
                <a:ea typeface="Arial"/>
                <a:cs typeface="Arial"/>
              </a:defRPr>
            </a:pPr>
            <a:r>
              <a:rPr sz="1380" b="0">
                <a:solidFill>
                  <a:srgbClr val="171C23"/>
                </a:solidFill>
                <a:latin typeface="Arial"/>
                <a:ea typeface="Arial"/>
                <a:cs typeface="Arial"/>
              </a:rPr>
              <a:t>and balances across repeated cycles.</a:t>
            </a:r>
          </a:p>
          <a:p>
            <a:pPr algn="l">
              <a:defRPr sz="1380" b="0">
                <a:solidFill>
                  <a:srgbClr val="171C23"/>
                </a:solidFill>
                <a:latin typeface="Arial"/>
                <a:ea typeface="Arial"/>
                <a:cs typeface="Arial"/>
              </a:defRPr>
            </a:pPr>
            <a:r>
              <a:rPr sz="1380" b="0">
                <a:solidFill>
                  <a:srgbClr val="171C23"/>
                </a:solidFill>
                <a:latin typeface="Arial"/>
                <a:ea typeface="Arial"/>
                <a:cs typeface="Arial"/>
              </a:rPr>
              <a:t>A match stays unconfirmed.</a:t>
            </a:r>
          </a:p>
        </p:txBody>
      </p:sp>
      <p:sp>
        <p:nvSpPr>
          <p:cNvPr id="17437" name="tsf_57">
            <a:extLst>
              <a:ext uri="{FF2B5EF4-FFF2-40B4-BE49-F238E27FC236}">
                <a16:creationId xmlns:a16="http://schemas.microsoft.com/office/drawing/2014/main" id="{0D3A6E76-DFD8-43FF-BCFB-2A67A0C81B0F}"/>
              </a:ext>
            </a:extLst>
          </p:cNvPr>
          <p:cNvSpPr>
            <a:spLocks noGrp="1"/>
          </p:cNvSpPr>
          <p:nvPr/>
        </p:nvSpPr>
        <p:spPr>
          <a:xfrm>
            <a:off x="419100" y="5514975"/>
            <a:ext cx="11353800" cy="762000"/>
          </a:xfrm>
          <a:prstGeom prst="rect">
            <a:avLst/>
          </a:prstGeom>
          <a:solidFill>
            <a:srgbClr val="FFFFFF"/>
          </a:solidFill>
          <a:ln w="10478">
            <a:solidFill>
              <a:srgbClr val="B7C6D5"/>
            </a:solidFill>
          </a:ln>
        </p:spPr>
      </p:sp>
      <p:sp>
        <p:nvSpPr>
          <p:cNvPr id="17438" name="tsf_58">
            <a:extLst>
              <a:ext uri="{FF2B5EF4-FFF2-40B4-BE49-F238E27FC236}">
                <a16:creationId xmlns:a16="http://schemas.microsoft.com/office/drawing/2014/main" id="{DD5B7B0D-A9B4-4A40-99B9-19E9258D30B9}"/>
              </a:ext>
            </a:extLst>
          </p:cNvPr>
          <p:cNvSpPr>
            <a:spLocks noGrp="1"/>
          </p:cNvSpPr>
          <p:nvPr/>
        </p:nvSpPr>
        <p:spPr>
          <a:xfrm>
            <a:off x="552450" y="5562600"/>
            <a:ext cx="11087100" cy="238125"/>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TECH STACK: EACH TOOL HAS A SPECIFIC JOB</a:t>
            </a:r>
          </a:p>
        </p:txBody>
      </p:sp>
      <p:sp>
        <p:nvSpPr>
          <p:cNvPr id="17439" name="tsf_59">
            <a:extLst>
              <a:ext uri="{FF2B5EF4-FFF2-40B4-BE49-F238E27FC236}">
                <a16:creationId xmlns:a16="http://schemas.microsoft.com/office/drawing/2014/main" id="{3A06E0B0-D2EE-4E0C-B432-CC1D685051EE}"/>
              </a:ext>
            </a:extLst>
          </p:cNvPr>
          <p:cNvSpPr>
            <a:spLocks noGrp="1"/>
          </p:cNvSpPr>
          <p:nvPr/>
        </p:nvSpPr>
        <p:spPr>
          <a:xfrm>
            <a:off x="552450" y="5829300"/>
            <a:ext cx="11087100" cy="219075"/>
          </a:xfrm>
          <a:prstGeom prst="rect">
            <a:avLst/>
          </a:prstGeom>
          <a:noFill/>
          <a:ln w="10478">
            <a:noFill/>
          </a:ln>
        </p:spPr>
        <p:txBody>
          <a:bodyPr wrap="square" lIns="0" tIns="0" rIns="0" bIns="0" anchor="t">
            <a:noAutofit/>
          </a:bodyPr>
          <a:lstStyle>
            <a:defPPr algn="l">
              <a:defRPr sz="1380" b="0">
                <a:solidFill>
                  <a:srgbClr val="171C23"/>
                </a:solidFill>
                <a:latin typeface="Arial"/>
                <a:ea typeface="Arial"/>
                <a:cs typeface="Arial"/>
              </a:defRPr>
            </a:defPPr>
          </a:lstStyle>
          <a:p>
            <a:pPr algn="l">
              <a:defRPr sz="1380" b="0">
                <a:solidFill>
                  <a:srgbClr val="171C23"/>
                </a:solidFill>
                <a:latin typeface="Arial"/>
                <a:ea typeface="Arial"/>
                <a:cs typeface="Arial"/>
              </a:defRPr>
            </a:pPr>
            <a:r>
              <a:rPr sz="1380" b="0">
                <a:solidFill>
                  <a:srgbClr val="171C23"/>
                </a:solidFill>
                <a:latin typeface="Arial"/>
                <a:ea typeface="Arial"/>
                <a:cs typeface="Arial"/>
              </a:rPr>
              <a:t>FastAPI / Python: APIs + graph rules   •   React / TypeScript / Cytoscape: investigator review + graph view</a:t>
            </a:r>
          </a:p>
        </p:txBody>
      </p:sp>
      <p:sp>
        <p:nvSpPr>
          <p:cNvPr id="17440" name="tsf_60">
            <a:extLst>
              <a:ext uri="{FF2B5EF4-FFF2-40B4-BE49-F238E27FC236}">
                <a16:creationId xmlns:a16="http://schemas.microsoft.com/office/drawing/2014/main" id="{F679C154-2122-4415-B28C-6BE77572B17D}"/>
              </a:ext>
            </a:extLst>
          </p:cNvPr>
          <p:cNvSpPr>
            <a:spLocks noGrp="1"/>
          </p:cNvSpPr>
          <p:nvPr/>
        </p:nvSpPr>
        <p:spPr>
          <a:xfrm>
            <a:off x="552450" y="6067425"/>
            <a:ext cx="11087100" cy="219075"/>
          </a:xfrm>
          <a:prstGeom prst="rect">
            <a:avLst/>
          </a:prstGeom>
          <a:noFill/>
          <a:ln w="10478">
            <a:noFill/>
          </a:ln>
        </p:spPr>
        <p:txBody>
          <a:bodyPr wrap="square" lIns="0" tIns="0" rIns="0" bIns="0" anchor="t">
            <a:noAutofit/>
          </a:bodyPr>
          <a:lstStyle>
            <a:defPPr algn="l">
              <a:defRPr sz="1380" b="0">
                <a:solidFill>
                  <a:srgbClr val="171C23"/>
                </a:solidFill>
                <a:latin typeface="Arial"/>
                <a:ea typeface="Arial"/>
                <a:cs typeface="Arial"/>
              </a:defRPr>
            </a:defPPr>
          </a:lstStyle>
          <a:p>
            <a:pPr algn="l">
              <a:defRPr sz="1380" b="0">
                <a:solidFill>
                  <a:srgbClr val="171C23"/>
                </a:solidFill>
                <a:latin typeface="Arial"/>
                <a:ea typeface="Arial"/>
                <a:cs typeface="Arial"/>
              </a:defRPr>
            </a:pPr>
            <a:r>
              <a:rPr sz="1380" b="0">
                <a:solidFill>
                  <a:srgbClr val="171C23"/>
                </a:solidFill>
                <a:latin typeface="Arial"/>
                <a:ea typeface="Arial"/>
                <a:cs typeface="Arial"/>
              </a:rPr>
              <a:t>PostgreSQL + workers: queued jobs   •   SQLite: local demo   •   SHA-256 / Ed25519: export integrity</a:t>
            </a:r>
          </a:p>
        </p:txBody>
      </p:sp>
      <p:cxnSp>
        <p:nvCxnSpPr>
          <p:cNvPr id="17410" name="tsf_54">
            <a:extLst>
              <a:ext uri="{FF2B5EF4-FFF2-40B4-BE49-F238E27FC236}">
                <a16:creationId xmlns:a16="http://schemas.microsoft.com/office/drawing/2014/main" id="{0F8A3876-C52B-4DBC-A7F0-89172C85136B}"/>
              </a:ext>
            </a:extLst>
          </p:cNvPr>
          <p:cNvCxnSpPr>
            <a:stCxn id="17434" idx="0"/>
            <a:endCxn id="17432" idx="2"/>
          </p:cNvCxnSpPr>
          <p:nvPr/>
        </p:nvCxnSpPr>
        <p:spPr>
          <a:xfrm flipV="1">
            <a:off x="8796338" y="2971800"/>
            <a:ext cx="0" cy="419100"/>
          </a:xfrm>
          <a:prstGeom prst="straightConnector1">
            <a:avLst/>
          </a:prstGeom>
          <a:ln w="17145">
            <a:solidFill>
              <a:srgbClr val="A66213"/>
            </a:solidFill>
            <a:tailEnd type="triangle" w="sm" len="sm"/>
          </a:ln>
        </p:spPr>
      </p:cxnSp>
      <p:cxnSp>
        <p:nvCxnSpPr>
          <p:cNvPr id="17411" name="tsf_51">
            <a:extLst>
              <a:ext uri="{FF2B5EF4-FFF2-40B4-BE49-F238E27FC236}">
                <a16:creationId xmlns:a16="http://schemas.microsoft.com/office/drawing/2014/main" id="{075C7002-7A6F-419C-9085-0FFF75EF2754}"/>
              </a:ext>
            </a:extLst>
          </p:cNvPr>
          <p:cNvCxnSpPr>
            <a:stCxn id="17432" idx="3"/>
            <a:endCxn id="17431" idx="1"/>
          </p:cNvCxnSpPr>
          <p:nvPr/>
        </p:nvCxnSpPr>
        <p:spPr>
          <a:xfrm>
            <a:off x="9496425" y="2605088"/>
            <a:ext cx="714375" cy="0"/>
          </a:xfrm>
          <a:prstGeom prst="straightConnector1">
            <a:avLst/>
          </a:prstGeom>
          <a:ln w="17145">
            <a:solidFill>
              <a:srgbClr val="1F497D"/>
            </a:solidFill>
            <a:tailEnd type="triangle" w="sm" len="sm"/>
          </a:ln>
        </p:spPr>
      </p:cxnSp>
      <p:cxnSp>
        <p:nvCxnSpPr>
          <p:cNvPr id="17412" name="tsf_43">
            <a:extLst>
              <a:ext uri="{FF2B5EF4-FFF2-40B4-BE49-F238E27FC236}">
                <a16:creationId xmlns:a16="http://schemas.microsoft.com/office/drawing/2014/main" id="{3BE1CF87-6AE1-434D-AC2A-5C93D892B8BF}"/>
              </a:ext>
            </a:extLst>
          </p:cNvPr>
          <p:cNvCxnSpPr>
            <a:stCxn id="17424" idx="2"/>
            <a:endCxn id="17425" idx="0"/>
          </p:cNvCxnSpPr>
          <p:nvPr/>
        </p:nvCxnSpPr>
        <p:spPr>
          <a:xfrm flipH="1">
            <a:off x="4057650" y="3609975"/>
            <a:ext cx="2390775" cy="428625"/>
          </a:xfrm>
          <a:prstGeom prst="bentConnector4">
            <a:avLst>
              <a:gd name="adj1" fmla="val 0"/>
              <a:gd name="adj2" fmla="val 50000"/>
            </a:avLst>
          </a:prstGeom>
          <a:ln w="17145">
            <a:solidFill>
              <a:srgbClr val="1F497D"/>
            </a:solidFill>
            <a:tailEnd type="triangle" w="sm" len="sm"/>
          </a:ln>
        </p:spPr>
      </p:cxnSp>
      <p:cxnSp>
        <p:nvCxnSpPr>
          <p:cNvPr id="17413" name="tsf_42">
            <a:extLst>
              <a:ext uri="{FF2B5EF4-FFF2-40B4-BE49-F238E27FC236}">
                <a16:creationId xmlns:a16="http://schemas.microsoft.com/office/drawing/2014/main" id="{0B8F10D7-4964-4783-A185-3F5440340DDA}"/>
              </a:ext>
            </a:extLst>
          </p:cNvPr>
          <p:cNvCxnSpPr>
            <a:stCxn id="17423" idx="2"/>
            <a:endCxn id="17425" idx="0"/>
          </p:cNvCxnSpPr>
          <p:nvPr/>
        </p:nvCxnSpPr>
        <p:spPr>
          <a:xfrm>
            <a:off x="4057650" y="3609975"/>
            <a:ext cx="0" cy="428625"/>
          </a:xfrm>
          <a:prstGeom prst="straightConnector1">
            <a:avLst/>
          </a:prstGeom>
          <a:ln w="17145">
            <a:solidFill>
              <a:srgbClr val="1F497D"/>
            </a:solidFill>
            <a:tailEnd type="triangle" w="sm" len="sm"/>
          </a:ln>
        </p:spPr>
      </p:cxnSp>
      <p:cxnSp>
        <p:nvCxnSpPr>
          <p:cNvPr id="17414" name="tsf_41">
            <a:extLst>
              <a:ext uri="{FF2B5EF4-FFF2-40B4-BE49-F238E27FC236}">
                <a16:creationId xmlns:a16="http://schemas.microsoft.com/office/drawing/2014/main" id="{6E3B3352-DAB6-485B-AEF7-BFAC9677CBC1}"/>
              </a:ext>
            </a:extLst>
          </p:cNvPr>
          <p:cNvCxnSpPr>
            <a:stCxn id="17422" idx="2"/>
            <a:endCxn id="17425" idx="0"/>
          </p:cNvCxnSpPr>
          <p:nvPr/>
        </p:nvCxnSpPr>
        <p:spPr>
          <a:xfrm>
            <a:off x="1666875" y="3609975"/>
            <a:ext cx="2390775" cy="428625"/>
          </a:xfrm>
          <a:prstGeom prst="bentConnector4">
            <a:avLst>
              <a:gd name="adj1" fmla="val 0"/>
              <a:gd name="adj2" fmla="val 50000"/>
            </a:avLst>
          </a:prstGeom>
          <a:ln w="17145">
            <a:solidFill>
              <a:srgbClr val="1F497D"/>
            </a:solidFill>
            <a:tailEnd type="triangle" w="sm" len="sm"/>
          </a:ln>
        </p:spPr>
      </p:cxnSp>
      <p:cxnSp>
        <p:nvCxnSpPr>
          <p:cNvPr id="17415" name="tsf_39">
            <a:extLst>
              <a:ext uri="{FF2B5EF4-FFF2-40B4-BE49-F238E27FC236}">
                <a16:creationId xmlns:a16="http://schemas.microsoft.com/office/drawing/2014/main" id="{2FCEF43E-4BD4-4F80-9D74-B3EF13F69FFB}"/>
              </a:ext>
            </a:extLst>
          </p:cNvPr>
          <p:cNvCxnSpPr>
            <a:stCxn id="17421" idx="2"/>
            <a:endCxn id="17424" idx="0"/>
          </p:cNvCxnSpPr>
          <p:nvPr/>
        </p:nvCxnSpPr>
        <p:spPr>
          <a:xfrm>
            <a:off x="4052888" y="2343150"/>
            <a:ext cx="2395538" cy="361950"/>
          </a:xfrm>
          <a:prstGeom prst="bentConnector4">
            <a:avLst>
              <a:gd name="adj1" fmla="val 0"/>
              <a:gd name="adj2" fmla="val 50000"/>
            </a:avLst>
          </a:prstGeom>
          <a:ln w="17145">
            <a:solidFill>
              <a:srgbClr val="1F497D"/>
            </a:solidFill>
            <a:tailEnd type="triangle" w="sm" len="sm"/>
          </a:ln>
        </p:spPr>
      </p:cxnSp>
      <p:cxnSp>
        <p:nvCxnSpPr>
          <p:cNvPr id="17416" name="tsf_38">
            <a:extLst>
              <a:ext uri="{FF2B5EF4-FFF2-40B4-BE49-F238E27FC236}">
                <a16:creationId xmlns:a16="http://schemas.microsoft.com/office/drawing/2014/main" id="{F2980946-41BF-40D3-90EC-698CDC1A9755}"/>
              </a:ext>
            </a:extLst>
          </p:cNvPr>
          <p:cNvCxnSpPr>
            <a:stCxn id="17421" idx="2"/>
            <a:endCxn id="17423" idx="0"/>
          </p:cNvCxnSpPr>
          <p:nvPr/>
        </p:nvCxnSpPr>
        <p:spPr>
          <a:xfrm>
            <a:off x="4052888" y="2343150"/>
            <a:ext cx="4763" cy="361950"/>
          </a:xfrm>
          <a:prstGeom prst="straightConnector1">
            <a:avLst/>
          </a:prstGeom>
          <a:ln w="17145">
            <a:solidFill>
              <a:srgbClr val="1F497D"/>
            </a:solidFill>
            <a:tailEnd type="triangle" w="sm" len="sm"/>
          </a:ln>
        </p:spPr>
      </p:cxnSp>
      <p:cxnSp>
        <p:nvCxnSpPr>
          <p:cNvPr id="17417" name="tsf_37">
            <a:extLst>
              <a:ext uri="{FF2B5EF4-FFF2-40B4-BE49-F238E27FC236}">
                <a16:creationId xmlns:a16="http://schemas.microsoft.com/office/drawing/2014/main" id="{7983D725-8A19-4F65-886A-290DF4BEB660}"/>
              </a:ext>
            </a:extLst>
          </p:cNvPr>
          <p:cNvCxnSpPr>
            <a:stCxn id="17421" idx="2"/>
            <a:endCxn id="17422" idx="0"/>
          </p:cNvCxnSpPr>
          <p:nvPr/>
        </p:nvCxnSpPr>
        <p:spPr>
          <a:xfrm flipH="1">
            <a:off x="1666875" y="2343150"/>
            <a:ext cx="2386013" cy="361950"/>
          </a:xfrm>
          <a:prstGeom prst="bentConnector4">
            <a:avLst>
              <a:gd name="adj1" fmla="val 0"/>
              <a:gd name="adj2" fmla="val 50000"/>
            </a:avLst>
          </a:prstGeom>
          <a:ln w="17145">
            <a:solidFill>
              <a:srgbClr val="1F497D"/>
            </a:solidFill>
            <a:tailEnd type="triangl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61">
            <a:extLst>
              <a:ext uri="{FF2B5EF4-FFF2-40B4-BE49-F238E27FC236}">
                <a16:creationId xmlns:a16="http://schemas.microsoft.com/office/drawing/2014/main" id="{6A1CCB65-6EB8-4FC3-BD48-7537B3FC22C0}"/>
              </a:ext>
            </a:extLst>
          </p:cNvPr>
          <p:cNvSpPr>
            <a:spLocks noGrp="1"/>
          </p:cNvSpPr>
          <p:nvPr/>
        </p:nvSpPr>
        <p:spPr>
          <a:xfrm>
            <a:off x="419100" y="1352550"/>
            <a:ext cx="5514975" cy="2600325"/>
          </a:xfrm>
          <a:prstGeom prst="rect">
            <a:avLst/>
          </a:prstGeom>
          <a:solidFill>
            <a:srgbClr val="F0F5FA"/>
          </a:solidFill>
          <a:ln w="10478">
            <a:solidFill>
              <a:srgbClr val="B7C6D5"/>
            </a:solidFill>
          </a:ln>
        </p:spPr>
      </p:sp>
      <p:sp>
        <p:nvSpPr>
          <p:cNvPr id="17411" name="tsf_62">
            <a:extLst>
              <a:ext uri="{FF2B5EF4-FFF2-40B4-BE49-F238E27FC236}">
                <a16:creationId xmlns:a16="http://schemas.microsoft.com/office/drawing/2014/main" id="{20510E7B-D2CD-4AEC-836C-C7767165433A}"/>
              </a:ext>
            </a:extLst>
          </p:cNvPr>
          <p:cNvSpPr>
            <a:spLocks noGrp="1"/>
          </p:cNvSpPr>
          <p:nvPr/>
        </p:nvSpPr>
        <p:spPr>
          <a:xfrm>
            <a:off x="419100" y="1352550"/>
            <a:ext cx="5514975" cy="295275"/>
          </a:xfrm>
          <a:prstGeom prst="rect">
            <a:avLst/>
          </a:prstGeom>
          <a:solidFill>
            <a:srgbClr val="1F497D"/>
          </a:solidFill>
          <a:ln w="10478">
            <a:solidFill>
              <a:srgbClr val="1F497D"/>
            </a:solidFill>
          </a:ln>
        </p:spPr>
      </p:sp>
      <p:sp>
        <p:nvSpPr>
          <p:cNvPr id="17412" name="tsf_63">
            <a:extLst>
              <a:ext uri="{FF2B5EF4-FFF2-40B4-BE49-F238E27FC236}">
                <a16:creationId xmlns:a16="http://schemas.microsoft.com/office/drawing/2014/main" id="{EB4BEADA-17C8-4471-86F5-3FE2FEE051A4}"/>
              </a:ext>
            </a:extLst>
          </p:cNvPr>
          <p:cNvSpPr>
            <a:spLocks noGrp="1"/>
          </p:cNvSpPr>
          <p:nvPr/>
        </p:nvSpPr>
        <p:spPr>
          <a:xfrm>
            <a:off x="533400" y="1390650"/>
            <a:ext cx="5286375"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FEASIBILITY: A 36-HOUR DELIVERY PLAN</a:t>
            </a:r>
          </a:p>
        </p:txBody>
      </p:sp>
      <p:sp>
        <p:nvSpPr>
          <p:cNvPr id="17413" name="tsf_64">
            <a:extLst>
              <a:ext uri="{FF2B5EF4-FFF2-40B4-BE49-F238E27FC236}">
                <a16:creationId xmlns:a16="http://schemas.microsoft.com/office/drawing/2014/main" id="{2CDF7833-21ED-4E30-8CDA-27D45C81C1DB}"/>
              </a:ext>
            </a:extLst>
          </p:cNvPr>
          <p:cNvSpPr>
            <a:spLocks noGrp="1"/>
          </p:cNvSpPr>
          <p:nvPr/>
        </p:nvSpPr>
        <p:spPr>
          <a:xfrm>
            <a:off x="561975" y="1762125"/>
            <a:ext cx="5219700" cy="25717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rPr>
              <a:t>Scoped sprint using our existing code foundation</a:t>
            </a:r>
          </a:p>
        </p:txBody>
      </p:sp>
      <p:sp>
        <p:nvSpPr>
          <p:cNvPr id="17414" name="tsf_65">
            <a:extLst>
              <a:ext uri="{FF2B5EF4-FFF2-40B4-BE49-F238E27FC236}">
                <a16:creationId xmlns:a16="http://schemas.microsoft.com/office/drawing/2014/main" id="{15BC03B4-13F6-4D0D-9BA0-EB5992126E3B}"/>
              </a:ext>
            </a:extLst>
          </p:cNvPr>
          <p:cNvSpPr>
            <a:spLocks noGrp="1"/>
          </p:cNvSpPr>
          <p:nvPr/>
        </p:nvSpPr>
        <p:spPr>
          <a:xfrm>
            <a:off x="561975" y="2162175"/>
            <a:ext cx="981075" cy="276225"/>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0–6 h</a:t>
            </a:r>
          </a:p>
        </p:txBody>
      </p:sp>
      <p:sp>
        <p:nvSpPr>
          <p:cNvPr id="17415" name="tsf_66">
            <a:extLst>
              <a:ext uri="{FF2B5EF4-FFF2-40B4-BE49-F238E27FC236}">
                <a16:creationId xmlns:a16="http://schemas.microsoft.com/office/drawing/2014/main" id="{DAB0CE49-BE34-4F5F-B0A0-74194F106C8E}"/>
              </a:ext>
            </a:extLst>
          </p:cNvPr>
          <p:cNvSpPr>
            <a:spLocks noGrp="1"/>
          </p:cNvSpPr>
          <p:nvPr/>
        </p:nvSpPr>
        <p:spPr>
          <a:xfrm>
            <a:off x="1657350" y="2162175"/>
            <a:ext cx="4124325" cy="276225"/>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Scope case + acquire Bitcoin history</a:t>
            </a:r>
          </a:p>
        </p:txBody>
      </p:sp>
      <p:sp>
        <p:nvSpPr>
          <p:cNvPr id="17416" name="tsf_67">
            <a:extLst>
              <a:ext uri="{FF2B5EF4-FFF2-40B4-BE49-F238E27FC236}">
                <a16:creationId xmlns:a16="http://schemas.microsoft.com/office/drawing/2014/main" id="{AAFDFC02-02CC-4E5F-A923-297C460E9811}"/>
              </a:ext>
            </a:extLst>
          </p:cNvPr>
          <p:cNvSpPr>
            <a:spLocks noGrp="1"/>
          </p:cNvSpPr>
          <p:nvPr/>
        </p:nvSpPr>
        <p:spPr>
          <a:xfrm>
            <a:off x="561975" y="2476500"/>
            <a:ext cx="981075" cy="276225"/>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6–16 h</a:t>
            </a:r>
          </a:p>
        </p:txBody>
      </p:sp>
      <p:sp>
        <p:nvSpPr>
          <p:cNvPr id="17417" name="tsf_68">
            <a:extLst>
              <a:ext uri="{FF2B5EF4-FFF2-40B4-BE49-F238E27FC236}">
                <a16:creationId xmlns:a16="http://schemas.microsoft.com/office/drawing/2014/main" id="{8F01993B-6956-4004-97A0-0971EA9C2B01}"/>
              </a:ext>
            </a:extLst>
          </p:cNvPr>
          <p:cNvSpPr>
            <a:spLocks noGrp="1"/>
          </p:cNvSpPr>
          <p:nvPr/>
        </p:nvSpPr>
        <p:spPr>
          <a:xfrm>
            <a:off x="1657350" y="2476500"/>
            <a:ext cx="4124325" cy="276225"/>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Trace + stop at sourced custody</a:t>
            </a:r>
          </a:p>
        </p:txBody>
      </p:sp>
      <p:sp>
        <p:nvSpPr>
          <p:cNvPr id="17418" name="tsf_69">
            <a:extLst>
              <a:ext uri="{FF2B5EF4-FFF2-40B4-BE49-F238E27FC236}">
                <a16:creationId xmlns:a16="http://schemas.microsoft.com/office/drawing/2014/main" id="{D7D7D004-5B33-4AD3-BCA1-4FCF9BE68C7F}"/>
              </a:ext>
            </a:extLst>
          </p:cNvPr>
          <p:cNvSpPr>
            <a:spLocks noGrp="1"/>
          </p:cNvSpPr>
          <p:nvPr/>
        </p:nvSpPr>
        <p:spPr>
          <a:xfrm>
            <a:off x="561975" y="2790825"/>
            <a:ext cx="981075" cy="276225"/>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16–24 h</a:t>
            </a:r>
          </a:p>
        </p:txBody>
      </p:sp>
      <p:sp>
        <p:nvSpPr>
          <p:cNvPr id="17419" name="tsf_70">
            <a:extLst>
              <a:ext uri="{FF2B5EF4-FFF2-40B4-BE49-F238E27FC236}">
                <a16:creationId xmlns:a16="http://schemas.microsoft.com/office/drawing/2014/main" id="{6C462790-DE05-420C-AA6C-09809F1A3472}"/>
              </a:ext>
            </a:extLst>
          </p:cNvPr>
          <p:cNvSpPr>
            <a:spLocks noGrp="1"/>
          </p:cNvSpPr>
          <p:nvPr/>
        </p:nvSpPr>
        <p:spPr>
          <a:xfrm>
            <a:off x="1657350" y="2790825"/>
            <a:ext cx="4124325" cy="276225"/>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Show gaps + challenge a source</a:t>
            </a:r>
          </a:p>
        </p:txBody>
      </p:sp>
      <p:sp>
        <p:nvSpPr>
          <p:cNvPr id="17420" name="tsf_71">
            <a:extLst>
              <a:ext uri="{FF2B5EF4-FFF2-40B4-BE49-F238E27FC236}">
                <a16:creationId xmlns:a16="http://schemas.microsoft.com/office/drawing/2014/main" id="{8E5D3B48-6AC6-43CD-9253-181270A270BB}"/>
              </a:ext>
            </a:extLst>
          </p:cNvPr>
          <p:cNvSpPr>
            <a:spLocks noGrp="1"/>
          </p:cNvSpPr>
          <p:nvPr/>
        </p:nvSpPr>
        <p:spPr>
          <a:xfrm>
            <a:off x="561975" y="3105150"/>
            <a:ext cx="981075" cy="276225"/>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24–30 h</a:t>
            </a:r>
          </a:p>
        </p:txBody>
      </p:sp>
      <p:sp>
        <p:nvSpPr>
          <p:cNvPr id="17421" name="tsf_72">
            <a:extLst>
              <a:ext uri="{FF2B5EF4-FFF2-40B4-BE49-F238E27FC236}">
                <a16:creationId xmlns:a16="http://schemas.microsoft.com/office/drawing/2014/main" id="{12DE0B9B-2FB8-4D23-9D68-986D0B72D068}"/>
              </a:ext>
            </a:extLst>
          </p:cNvPr>
          <p:cNvSpPr>
            <a:spLocks noGrp="1"/>
          </p:cNvSpPr>
          <p:nvPr/>
        </p:nvSpPr>
        <p:spPr>
          <a:xfrm>
            <a:off x="1657350" y="3105150"/>
            <a:ext cx="4124325" cy="276225"/>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Cap queries + review/export evidence</a:t>
            </a:r>
          </a:p>
        </p:txBody>
      </p:sp>
      <p:sp>
        <p:nvSpPr>
          <p:cNvPr id="17422" name="tsf_73">
            <a:extLst>
              <a:ext uri="{FF2B5EF4-FFF2-40B4-BE49-F238E27FC236}">
                <a16:creationId xmlns:a16="http://schemas.microsoft.com/office/drawing/2014/main" id="{7D25AAAE-BB74-4074-BA24-4A5C5E6E5655}"/>
              </a:ext>
            </a:extLst>
          </p:cNvPr>
          <p:cNvSpPr>
            <a:spLocks noGrp="1"/>
          </p:cNvSpPr>
          <p:nvPr/>
        </p:nvSpPr>
        <p:spPr>
          <a:xfrm>
            <a:off x="561975" y="3419475"/>
            <a:ext cx="981075" cy="276225"/>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30–36 h</a:t>
            </a:r>
          </a:p>
        </p:txBody>
      </p:sp>
      <p:sp>
        <p:nvSpPr>
          <p:cNvPr id="17423" name="tsf_74">
            <a:extLst>
              <a:ext uri="{FF2B5EF4-FFF2-40B4-BE49-F238E27FC236}">
                <a16:creationId xmlns:a16="http://schemas.microsoft.com/office/drawing/2014/main" id="{9EB2BF08-7814-4AA6-80AB-3F211892B626}"/>
              </a:ext>
            </a:extLst>
          </p:cNvPr>
          <p:cNvSpPr>
            <a:spLocks noGrp="1"/>
          </p:cNvSpPr>
          <p:nvPr/>
        </p:nvSpPr>
        <p:spPr>
          <a:xfrm>
            <a:off x="1657350" y="3419475"/>
            <a:ext cx="4124325" cy="276225"/>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Test failures + rehearse a live-data case</a:t>
            </a:r>
          </a:p>
        </p:txBody>
      </p:sp>
      <p:sp>
        <p:nvSpPr>
          <p:cNvPr id="17424" name="tsf_75">
            <a:extLst>
              <a:ext uri="{FF2B5EF4-FFF2-40B4-BE49-F238E27FC236}">
                <a16:creationId xmlns:a16="http://schemas.microsoft.com/office/drawing/2014/main" id="{796BBE3F-5DE9-4447-866C-BD4B7FB9BD00}"/>
              </a:ext>
            </a:extLst>
          </p:cNvPr>
          <p:cNvSpPr>
            <a:spLocks noGrp="1"/>
          </p:cNvSpPr>
          <p:nvPr/>
        </p:nvSpPr>
        <p:spPr>
          <a:xfrm>
            <a:off x="6162675" y="1352550"/>
            <a:ext cx="5610225" cy="2600325"/>
          </a:xfrm>
          <a:prstGeom prst="rect">
            <a:avLst/>
          </a:prstGeom>
          <a:solidFill>
            <a:srgbClr val="F1F6F2"/>
          </a:solidFill>
          <a:ln w="10478">
            <a:solidFill>
              <a:srgbClr val="B7C6D5"/>
            </a:solidFill>
          </a:ln>
        </p:spPr>
      </p:sp>
      <p:sp>
        <p:nvSpPr>
          <p:cNvPr id="17425" name="tsf_76">
            <a:extLst>
              <a:ext uri="{FF2B5EF4-FFF2-40B4-BE49-F238E27FC236}">
                <a16:creationId xmlns:a16="http://schemas.microsoft.com/office/drawing/2014/main" id="{4DF8A8C8-0C5C-45A6-B1CF-7E3978A935E9}"/>
              </a:ext>
            </a:extLst>
          </p:cNvPr>
          <p:cNvSpPr>
            <a:spLocks noGrp="1"/>
          </p:cNvSpPr>
          <p:nvPr/>
        </p:nvSpPr>
        <p:spPr>
          <a:xfrm>
            <a:off x="6162675" y="1352550"/>
            <a:ext cx="5610225" cy="295275"/>
          </a:xfrm>
          <a:prstGeom prst="rect">
            <a:avLst/>
          </a:prstGeom>
          <a:solidFill>
            <a:srgbClr val="1F497D"/>
          </a:solidFill>
          <a:ln w="10478">
            <a:solidFill>
              <a:srgbClr val="1F497D"/>
            </a:solidFill>
          </a:ln>
        </p:spPr>
      </p:sp>
      <p:sp>
        <p:nvSpPr>
          <p:cNvPr id="17426" name="tsf_77">
            <a:extLst>
              <a:ext uri="{FF2B5EF4-FFF2-40B4-BE49-F238E27FC236}">
                <a16:creationId xmlns:a16="http://schemas.microsoft.com/office/drawing/2014/main" id="{D565C05C-CBAD-4514-B073-8A5ABAB712D1}"/>
              </a:ext>
            </a:extLst>
          </p:cNvPr>
          <p:cNvSpPr>
            <a:spLocks noGrp="1"/>
          </p:cNvSpPr>
          <p:nvPr/>
        </p:nvSpPr>
        <p:spPr>
          <a:xfrm>
            <a:off x="6276975" y="1390650"/>
            <a:ext cx="5381625"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PRACTICALITY: MINISTRY DEPLOYMENT</a:t>
            </a:r>
          </a:p>
        </p:txBody>
      </p:sp>
      <p:sp>
        <p:nvSpPr>
          <p:cNvPr id="17427" name="tsf_78">
            <a:extLst>
              <a:ext uri="{FF2B5EF4-FFF2-40B4-BE49-F238E27FC236}">
                <a16:creationId xmlns:a16="http://schemas.microsoft.com/office/drawing/2014/main" id="{0762D9CD-5FA0-44E4-B2F8-43558BD0070B}"/>
              </a:ext>
            </a:extLst>
          </p:cNvPr>
          <p:cNvSpPr>
            <a:spLocks noGrp="1"/>
          </p:cNvSpPr>
          <p:nvPr/>
        </p:nvSpPr>
        <p:spPr>
          <a:xfrm>
            <a:off x="6315075" y="1762125"/>
            <a:ext cx="5295900" cy="266700"/>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Foundation already built</a:t>
            </a:r>
          </a:p>
        </p:txBody>
      </p:sp>
      <p:sp>
        <p:nvSpPr>
          <p:cNvPr id="17428" name="tsf_79">
            <a:extLst>
              <a:ext uri="{FF2B5EF4-FFF2-40B4-BE49-F238E27FC236}">
                <a16:creationId xmlns:a16="http://schemas.microsoft.com/office/drawing/2014/main" id="{9C4F3E02-0FEE-4022-9490-54ACE2F278F8}"/>
              </a:ext>
            </a:extLst>
          </p:cNvPr>
          <p:cNvSpPr>
            <a:spLocks noGrp="1"/>
          </p:cNvSpPr>
          <p:nvPr/>
        </p:nvSpPr>
        <p:spPr>
          <a:xfrm>
            <a:off x="6315075" y="2057400"/>
            <a:ext cx="5295900" cy="5524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Separate API/workers, PostgreSQL job claims,</a:t>
            </a:r>
          </a:p>
          <a:p>
            <a:pPr algn="l">
              <a:defRPr sz="1518" b="0">
                <a:solidFill>
                  <a:srgbClr val="171C23"/>
                </a:solidFill>
                <a:latin typeface="Arial"/>
                <a:ea typeface="Arial"/>
                <a:cs typeface="Arial"/>
              </a:defRPr>
            </a:pPr>
            <a:r>
              <a:rPr sz="1518" b="0">
                <a:solidFill>
                  <a:srgbClr val="171C23"/>
                </a:solidFill>
                <a:latin typeface="Arial"/>
                <a:ea typeface="Arial"/>
                <a:cs typeface="Arial"/>
              </a:rPr>
              <a:t>case permissions, audit history and signed exports.</a:t>
            </a:r>
          </a:p>
        </p:txBody>
      </p:sp>
      <p:sp>
        <p:nvSpPr>
          <p:cNvPr id="17429" name="tsf_80">
            <a:extLst>
              <a:ext uri="{FF2B5EF4-FFF2-40B4-BE49-F238E27FC236}">
                <a16:creationId xmlns:a16="http://schemas.microsoft.com/office/drawing/2014/main" id="{777CC999-3661-4C7B-BA1F-9EAAE44AA2DC}"/>
              </a:ext>
            </a:extLst>
          </p:cNvPr>
          <p:cNvSpPr>
            <a:spLocks noGrp="1"/>
          </p:cNvSpPr>
          <p:nvPr/>
        </p:nvSpPr>
        <p:spPr>
          <a:xfrm>
            <a:off x="6315075" y="2647950"/>
            <a:ext cx="5295900" cy="266700"/>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Scale-up design</a:t>
            </a:r>
          </a:p>
        </p:txBody>
      </p:sp>
      <p:sp>
        <p:nvSpPr>
          <p:cNvPr id="17430" name="tsf_81">
            <a:extLst>
              <a:ext uri="{FF2B5EF4-FFF2-40B4-BE49-F238E27FC236}">
                <a16:creationId xmlns:a16="http://schemas.microsoft.com/office/drawing/2014/main" id="{0175EBB1-3924-42B8-847F-B266A2E31E43}"/>
              </a:ext>
            </a:extLst>
          </p:cNvPr>
          <p:cNvSpPr>
            <a:spLocks noGrp="1"/>
          </p:cNvSpPr>
          <p:nvPr/>
        </p:nvSpPr>
        <p:spPr>
          <a:xfrm>
            <a:off x="6315075" y="2943225"/>
            <a:ext cx="5295900" cy="5524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Bound each trace; cache data; add worker capacity.</a:t>
            </a:r>
          </a:p>
          <a:p>
            <a:pPr algn="l">
              <a:defRPr sz="1518" b="0">
                <a:solidFill>
                  <a:srgbClr val="171C23"/>
                </a:solidFill>
                <a:latin typeface="Arial"/>
                <a:ea typeface="Arial"/>
                <a:cs typeface="Arial"/>
              </a:defRPr>
            </a:pPr>
            <a:r>
              <a:rPr sz="1518" b="0">
                <a:solidFill>
                  <a:srgbClr val="171C23"/>
                </a:solidFill>
                <a:latin typeface="Arial"/>
                <a:ea typeface="Arial"/>
                <a:cs typeface="Arial"/>
              </a:rPr>
              <a:t>Shared quotas and agency fairness still need work.</a:t>
            </a:r>
          </a:p>
        </p:txBody>
      </p:sp>
      <p:sp>
        <p:nvSpPr>
          <p:cNvPr id="17431" name="tsf_82">
            <a:extLst>
              <a:ext uri="{FF2B5EF4-FFF2-40B4-BE49-F238E27FC236}">
                <a16:creationId xmlns:a16="http://schemas.microsoft.com/office/drawing/2014/main" id="{CD6266F8-D755-4D4A-91EE-7C64B1D87F73}"/>
              </a:ext>
            </a:extLst>
          </p:cNvPr>
          <p:cNvSpPr>
            <a:spLocks noGrp="1"/>
          </p:cNvSpPr>
          <p:nvPr/>
        </p:nvSpPr>
        <p:spPr>
          <a:xfrm>
            <a:off x="6315075" y="3581400"/>
            <a:ext cx="5295900" cy="25717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rPr>
              <a:t>Load tests, SSO/MFA and SAHYOG access: pending.</a:t>
            </a:r>
          </a:p>
        </p:txBody>
      </p:sp>
      <p:sp>
        <p:nvSpPr>
          <p:cNvPr id="17432" name="tsf_83">
            <a:extLst>
              <a:ext uri="{FF2B5EF4-FFF2-40B4-BE49-F238E27FC236}">
                <a16:creationId xmlns:a16="http://schemas.microsoft.com/office/drawing/2014/main" id="{24DEA9DB-5C93-4578-A19E-8AFBE7004BD5}"/>
              </a:ext>
            </a:extLst>
          </p:cNvPr>
          <p:cNvSpPr>
            <a:spLocks noGrp="1"/>
          </p:cNvSpPr>
          <p:nvPr/>
        </p:nvSpPr>
        <p:spPr>
          <a:xfrm>
            <a:off x="419100" y="4191000"/>
            <a:ext cx="5476875" cy="276225"/>
          </a:xfrm>
          <a:prstGeom prst="rect">
            <a:avLst/>
          </a:prstGeom>
          <a:noFill/>
          <a:ln w="10478">
            <a:noFill/>
          </a:ln>
        </p:spPr>
        <p:txBody>
          <a:bodyPr wrap="square" lIns="0" tIns="0" rIns="0" bIns="0" anchor="t">
            <a:noAutofit/>
          </a:bodyPr>
          <a:lstStyle>
            <a:defPPr algn="l">
              <a:defRPr sz="1656" b="1">
                <a:solidFill>
                  <a:srgbClr val="1F497D"/>
                </a:solidFill>
                <a:latin typeface="Arial"/>
                <a:ea typeface="Arial"/>
                <a:cs typeface="Arial"/>
              </a:defRPr>
            </a:defPPr>
          </a:lstStyle>
          <a:p>
            <a:pPr algn="l">
              <a:defRPr sz="1656" b="1">
                <a:solidFill>
                  <a:srgbClr val="1F497D"/>
                </a:solidFill>
                <a:latin typeface="Arial"/>
                <a:ea typeface="Arial"/>
                <a:cs typeface="Arial"/>
              </a:defRPr>
            </a:pPr>
            <a:r>
              <a:rPr sz="1656" b="1">
                <a:solidFill>
                  <a:srgbClr val="1F497D"/>
                </a:solidFill>
                <a:latin typeface="Arial"/>
                <a:ea typeface="Arial"/>
                <a:cs typeface="Arial"/>
              </a:rPr>
              <a:t>EVIDENCE THAT THE CORE IS BUILDABLE</a:t>
            </a:r>
          </a:p>
        </p:txBody>
      </p:sp>
      <p:sp>
        <p:nvSpPr>
          <p:cNvPr id="17433" name="tsf_84">
            <a:extLst>
              <a:ext uri="{FF2B5EF4-FFF2-40B4-BE49-F238E27FC236}">
                <a16:creationId xmlns:a16="http://schemas.microsoft.com/office/drawing/2014/main" id="{F073867A-03F2-4561-BA60-37DD4B9C0C89}"/>
              </a:ext>
            </a:extLst>
          </p:cNvPr>
          <p:cNvSpPr>
            <a:spLocks noGrp="1"/>
          </p:cNvSpPr>
          <p:nvPr/>
        </p:nvSpPr>
        <p:spPr>
          <a:xfrm>
            <a:off x="6162675" y="4191000"/>
            <a:ext cx="5610225" cy="276225"/>
          </a:xfrm>
          <a:prstGeom prst="rect">
            <a:avLst/>
          </a:prstGeom>
          <a:noFill/>
          <a:ln w="10478">
            <a:noFill/>
          </a:ln>
        </p:spPr>
        <p:txBody>
          <a:bodyPr wrap="square" lIns="0" tIns="0" rIns="0" bIns="0" anchor="t">
            <a:noAutofit/>
          </a:bodyPr>
          <a:lstStyle>
            <a:defPPr algn="l">
              <a:defRPr sz="1656" b="1">
                <a:solidFill>
                  <a:srgbClr val="1F497D"/>
                </a:solidFill>
                <a:latin typeface="Arial"/>
                <a:ea typeface="Arial"/>
                <a:cs typeface="Arial"/>
              </a:defRPr>
            </a:defPPr>
          </a:lstStyle>
          <a:p>
            <a:pPr algn="l">
              <a:defRPr sz="1656" b="1">
                <a:solidFill>
                  <a:srgbClr val="1F497D"/>
                </a:solidFill>
                <a:latin typeface="Arial"/>
                <a:ea typeface="Arial"/>
                <a:cs typeface="Arial"/>
              </a:defRPr>
            </a:pPr>
            <a:r>
              <a:rPr sz="1656" b="1">
                <a:solidFill>
                  <a:srgbClr val="1F497D"/>
                </a:solidFill>
                <a:latin typeface="Arial"/>
                <a:ea typeface="Arial"/>
                <a:cs typeface="Arial"/>
              </a:rPr>
              <a:t>REAL-WORLD BOTTLENECKS &amp; CONTROLS</a:t>
            </a:r>
          </a:p>
        </p:txBody>
      </p:sp>
      <p:sp>
        <p:nvSpPr>
          <p:cNvPr id="17434" name="tsf_85">
            <a:extLst>
              <a:ext uri="{FF2B5EF4-FFF2-40B4-BE49-F238E27FC236}">
                <a16:creationId xmlns:a16="http://schemas.microsoft.com/office/drawing/2014/main" id="{AFD7B79A-0C81-4C2F-8BA4-DE6C21E85A7B}"/>
              </a:ext>
            </a:extLst>
          </p:cNvPr>
          <p:cNvSpPr>
            <a:spLocks noGrp="1"/>
          </p:cNvSpPr>
          <p:nvPr/>
        </p:nvSpPr>
        <p:spPr>
          <a:xfrm>
            <a:off x="419100" y="4543425"/>
            <a:ext cx="5514975" cy="0"/>
          </a:xfrm>
          <a:prstGeom prst="line">
            <a:avLst/>
          </a:prstGeom>
          <a:noFill/>
          <a:ln w="10478">
            <a:solidFill>
              <a:srgbClr val="B7C6D5"/>
            </a:solidFill>
          </a:ln>
        </p:spPr>
      </p:sp>
      <p:sp>
        <p:nvSpPr>
          <p:cNvPr id="17435" name="tsf_86">
            <a:extLst>
              <a:ext uri="{FF2B5EF4-FFF2-40B4-BE49-F238E27FC236}">
                <a16:creationId xmlns:a16="http://schemas.microsoft.com/office/drawing/2014/main" id="{B6B130D5-C13F-4344-9D95-FA243E3D417C}"/>
              </a:ext>
            </a:extLst>
          </p:cNvPr>
          <p:cNvSpPr>
            <a:spLocks noGrp="1"/>
          </p:cNvSpPr>
          <p:nvPr/>
        </p:nvSpPr>
        <p:spPr>
          <a:xfrm>
            <a:off x="6162675" y="4543425"/>
            <a:ext cx="5610225" cy="0"/>
          </a:xfrm>
          <a:prstGeom prst="line">
            <a:avLst/>
          </a:prstGeom>
          <a:noFill/>
          <a:ln w="10478">
            <a:solidFill>
              <a:srgbClr val="B7C6D5"/>
            </a:solidFill>
          </a:ln>
        </p:spPr>
      </p:sp>
      <p:sp>
        <p:nvSpPr>
          <p:cNvPr id="17436" name="tsf_87">
            <a:extLst>
              <a:ext uri="{FF2B5EF4-FFF2-40B4-BE49-F238E27FC236}">
                <a16:creationId xmlns:a16="http://schemas.microsoft.com/office/drawing/2014/main" id="{99BB37C3-1A47-43E1-8B4B-D5F044714307}"/>
              </a:ext>
            </a:extLst>
          </p:cNvPr>
          <p:cNvSpPr>
            <a:spLocks noGrp="1"/>
          </p:cNvSpPr>
          <p:nvPr/>
        </p:nvSpPr>
        <p:spPr>
          <a:xfrm>
            <a:off x="419100" y="4667250"/>
            <a:ext cx="5476875" cy="5143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Public Bitcoin check: 2 transactions, 3 outputs.</a:t>
            </a:r>
          </a:p>
          <a:p>
            <a:pPr algn="l">
              <a:defRPr sz="1518" b="0">
                <a:solidFill>
                  <a:srgbClr val="171C23"/>
                </a:solidFill>
                <a:latin typeface="Arial"/>
                <a:ea typeface="Arial"/>
                <a:cs typeface="Arial"/>
              </a:defRPr>
            </a:pPr>
            <a:r>
              <a:rPr sz="1518" b="0">
                <a:solidFill>
                  <a:srgbClr val="171C23"/>
                </a:solidFill>
                <a:latin typeface="Arial"/>
                <a:ea typeface="Arial"/>
                <a:cs typeface="Arial"/>
              </a:rPr>
              <a:t>Transfers reproduced; no VASP established.</a:t>
            </a:r>
          </a:p>
        </p:txBody>
      </p:sp>
      <p:sp>
        <p:nvSpPr>
          <p:cNvPr id="17437" name="tsf_88">
            <a:extLst>
              <a:ext uri="{FF2B5EF4-FFF2-40B4-BE49-F238E27FC236}">
                <a16:creationId xmlns:a16="http://schemas.microsoft.com/office/drawing/2014/main" id="{717241FC-C5F6-4585-8789-DD6DA5F6D84B}"/>
              </a:ext>
            </a:extLst>
          </p:cNvPr>
          <p:cNvSpPr>
            <a:spLocks noGrp="1"/>
          </p:cNvSpPr>
          <p:nvPr/>
        </p:nvSpPr>
        <p:spPr>
          <a:xfrm>
            <a:off x="419100" y="5314950"/>
            <a:ext cx="5476875" cy="5143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Research module: 64 synthetic checks pass.</a:t>
            </a:r>
          </a:p>
          <a:p>
            <a:pPr algn="l">
              <a:defRPr sz="1518" b="0">
                <a:solidFill>
                  <a:srgbClr val="171C23"/>
                </a:solidFill>
                <a:latin typeface="Arial"/>
                <a:ea typeface="Arial"/>
                <a:cs typeface="Arial"/>
              </a:defRPr>
            </a:pPr>
            <a:r>
              <a:rPr sz="1518" b="0">
                <a:solidFill>
                  <a:srgbClr val="171C23"/>
                </a:solidFill>
                <a:latin typeface="Arial"/>
                <a:ea typeface="Arial"/>
                <a:cs typeface="Arial"/>
              </a:rPr>
              <a:t>Integration and independent live accuracy are pending.</a:t>
            </a:r>
          </a:p>
        </p:txBody>
      </p:sp>
      <p:sp>
        <p:nvSpPr>
          <p:cNvPr id="17438" name="tsf_89">
            <a:extLst>
              <a:ext uri="{FF2B5EF4-FFF2-40B4-BE49-F238E27FC236}">
                <a16:creationId xmlns:a16="http://schemas.microsoft.com/office/drawing/2014/main" id="{60D57F37-2084-4AD4-92E0-B3C06F6681DD}"/>
              </a:ext>
            </a:extLst>
          </p:cNvPr>
          <p:cNvSpPr>
            <a:spLocks noGrp="1"/>
          </p:cNvSpPr>
          <p:nvPr/>
        </p:nvSpPr>
        <p:spPr>
          <a:xfrm>
            <a:off x="419100" y="5991225"/>
            <a:ext cx="5476875" cy="25717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rPr>
              <a:t>Six adapters exist; six-chain field validation is staged.</a:t>
            </a:r>
          </a:p>
        </p:txBody>
      </p:sp>
      <p:sp>
        <p:nvSpPr>
          <p:cNvPr id="17439" name="tsf_90">
            <a:extLst>
              <a:ext uri="{FF2B5EF4-FFF2-40B4-BE49-F238E27FC236}">
                <a16:creationId xmlns:a16="http://schemas.microsoft.com/office/drawing/2014/main" id="{0424FD50-1586-4885-B24F-8D488E453C93}"/>
              </a:ext>
            </a:extLst>
          </p:cNvPr>
          <p:cNvSpPr>
            <a:spLocks noGrp="1"/>
          </p:cNvSpPr>
          <p:nvPr/>
        </p:nvSpPr>
        <p:spPr>
          <a:xfrm>
            <a:off x="6162675" y="4667250"/>
            <a:ext cx="5610225" cy="5143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Free APIs have limits → budget calls and show gaps.</a:t>
            </a:r>
          </a:p>
          <a:p>
            <a:pPr algn="l">
              <a:defRPr sz="1518" b="0">
                <a:solidFill>
                  <a:srgbClr val="171C23"/>
                </a:solidFill>
                <a:latin typeface="Arial"/>
                <a:ea typeface="Arial"/>
                <a:cs typeface="Arial"/>
              </a:defRPr>
            </a:pPr>
            <a:r>
              <a:rPr sz="1518" b="0">
                <a:solidFill>
                  <a:srgbClr val="171C23"/>
                </a:solidFill>
                <a:latin typeface="Arial"/>
                <a:ea typeface="Arial"/>
                <a:cs typeface="Arial"/>
              </a:rPr>
              <a:t>National coverage needs governed data access.</a:t>
            </a:r>
          </a:p>
        </p:txBody>
      </p:sp>
      <p:sp>
        <p:nvSpPr>
          <p:cNvPr id="17440" name="tsf_91">
            <a:extLst>
              <a:ext uri="{FF2B5EF4-FFF2-40B4-BE49-F238E27FC236}">
                <a16:creationId xmlns:a16="http://schemas.microsoft.com/office/drawing/2014/main" id="{69E728E9-0A1D-401F-A77A-A01298154CFB}"/>
              </a:ext>
            </a:extLst>
          </p:cNvPr>
          <p:cNvSpPr>
            <a:spLocks noGrp="1"/>
          </p:cNvSpPr>
          <p:nvPr/>
        </p:nvSpPr>
        <p:spPr>
          <a:xfrm>
            <a:off x="6162675" y="5314950"/>
            <a:ext cx="5610225" cy="5143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Labels may be wrong → retain sources; review claims.</a:t>
            </a:r>
          </a:p>
          <a:p>
            <a:pPr algn="l">
              <a:defRPr sz="1518" b="0">
                <a:solidFill>
                  <a:srgbClr val="171C23"/>
                </a:solidFill>
                <a:latin typeface="Arial"/>
                <a:ea typeface="Arial"/>
                <a:cs typeface="Arial"/>
              </a:defRPr>
            </a:pPr>
            <a:r>
              <a:rPr sz="1518" b="0">
                <a:solidFill>
                  <a:srgbClr val="171C23"/>
                </a:solidFill>
                <a:latin typeface="Arial"/>
                <a:ea typeface="Arial"/>
                <a:cs typeface="Arial"/>
              </a:rPr>
              <a:t>Patterns alone cannot prove wallet ownership.</a:t>
            </a:r>
          </a:p>
        </p:txBody>
      </p:sp>
      <p:sp>
        <p:nvSpPr>
          <p:cNvPr id="17441" name="tsf_92">
            <a:extLst>
              <a:ext uri="{FF2B5EF4-FFF2-40B4-BE49-F238E27FC236}">
                <a16:creationId xmlns:a16="http://schemas.microsoft.com/office/drawing/2014/main" id="{88CDF471-D3F2-42FB-B292-198D4933CEFC}"/>
              </a:ext>
            </a:extLst>
          </p:cNvPr>
          <p:cNvSpPr>
            <a:spLocks noGrp="1"/>
          </p:cNvSpPr>
          <p:nvPr/>
        </p:nvSpPr>
        <p:spPr>
          <a:xfrm>
            <a:off x="6162675" y="5991225"/>
            <a:ext cx="5610225" cy="25717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rPr>
              <a:t>Pilot first; measure queue delay, cost and error rates.</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93">
            <a:extLst>
              <a:ext uri="{FF2B5EF4-FFF2-40B4-BE49-F238E27FC236}">
                <a16:creationId xmlns:a16="http://schemas.microsoft.com/office/drawing/2014/main" id="{6B80A8C9-5542-478F-9FD1-E81F7A9F2150}"/>
              </a:ext>
            </a:extLst>
          </p:cNvPr>
          <p:cNvSpPr>
            <a:spLocks noGrp="1"/>
          </p:cNvSpPr>
          <p:nvPr/>
        </p:nvSpPr>
        <p:spPr>
          <a:xfrm>
            <a:off x="419100" y="1352550"/>
            <a:ext cx="4057650" cy="2914650"/>
          </a:xfrm>
          <a:prstGeom prst="rect">
            <a:avLst/>
          </a:prstGeom>
          <a:solidFill>
            <a:srgbClr val="F0F5FA"/>
          </a:solidFill>
          <a:ln w="10478">
            <a:solidFill>
              <a:srgbClr val="B7C6D5"/>
            </a:solidFill>
          </a:ln>
        </p:spPr>
      </p:sp>
      <p:sp>
        <p:nvSpPr>
          <p:cNvPr id="17411" name="tsf_94">
            <a:extLst>
              <a:ext uri="{FF2B5EF4-FFF2-40B4-BE49-F238E27FC236}">
                <a16:creationId xmlns:a16="http://schemas.microsoft.com/office/drawing/2014/main" id="{A92F1358-99AB-4AE5-9BF8-9184AF17A29F}"/>
              </a:ext>
            </a:extLst>
          </p:cNvPr>
          <p:cNvSpPr>
            <a:spLocks noGrp="1"/>
          </p:cNvSpPr>
          <p:nvPr/>
        </p:nvSpPr>
        <p:spPr>
          <a:xfrm>
            <a:off x="419100" y="1352550"/>
            <a:ext cx="4057650" cy="295275"/>
          </a:xfrm>
          <a:prstGeom prst="rect">
            <a:avLst/>
          </a:prstGeom>
          <a:solidFill>
            <a:srgbClr val="1F497D"/>
          </a:solidFill>
          <a:ln w="10478">
            <a:solidFill>
              <a:srgbClr val="1F497D"/>
            </a:solidFill>
          </a:ln>
        </p:spPr>
      </p:sp>
      <p:sp>
        <p:nvSpPr>
          <p:cNvPr id="17412" name="tsf_95">
            <a:extLst>
              <a:ext uri="{FF2B5EF4-FFF2-40B4-BE49-F238E27FC236}">
                <a16:creationId xmlns:a16="http://schemas.microsoft.com/office/drawing/2014/main" id="{303C62B9-621B-4F16-A704-8463E2822C7E}"/>
              </a:ext>
            </a:extLst>
          </p:cNvPr>
          <p:cNvSpPr>
            <a:spLocks noGrp="1"/>
          </p:cNvSpPr>
          <p:nvPr/>
        </p:nvSpPr>
        <p:spPr>
          <a:xfrm>
            <a:off x="533400" y="1390650"/>
            <a:ext cx="3829050"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NOVELTY: THE DECISION METHOD</a:t>
            </a:r>
          </a:p>
        </p:txBody>
      </p:sp>
      <p:sp>
        <p:nvSpPr>
          <p:cNvPr id="17413" name="tsf_96">
            <a:extLst>
              <a:ext uri="{FF2B5EF4-FFF2-40B4-BE49-F238E27FC236}">
                <a16:creationId xmlns:a16="http://schemas.microsoft.com/office/drawing/2014/main" id="{6D77A9E9-7878-4841-BF90-68212B0B802E}"/>
              </a:ext>
            </a:extLst>
          </p:cNvPr>
          <p:cNvSpPr>
            <a:spLocks noGrp="1"/>
          </p:cNvSpPr>
          <p:nvPr/>
        </p:nvSpPr>
        <p:spPr>
          <a:xfrm>
            <a:off x="561975" y="1771650"/>
            <a:ext cx="3781425" cy="266700"/>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Bounded first-custody search</a:t>
            </a:r>
          </a:p>
        </p:txBody>
      </p:sp>
      <p:sp>
        <p:nvSpPr>
          <p:cNvPr id="17414" name="tsf_97">
            <a:extLst>
              <a:ext uri="{FF2B5EF4-FFF2-40B4-BE49-F238E27FC236}">
                <a16:creationId xmlns:a16="http://schemas.microsoft.com/office/drawing/2014/main" id="{199080EB-9BF8-4CB9-9EC6-34344E7F12F1}"/>
              </a:ext>
            </a:extLst>
          </p:cNvPr>
          <p:cNvSpPr>
            <a:spLocks noGrp="1"/>
          </p:cNvSpPr>
          <p:nvPr/>
        </p:nvSpPr>
        <p:spPr>
          <a:xfrm>
            <a:off x="561975" y="2066925"/>
            <a:ext cx="3781425" cy="552450"/>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Find first custody per path and expose</a:t>
            </a:r>
          </a:p>
          <a:p>
            <a:pPr algn="l">
              <a:defRPr sz="1449" b="0">
                <a:solidFill>
                  <a:srgbClr val="171C23"/>
                </a:solidFill>
                <a:latin typeface="Arial"/>
                <a:ea typeface="Arial"/>
                <a:cs typeface="Arial"/>
              </a:defRPr>
            </a:pPr>
            <a:r>
              <a:rPr sz="1449" b="0">
                <a:solidFill>
                  <a:srgbClr val="171C23"/>
                </a:solidFill>
                <a:latin typeface="Arial"/>
                <a:ea typeface="Arial"/>
                <a:cs typeface="Arial"/>
              </a:rPr>
              <a:t>nearer gaps in an inspectable certificate.</a:t>
            </a:r>
          </a:p>
        </p:txBody>
      </p:sp>
      <p:sp>
        <p:nvSpPr>
          <p:cNvPr id="17415" name="tsf_98">
            <a:extLst>
              <a:ext uri="{FF2B5EF4-FFF2-40B4-BE49-F238E27FC236}">
                <a16:creationId xmlns:a16="http://schemas.microsoft.com/office/drawing/2014/main" id="{A9A35B85-02FE-4D75-B471-2BDD5F4D505F}"/>
              </a:ext>
            </a:extLst>
          </p:cNvPr>
          <p:cNvSpPr>
            <a:spLocks noGrp="1"/>
          </p:cNvSpPr>
          <p:nvPr/>
        </p:nvSpPr>
        <p:spPr>
          <a:xfrm>
            <a:off x="561975" y="2638425"/>
            <a:ext cx="3781425" cy="266700"/>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Let missing evidence guide queries</a:t>
            </a:r>
          </a:p>
        </p:txBody>
      </p:sp>
      <p:sp>
        <p:nvSpPr>
          <p:cNvPr id="17416" name="tsf_99">
            <a:extLst>
              <a:ext uri="{FF2B5EF4-FFF2-40B4-BE49-F238E27FC236}">
                <a16:creationId xmlns:a16="http://schemas.microsoft.com/office/drawing/2014/main" id="{0944A938-CE1C-40C2-AEE1-6ADC139004D8}"/>
              </a:ext>
            </a:extLst>
          </p:cNvPr>
          <p:cNvSpPr>
            <a:spLocks noGrp="1"/>
          </p:cNvSpPr>
          <p:nvPr/>
        </p:nvSpPr>
        <p:spPr>
          <a:xfrm>
            <a:off x="561975" y="2933700"/>
            <a:ext cx="3781425" cy="552450"/>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Prioritise unresolved nearer branches</a:t>
            </a:r>
          </a:p>
          <a:p>
            <a:pPr algn="l">
              <a:defRPr sz="1449" b="0">
                <a:solidFill>
                  <a:srgbClr val="171C23"/>
                </a:solidFill>
                <a:latin typeface="Arial"/>
                <a:ea typeface="Arial"/>
                <a:cs typeface="Arial"/>
              </a:defRPr>
            </a:pPr>
            <a:r>
              <a:rPr sz="1449" b="0">
                <a:solidFill>
                  <a:srgbClr val="171C23"/>
                </a:solidFill>
                <a:latin typeface="Arial"/>
                <a:ea typeface="Arial"/>
                <a:cs typeface="Arial"/>
              </a:rPr>
              <a:t>within a fixed request budget.</a:t>
            </a:r>
          </a:p>
        </p:txBody>
      </p:sp>
      <p:sp>
        <p:nvSpPr>
          <p:cNvPr id="17417" name="tsf_100">
            <a:extLst>
              <a:ext uri="{FF2B5EF4-FFF2-40B4-BE49-F238E27FC236}">
                <a16:creationId xmlns:a16="http://schemas.microsoft.com/office/drawing/2014/main" id="{6A42F266-98A8-46EE-9329-8B27FFC91706}"/>
              </a:ext>
            </a:extLst>
          </p:cNvPr>
          <p:cNvSpPr>
            <a:spLocks noGrp="1"/>
          </p:cNvSpPr>
          <p:nvPr/>
        </p:nvSpPr>
        <p:spPr>
          <a:xfrm>
            <a:off x="561975" y="3505200"/>
            <a:ext cx="3781425" cy="266700"/>
          </a:xfrm>
          <a:prstGeom prst="rect">
            <a:avLst/>
          </a:prstGeom>
          <a:noFill/>
          <a:ln w="10478">
            <a:noFill/>
          </a:ln>
        </p:spPr>
        <p:txBody>
          <a:bodyPr wrap="square" lIns="0" tIns="0" rIns="0" bIns="0" anchor="t">
            <a:noAutofit/>
          </a:bodyPr>
          <a:lstStyle>
            <a:defPPr algn="l">
              <a:defRPr sz="1518" b="1">
                <a:solidFill>
                  <a:srgbClr val="1F497D"/>
                </a:solidFill>
                <a:latin typeface="Arial"/>
                <a:ea typeface="Arial"/>
                <a:cs typeface="Arial"/>
              </a:defRPr>
            </a:defPPr>
          </a:lstStyle>
          <a:p>
            <a:pPr algn="l">
              <a:defRPr sz="1518" b="1">
                <a:solidFill>
                  <a:srgbClr val="1F497D"/>
                </a:solidFill>
                <a:latin typeface="Arial"/>
                <a:ea typeface="Arial"/>
                <a:cs typeface="Arial"/>
              </a:defRPr>
            </a:pPr>
            <a:r>
              <a:rPr sz="1518" b="1">
                <a:solidFill>
                  <a:srgbClr val="1F497D"/>
                </a:solidFill>
                <a:latin typeface="Arial"/>
                <a:ea typeface="Arial"/>
                <a:cs typeface="Arial"/>
              </a:rPr>
              <a:t>Challenge and recompute the result</a:t>
            </a:r>
          </a:p>
        </p:txBody>
      </p:sp>
      <p:sp>
        <p:nvSpPr>
          <p:cNvPr id="17418" name="tsf_101">
            <a:extLst>
              <a:ext uri="{FF2B5EF4-FFF2-40B4-BE49-F238E27FC236}">
                <a16:creationId xmlns:a16="http://schemas.microsoft.com/office/drawing/2014/main" id="{8DB1B33C-47E5-4286-B61D-473E95584D6D}"/>
              </a:ext>
            </a:extLst>
          </p:cNvPr>
          <p:cNvSpPr>
            <a:spLocks noGrp="1"/>
          </p:cNvSpPr>
          <p:nvPr/>
        </p:nvSpPr>
        <p:spPr>
          <a:xfrm>
            <a:off x="561975" y="3800475"/>
            <a:ext cx="3781425" cy="552450"/>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Remove a source; retain previous results.</a:t>
            </a:r>
          </a:p>
          <a:p>
            <a:pPr algn="l">
              <a:defRPr sz="1449" b="0">
                <a:solidFill>
                  <a:srgbClr val="171C23"/>
                </a:solidFill>
                <a:latin typeface="Arial"/>
                <a:ea typeface="Arial"/>
                <a:cs typeface="Arial"/>
              </a:defRPr>
            </a:pPr>
            <a:r>
              <a:rPr sz="1449" b="0">
                <a:solidFill>
                  <a:srgbClr val="171C23"/>
                </a:solidFill>
                <a:latin typeface="Arial"/>
                <a:ea typeface="Arial"/>
                <a:cs typeface="Arial"/>
              </a:rPr>
              <a:t>Review signed feedback before relabelling.</a:t>
            </a:r>
          </a:p>
        </p:txBody>
      </p:sp>
      <p:sp>
        <p:nvSpPr>
          <p:cNvPr id="17419" name="tsf_102">
            <a:extLst>
              <a:ext uri="{FF2B5EF4-FFF2-40B4-BE49-F238E27FC236}">
                <a16:creationId xmlns:a16="http://schemas.microsoft.com/office/drawing/2014/main" id="{8D809E53-E5C1-457D-AB72-047DD4504B69}"/>
              </a:ext>
            </a:extLst>
          </p:cNvPr>
          <p:cNvSpPr>
            <a:spLocks noGrp="1"/>
          </p:cNvSpPr>
          <p:nvPr/>
        </p:nvSpPr>
        <p:spPr>
          <a:xfrm>
            <a:off x="4714875" y="1371600"/>
            <a:ext cx="7058025" cy="285750"/>
          </a:xfrm>
          <a:prstGeom prst="rect">
            <a:avLst/>
          </a:prstGeom>
          <a:noFill/>
          <a:ln w="10478">
            <a:noFill/>
          </a:ln>
        </p:spPr>
        <p:txBody>
          <a:bodyPr wrap="square" lIns="0" tIns="0" rIns="0" bIns="0" anchor="t">
            <a:noAutofit/>
          </a:bodyPr>
          <a:lstStyle>
            <a:defPPr algn="l">
              <a:defRPr sz="1656" b="1">
                <a:solidFill>
                  <a:srgbClr val="1F497D"/>
                </a:solidFill>
                <a:latin typeface="Arial"/>
                <a:ea typeface="Arial"/>
                <a:cs typeface="Arial"/>
              </a:defRPr>
            </a:defPPr>
          </a:lstStyle>
          <a:p>
            <a:pPr algn="l">
              <a:defRPr sz="1656" b="1">
                <a:solidFill>
                  <a:srgbClr val="1F497D"/>
                </a:solidFill>
                <a:latin typeface="Arial"/>
                <a:ea typeface="Arial"/>
                <a:cs typeface="Arial"/>
              </a:defRPr>
            </a:pPr>
            <a:r>
              <a:rPr sz="1656" b="1">
                <a:solidFill>
                  <a:srgbClr val="1F497D"/>
                </a:solidFill>
                <a:latin typeface="Arial"/>
                <a:ea typeface="Arial"/>
                <a:cs typeface="Arial"/>
              </a:rPr>
              <a:t>CONTROLLED EXAMPLE: AN EARLIER DEPOSIT LEAD</a:t>
            </a:r>
          </a:p>
        </p:txBody>
      </p:sp>
      <p:sp>
        <p:nvSpPr>
          <p:cNvPr id="17420" name="tsf_103">
            <a:extLst>
              <a:ext uri="{FF2B5EF4-FFF2-40B4-BE49-F238E27FC236}">
                <a16:creationId xmlns:a16="http://schemas.microsoft.com/office/drawing/2014/main" id="{E40A82D8-7397-4178-8CEC-BFF7CCBC58D7}"/>
              </a:ext>
            </a:extLst>
          </p:cNvPr>
          <p:cNvSpPr>
            <a:spLocks noGrp="1"/>
          </p:cNvSpPr>
          <p:nvPr/>
        </p:nvSpPr>
        <p:spPr>
          <a:xfrm>
            <a:off x="4714875" y="1743075"/>
            <a:ext cx="7058025" cy="485775"/>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Fictional path: reported wallet → possible deposit → known hot wallet.</a:t>
            </a:r>
          </a:p>
          <a:p>
            <a:pPr algn="l">
              <a:defRPr sz="1449" b="0">
                <a:solidFill>
                  <a:srgbClr val="171C23"/>
                </a:solidFill>
                <a:latin typeface="Arial"/>
                <a:ea typeface="Arial"/>
                <a:cs typeface="Arial"/>
              </a:defRPr>
            </a:pPr>
            <a:r>
              <a:rPr sz="1449" b="0">
                <a:solidFill>
                  <a:srgbClr val="171C23"/>
                </a:solidFill>
                <a:latin typeface="Arial"/>
                <a:ea typeface="Arial"/>
                <a:cs typeface="Arial"/>
              </a:rPr>
              <a:t>Comparison from the separate research experiment, not a live accuracy result.</a:t>
            </a:r>
          </a:p>
        </p:txBody>
      </p:sp>
      <p:graphicFrame>
        <p:nvGraphicFramePr>
          <p:cNvPr id="17421" name="tsf_comparison">
            <a:extLst>
              <a:ext uri="{FF2B5EF4-FFF2-40B4-BE49-F238E27FC236}">
                <a16:creationId xmlns:a16="http://schemas.microsoft.com/office/drawing/2014/main" id="{FAABA00F-8568-4AB9-9AC5-A753E9546B3A}"/>
              </a:ext>
            </a:extLst>
          </p:cNvPr>
          <p:cNvGraphicFramePr/>
          <p:nvPr/>
        </p:nvGraphicFramePr>
        <p:xfrm>
          <a:off x="4714875" y="2371725"/>
          <a:ext cx="7058025" cy="1895475"/>
        </p:xfrm>
        <a:graphic>
          <a:graphicData uri="http://schemas.openxmlformats.org/drawingml/2006/table">
            <a:tbl>
              <a:tblPr firstRow="0" bandRow="0"/>
              <a:tblGrid>
                <a:gridCol w="2286000"/>
                <a:gridCol w="2247900"/>
                <a:gridCol w="2524125"/>
              </a:tblGrid>
              <a:tr h="352425">
                <a:tc>
                  <a:txBody>
                    <a:bodyPr/>
                    <a:lstStyle/>
                    <a:p>
                      <a:r>
                        <a:rPr sz="1500" b="1">
                          <a:solidFill>
                            <a:srgbClr val="FFFFFF"/>
                          </a:solidFill>
                          <a:latin typeface="Arial"/>
                          <a:ea typeface="Arial"/>
                          <a:cs typeface="Arial"/>
                        </a:rPr>
                        <a:t>Evidence available</a:t>
                      </a:r>
                    </a:p>
                  </a:txBody>
                  <a:tcPr marL="91440" marR="91440" marT="45720" marB="45720">
                    <a:solidFill>
                      <a:srgbClr val="1F497D"/>
                    </a:solidFill>
                  </a:tcPr>
                </a:tc>
                <a:tc>
                  <a:txBody>
                    <a:bodyPr/>
                    <a:lstStyle/>
                    <a:p>
                      <a:r>
                        <a:rPr sz="1500" b="1">
                          <a:solidFill>
                            <a:srgbClr val="FFFFFF"/>
                          </a:solidFill>
                          <a:latin typeface="Arial"/>
                          <a:ea typeface="Arial"/>
                          <a:cs typeface="Arial"/>
                        </a:rPr>
                        <a:t>Label-only search</a:t>
                      </a:r>
                    </a:p>
                  </a:txBody>
                  <a:tcPr marL="91440" marR="91440" marT="45720" marB="45720">
                    <a:solidFill>
                      <a:srgbClr val="1F497D"/>
                    </a:solidFill>
                  </a:tcPr>
                </a:tc>
                <a:tc>
                  <a:txBody>
                    <a:bodyPr/>
                    <a:lstStyle/>
                    <a:p>
                      <a:r>
                        <a:rPr sz="1500" b="1">
                          <a:solidFill>
                            <a:srgbClr val="FFFFFF"/>
                          </a:solidFill>
                          <a:latin typeface="Arial"/>
                          <a:ea typeface="Arial"/>
                          <a:cs typeface="Arial"/>
                        </a:rPr>
                        <a:t>Candidate method</a:t>
                      </a:r>
                    </a:p>
                  </a:txBody>
                  <a:tcPr marL="91440" marR="91440" marT="45720" marB="45720">
                    <a:solidFill>
                      <a:srgbClr val="1F497D"/>
                    </a:solidFill>
                  </a:tcPr>
                </a:tc>
              </a:tr>
              <a:tr h="514350">
                <a:tc>
                  <a:txBody>
                    <a:bodyPr/>
                    <a:lstStyle/>
                    <a:p>
                      <a:r>
                        <a:rPr sz="1425" b="0">
                          <a:solidFill>
                            <a:srgbClr val="171C23"/>
                          </a:solidFill>
                          <a:latin typeface="Arial"/>
                          <a:ea typeface="Arial"/>
                          <a:cs typeface="Arial"/>
                        </a:rPr>
                        <a:t>Complete toy pattern</a:t>
                      </a:r>
                    </a:p>
                  </a:txBody>
                  <a:tcPr marL="91440" marR="91440" marT="45720" marB="45720">
                    <a:solidFill>
                      <a:srgbClr val="FFFFFF"/>
                    </a:solidFill>
                  </a:tcPr>
                </a:tc>
                <a:tc>
                  <a:txBody>
                    <a:bodyPr/>
                    <a:lstStyle/>
                    <a:p>
                      <a:r>
                        <a:rPr sz="1425" b="0">
                          <a:solidFill>
                            <a:srgbClr val="171C23"/>
                          </a:solidFill>
                          <a:latin typeface="Arial"/>
                          <a:ea typeface="Arial"/>
                          <a:cs typeface="Arial"/>
                        </a:rPr>
                        <a:t>Known hot wallet</a:t>
                      </a:r>
                    </a:p>
                    <a:p>
                      <a:r>
                        <a:rPr sz="1425" b="0">
                          <a:solidFill>
                            <a:srgbClr val="171C23"/>
                          </a:solidFill>
                          <a:latin typeface="Arial"/>
                          <a:ea typeface="Arial"/>
                          <a:cs typeface="Arial"/>
                        </a:rPr>
                        <a:t>2 transfers away</a:t>
                      </a:r>
                    </a:p>
                  </a:txBody>
                  <a:tcPr marL="91440" marR="91440" marT="45720" marB="45720">
                    <a:solidFill>
                      <a:srgbClr val="FFFFFF"/>
                    </a:solidFill>
                  </a:tcPr>
                </a:tc>
                <a:tc>
                  <a:txBody>
                    <a:bodyPr/>
                    <a:lstStyle/>
                    <a:p>
                      <a:r>
                        <a:rPr sz="1425" b="0">
                          <a:solidFill>
                            <a:srgbClr val="171C23"/>
                          </a:solidFill>
                          <a:latin typeface="Arial"/>
                          <a:ea typeface="Arial"/>
                          <a:cs typeface="Arial"/>
                        </a:rPr>
                        <a:t>Possible deposit</a:t>
                      </a:r>
                    </a:p>
                    <a:p>
                      <a:r>
                        <a:rPr sz="1425" b="0">
                          <a:solidFill>
                            <a:srgbClr val="171C23"/>
                          </a:solidFill>
                          <a:latin typeface="Arial"/>
                          <a:ea typeface="Arial"/>
                          <a:cs typeface="Arial"/>
                        </a:rPr>
                        <a:t>1 transfer; unconfirmed</a:t>
                      </a:r>
                    </a:p>
                  </a:txBody>
                  <a:tcPr marL="91440" marR="91440" marT="45720" marB="45720">
                    <a:solidFill>
                      <a:srgbClr val="F0F5FA"/>
                    </a:solidFill>
                  </a:tcPr>
                </a:tc>
              </a:tr>
              <a:tr h="514350">
                <a:tc>
                  <a:txBody>
                    <a:bodyPr/>
                    <a:lstStyle/>
                    <a:p>
                      <a:r>
                        <a:rPr sz="1425" b="0">
                          <a:solidFill>
                            <a:srgbClr val="171C23"/>
                          </a:solidFill>
                          <a:latin typeface="Arial"/>
                          <a:ea typeface="Arial"/>
                          <a:cs typeface="Arial"/>
                        </a:rPr>
                        <a:t>Missing fee evidence</a:t>
                      </a:r>
                    </a:p>
                  </a:txBody>
                  <a:tcPr marL="91440" marR="91440" marT="45720" marB="45720">
                    <a:solidFill>
                      <a:srgbClr val="FFFFFF"/>
                    </a:solidFill>
                  </a:tcPr>
                </a:tc>
                <a:tc>
                  <a:txBody>
                    <a:bodyPr/>
                    <a:lstStyle/>
                    <a:p>
                      <a:r>
                        <a:rPr sz="1425" b="0">
                          <a:solidFill>
                            <a:srgbClr val="171C23"/>
                          </a:solidFill>
                          <a:latin typeface="Arial"/>
                          <a:ea typeface="Arial"/>
                          <a:cs typeface="Arial"/>
                        </a:rPr>
                        <a:t>Known hot wallet</a:t>
                      </a:r>
                    </a:p>
                    <a:p>
                      <a:r>
                        <a:rPr sz="1425" b="0">
                          <a:solidFill>
                            <a:srgbClr val="171C23"/>
                          </a:solidFill>
                          <a:latin typeface="Arial"/>
                          <a:ea typeface="Arial"/>
                          <a:cs typeface="Arial"/>
                        </a:rPr>
                        <a:t>Still reachable</a:t>
                      </a:r>
                    </a:p>
                  </a:txBody>
                  <a:tcPr marL="91440" marR="91440" marT="45720" marB="45720">
                    <a:solidFill>
                      <a:srgbClr val="FFFFFF"/>
                    </a:solidFill>
                  </a:tcPr>
                </a:tc>
                <a:tc>
                  <a:txBody>
                    <a:bodyPr/>
                    <a:lstStyle/>
                    <a:p>
                      <a:r>
                        <a:rPr sz="1425" b="0">
                          <a:solidFill>
                            <a:srgbClr val="171C23"/>
                          </a:solidFill>
                          <a:latin typeface="Arial"/>
                          <a:ea typeface="Arial"/>
                          <a:cs typeface="Arial"/>
                        </a:rPr>
                        <a:t>Unresolved candidate</a:t>
                      </a:r>
                    </a:p>
                    <a:p>
                      <a:r>
                        <a:rPr sz="1425" b="0">
                          <a:solidFill>
                            <a:srgbClr val="171C23"/>
                          </a:solidFill>
                          <a:latin typeface="Arial"/>
                          <a:ea typeface="Arial"/>
                          <a:cs typeface="Arial"/>
                        </a:rPr>
                        <a:t>Ask for more evidence</a:t>
                      </a:r>
                    </a:p>
                  </a:txBody>
                  <a:tcPr marL="91440" marR="91440" marT="45720" marB="45720">
                    <a:solidFill>
                      <a:srgbClr val="F0F5FA"/>
                    </a:solidFill>
                  </a:tcPr>
                </a:tc>
              </a:tr>
              <a:tr h="514350">
                <a:tc>
                  <a:txBody>
                    <a:bodyPr/>
                    <a:lstStyle/>
                    <a:p>
                      <a:r>
                        <a:rPr sz="1425" b="0">
                          <a:solidFill>
                            <a:srgbClr val="171C23"/>
                          </a:solidFill>
                          <a:latin typeface="Arial"/>
                          <a:ea typeface="Arial"/>
                          <a:cs typeface="Arial"/>
                        </a:rPr>
                        <a:t>Customer imitates</a:t>
                      </a:r>
                    </a:p>
                    <a:p>
                      <a:r>
                        <a:rPr sz="1425" b="0">
                          <a:solidFill>
                            <a:srgbClr val="171C23"/>
                          </a:solidFill>
                          <a:latin typeface="Arial"/>
                          <a:ea typeface="Arial"/>
                          <a:cs typeface="Arial"/>
                        </a:rPr>
                        <a:t>pattern</a:t>
                      </a:r>
                    </a:p>
                  </a:txBody>
                  <a:tcPr marL="91440" marR="91440" marT="45720" marB="45720">
                    <a:solidFill>
                      <a:srgbClr val="FFFFFF"/>
                    </a:solidFill>
                  </a:tcPr>
                </a:tc>
                <a:tc>
                  <a:txBody>
                    <a:bodyPr/>
                    <a:lstStyle/>
                    <a:p>
                      <a:r>
                        <a:rPr sz="1425" b="0">
                          <a:solidFill>
                            <a:srgbClr val="171C23"/>
                          </a:solidFill>
                          <a:latin typeface="Arial"/>
                          <a:ea typeface="Arial"/>
                          <a:cs typeface="Arial"/>
                        </a:rPr>
                        <a:t>Cannot prove control</a:t>
                      </a:r>
                    </a:p>
                  </a:txBody>
                  <a:tcPr marL="91440" marR="91440" marT="45720" marB="45720">
                    <a:solidFill>
                      <a:srgbClr val="FFFFFF"/>
                    </a:solidFill>
                  </a:tcPr>
                </a:tc>
                <a:tc>
                  <a:txBody>
                    <a:bodyPr/>
                    <a:lstStyle/>
                    <a:p>
                      <a:r>
                        <a:rPr sz="1425" b="0">
                          <a:solidFill>
                            <a:srgbClr val="171C23"/>
                          </a:solidFill>
                          <a:latin typeface="Arial"/>
                          <a:ea typeface="Arial"/>
                          <a:cs typeface="Arial"/>
                        </a:rPr>
                        <a:t>Cannot prove control</a:t>
                      </a:r>
                    </a:p>
                    <a:p>
                      <a:r>
                        <a:rPr sz="1425" b="0">
                          <a:solidFill>
                            <a:srgbClr val="171C23"/>
                          </a:solidFill>
                          <a:latin typeface="Arial"/>
                          <a:ea typeface="Arial"/>
                          <a:cs typeface="Arial"/>
                        </a:rPr>
                        <a:t>Keep it unconfirmed</a:t>
                      </a:r>
                    </a:p>
                  </a:txBody>
                  <a:tcPr marL="91440" marR="91440" marT="45720" marB="45720">
                    <a:solidFill>
                      <a:srgbClr val="F0F5FA"/>
                    </a:solidFill>
                  </a:tcPr>
                </a:tc>
              </a:tr>
            </a:tbl>
          </a:graphicData>
        </a:graphic>
      </p:graphicFrame>
      <p:sp>
        <p:nvSpPr>
          <p:cNvPr id="17422" name="tsf_104">
            <a:extLst>
              <a:ext uri="{FF2B5EF4-FFF2-40B4-BE49-F238E27FC236}">
                <a16:creationId xmlns:a16="http://schemas.microsoft.com/office/drawing/2014/main" id="{D225C2A3-92B2-4A5E-8F58-AD5941E06C97}"/>
              </a:ext>
            </a:extLst>
          </p:cNvPr>
          <p:cNvSpPr>
            <a:spLocks noGrp="1"/>
          </p:cNvSpPr>
          <p:nvPr/>
        </p:nvSpPr>
        <p:spPr>
          <a:xfrm>
            <a:off x="419100" y="4476750"/>
            <a:ext cx="11353800" cy="971550"/>
          </a:xfrm>
          <a:prstGeom prst="rect">
            <a:avLst/>
          </a:prstGeom>
          <a:solidFill>
            <a:srgbClr val="FFFFFF"/>
          </a:solidFill>
          <a:ln w="10478">
            <a:solidFill>
              <a:srgbClr val="B7C6D5"/>
            </a:solidFill>
          </a:ln>
        </p:spPr>
      </p:sp>
      <p:sp>
        <p:nvSpPr>
          <p:cNvPr id="17423" name="tsf_105">
            <a:extLst>
              <a:ext uri="{FF2B5EF4-FFF2-40B4-BE49-F238E27FC236}">
                <a16:creationId xmlns:a16="http://schemas.microsoft.com/office/drawing/2014/main" id="{B921B011-7DFE-4289-95AA-72CF460E265A}"/>
              </a:ext>
            </a:extLst>
          </p:cNvPr>
          <p:cNvSpPr>
            <a:spLocks noGrp="1"/>
          </p:cNvSpPr>
          <p:nvPr/>
        </p:nvSpPr>
        <p:spPr>
          <a:xfrm>
            <a:off x="419100" y="4476750"/>
            <a:ext cx="11353800" cy="295275"/>
          </a:xfrm>
          <a:prstGeom prst="rect">
            <a:avLst/>
          </a:prstGeom>
          <a:solidFill>
            <a:srgbClr val="1F497D"/>
          </a:solidFill>
          <a:ln w="10478">
            <a:solidFill>
              <a:srgbClr val="1F497D"/>
            </a:solidFill>
          </a:ln>
        </p:spPr>
      </p:sp>
      <p:sp>
        <p:nvSpPr>
          <p:cNvPr id="17424" name="tsf_106">
            <a:extLst>
              <a:ext uri="{FF2B5EF4-FFF2-40B4-BE49-F238E27FC236}">
                <a16:creationId xmlns:a16="http://schemas.microsoft.com/office/drawing/2014/main" id="{1CF9EEF2-A3CC-4C1F-A231-F56D23B7A16D}"/>
              </a:ext>
            </a:extLst>
          </p:cNvPr>
          <p:cNvSpPr>
            <a:spLocks noGrp="1"/>
          </p:cNvSpPr>
          <p:nvPr/>
        </p:nvSpPr>
        <p:spPr>
          <a:xfrm>
            <a:off x="533400" y="4514850"/>
            <a:ext cx="11125200"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OFFICER OUTCOME: A SUPPORTED RECIPIENT OR A SPECIFIC NEXT CHECK</a:t>
            </a:r>
          </a:p>
        </p:txBody>
      </p:sp>
      <p:sp>
        <p:nvSpPr>
          <p:cNvPr id="17425" name="tsf_107">
            <a:extLst>
              <a:ext uri="{FF2B5EF4-FFF2-40B4-BE49-F238E27FC236}">
                <a16:creationId xmlns:a16="http://schemas.microsoft.com/office/drawing/2014/main" id="{5423B311-155F-4294-BB62-20A01F1BD517}"/>
              </a:ext>
            </a:extLst>
          </p:cNvPr>
          <p:cNvSpPr>
            <a:spLocks noGrp="1"/>
          </p:cNvSpPr>
          <p:nvPr/>
        </p:nvSpPr>
        <p:spPr>
          <a:xfrm>
            <a:off x="571500" y="4886325"/>
            <a:ext cx="3476625" cy="48577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rPr>
              <a:t>SUPPORTED SERVICE</a:t>
            </a:r>
          </a:p>
          <a:p>
            <a:pPr algn="l">
              <a:defRPr sz="1449" b="1">
                <a:solidFill>
                  <a:srgbClr val="1F497D"/>
                </a:solidFill>
                <a:latin typeface="Arial"/>
                <a:ea typeface="Arial"/>
                <a:cs typeface="Arial"/>
              </a:defRPr>
            </a:pPr>
            <a:r>
              <a:rPr sz="1449" b="1">
                <a:solidFill>
                  <a:srgbClr val="1F497D"/>
                </a:solidFill>
                <a:latin typeface="Arial"/>
                <a:ea typeface="Arial"/>
                <a:cs typeface="Arial"/>
              </a:rPr>
              <a:t>Verify recipient; prepare the request.</a:t>
            </a:r>
          </a:p>
        </p:txBody>
      </p:sp>
      <p:sp>
        <p:nvSpPr>
          <p:cNvPr id="17426" name="tsf_108">
            <a:extLst>
              <a:ext uri="{FF2B5EF4-FFF2-40B4-BE49-F238E27FC236}">
                <a16:creationId xmlns:a16="http://schemas.microsoft.com/office/drawing/2014/main" id="{CC402C71-C85D-46A0-B662-EB4CFD08DA42}"/>
              </a:ext>
            </a:extLst>
          </p:cNvPr>
          <p:cNvSpPr>
            <a:spLocks noGrp="1"/>
          </p:cNvSpPr>
          <p:nvPr/>
        </p:nvSpPr>
        <p:spPr>
          <a:xfrm>
            <a:off x="4314825" y="4886325"/>
            <a:ext cx="3476625" cy="485775"/>
          </a:xfrm>
          <a:prstGeom prst="rect">
            <a:avLst/>
          </a:prstGeom>
          <a:noFill/>
          <a:ln w="10478">
            <a:noFill/>
          </a:ln>
        </p:spPr>
        <p:txBody>
          <a:bodyPr wrap="square" lIns="0" tIns="0" rIns="0" bIns="0" anchor="t">
            <a:noAutofit/>
          </a:bodyPr>
          <a:lstStyle>
            <a:defPPr algn="l">
              <a:defRPr sz="1449" b="1">
                <a:solidFill>
                  <a:srgbClr val="A66213"/>
                </a:solidFill>
                <a:latin typeface="Arial"/>
                <a:ea typeface="Arial"/>
                <a:cs typeface="Arial"/>
              </a:defRPr>
            </a:defPPr>
          </a:lstStyle>
          <a:p>
            <a:pPr algn="l">
              <a:defRPr sz="1449" b="1">
                <a:solidFill>
                  <a:srgbClr val="A66213"/>
                </a:solidFill>
                <a:latin typeface="Arial"/>
                <a:ea typeface="Arial"/>
                <a:cs typeface="Arial"/>
              </a:defRPr>
            </a:pPr>
            <a:r>
              <a:rPr sz="1449" b="1">
                <a:solidFill>
                  <a:srgbClr val="A66213"/>
                </a:solidFill>
                <a:latin typeface="Arial"/>
                <a:ea typeface="Arial"/>
                <a:cs typeface="Arial"/>
              </a:rPr>
              <a:t>DEPOSIT CANDIDATE</a:t>
            </a:r>
          </a:p>
          <a:p>
            <a:pPr algn="l">
              <a:defRPr sz="1449" b="1">
                <a:solidFill>
                  <a:srgbClr val="A66213"/>
                </a:solidFill>
                <a:latin typeface="Arial"/>
                <a:ea typeface="Arial"/>
                <a:cs typeface="Arial"/>
              </a:defRPr>
            </a:pPr>
            <a:r>
              <a:rPr sz="1449" b="1">
                <a:solidFill>
                  <a:srgbClr val="A66213"/>
                </a:solidFill>
                <a:latin typeface="Arial"/>
                <a:ea typeface="Arial"/>
                <a:cs typeface="Arial"/>
              </a:rPr>
              <a:t>Seek independent confirmation.</a:t>
            </a:r>
          </a:p>
        </p:txBody>
      </p:sp>
      <p:sp>
        <p:nvSpPr>
          <p:cNvPr id="17427" name="tsf_109">
            <a:extLst>
              <a:ext uri="{FF2B5EF4-FFF2-40B4-BE49-F238E27FC236}">
                <a16:creationId xmlns:a16="http://schemas.microsoft.com/office/drawing/2014/main" id="{FB6A56C9-B130-4BFC-BD76-0BE29649FF37}"/>
              </a:ext>
            </a:extLst>
          </p:cNvPr>
          <p:cNvSpPr>
            <a:spLocks noGrp="1"/>
          </p:cNvSpPr>
          <p:nvPr/>
        </p:nvSpPr>
        <p:spPr>
          <a:xfrm>
            <a:off x="8077200" y="4886325"/>
            <a:ext cx="3476625" cy="485775"/>
          </a:xfrm>
          <a:prstGeom prst="rect">
            <a:avLst/>
          </a:prstGeom>
          <a:noFill/>
          <a:ln w="10478">
            <a:noFill/>
          </a:ln>
        </p:spPr>
        <p:txBody>
          <a:bodyPr wrap="square" lIns="0" tIns="0" rIns="0" bIns="0" anchor="t">
            <a:noAutofit/>
          </a:bodyPr>
          <a:lstStyle>
            <a:defPPr algn="l">
              <a:defRPr sz="1449" b="1">
                <a:solidFill>
                  <a:srgbClr val="536170"/>
                </a:solidFill>
                <a:latin typeface="Arial"/>
                <a:ea typeface="Arial"/>
                <a:cs typeface="Arial"/>
              </a:defRPr>
            </a:defPPr>
          </a:lstStyle>
          <a:p>
            <a:pPr algn="l">
              <a:defRPr sz="1449" b="1">
                <a:solidFill>
                  <a:srgbClr val="536170"/>
                </a:solidFill>
                <a:latin typeface="Arial"/>
                <a:ea typeface="Arial"/>
                <a:cs typeface="Arial"/>
              </a:defRPr>
            </a:pPr>
            <a:r>
              <a:rPr sz="1449" b="1">
                <a:solidFill>
                  <a:srgbClr val="536170"/>
                </a:solidFill>
                <a:latin typeface="Arial"/>
                <a:ea typeface="Arial"/>
                <a:cs typeface="Arial"/>
              </a:rPr>
              <a:t>UNRESOLVED</a:t>
            </a:r>
          </a:p>
          <a:p>
            <a:pPr algn="l">
              <a:defRPr sz="1449" b="1">
                <a:solidFill>
                  <a:srgbClr val="536170"/>
                </a:solidFill>
                <a:latin typeface="Arial"/>
                <a:ea typeface="Arial"/>
                <a:cs typeface="Arial"/>
              </a:defRPr>
            </a:pPr>
            <a:r>
              <a:rPr sz="1449" b="1">
                <a:solidFill>
                  <a:srgbClr val="536170"/>
                </a:solidFill>
                <a:latin typeface="Arial"/>
                <a:ea typeface="Arial"/>
                <a:cs typeface="Arial"/>
              </a:rPr>
              <a:t>Get more evidence or record the gap.</a:t>
            </a:r>
          </a:p>
        </p:txBody>
      </p:sp>
      <p:sp>
        <p:nvSpPr>
          <p:cNvPr id="17428" name="tsf_110">
            <a:extLst>
              <a:ext uri="{FF2B5EF4-FFF2-40B4-BE49-F238E27FC236}">
                <a16:creationId xmlns:a16="http://schemas.microsoft.com/office/drawing/2014/main" id="{20A235CE-8C09-4E90-AB9C-FE6D8EAF13FB}"/>
              </a:ext>
            </a:extLst>
          </p:cNvPr>
          <p:cNvSpPr>
            <a:spLocks noGrp="1"/>
          </p:cNvSpPr>
          <p:nvPr/>
        </p:nvSpPr>
        <p:spPr>
          <a:xfrm>
            <a:off x="419100" y="5619750"/>
            <a:ext cx="11353800" cy="266700"/>
          </a:xfrm>
          <a:prstGeom prst="rect">
            <a:avLst/>
          </a:prstGeom>
          <a:noFill/>
          <a:ln w="10478">
            <a:noFill/>
          </a:ln>
        </p:spPr>
        <p:txBody>
          <a:bodyPr wrap="square" lIns="0" tIns="0" rIns="0" bIns="0" anchor="t">
            <a:noAutofit/>
          </a:bodyPr>
          <a:lstStyle>
            <a:defPPr algn="l">
              <a:defRPr sz="1656" b="1">
                <a:solidFill>
                  <a:srgbClr val="1F497D"/>
                </a:solidFill>
                <a:latin typeface="Arial"/>
                <a:ea typeface="Arial"/>
                <a:cs typeface="Arial"/>
              </a:defRPr>
            </a:defPPr>
          </a:lstStyle>
          <a:p>
            <a:pPr algn="l">
              <a:defRPr sz="1656" b="1">
                <a:solidFill>
                  <a:srgbClr val="1F497D"/>
                </a:solidFill>
                <a:latin typeface="Arial"/>
                <a:ea typeface="Arial"/>
                <a:cs typeface="Arial"/>
              </a:defRPr>
            </a:pPr>
            <a:r>
              <a:rPr sz="1656" b="1">
                <a:solidFill>
                  <a:srgbClr val="1F497D"/>
                </a:solidFill>
                <a:latin typeface="Arial"/>
                <a:ea typeface="Arial"/>
                <a:cs typeface="Arial"/>
              </a:rPr>
              <a:t>TEST THE CONTRIBUTION AGAINST LABEL-ONLY TRACING [5]</a:t>
            </a:r>
          </a:p>
        </p:txBody>
      </p:sp>
      <p:sp>
        <p:nvSpPr>
          <p:cNvPr id="17429" name="tsf_111">
            <a:extLst>
              <a:ext uri="{FF2B5EF4-FFF2-40B4-BE49-F238E27FC236}">
                <a16:creationId xmlns:a16="http://schemas.microsoft.com/office/drawing/2014/main" id="{2E28A2D4-FD9C-47E2-999B-FC805AFE8941}"/>
              </a:ext>
            </a:extLst>
          </p:cNvPr>
          <p:cNvSpPr>
            <a:spLocks noGrp="1"/>
          </p:cNvSpPr>
          <p:nvPr/>
        </p:nvSpPr>
        <p:spPr>
          <a:xfrm>
            <a:off x="419100" y="5962650"/>
            <a:ext cx="11353800" cy="285750"/>
          </a:xfrm>
          <a:prstGeom prst="rect">
            <a:avLst/>
          </a:prstGeom>
          <a:noFill/>
          <a:ln w="10478">
            <a:noFill/>
          </a:ln>
        </p:spPr>
        <p:txBody>
          <a:bodyPr wrap="square" lIns="0" tIns="0" rIns="0" bIns="0" anchor="t">
            <a:noAutofit/>
          </a:bodyPr>
          <a:lstStyle>
            <a:defPPr algn="l">
              <a:defRPr sz="1518" b="0">
                <a:solidFill>
                  <a:srgbClr val="171C23"/>
                </a:solidFill>
                <a:latin typeface="Arial"/>
                <a:ea typeface="Arial"/>
                <a:cs typeface="Arial"/>
              </a:defRPr>
            </a:defPPr>
          </a:lstStyle>
          <a:p>
            <a:pPr algn="l">
              <a:defRPr sz="1518" b="0">
                <a:solidFill>
                  <a:srgbClr val="171C23"/>
                </a:solidFill>
                <a:latin typeface="Arial"/>
                <a:ea typeface="Arial"/>
                <a:cs typeface="Arial"/>
              </a:defRPr>
            </a:pPr>
            <a:r>
              <a:rPr sz="1518" b="0">
                <a:solidFill>
                  <a:srgbClr val="171C23"/>
                </a:solidFill>
                <a:latin typeface="Arial"/>
                <a:ea typeface="Arial"/>
                <a:cs typeface="Arial"/>
              </a:rPr>
              <a:t>Known graph methods; our workflow must earn its value in recipient accuracy, coverage, query cost and officer time.</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none" lIns="0" rIns="0"/>
          <a:lstStyle/>
          <a:p>
            <a:pPr algn="ctr"/>
            <a:r>
              <a:rPr lang="en-US" dirty="0"/>
              <a:t>ANANTHA</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sf_112">
            <a:extLst>
              <a:ext uri="{FF2B5EF4-FFF2-40B4-BE49-F238E27FC236}">
                <a16:creationId xmlns:a16="http://schemas.microsoft.com/office/drawing/2014/main" id="{D16E3A6D-267F-48E8-B180-4E1DC0631084}"/>
              </a:ext>
            </a:extLst>
          </p:cNvPr>
          <p:cNvSpPr>
            <a:spLocks noGrp="1"/>
          </p:cNvSpPr>
          <p:nvPr/>
        </p:nvSpPr>
        <p:spPr>
          <a:xfrm>
            <a:off x="419100" y="1352550"/>
            <a:ext cx="11353800" cy="1752600"/>
          </a:xfrm>
          <a:prstGeom prst="rect">
            <a:avLst/>
          </a:prstGeom>
          <a:solidFill>
            <a:srgbClr val="F0F5FA"/>
          </a:solidFill>
          <a:ln w="10478">
            <a:solidFill>
              <a:srgbClr val="B7C6D5"/>
            </a:solidFill>
          </a:ln>
        </p:spPr>
      </p:sp>
      <p:sp>
        <p:nvSpPr>
          <p:cNvPr id="17411" name="tsf_113">
            <a:extLst>
              <a:ext uri="{FF2B5EF4-FFF2-40B4-BE49-F238E27FC236}">
                <a16:creationId xmlns:a16="http://schemas.microsoft.com/office/drawing/2014/main" id="{5712F66C-242A-4498-9509-0F5561FC9025}"/>
              </a:ext>
            </a:extLst>
          </p:cNvPr>
          <p:cNvSpPr>
            <a:spLocks noGrp="1"/>
          </p:cNvSpPr>
          <p:nvPr/>
        </p:nvSpPr>
        <p:spPr>
          <a:xfrm>
            <a:off x="419100" y="1352550"/>
            <a:ext cx="11353800" cy="295275"/>
          </a:xfrm>
          <a:prstGeom prst="rect">
            <a:avLst/>
          </a:prstGeom>
          <a:solidFill>
            <a:srgbClr val="1F497D"/>
          </a:solidFill>
          <a:ln w="10478">
            <a:solidFill>
              <a:srgbClr val="1F497D"/>
            </a:solidFill>
          </a:ln>
        </p:spPr>
      </p:sp>
      <p:sp>
        <p:nvSpPr>
          <p:cNvPr id="17412" name="tsf_114">
            <a:extLst>
              <a:ext uri="{FF2B5EF4-FFF2-40B4-BE49-F238E27FC236}">
                <a16:creationId xmlns:a16="http://schemas.microsoft.com/office/drawing/2014/main" id="{33ECAED2-3E0E-492D-910F-801258C2AE02}"/>
              </a:ext>
            </a:extLst>
          </p:cNvPr>
          <p:cNvSpPr>
            <a:spLocks noGrp="1"/>
          </p:cNvSpPr>
          <p:nvPr/>
        </p:nvSpPr>
        <p:spPr>
          <a:xfrm>
            <a:off x="533400" y="1390650"/>
            <a:ext cx="11125200" cy="238125"/>
          </a:xfrm>
          <a:prstGeom prst="rect">
            <a:avLst/>
          </a:prstGeom>
          <a:noFill/>
          <a:ln w="10478">
            <a:noFill/>
          </a:ln>
        </p:spPr>
        <p:txBody>
          <a:bodyPr wrap="square" lIns="0" tIns="0" rIns="0" bIns="0" anchor="t">
            <a:noAutofit/>
          </a:bodyPr>
          <a:lstStyle>
            <a:defPPr algn="l">
              <a:defRPr sz="1587" b="1">
                <a:solidFill>
                  <a:srgbClr val="FFFFFF"/>
                </a:solidFill>
                <a:latin typeface="Arial"/>
                <a:ea typeface="Arial"/>
                <a:cs typeface="Arial"/>
              </a:defRPr>
            </a:defPPr>
          </a:lstStyle>
          <a:p>
            <a:pPr algn="l">
              <a:defRPr sz="1587" b="1">
                <a:solidFill>
                  <a:srgbClr val="FFFFFF"/>
                </a:solidFill>
                <a:latin typeface="Arial"/>
                <a:ea typeface="Arial"/>
                <a:cs typeface="Arial"/>
              </a:defRPr>
            </a:pPr>
            <a:r>
              <a:rPr sz="1587" b="1">
                <a:solidFill>
                  <a:srgbClr val="FFFFFF"/>
                </a:solidFill>
                <a:latin typeface="Arial"/>
                <a:ea typeface="Arial"/>
                <a:cs typeface="Arial"/>
              </a:rPr>
              <a:t>RESEARCH USED IN THE DESIGN</a:t>
            </a:r>
          </a:p>
        </p:txBody>
      </p:sp>
      <p:sp>
        <p:nvSpPr>
          <p:cNvPr id="17413" name="tsf_115">
            <a:extLst>
              <a:ext uri="{FF2B5EF4-FFF2-40B4-BE49-F238E27FC236}">
                <a16:creationId xmlns:a16="http://schemas.microsoft.com/office/drawing/2014/main" id="{4F2EB26E-D97B-4218-B30C-6485FD23E36F}"/>
              </a:ext>
            </a:extLst>
          </p:cNvPr>
          <p:cNvSpPr>
            <a:spLocks noGrp="1"/>
          </p:cNvSpPr>
          <p:nvPr/>
        </p:nvSpPr>
        <p:spPr>
          <a:xfrm>
            <a:off x="552450" y="1724025"/>
            <a:ext cx="3295650" cy="23812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hlinkClick r:id="rIdTraceSetu1"/>
              </a:rPr>
              <a:t>[1] Victor · FC 2020</a:t>
            </a:r>
          </a:p>
        </p:txBody>
      </p:sp>
      <p:sp>
        <p:nvSpPr>
          <p:cNvPr id="17414" name="tsf_116">
            <a:extLst>
              <a:ext uri="{FF2B5EF4-FFF2-40B4-BE49-F238E27FC236}">
                <a16:creationId xmlns:a16="http://schemas.microsoft.com/office/drawing/2014/main" id="{248CFCFB-E7B1-4B36-8BBB-36E2FC3D471C}"/>
              </a:ext>
            </a:extLst>
          </p:cNvPr>
          <p:cNvSpPr>
            <a:spLocks noGrp="1"/>
          </p:cNvSpPr>
          <p:nvPr/>
        </p:nvSpPr>
        <p:spPr>
          <a:xfrm>
            <a:off x="3895725" y="1724025"/>
            <a:ext cx="7715250" cy="238125"/>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Deposit-address forwarding: a clue requiring known service anchors.</a:t>
            </a:r>
          </a:p>
        </p:txBody>
      </p:sp>
      <p:sp>
        <p:nvSpPr>
          <p:cNvPr id="17415" name="tsf_117">
            <a:extLst>
              <a:ext uri="{FF2B5EF4-FFF2-40B4-BE49-F238E27FC236}">
                <a16:creationId xmlns:a16="http://schemas.microsoft.com/office/drawing/2014/main" id="{CC722D1C-5C55-49C9-912A-22052B0D3960}"/>
              </a:ext>
            </a:extLst>
          </p:cNvPr>
          <p:cNvSpPr>
            <a:spLocks noGrp="1"/>
          </p:cNvSpPr>
          <p:nvPr/>
        </p:nvSpPr>
        <p:spPr>
          <a:xfrm>
            <a:off x="552450" y="1981200"/>
            <a:ext cx="3295650" cy="23812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hlinkClick r:id="rIdTraceSetu2"/>
              </a:rPr>
              <a:t>[2] Brechlin et al. · 2025</a:t>
            </a:r>
          </a:p>
        </p:txBody>
      </p:sp>
      <p:sp>
        <p:nvSpPr>
          <p:cNvPr id="17416" name="tsf_118">
            <a:extLst>
              <a:ext uri="{FF2B5EF4-FFF2-40B4-BE49-F238E27FC236}">
                <a16:creationId xmlns:a16="http://schemas.microsoft.com/office/drawing/2014/main" id="{24CDEF1E-059C-4D16-8414-5052AE3E0201}"/>
              </a:ext>
            </a:extLst>
          </p:cNvPr>
          <p:cNvSpPr>
            <a:spLocks noGrp="1"/>
          </p:cNvSpPr>
          <p:nvPr/>
        </p:nvSpPr>
        <p:spPr>
          <a:xfrm>
            <a:off x="3895725" y="1981200"/>
            <a:ext cx="7715250" cy="238125"/>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Service fee funding + collection; Evonax confirmed roles using service records.</a:t>
            </a:r>
          </a:p>
        </p:txBody>
      </p:sp>
      <p:sp>
        <p:nvSpPr>
          <p:cNvPr id="17417" name="tsf_119">
            <a:extLst>
              <a:ext uri="{FF2B5EF4-FFF2-40B4-BE49-F238E27FC236}">
                <a16:creationId xmlns:a16="http://schemas.microsoft.com/office/drawing/2014/main" id="{5B754F35-46F2-416C-9E7C-DEFE9DC700CC}"/>
              </a:ext>
            </a:extLst>
          </p:cNvPr>
          <p:cNvSpPr>
            <a:spLocks noGrp="1"/>
          </p:cNvSpPr>
          <p:nvPr/>
        </p:nvSpPr>
        <p:spPr>
          <a:xfrm>
            <a:off x="552450" y="2238375"/>
            <a:ext cx="3295650" cy="23812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hlinkClick r:id="rIdTraceSetu3"/>
              </a:rPr>
              <a:t>[3] Wu et al. · PVLDB 2014</a:t>
            </a:r>
          </a:p>
        </p:txBody>
      </p:sp>
      <p:sp>
        <p:nvSpPr>
          <p:cNvPr id="17418" name="tsf_120">
            <a:extLst>
              <a:ext uri="{FF2B5EF4-FFF2-40B4-BE49-F238E27FC236}">
                <a16:creationId xmlns:a16="http://schemas.microsoft.com/office/drawing/2014/main" id="{86E7D1C5-25F1-4034-B4A6-5A5EDB94229C}"/>
              </a:ext>
            </a:extLst>
          </p:cNvPr>
          <p:cNvSpPr>
            <a:spLocks noGrp="1"/>
          </p:cNvSpPr>
          <p:nvPr/>
        </p:nvSpPr>
        <p:spPr>
          <a:xfrm>
            <a:off x="3895725" y="2238375"/>
            <a:ext cx="7715250" cy="238125"/>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Temporal graphs: reject transfer paths that run backwards in time.</a:t>
            </a:r>
          </a:p>
        </p:txBody>
      </p:sp>
      <p:sp>
        <p:nvSpPr>
          <p:cNvPr id="17419" name="tsf_121">
            <a:extLst>
              <a:ext uri="{FF2B5EF4-FFF2-40B4-BE49-F238E27FC236}">
                <a16:creationId xmlns:a16="http://schemas.microsoft.com/office/drawing/2014/main" id="{589ECD7A-8EE4-48A1-B8B9-DA3F55774754}"/>
              </a:ext>
            </a:extLst>
          </p:cNvPr>
          <p:cNvSpPr>
            <a:spLocks noGrp="1"/>
          </p:cNvSpPr>
          <p:nvPr/>
        </p:nvSpPr>
        <p:spPr>
          <a:xfrm>
            <a:off x="552450" y="2495550"/>
            <a:ext cx="3295650" cy="23812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hlinkClick r:id="rIdTraceSetu4"/>
              </a:rPr>
              <a:t>[4] Kappos et al. · 2022</a:t>
            </a:r>
          </a:p>
        </p:txBody>
      </p:sp>
      <p:sp>
        <p:nvSpPr>
          <p:cNvPr id="17420" name="tsf_122">
            <a:extLst>
              <a:ext uri="{FF2B5EF4-FFF2-40B4-BE49-F238E27FC236}">
                <a16:creationId xmlns:a16="http://schemas.microsoft.com/office/drawing/2014/main" id="{6ABC5E8F-8963-4555-B349-BAFE86E4D403}"/>
              </a:ext>
            </a:extLst>
          </p:cNvPr>
          <p:cNvSpPr>
            <a:spLocks noGrp="1"/>
          </p:cNvSpPr>
          <p:nvPr/>
        </p:nvSpPr>
        <p:spPr>
          <a:xfrm>
            <a:off x="3895725" y="2495550"/>
            <a:ext cx="7715250" cy="238125"/>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Bitcoin peel-chain clustering: a guarded future extension.</a:t>
            </a:r>
          </a:p>
        </p:txBody>
      </p:sp>
      <p:sp>
        <p:nvSpPr>
          <p:cNvPr id="17421" name="tsf_123">
            <a:extLst>
              <a:ext uri="{FF2B5EF4-FFF2-40B4-BE49-F238E27FC236}">
                <a16:creationId xmlns:a16="http://schemas.microsoft.com/office/drawing/2014/main" id="{EB7B8958-2390-433A-A3B9-F8914C7DC497}"/>
              </a:ext>
            </a:extLst>
          </p:cNvPr>
          <p:cNvSpPr>
            <a:spLocks noGrp="1"/>
          </p:cNvSpPr>
          <p:nvPr/>
        </p:nvSpPr>
        <p:spPr>
          <a:xfrm>
            <a:off x="552450" y="2752725"/>
            <a:ext cx="3295650" cy="238125"/>
          </a:xfrm>
          <a:prstGeom prst="rect">
            <a:avLst/>
          </a:prstGeom>
          <a:noFill/>
          <a:ln w="10478">
            <a:noFill/>
          </a:ln>
        </p:spPr>
        <p:txBody>
          <a:bodyPr wrap="square" lIns="0" tIns="0" rIns="0" bIns="0" anchor="t">
            <a:noAutofit/>
          </a:bodyPr>
          <a:lstStyle>
            <a:defPPr algn="l">
              <a:defRPr sz="1449" b="1">
                <a:solidFill>
                  <a:srgbClr val="1F497D"/>
                </a:solidFill>
                <a:latin typeface="Arial"/>
                <a:ea typeface="Arial"/>
                <a:cs typeface="Arial"/>
              </a:defRPr>
            </a:defPPr>
          </a:lstStyle>
          <a:p>
            <a:pPr algn="l">
              <a:defRPr sz="1449" b="1">
                <a:solidFill>
                  <a:srgbClr val="1F497D"/>
                </a:solidFill>
                <a:latin typeface="Arial"/>
                <a:ea typeface="Arial"/>
                <a:cs typeface="Arial"/>
              </a:defRPr>
            </a:pPr>
            <a:r>
              <a:rPr sz="1449" b="1">
                <a:solidFill>
                  <a:srgbClr val="1F497D"/>
                </a:solidFill>
                <a:latin typeface="Arial"/>
                <a:ea typeface="Arial"/>
                <a:cs typeface="Arial"/>
                <a:hlinkClick r:id="rIdTraceSetu5"/>
              </a:rPr>
              <a:t>[5] Lubbertsen et al. · 2025</a:t>
            </a:r>
          </a:p>
        </p:txBody>
      </p:sp>
      <p:sp>
        <p:nvSpPr>
          <p:cNvPr id="17422" name="tsf_124">
            <a:extLst>
              <a:ext uri="{FF2B5EF4-FFF2-40B4-BE49-F238E27FC236}">
                <a16:creationId xmlns:a16="http://schemas.microsoft.com/office/drawing/2014/main" id="{85200FBE-6898-4CD2-8972-D9A76CF4B293}"/>
              </a:ext>
            </a:extLst>
          </p:cNvPr>
          <p:cNvSpPr>
            <a:spLocks noGrp="1"/>
          </p:cNvSpPr>
          <p:nvPr/>
        </p:nvSpPr>
        <p:spPr>
          <a:xfrm>
            <a:off x="3895725" y="2752725"/>
            <a:ext cx="7715250" cy="238125"/>
          </a:xfrm>
          <a:prstGeom prst="rect">
            <a:avLst/>
          </a:prstGeom>
          <a:noFill/>
          <a:ln w="10478">
            <a:noFill/>
          </a:ln>
        </p:spPr>
        <p:txBody>
          <a:bodyPr wrap="square" lIns="0" tIns="0" rIns="0" bIns="0" anchor="t">
            <a:noAutofit/>
          </a:bodyPr>
          <a:lstStyle>
            <a:defPPr algn="l">
              <a:defRPr sz="1449" b="0">
                <a:solidFill>
                  <a:srgbClr val="171C23"/>
                </a:solidFill>
                <a:latin typeface="Arial"/>
                <a:ea typeface="Arial"/>
                <a:cs typeface="Arial"/>
              </a:defRPr>
            </a:defPPr>
          </a:lstStyle>
          <a:p>
            <a:pPr algn="l">
              <a:defRPr sz="1449" b="0">
                <a:solidFill>
                  <a:srgbClr val="171C23"/>
                </a:solidFill>
                <a:latin typeface="Arial"/>
                <a:ea typeface="Arial"/>
                <a:cs typeface="Arial"/>
              </a:defRPr>
            </a:pPr>
            <a:r>
              <a:rPr sz="1449" b="0">
                <a:solidFill>
                  <a:srgbClr val="171C23"/>
                </a:solidFill>
                <a:latin typeface="Arial"/>
                <a:ea typeface="Arial"/>
                <a:cs typeface="Arial"/>
              </a:rPr>
              <a:t>Evaluate attribution against independent ground truth and address roles.</a:t>
            </a:r>
          </a:p>
        </p:txBody>
      </p:sp>
      <p:sp>
        <p:nvSpPr>
          <p:cNvPr id="17423" name="tsf_125">
            <a:extLst>
              <a:ext uri="{FF2B5EF4-FFF2-40B4-BE49-F238E27FC236}">
                <a16:creationId xmlns:a16="http://schemas.microsoft.com/office/drawing/2014/main" id="{94B0811C-04EA-47C3-9E8B-42ECCDCBB621}"/>
              </a:ext>
            </a:extLst>
          </p:cNvPr>
          <p:cNvSpPr>
            <a:spLocks noGrp="1"/>
          </p:cNvSpPr>
          <p:nvPr/>
        </p:nvSpPr>
        <p:spPr>
          <a:xfrm>
            <a:off x="419100" y="3314700"/>
            <a:ext cx="11334750" cy="266700"/>
          </a:xfrm>
          <a:prstGeom prst="rect">
            <a:avLst/>
          </a:prstGeom>
          <a:noFill/>
          <a:ln w="10478">
            <a:noFill/>
          </a:ln>
        </p:spPr>
        <p:txBody>
          <a:bodyPr wrap="square" lIns="0" tIns="0" rIns="0" bIns="0" anchor="t">
            <a:noAutofit/>
          </a:bodyPr>
          <a:lstStyle>
            <a:defPPr algn="l">
              <a:defRPr sz="1656" b="1">
                <a:solidFill>
                  <a:srgbClr val="1F497D"/>
                </a:solidFill>
                <a:latin typeface="Arial"/>
                <a:ea typeface="Arial"/>
                <a:cs typeface="Arial"/>
              </a:defRPr>
            </a:defPPr>
          </a:lstStyle>
          <a:p>
            <a:pPr algn="l">
              <a:defRPr sz="1656" b="1">
                <a:solidFill>
                  <a:srgbClr val="1F497D"/>
                </a:solidFill>
                <a:latin typeface="Arial"/>
                <a:ea typeface="Arial"/>
                <a:cs typeface="Arial"/>
              </a:defRPr>
            </a:pPr>
            <a:r>
              <a:rPr sz="1656" b="1">
                <a:solidFill>
                  <a:srgbClr val="1F497D"/>
                </a:solidFill>
                <a:latin typeface="Arial"/>
                <a:ea typeface="Arial"/>
                <a:cs typeface="Arial"/>
              </a:rPr>
              <a:t>ACTUAL PROTOTYPE: OBSERVED TRANSFERS, SERVICE EVIDENCE AND NEXT ACTIONS</a:t>
            </a:r>
          </a:p>
        </p:txBody>
      </p:sp>
      <p:pic>
        <p:nvPicPr>
          <p:cNvPr id="17424" name="TraceSetu actual prototype screenshot" descr="Synthetic training case in the actual TraceSetu prototype. Wallets and service names are fictional.">
            <a:extLst>
              <a:ext uri="{FF2B5EF4-FFF2-40B4-BE49-F238E27FC236}">
                <a16:creationId xmlns:a16="http://schemas.microsoft.com/office/drawing/2014/main" id="{8C40BE7A-5683-495F-B9CC-44776711B8FD}"/>
              </a:ext>
            </a:extLst>
          </p:cNvPr>
          <p:cNvPicPr>
            <a:picLocks noChangeAspect="1"/>
          </p:cNvPicPr>
          <p:nvPr/>
        </p:nvPicPr>
        <p:blipFill>
          <a:blip r:embed="rIdTraceSetu6"/>
          <a:srcRect l="15100" t="25200" r="1200" b="41500"/>
          <a:stretch/>
        </p:blipFill>
        <p:spPr>
          <a:xfrm>
            <a:off x="419100" y="3743325"/>
            <a:ext cx="6486525" cy="2495550"/>
          </a:xfrm>
          <a:prstGeom prst="rect">
            <a:avLst/>
          </a:prstGeom>
        </p:spPr>
      </p:pic>
      <p:sp>
        <p:nvSpPr>
          <p:cNvPr id="17425" name="tsf_126">
            <a:extLst>
              <a:ext uri="{FF2B5EF4-FFF2-40B4-BE49-F238E27FC236}">
                <a16:creationId xmlns:a16="http://schemas.microsoft.com/office/drawing/2014/main" id="{7561C56E-4AF6-40B2-8C64-76FF75F1DB9E}"/>
              </a:ext>
            </a:extLst>
          </p:cNvPr>
          <p:cNvSpPr>
            <a:spLocks noGrp="1"/>
          </p:cNvSpPr>
          <p:nvPr/>
        </p:nvSpPr>
        <p:spPr>
          <a:xfrm>
            <a:off x="7181850" y="3743325"/>
            <a:ext cx="4572000" cy="276225"/>
          </a:xfrm>
          <a:prstGeom prst="rect">
            <a:avLst/>
          </a:prstGeom>
          <a:noFill/>
          <a:ln w="10478">
            <a:noFill/>
          </a:ln>
        </p:spPr>
        <p:txBody>
          <a:bodyPr wrap="square" lIns="0" tIns="0" rIns="0" bIns="0" anchor="t">
            <a:noAutofit/>
          </a:bodyPr>
          <a:lstStyle>
            <a:defPPr algn="l">
              <a:defRPr sz="1725" b="1">
                <a:solidFill>
                  <a:srgbClr val="1F497D"/>
                </a:solidFill>
                <a:latin typeface="Arial"/>
                <a:ea typeface="Arial"/>
                <a:cs typeface="Arial"/>
              </a:defRPr>
            </a:defPPr>
          </a:lstStyle>
          <a:p>
            <a:pPr algn="l">
              <a:defRPr sz="1725" b="1">
                <a:solidFill>
                  <a:srgbClr val="1F497D"/>
                </a:solidFill>
                <a:latin typeface="Arial"/>
                <a:ea typeface="Arial"/>
                <a:cs typeface="Arial"/>
              </a:defRPr>
            </a:pPr>
            <a:r>
              <a:rPr sz="1725" b="1">
                <a:solidFill>
                  <a:srgbClr val="1F497D"/>
                </a:solidFill>
                <a:latin typeface="Arial"/>
                <a:ea typeface="Arial"/>
                <a:cs typeface="Arial"/>
                <a:hlinkClick r:id="rIdTraceSetu7"/>
              </a:rPr>
              <a:t>Public source code &amp; research</a:t>
            </a:r>
          </a:p>
        </p:txBody>
      </p:sp>
      <p:sp>
        <p:nvSpPr>
          <p:cNvPr id="17426" name="tsf_127">
            <a:extLst>
              <a:ext uri="{FF2B5EF4-FFF2-40B4-BE49-F238E27FC236}">
                <a16:creationId xmlns:a16="http://schemas.microsoft.com/office/drawing/2014/main" id="{1ACF22BF-C79B-4FC1-AE22-951C072B9DCF}"/>
              </a:ext>
            </a:extLst>
          </p:cNvPr>
          <p:cNvSpPr>
            <a:spLocks noGrp="1"/>
          </p:cNvSpPr>
          <p:nvPr/>
        </p:nvSpPr>
        <p:spPr>
          <a:xfrm>
            <a:off x="7181850" y="4076700"/>
            <a:ext cx="4572000" cy="276225"/>
          </a:xfrm>
          <a:prstGeom prst="rect">
            <a:avLst/>
          </a:prstGeom>
          <a:noFill/>
          <a:ln w="10478">
            <a:noFill/>
          </a:ln>
        </p:spPr>
        <p:txBody>
          <a:bodyPr wrap="square" lIns="0" tIns="0" rIns="0" bIns="0" anchor="t">
            <a:noAutofit/>
          </a:bodyPr>
          <a:lstStyle>
            <a:defPPr algn="l">
              <a:defRPr sz="1587" b="0">
                <a:solidFill>
                  <a:srgbClr val="1F497D"/>
                </a:solidFill>
                <a:latin typeface="Arial"/>
                <a:ea typeface="Arial"/>
                <a:cs typeface="Arial"/>
              </a:defRPr>
            </a:defPPr>
          </a:lstStyle>
          <a:p>
            <a:pPr algn="l">
              <a:defRPr sz="1587" b="0">
                <a:solidFill>
                  <a:srgbClr val="1F497D"/>
                </a:solidFill>
                <a:latin typeface="Arial"/>
                <a:ea typeface="Arial"/>
                <a:cs typeface="Arial"/>
              </a:defRPr>
            </a:pPr>
            <a:r>
              <a:rPr sz="1587" b="0">
                <a:solidFill>
                  <a:srgbClr val="1F497D"/>
                </a:solidFill>
                <a:latin typeface="Arial"/>
                <a:ea typeface="Arial"/>
                <a:cs typeface="Arial"/>
                <a:hlinkClick r:id="rIdTraceSetu8"/>
              </a:rPr>
              <a:t>github.com/notvinayaks/TraceSetu</a:t>
            </a:r>
          </a:p>
        </p:txBody>
      </p:sp>
      <p:sp>
        <p:nvSpPr>
          <p:cNvPr id="17427" name="tsf_128">
            <a:extLst>
              <a:ext uri="{FF2B5EF4-FFF2-40B4-BE49-F238E27FC236}">
                <a16:creationId xmlns:a16="http://schemas.microsoft.com/office/drawing/2014/main" id="{2945277D-34CC-4D92-AF2D-3CFBE76CE7B1}"/>
              </a:ext>
            </a:extLst>
          </p:cNvPr>
          <p:cNvSpPr>
            <a:spLocks noGrp="1"/>
          </p:cNvSpPr>
          <p:nvPr/>
        </p:nvSpPr>
        <p:spPr>
          <a:xfrm>
            <a:off x="7181850" y="4381500"/>
            <a:ext cx="4572000" cy="257175"/>
          </a:xfrm>
          <a:prstGeom prst="rect">
            <a:avLst/>
          </a:prstGeom>
          <a:noFill/>
          <a:ln w="10478">
            <a:noFill/>
          </a:ln>
        </p:spPr>
        <p:txBody>
          <a:bodyPr wrap="square" lIns="0" tIns="0" rIns="0" bIns="0" anchor="t">
            <a:noAutofit/>
          </a:bodyPr>
          <a:lstStyle>
            <a:defPPr algn="l">
              <a:defRPr sz="1449" b="0">
                <a:solidFill>
                  <a:srgbClr val="536170"/>
                </a:solidFill>
                <a:latin typeface="Arial"/>
                <a:ea typeface="Arial"/>
                <a:cs typeface="Arial"/>
              </a:defRPr>
            </a:defPPr>
          </a:lstStyle>
          <a:p>
            <a:pPr algn="l">
              <a:defRPr sz="1449" b="0">
                <a:solidFill>
                  <a:srgbClr val="536170"/>
                </a:solidFill>
                <a:latin typeface="Arial"/>
                <a:ea typeface="Arial"/>
                <a:cs typeface="Arial"/>
              </a:defRPr>
            </a:pPr>
            <a:r>
              <a:rPr sz="1449" b="0">
                <a:solidFill>
                  <a:srgbClr val="536170"/>
                </a:solidFill>
                <a:latin typeface="Arial"/>
                <a:ea typeface="Arial"/>
                <a:cs typeface="Arial"/>
              </a:rPr>
              <a:t>Complete work: product/live-foundation</a:t>
            </a:r>
          </a:p>
        </p:txBody>
      </p:sp>
      <p:sp>
        <p:nvSpPr>
          <p:cNvPr id="17428" name="tsf_129">
            <a:extLst>
              <a:ext uri="{FF2B5EF4-FFF2-40B4-BE49-F238E27FC236}">
                <a16:creationId xmlns:a16="http://schemas.microsoft.com/office/drawing/2014/main" id="{94E97469-6593-483E-97D2-2CEDAD71F7C8}"/>
              </a:ext>
            </a:extLst>
          </p:cNvPr>
          <p:cNvSpPr>
            <a:spLocks noGrp="1"/>
          </p:cNvSpPr>
          <p:nvPr/>
        </p:nvSpPr>
        <p:spPr>
          <a:xfrm>
            <a:off x="7181850" y="4829175"/>
            <a:ext cx="4572000" cy="295275"/>
          </a:xfrm>
          <a:prstGeom prst="rect">
            <a:avLst/>
          </a:prstGeom>
          <a:noFill/>
          <a:ln w="10478">
            <a:noFill/>
          </a:ln>
        </p:spPr>
        <p:txBody>
          <a:bodyPr wrap="square" lIns="0" tIns="0" rIns="0" bIns="0" anchor="t">
            <a:noAutofit/>
          </a:bodyPr>
          <a:lstStyle>
            <a:defPPr algn="l">
              <a:defRPr sz="1725" b="1">
                <a:solidFill>
                  <a:srgbClr val="1F497D"/>
                </a:solidFill>
                <a:latin typeface="Arial"/>
                <a:ea typeface="Arial"/>
                <a:cs typeface="Arial"/>
              </a:defRPr>
            </a:defPPr>
          </a:lstStyle>
          <a:p>
            <a:pPr algn="l">
              <a:defRPr sz="1725" b="1">
                <a:solidFill>
                  <a:srgbClr val="1F497D"/>
                </a:solidFill>
                <a:latin typeface="Arial"/>
                <a:ea typeface="Arial"/>
                <a:cs typeface="Arial"/>
              </a:defRPr>
            </a:pPr>
            <a:r>
              <a:rPr sz="1725" b="1">
                <a:solidFill>
                  <a:srgbClr val="1F497D"/>
                </a:solidFill>
                <a:latin typeface="Arial"/>
                <a:ea typeface="Arial"/>
                <a:cs typeface="Arial"/>
                <a:hlinkClick r:id="rIdTraceSetu9"/>
              </a:rPr>
              <a:t>Watch the prototype walkthrough</a:t>
            </a:r>
          </a:p>
        </p:txBody>
      </p:sp>
      <p:sp>
        <p:nvSpPr>
          <p:cNvPr id="17429" name="tsf_130">
            <a:extLst>
              <a:ext uri="{FF2B5EF4-FFF2-40B4-BE49-F238E27FC236}">
                <a16:creationId xmlns:a16="http://schemas.microsoft.com/office/drawing/2014/main" id="{157FCDF4-853A-4C02-A799-B0EC2C134B7F}"/>
              </a:ext>
            </a:extLst>
          </p:cNvPr>
          <p:cNvSpPr>
            <a:spLocks noGrp="1"/>
          </p:cNvSpPr>
          <p:nvPr/>
        </p:nvSpPr>
        <p:spPr>
          <a:xfrm>
            <a:off x="7181850" y="5172075"/>
            <a:ext cx="4572000" cy="257175"/>
          </a:xfrm>
          <a:prstGeom prst="rect">
            <a:avLst/>
          </a:prstGeom>
          <a:noFill/>
          <a:ln w="10478">
            <a:noFill/>
          </a:ln>
        </p:spPr>
        <p:txBody>
          <a:bodyPr wrap="square" lIns="0" tIns="0" rIns="0" bIns="0" anchor="t">
            <a:noAutofit/>
          </a:bodyPr>
          <a:lstStyle>
            <a:defPPr algn="l">
              <a:defRPr sz="1449" b="0">
                <a:solidFill>
                  <a:srgbClr val="1F497D"/>
                </a:solidFill>
                <a:latin typeface="Arial"/>
                <a:ea typeface="Arial"/>
                <a:cs typeface="Arial"/>
              </a:defRPr>
            </a:defPPr>
          </a:lstStyle>
          <a:p>
            <a:pPr algn="l">
              <a:defRPr sz="1449" b="0">
                <a:solidFill>
                  <a:srgbClr val="1F497D"/>
                </a:solidFill>
                <a:latin typeface="Arial"/>
                <a:ea typeface="Arial"/>
                <a:cs typeface="Arial"/>
              </a:defRPr>
            </a:pPr>
            <a:r>
              <a:rPr sz="1449" b="0">
                <a:solidFill>
                  <a:srgbClr val="1F497D"/>
                </a:solidFill>
                <a:latin typeface="Arial"/>
                <a:ea typeface="Arial"/>
                <a:cs typeface="Arial"/>
                <a:hlinkClick r:id="rIdTraceSetu10"/>
              </a:rPr>
              <a:t>youtube.com/watch?v=V_qB6dL934w</a:t>
            </a:r>
          </a:p>
        </p:txBody>
      </p:sp>
      <p:sp>
        <p:nvSpPr>
          <p:cNvPr id="17430" name="tsf_131">
            <a:extLst>
              <a:ext uri="{FF2B5EF4-FFF2-40B4-BE49-F238E27FC236}">
                <a16:creationId xmlns:a16="http://schemas.microsoft.com/office/drawing/2014/main" id="{6E819255-C193-4E3B-9CCC-031B73370673}"/>
              </a:ext>
            </a:extLst>
          </p:cNvPr>
          <p:cNvSpPr>
            <a:spLocks noGrp="1"/>
          </p:cNvSpPr>
          <p:nvPr/>
        </p:nvSpPr>
        <p:spPr>
          <a:xfrm>
            <a:off x="7181850" y="5524500"/>
            <a:ext cx="4572000" cy="714375"/>
          </a:xfrm>
          <a:prstGeom prst="rect">
            <a:avLst/>
          </a:prstGeom>
          <a:noFill/>
          <a:ln w="10478">
            <a:noFill/>
          </a:ln>
        </p:spPr>
        <p:txBody>
          <a:bodyPr wrap="square" lIns="0" tIns="0" rIns="0" bIns="0" anchor="t">
            <a:noAutofit/>
          </a:bodyPr>
          <a:lstStyle>
            <a:defPPr algn="l">
              <a:defRPr sz="1449" b="0">
                <a:solidFill>
                  <a:srgbClr val="536170"/>
                </a:solidFill>
                <a:latin typeface="Arial"/>
                <a:ea typeface="Arial"/>
                <a:cs typeface="Arial"/>
              </a:defRPr>
            </a:defPPr>
          </a:lstStyle>
          <a:p>
            <a:pPr algn="l">
              <a:defRPr sz="1449" b="0">
                <a:solidFill>
                  <a:srgbClr val="536170"/>
                </a:solidFill>
                <a:latin typeface="Arial"/>
                <a:ea typeface="Arial"/>
                <a:cs typeface="Arial"/>
              </a:defRPr>
            </a:pPr>
            <a:r>
              <a:rPr sz="1449" b="0">
                <a:solidFill>
                  <a:srgbClr val="536170"/>
                </a:solidFill>
                <a:latin typeface="Arial"/>
                <a:ea typeface="Arial"/>
                <a:cs typeface="Arial"/>
              </a:rPr>
              <a:t>Screenshot: fictional training case in the real app.</a:t>
            </a:r>
          </a:p>
          <a:p>
            <a:pPr algn="l">
              <a:defRPr sz="1449" b="0">
                <a:solidFill>
                  <a:srgbClr val="536170"/>
                </a:solidFill>
                <a:latin typeface="Arial"/>
                <a:ea typeface="Arial"/>
                <a:cs typeface="Arial"/>
              </a:defRPr>
            </a:pPr>
            <a:r>
              <a:rPr sz="1449" b="0">
                <a:solidFill>
                  <a:srgbClr val="536170"/>
                </a:solidFill>
                <a:latin typeface="Arial"/>
                <a:ea typeface="Arial"/>
                <a:cs typeface="Arial"/>
              </a:rPr>
              <a:t>Public Bitcoin testing is reported on slide 4.</a:t>
            </a:r>
          </a:p>
          <a:p>
            <a:pPr algn="l">
              <a:defRPr sz="1449" b="0">
                <a:solidFill>
                  <a:srgbClr val="536170"/>
                </a:solidFill>
                <a:latin typeface="Arial"/>
                <a:ea typeface="Arial"/>
                <a:cs typeface="Arial"/>
              </a:defRPr>
            </a:pPr>
            <a:r>
              <a:rPr sz="1449" b="0">
                <a:solidFill>
                  <a:srgbClr val="536170"/>
                </a:solidFill>
                <a:latin typeface="Arial"/>
                <a:ea typeface="Arial"/>
                <a:cs typeface="Arial"/>
              </a:rPr>
              <a:t>The video demonstrates the existing prototype.</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