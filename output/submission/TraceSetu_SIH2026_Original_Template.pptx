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TraceSetu is an investigation workspace for an unknown wallet. First-custody stopping identifies the first supported service per chronological path, with explicit evidence gaps. It does not follow unrelated exchange withdrawals as though they belonged to the same customer. The nearestness certificate is bounded by the acquired graph. Source-family challenges preserve earlier analysis. The planner prioritises nearer unresolved branches and enforces a selected request cap. Signed service feedback requires independent review before label promotion. Categorical evidence grades describe the available support and are not calibrated probability percentages. Risk remains separate from ownership attribution. Graphs, multi-chain coverage, case management and reports alone are not claimed as novel. No world-first or comparative superiority claim is established. Official SAHYOG is not connected, request exports remain NOT_SENT and no asset is frozen.</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Actual stack: React, TypeScript, Vite, Cytoscape.js, Python, FastAPI, Uvicorn, Pydantic, HTTPX, SQLAlchemy, SQLite WAL, a local worker, local content-addressed evidence files, ReportLab and cryptography/Ed25519. Graph traversal is deterministic, with exact integer amounts, chronological order and Bitcoin outpoint continuity. Esplora is the default Bitcoin adapter. BlockCypher is an explicitly selected alternative and powered the recorded live case. Other adapters use Etherscan V2, TronGrid and Solana RPC. Six adapters are implemented and parser-tested, but broad live validation is incomplete. CCTP V2 native USDC Ethereum–Polygon verification has synthetic tests only, with live proof validation pending. No deployed Neo4j, Temporal, production PostgreSQL, LLM attribution or official SAHYOG connection is implied.</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116 tests passed on 25 September 2026. Evidence: tmp/tracesetu-backend-junit.xml and the project handover. This is a software correctness count, not an accuracy benchmark. Current custody workflows and cross-chain verification use labelled synthetic fixtures. The public WannaCry study proves bounded live acquisition, follow-up execution and signed bundle replay, but found zero supported VASP candidates. Missing labels remain unknown. Production use needs independent ownership evaluation, licensed or verified labels, approved service recipients, an authorised SAHYOG API contract, and agency security, load and recovery testing. No production readiness, guaranteed recovery, MHA endorsement or ability to freeze funds is claimed.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The public historical case begins with 13AM4VW2dhxYgXeQepoHkHSQuy6NgaEb94, documented in the CERT-In alert on page 4. Investigation scope: 3 August 2017 UTC, one hop. The app fetched historical transactions from a live public provider. Two transactions and three outputs were observed. No supported receiving VASP was found. This is a public study, not an active police case. It does not identify a beneficial owner, establish a recoverable balance or prove downstream criminal ownership. Source: https://www.csk.gov.in/documents/WannacryWannaCryptRansomware_CRITICAL_ALERT_CERT-In.pdf . Intended benefits require field measurement of coverage, correct attribution, abstention, provider cost and investigator time. Unknown ownership does not mean low risk.</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Primary references and current implementation evidence. CERT-In WannaCry alert: https://www.csk.gov.in/documents/WannacryWannaCryptRansomware_CRITICAL_ALERT_CERT-In.pdf . BlockCypher: https://www.blockcypher.com/dev/bitcoin/#address-full-endpoint . Esplora: https://github.com/Blockstream/esplora/blob/master/API.md . Etherscan V2: https://docs.etherscan.io/introduction . TronGrid: https://developers.tron.network/reference/background . Solana RPC: https://solana.com/docs/rpc . Circle CCTP: https://developers.circle.com/cctp . Current verification: output/submission/live-case/bundle-verification.json and tmp/tracesetu-backend-junit.xml. The complete project handover retains the full research register, exact requirements and future architecture. Prototype and repository fields are intentionally blank because public URLs have not been supplied. Localhost is not a public prototype link. Source labels in this slide are clickable. Circle is a protocol reference, not a claim that the real Bitcoin case crossed chains.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TraceSetu combines English trace with Sanskrit setu, meaning bridge. Submitted for the MHA / I4C CIS Division cryptocurrency attribution problem, as supplied by the user. PS ID 26182, Team ID 170835 and team ANANTHA come from the user's earlier deck. These identifiers were not independently verified against the SIH portal. Category Software. Theme Blockchain &amp; Cybersecurity.</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TraceSetuNotes"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TraceSetuRef0" Type="http://schemas.openxmlformats.org/officeDocument/2006/relationships/hyperlink" Target="https://www.csk.gov.in/documents/WannacryWannaCryptRansomware_CRITICAL_ALERT_CERT-In.pdf" TargetMode="External"/><Relationship Id="rIdTraceSetuRef1" Type="http://schemas.openxmlformats.org/officeDocument/2006/relationships/hyperlink" Target="https://www.blockcypher.com/dev/bitcoin/#address-full-endpoint" TargetMode="External"/><Relationship Id="rIdTraceSetuRef2" Type="http://schemas.openxmlformats.org/officeDocument/2006/relationships/hyperlink" Target="https://docs.etherscan.io/introduction" TargetMode="External"/><Relationship Id="rIdTraceSetuRef3" Type="http://schemas.openxmlformats.org/officeDocument/2006/relationships/hyperlink" Target="https://developers.circle.com/cct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TRACESETU</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marL="285750" indent="-285750" algn="just">
              <a:lnSpc>
                <a:spcPct val="100000"/>
              </a:lnSpc>
              <a:buFont typeface="Arial" panose="020B0604020202020204" pitchFamily="34" charset="0"/>
              <a:buChar char="•"/>
              <a:spcAft>
                <a:spcPts val="600"/>
              </a:spcAft>
            </a:pPr>
            <a:r>
              <a:rPr lang="en-US" sz="2400" b="1" dirty="0">
                <a:latin typeface="Arial" panose="020B0604020202020204" pitchFamily="34" charset="0"/>
                <a:cs typeface="Arial" panose="020B0604020202020204" pitchFamily="34" charset="0"/>
              </a:rPr>
              <a:t>Problem Statement ID – 26182</a:t>
            </a:r>
          </a:p>
          <a:p>
            <a:pPr marL="285750" indent="-285750" algn="just">
              <a:lnSpc>
                <a:spcPct val="100000"/>
              </a:lnSpc>
              <a:buFont typeface="Arial" panose="020B0604020202020204" pitchFamily="34" charset="0"/>
              <a:buChar char="•"/>
              <a:spcAft>
                <a:spcPts val="600"/>
              </a:spcAft>
            </a:pPr>
            <a:r>
              <a:rPr lang="en-US" sz="2400" b="1" dirty="0">
                <a:latin typeface="Arial" panose="020B0604020202020204" pitchFamily="34" charset="0"/>
                <a:cs typeface="Arial" panose="020B0604020202020204" pitchFamily="34" charset="0"/>
              </a:rPr>
              <a:t>Problem Statement Title – Automated Attribution of Unknown Cryptocurrency Wallets to Nearest Virtual Asset Service Providers (VASPs) through Blockchain Intelligence APIs</a:t>
            </a:r>
          </a:p>
          <a:p>
            <a:pPr marL="285750" indent="-285750" algn="just">
              <a:lnSpc>
                <a:spcPct val="100000"/>
              </a:lnSpc>
              <a:buFont typeface="Arial" panose="020B0604020202020204" pitchFamily="34" charset="0"/>
              <a:buChar char="•"/>
              <a:spcAft>
                <a:spcPts val="600"/>
              </a:spcAft>
            </a:pPr>
            <a:r>
              <a:rPr lang="en-US" sz="2400" b="1" dirty="0">
                <a:latin typeface="Arial" panose="020B0604020202020204" pitchFamily="34" charset="0"/>
                <a:cs typeface="Arial" panose="020B0604020202020204" pitchFamily="34" charset="0"/>
              </a:rPr>
              <a:t>Theme – Blockchain &amp; Cybersecurity</a:t>
            </a:r>
          </a:p>
          <a:p>
            <a:pPr marL="285750" indent="-285750" algn="just">
              <a:lnSpc>
                <a:spcPct val="100000"/>
              </a:lnSpc>
              <a:buFont typeface="Arial" panose="020B0604020202020204" pitchFamily="34" charset="0"/>
              <a:buChar char="•"/>
              <a:spcAft>
                <a:spcPts val="600"/>
              </a:spcAft>
            </a:pPr>
            <a:r>
              <a:rPr lang="en-US" sz="2400" b="1" dirty="0">
                <a:latin typeface="Arial" panose="020B0604020202020204" pitchFamily="34" charset="0"/>
                <a:cs typeface="Arial" panose="020B0604020202020204" pitchFamily="34" charset="0"/>
              </a:rPr>
              <a:t>PS Category – Software</a:t>
            </a:r>
          </a:p>
          <a:p>
            <a:pPr marL="285750" indent="-285750" algn="just">
              <a:lnSpc>
                <a:spcPct val="100000"/>
              </a:lnSpc>
              <a:buFont typeface="Arial" panose="020B0604020202020204" pitchFamily="34" charset="0"/>
              <a:buChar char="•"/>
              <a:spcAft>
                <a:spcPts val="600"/>
              </a:spcAft>
            </a:pPr>
            <a:r>
              <a:rPr lang="en-US" sz="2400" b="1" dirty="0">
                <a:latin typeface="Arial" panose="020B0604020202020204" pitchFamily="34" charset="0"/>
                <a:cs typeface="Arial" panose="020B0604020202020204" pitchFamily="34" charset="0"/>
              </a:rPr>
              <a:t>Team ID – 170835</a:t>
            </a:r>
          </a:p>
          <a:p>
            <a:pPr marL="285750" indent="-285750" algn="just">
              <a:lnSpc>
                <a:spcPct val="100000"/>
              </a:lnSpc>
              <a:buFont typeface="Arial" panose="020B0604020202020204" pitchFamily="34" charset="0"/>
              <a:buChar char="•"/>
              <a:spcAft>
                <a:spcPts val="600"/>
              </a:spcAft>
            </a:pPr>
            <a:r>
              <a:rPr lang="en-US" sz="2400" b="1" dirty="0">
                <a:latin typeface="Arial" panose="020B0604020202020204" pitchFamily="34" charset="0"/>
                <a:cs typeface="Arial" panose="020B0604020202020204" pitchFamily="34" charset="0"/>
              </a:rPr>
              <a:t>Team Name – ANANTHA</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TRACESETU</a:t>
            </a:r>
          </a:p>
        </p:txBody>
      </p:sp>
      <p:sp>
        <p:nvSpPr>
          <p:cNvPr id="15362" name="TextBox 8"/>
          <p:cNvSpPr txBox="1">
            <a:spLocks noChangeArrowheads="1"/>
          </p:cNvSpPr>
          <p:nvPr/>
        </p:nvSpPr>
        <p:spPr bwMode="auto">
          <a:xfrm>
            <a:off x="-1" y="2064921"/>
            <a:ext cx="12191999" cy="2492990"/>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3200" b="1" u="sng" dirty="0">
                <a:solidFill>
                  <a:schemeClr val="tx2"/>
                </a:solidFill>
                <a:latin typeface="Arial" pitchFamily="34" charset="0"/>
                <a:cs typeface="Arial" pitchFamily="34" charset="0"/>
              </a:rPr>
              <a:t>Proposed Solution (Describe your Idea/Solution/Prototype)</a:t>
            </a:r>
            <a:endParaRPr lang="en-US" sz="3200" u="sng" dirty="0">
              <a:solidFill>
                <a:schemeClr val="tx2"/>
              </a:solidFill>
              <a:latin typeface="Arial" pitchFamily="34" charset="0"/>
              <a:cs typeface="Arial" pitchFamily="34" charset="0"/>
            </a:endParaRPr>
          </a:p>
          <a:p>
            <a:pPr marL="342900" indent="-342900" algn="just">
              <a:buFont typeface="Arial" panose="020B0604020202020204" pitchFamily="34" charset="0"/>
              <a:buChar char="•"/>
            </a:pPr>
            <a:r>
              <a:rPr lang="en-US" sz="2800" dirty="0">
                <a:latin typeface="Arial" pitchFamily="34" charset="0"/>
                <a:cs typeface="Arial" pitchFamily="34" charset="0"/>
              </a:rPr>
              <a:t>Solution: trace a reported wallet to the first supported exchange or custodian on each path, with a graph and evidence.</a:t>
            </a:r>
          </a:p>
          <a:p>
            <a:pPr marL="342900" indent="-342900" algn="just">
              <a:buFont typeface="Arial" panose="020B0604020202020204" pitchFamily="34" charset="0"/>
              <a:buChar char="•"/>
            </a:pPr>
            <a:r>
              <a:rPr lang="en-US" sz="2800" dirty="0">
                <a:latin typeface="Arial" pitchFamily="34" charset="0"/>
                <a:cs typeface="Arial" pitchFamily="34" charset="0"/>
              </a:rPr>
              <a:t>Problem addressed: help officers locate the receiving service and prepare an independently reviewed request for a verified recipient.</a:t>
            </a:r>
          </a:p>
          <a:p>
            <a:pPr marL="342900" indent="-342900" algn="just">
              <a:buFont typeface="Arial" panose="020B0604020202020204" pitchFamily="34" charset="0"/>
              <a:buChar char="•"/>
            </a:pPr>
            <a:r>
              <a:rPr lang="en-US" sz="2800" dirty="0">
                <a:latin typeface="Arial" pitchFamily="34" charset="0"/>
                <a:cs typeface="Arial" pitchFamily="34" charset="0"/>
              </a:rPr>
              <a:t>USP: a nearestness certificate shows gaps that could change the answer. Challenge a source and run the next query within a hard budget.</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09600" y="2533653"/>
            <a:ext cx="9385300" cy="1815882"/>
          </a:xfrm>
          <a:prstGeom prst="rect">
            <a:avLst/>
          </a:prstGeom>
          <a:noFill/>
          <a:ln w="9525">
            <a:noFill/>
            <a:miter lim="800000"/>
            <a:headEnd/>
            <a:tailEnd/>
          </a:ln>
        </p:spPr>
        <p:txBody>
          <a:bodyPr wrap="square">
            <a:sp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Technologies: React / TypeScript, Cytoscape.js, Python / FastAPI, SQLAlchemy, SQLite WAL and ReportLab.</a:t>
            </a:r>
          </a:p>
          <a:p>
            <a:pPr marL="342900" indent="-342900" algn="just">
              <a:buFont typeface="Arial" panose="020B0604020202020204" pitchFamily="34" charset="0"/>
              <a:buChar char="•"/>
            </a:pPr>
            <a:r>
              <a:rPr lang="en-US" sz="2800" dirty="0">
                <a:latin typeface="Arial" pitchFamily="34" charset="0"/>
                <a:cs typeface="Arial" pitchFamily="34" charset="0"/>
              </a:rPr>
              <a:t>Methodology: fetch and hash data, trace the first custodian per path, inspect gaps, review requests and verify signed exports.</a:t>
            </a:r>
          </a:p>
          <a:p>
            <a:pPr marL="342900" indent="-342900" algn="just">
              <a:buFont typeface="Arial" panose="020B0604020202020204" pitchFamily="34" charset="0"/>
              <a:buChar char="•"/>
            </a:pPr>
            <a:r>
              <a:rPr lang="en-US" sz="2800" dirty="0">
                <a:latin typeface="Arial" pitchFamily="34" charset="0"/>
                <a:cs typeface="Arial" pitchFamily="34" charset="0"/>
              </a:rPr>
              <a:t>Adapters: Bitcoin, Ethereum, Tron, BNB Chain, Solana and Polygon. Broader live validation remains pending.</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Feasibility: working local MVP, 116 backend tests passed and real Bitcoin acquisition with verified evidence replay.</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Challenges: incomplete history, uncertain service labels, API quotas and unvalidated broad multi-chain coverage.</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Mitigation: preserve gaps, challenge sources, cap calls and require independent review. SAHYOG access remains pending.</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Target users: LEA investigators and reviewers. Show the first supported receiving service, its evidence and the next action.</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Expected benefits: less manual tracing, fewer misdirected requests and clearer case records. Field evaluation remains pending.</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Live WannaCry case: two Bitcoin transactions, three outputs and no supported receiving VASP.</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2795263"/>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hlinkClick r:id="rIdTraceSetuRef0"/>
              </a:rPr>
              <a:t>CERT-In: WannaCry alert, page 4</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hlinkClick r:id="rIdTraceSetuRef1"/>
              </a:rPr>
              <a:t>BlockCypher and Esplora: Bitcoin APIs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hlinkClick r:id="rIdTraceSetuRef2"/>
              </a:rPr>
              <a:t>Etherscan V2, TronGrid and Solana RPC</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hlinkClick r:id="rIdTraceSetuRef3"/>
              </a:rPr>
              <a:t>Circle CCTP: cross-chain verification reference</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Project evidence: 116 tests and bundle replay</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Prototype link: ____________________</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Repository link: ____________________</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TraceSetu SIH 2026 Idea Submission</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