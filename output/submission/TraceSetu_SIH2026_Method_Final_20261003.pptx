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traceNotes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traceNotes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The central distinction is transfer evidence versus identity evidence. R, D, G, H and service E are fictional short names for the existing synthetic research fixture. R pays D, and D forwards tokens to H. H is externally asserted to be E’s hot/collection wallet and G to be E’s gas-feeding account. Such assertions require a chain, address, entity, role, source pointer, validity interval and retrieval time. Names enter from permitted public assertions, service-published records or independently reviewed service confirmations. A reserve-wallet publication proves neither a deposit role nor historical control by itself. No graph method can produce a justified company name from an entirely unlabelled component alone. GraphSense documents public source-linked tags [4], but importing and reviewing these as a live registry is proposed, not already wired into the current acquisition pipeline. Its WalletExplorer pack provides historic exchange tags, whose modification date is not an ownership-validity interval. Public/free transaction APIs do not imply free ownership metadata. The current optional Etherscan metadata connector calls getaddresstag; its entitlement is Pro Plus or another eligible metadata plan and is not available under our free-only assumption. It correctly treats a current nametag as a hypothesis with unestablished role. Source: https://etherscan.io/apis . The product returns the first evidenced custody boundary per branch, including the address and stated role. The current app performs sourced-label tracing. The repeated deposit/fee/sweep method on the next slide remains separate reference code. Sources: https://www.ifca.ai/fc20/preproceedings/31.pdf ; https://github.com/graphsense/graphsense-tagpacks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The exact implemented research rule is in research/method-review-20260929/reference/method.py::detect_candidate. It is a deterministic motif matcher, not a trained AI ownership classifier. Data are synthetic integer units of a plain token and a separate native asset. The fixture has cycles at ordered positions 10/11/12, 20/21/22, 30/31/32. Token receipts are 1000, 2000, 3000. Each is followed by native funding of 100 units from G, then a direct token transfer of the exact received amount from D to H. D is the transaction sender and gas payer. Each receipt proves a 10-native-unit fee. Starting balances are zero. Total tokens: 6000 in, 6000 out, closing zero. Total native: 300 in, 30 spent in fees, closing 270. These are different assets; never add their units together. All successful relevant activity, complete window attestation, boundary balances and receipt references are supplied inputs. The code does not independently prove completeness. It rejects relayed transfers, fee-on-transfer or rebasing tokens, residual native outflows, unexplained activity, conflicting/expired identity anchors and history outside the permitted cutoff. G and H need role-specific sources for the same service at each event date. Three cycles and minimum 100 units are uncalibrated toy parameters, not published universal thresholds. The detector is retrospective at cutoff 40 and cannot claim it identified D on the first deposit. Its output is heuristic_candidate, ownership_proven=false, independent_confirmation_required=true. Matching patterns never creates trusted seed labels. A real customer can imitate every visible condition. The first-custody reference uses bounded chronological breadth-first search over states (address, arrival time/order, asset, path); it tests active role evidence at each arrival, expands outgoing successful events in increasing ledger order, and stops at a supported role, candidate assessment or unresolved assessed boundary. Fewest hops applies only in scope. Global ownership/nearestness and same-unit provenance are not established. The app’s existing engine uses a deque and outgoing adjacency lists; the research reference deliberately scans small fixtures and is not a national-scale index. Bitcoin follows spent outpoints, with input/output allocation separate. The motif cannot be applied unchanged to Bitcoin, Tron’s resource model or Solana account semantics. Sources: https://www.ifca.ai/fc20/preproceedings/31.pdf ; https://onlinelibrary.wiley.com/doi/10.1002/nem.2325 ; https://www.vldb.org/pvldb/vol7/p721-wu.pdf</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The 36-hour sequence is a proposed scoped sprint using the already-built foundation, not a statement that the entire platform or six-chain attribution can be developed and independently validated from scratch in 36 hours. A bounded live Bitcoin case may honestly end with no VASP. The archived public check retrieved two transactions and three outputs for a WannaCry address through BlockCypher; matching the same provider and replaying evidence validate parsing/integrity, not independent wallet ownership. The 64 synthetic tests passed in the separate reference module. They include misleading third-party funding, conflicting labels, wrong order, altered balances, stale assessments and a perfect customer imitation. The six read-only parsers cover Bitcoin, Ethereum, BNB Chain, Polygon, Tron and Solana, subject to provider access. Bitcoin clustering using common-input/change/peel methods is a future guarded extension; CoinJoin/PayJoin can invalidate shared-control assumptions. Cross-chain continuation requires protocol/service evidence; current CCTP V2 ETH/Polygon USDC verification is training-proof only. Unsupported mixers or bridges remain gaps. Ministry scaling requires chain/asset/address/time indexes, incremental ingestion, shared provider quotas, agency fairness, SSO/MFA, backup/restore and independent load/fault tests. Existing foundation includes PostgreSQL, separate workers, job claims/heartbeats, agency/case permissions and signed export. Shared infrastructure does not cure missing label coverage. No national throughput or official SAHYOG access is claimed. SQLite is for local installation. FastAPI provides API validation; React/TypeScript the review UI; Cytoscape graph display; Python the algorithm; SHA-256 and Ed25519 protect evidence integrity, not factual truth. Sources: https://www.postgresql.org/docs/current/sql-select.html ; https://fastapi.tiangolo.com/deployment/concepts/ ; repository docs/OPERATIONS.md and docs/PRODUCT_FOUNDATION_VERIFICATION.md.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The synthetic comparison is reproducible in the existing reference module. Label-only reaches H at two transfers and cannot prove that H is the nearest actual deposit receiver. With a complete pattern assessment, candidate_frontier returns D at one transfer as provisional custody. Remove the role assertion for G and rerun the assessment: D becomes unresolved. The correct response is to request missing identity/coverage evidence, not silently skip D and call H nearest actual custody. The current prototype independently implements source-family exclusion/recompute, a bounded nearestness certificate, a budgeted next-query planner and reviewed signed service feedback. The new motif has not been integrated into that UI. The contribution to investigate is the combination: retain the closer unresolved candidate, choose evidence that can change the result and preserve a reproducible case record. These are product/design hypotheses, not a world-first claim; commercial tools already do tracing, labels and case management. Evaluate the complete workflow against label-only tracing and manual explorer work on the same budget. Use independent service-confirmed deposit roles, split by time/service, keep negative look-alikes, and measure precision of named recipient and deposit role with answer coverage/abstention, API cost and reviewer time. A source used to make predictions must not also serve as independent truth. The screenshot is the actual TraceSetu training workspace captured 26 September; all addresses, amounts and names in it are fictional. It demonstrates the existing UI, not a live deposit-detection result. Requests require an authenticated case member, verified service recipient, purpose and independent payload-bound review. Current exports remain NOT_SENT; real transmission depends on official access and explicit authorisation. Sources: research/reference/results.json and https://www.usenix.org/system/files/usenixsecurity25-lubbertsen.pdf</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Research references and their exact roles: [1] Friedhelm Victor, Address Clustering Heuristics for Ethereum, FC 2020, section 5.1. It identifies forwarding deposit addresses relative to known exchange seeds, and separately clusters potential customer wallets sharing a deposit address. Our system must not merge all paying customers into the exchange. https://www.ifca.ai/fc20/preproceedings/31.pdf . [2] Alexander Brechlin, Jochen Schäfer and Frederik Armknecht, Buy Crypto, Sell Privacy: An Extended Investigation of the Cryptocurrency Exchange Evonax, 2025, section 5.1. The service-specific pattern includes token-fee funding and collection; the authors used service-side trade records to distinguish real deposit roles. Our rule is a narrower adaptation, not an exact replication, and does not query historical customer trade interfaces. https://onlinelibrary.wiley.com/doi/10.1002/nem.2325 . [3] Huanhuan Wu et al., Path Problems in Temporal Graphs, PVLDB 2014. Published temporal-path definitions motivate chronological reachability; our bounded BFS is an application adaptation. https://www.vldb.org/pvldb/vol7/p721-wu.pdf . [4] GraphSense Public TagPacks, source-linked public attribution tags and ActorPacks. A proposed source, not a new integrated connector in this release. https://github.com/graphsense/graphsense-tagpacks . [5] Lubbertsen et al., Ghost Clusters, USENIX Security 2025. Independent service records reveal why entity-level labels, coverage and deposit roles need separate validation. https://www.usenix.org/system/files/usenixsecurity25-lubbertsen.pdf . [6] Kappos et al., How to Peel a Million, USENIX Security 2022. Guarded future Bitcoin clustering extension. https://www.usenix.org/system/files/sec22-kappos.pdf . Public repository https://github.com/notvinayaks/TraceSetu/tree/product/live-foundation . Team-provided video https://www.youtube.com/watch?v=V_qB6dL934w shows the existing prototype, not the new research rule integrated into live acquisition. No field accuracy or measured investigation time reduction is asserted.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traceNotes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TraceSetu is the ANANTHA submission for the Ministry of Home Affairs / I4C VASP attribution problem. PS26182 and team ID 170835 are metadata supplied in the team’s prior presentation, not independently verified registration records. Exact problem title retained. The system identifies a service to approach with an authorised request; it cannot derive customer KYC from the public ledger or itself compel disclosure or freeze funds.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TraceNotes" Type="http://schemas.openxmlformats.org/officeDocument/2006/relationships/notesSlide" Target="../notesSlides/traceNotes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Type="http://schemas.openxmlformats.org/officeDocument/2006/relationships/image" Target="../media/tracesetu-screenshot-5-1.png" Id="rIdTraceSetu1"/></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Type="http://schemas.openxmlformats.org/officeDocument/2006/relationships/hyperlink" Target="https://www.ifca.ai/fc20/preproceedings/31.pdf" TargetMode="External" Id="rIdTraceSetu1"/><Relationship Type="http://schemas.openxmlformats.org/officeDocument/2006/relationships/hyperlink" Target="https://onlinelibrary.wiley.com/doi/10.1002/nem.2325" TargetMode="External" Id="rIdTraceSetu2"/><Relationship Type="http://schemas.openxmlformats.org/officeDocument/2006/relationships/hyperlink" Target="https://www.vldb.org/pvldb/vol7/p721-wu.pdf" TargetMode="External" Id="rIdTraceSetu3"/><Relationship Type="http://schemas.openxmlformats.org/officeDocument/2006/relationships/hyperlink" Target="https://github.com/graphsense/graphsense-tagpacks" TargetMode="External" Id="rIdTraceSetu4"/><Relationship Type="http://schemas.openxmlformats.org/officeDocument/2006/relationships/hyperlink" Target="https://www.usenix.org/system/files/usenixsecurity25-lubbertsen.pdf" TargetMode="External" Id="rIdTraceSetu5"/><Relationship Type="http://schemas.openxmlformats.org/officeDocument/2006/relationships/hyperlink" Target="https://www.usenix.org/system/files/sec22-kappos.pdf" TargetMode="External" Id="rIdTraceSetu6"/><Relationship Type="http://schemas.openxmlformats.org/officeDocument/2006/relationships/hyperlink" Target="https://github.com/notvinayaks/TraceSetu/tree/product/live-foundation" TargetMode="External" Id="rIdTraceSetu7"/><Relationship Type="http://schemas.openxmlformats.org/officeDocument/2006/relationships/hyperlink" Target="https://github.com/notvinayaks/TraceSetu/tree/product/live-foundation" TargetMode="External" Id="rIdTraceSetu8"/><Relationship Type="http://schemas.openxmlformats.org/officeDocument/2006/relationships/hyperlink" Target="https://www.youtube.com/watch?v=V_qB6dL934w" TargetMode="External" Id="rIdTraceSetu9"/><Relationship Type="http://schemas.openxmlformats.org/officeDocument/2006/relationships/hyperlink" Target="https://www.youtube.com/watch?v=V_qB6dL934w" TargetMode="External" Id="rIdTraceSetu10"/></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dirty="0">
                <a:solidFill>
                  <a:schemeClr val="tx1"/>
                </a:solidFill>
                <a:latin typeface="Times New Roman" panose="02020603050405020304" pitchFamily="18" charset="0"/>
                <a:cs typeface="Times New Roman" panose="02020603050405020304" pitchFamily="18" charset="0"/>
              </a:rPr>
              <a:t/>
            </a:r>
          </a:p>
          <a:p>
            <a:r>
              <a:rPr lang="en-US" b="1" dirty="0">
                <a:solidFill>
                  <a:schemeClr val="tx1"/>
                </a:solidFill>
                <a:latin typeface="Times New Roman" panose="02020603050405020304" pitchFamily="18" charset="0"/>
                <a:cs typeface="Times New Roman" panose="02020603050405020304" pitchFamily="18" charset="0"/>
              </a:rPr>
              <a:t>TRACESETU</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Problem Statement ID – PS26182</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Problem Statement Title – Automated Attribution of Unknown Cryptocurrency Wallets to Nearest Virtual Asset Service Providers (VASPs) through Blockchain Intelligence APIs</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Theme – Blockchain &amp; Cybersecurity</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PS Category – Software</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Team ID – 170835</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Team Name – ANANTHA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p>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TRACESETU</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5" name="tsf_1">
            <a:extLst>
              <a:ext uri="{FF2B5EF4-FFF2-40B4-BE49-F238E27FC236}">
                <a16:creationId xmlns:a16="http://schemas.microsoft.com/office/drawing/2014/main" id="{2F3E3CFB-FDF4-4656-8CD4-C8F8268951A9}"/>
              </a:ext>
            </a:extLst>
          </p:cNvPr>
          <p:cNvSpPr>
            <a:spLocks noGrp="1"/>
          </p:cNvSpPr>
          <p:nvPr/>
        </p:nvSpPr>
        <p:spPr>
          <a:xfrm>
            <a:off x="419100" y="1371600"/>
            <a:ext cx="11325225" cy="400050"/>
          </a:xfrm>
          <a:prstGeom prst="rect">
            <a:avLst/>
          </a:prstGeom>
          <a:noFill/>
          <a:ln w="9525">
            <a:noFill/>
          </a:ln>
        </p:spPr>
        <p:txBody>
          <a:bodyPr wrap="square" lIns="0" tIns="0" rIns="0" bIns="0" anchor="t">
            <a:noAutofit/>
          </a:bodyPr>
          <a:lstStyle>
            <a:defPPr algn="l">
              <a:defRPr sz="2250" b="1">
                <a:solidFill>
                  <a:srgbClr val="1F497D"/>
                </a:solidFill>
                <a:latin typeface="Arial"/>
                <a:ea typeface="Arial"/>
                <a:cs typeface="Arial"/>
              </a:defRPr>
            </a:defPPr>
          </a:lstStyle>
          <a:p>
            <a:pPr algn="l">
              <a:defRPr sz="2250" b="1">
                <a:solidFill>
                  <a:srgbClr val="1F497D"/>
                </a:solidFill>
                <a:latin typeface="Arial"/>
                <a:ea typeface="Arial"/>
                <a:cs typeface="Arial"/>
              </a:defRPr>
            </a:pPr>
            <a:r>
              <a:rPr sz="2250" b="1">
                <a:solidFill>
                  <a:srgbClr val="1F497D"/>
                </a:solidFill>
                <a:latin typeface="Arial"/>
                <a:ea typeface="Arial"/>
                <a:cs typeface="Arial"/>
              </a:rPr>
              <a:t>The missing link is who controls the receiving address</a:t>
            </a:r>
          </a:p>
        </p:txBody>
      </p:sp>
      <p:sp>
        <p:nvSpPr>
          <p:cNvPr id="15366" name="tsf_2">
            <a:extLst>
              <a:ext uri="{FF2B5EF4-FFF2-40B4-BE49-F238E27FC236}">
                <a16:creationId xmlns:a16="http://schemas.microsoft.com/office/drawing/2014/main" id="{FC710B1C-25E2-4267-A5E3-30FE1EE582E4}"/>
              </a:ext>
            </a:extLst>
          </p:cNvPr>
          <p:cNvSpPr>
            <a:spLocks noGrp="1"/>
          </p:cNvSpPr>
          <p:nvPr/>
        </p:nvSpPr>
        <p:spPr>
          <a:xfrm>
            <a:off x="419100" y="1933575"/>
            <a:ext cx="3000375" cy="323850"/>
          </a:xfrm>
          <a:prstGeom prst="rect">
            <a:avLst/>
          </a:prstGeom>
          <a:noFill/>
          <a:ln w="9525">
            <a:noFill/>
          </a:ln>
        </p:spPr>
        <p:txBody>
          <a:bodyPr wrap="square" lIns="0" tIns="0" rIns="0" bIns="0" anchor="t">
            <a:noAutofit/>
          </a:bodyPr>
          <a:lstStyle>
            <a:defPPr algn="l">
              <a:defRPr sz="1800" b="1">
                <a:solidFill>
                  <a:srgbClr val="17212B"/>
                </a:solidFill>
                <a:latin typeface="Arial"/>
                <a:ea typeface="Arial"/>
                <a:cs typeface="Arial"/>
              </a:defRPr>
            </a:defPPr>
          </a:lstStyle>
          <a:p>
            <a:pPr algn="l">
              <a:defRPr sz="1800" b="1">
                <a:solidFill>
                  <a:srgbClr val="17212B"/>
                </a:solidFill>
                <a:latin typeface="Arial"/>
                <a:ea typeface="Arial"/>
                <a:cs typeface="Arial"/>
              </a:defRPr>
            </a:pPr>
            <a:r>
              <a:rPr sz="1800" b="1">
                <a:solidFill>
                  <a:srgbClr val="17212B"/>
                </a:solidFill>
                <a:latin typeface="Arial"/>
                <a:ea typeface="Arial"/>
                <a:cs typeface="Arial"/>
              </a:rPr>
              <a:t>The officer starts here</a:t>
            </a:r>
          </a:p>
        </p:txBody>
      </p:sp>
      <p:sp>
        <p:nvSpPr>
          <p:cNvPr id="15367" name="tsf_3">
            <a:extLst>
              <a:ext uri="{FF2B5EF4-FFF2-40B4-BE49-F238E27FC236}">
                <a16:creationId xmlns:a16="http://schemas.microsoft.com/office/drawing/2014/main" id="{6EB1A7A5-D8B0-4AFD-9C0F-53323EEB0E58}"/>
              </a:ext>
            </a:extLst>
          </p:cNvPr>
          <p:cNvSpPr>
            <a:spLocks noGrp="1"/>
          </p:cNvSpPr>
          <p:nvPr/>
        </p:nvSpPr>
        <p:spPr>
          <a:xfrm>
            <a:off x="419100" y="2324100"/>
            <a:ext cx="2981325" cy="1000125"/>
          </a:xfrm>
          <a:prstGeom prst="rect">
            <a:avLst/>
          </a:prstGeom>
          <a:noFill/>
          <a:ln w="9525">
            <a:noFill/>
          </a:ln>
        </p:spPr>
        <p:txBody>
          <a:bodyPr wrap="square" lIns="0" tIns="0" rIns="0" bIns="0" anchor="t">
            <a:noAutofit/>
          </a:bodyPr>
          <a:lstStyle>
            <a:defPPr algn="l">
              <a:defRPr sz="1650" b="0">
                <a:solidFill>
                  <a:srgbClr val="17212B"/>
                </a:solidFill>
                <a:latin typeface="Arial"/>
                <a:ea typeface="Arial"/>
                <a:cs typeface="Arial"/>
              </a:defRPr>
            </a:defPPr>
          </a:lstStyle>
          <a:p>
            <a:pPr algn="l">
              <a:defRPr sz="1650" b="0">
                <a:solidFill>
                  <a:srgbClr val="17212B"/>
                </a:solidFill>
                <a:latin typeface="Arial"/>
                <a:ea typeface="Arial"/>
                <a:cs typeface="Arial"/>
              </a:defRPr>
            </a:pPr>
            <a:r>
              <a:rPr sz="1650" b="0">
                <a:solidFill>
                  <a:srgbClr val="17212B"/>
                </a:solidFill>
                <a:latin typeface="Arial"/>
                <a:ea typeface="Arial"/>
                <a:cs typeface="Arial"/>
              </a:rPr>
              <a:t>A complaint names a wallet.</a:t>
            </a:r>
          </a:p>
          <a:p>
            <a:pPr algn="l">
              <a:defRPr sz="1650" b="0">
                <a:solidFill>
                  <a:srgbClr val="17212B"/>
                </a:solidFill>
                <a:latin typeface="Arial"/>
                <a:ea typeface="Arial"/>
                <a:cs typeface="Arial"/>
              </a:defRPr>
            </a:pPr>
            <a:r>
              <a:rPr sz="1650" b="0">
                <a:solidFill>
                  <a:srgbClr val="17212B"/>
                </a:solidFill>
                <a:latin typeface="Arial"/>
                <a:ea typeface="Arial"/>
                <a:cs typeface="Arial"/>
              </a:rPr>
              <a:t>The ledger shows its transfers.</a:t>
            </a:r>
          </a:p>
          <a:p>
            <a:pPr algn="l">
              <a:defRPr sz="1650" b="0">
                <a:solidFill>
                  <a:srgbClr val="17212B"/>
                </a:solidFill>
                <a:latin typeface="Arial"/>
                <a:ea typeface="Arial"/>
                <a:cs typeface="Arial"/>
              </a:defRPr>
            </a:pPr>
            <a:r>
              <a:rPr sz="1650" b="0">
                <a:solidFill>
                  <a:srgbClr val="17212B"/>
                </a:solidFill>
                <a:latin typeface="Arial"/>
                <a:ea typeface="Arial"/>
                <a:cs typeface="Arial"/>
              </a:rPr>
              <a:t>Ownership can remain unknown.</a:t>
            </a:r>
          </a:p>
        </p:txBody>
      </p:sp>
      <p:sp>
        <p:nvSpPr>
          <p:cNvPr id="15368" name="tsf_4">
            <a:extLst>
              <a:ext uri="{FF2B5EF4-FFF2-40B4-BE49-F238E27FC236}">
                <a16:creationId xmlns:a16="http://schemas.microsoft.com/office/drawing/2014/main" id="{ED24E181-ABED-42B2-81F8-A451D4E37939}"/>
              </a:ext>
            </a:extLst>
          </p:cNvPr>
          <p:cNvSpPr>
            <a:spLocks noGrp="1"/>
          </p:cNvSpPr>
          <p:nvPr/>
        </p:nvSpPr>
        <p:spPr>
          <a:xfrm>
            <a:off x="419100" y="3514725"/>
            <a:ext cx="2943225" cy="0"/>
          </a:xfrm>
          <a:prstGeom prst="line">
            <a:avLst/>
          </a:prstGeom>
          <a:noFill/>
          <a:ln w="9525">
            <a:solidFill>
              <a:srgbClr val="C8CDD1"/>
            </a:solidFill>
          </a:ln>
        </p:spPr>
      </p:sp>
      <p:sp>
        <p:nvSpPr>
          <p:cNvPr id="15369" name="tsf_5">
            <a:extLst>
              <a:ext uri="{FF2B5EF4-FFF2-40B4-BE49-F238E27FC236}">
                <a16:creationId xmlns:a16="http://schemas.microsoft.com/office/drawing/2014/main" id="{5CECF954-8309-4047-9306-F12E80A998CD}"/>
              </a:ext>
            </a:extLst>
          </p:cNvPr>
          <p:cNvSpPr>
            <a:spLocks noGrp="1"/>
          </p:cNvSpPr>
          <p:nvPr/>
        </p:nvSpPr>
        <p:spPr>
          <a:xfrm>
            <a:off x="419100" y="3724275"/>
            <a:ext cx="2981325" cy="323850"/>
          </a:xfrm>
          <a:prstGeom prst="rect">
            <a:avLst/>
          </a:prstGeom>
          <a:noFill/>
          <a:ln w="9525">
            <a:noFill/>
          </a:ln>
        </p:spPr>
        <p:txBody>
          <a:bodyPr wrap="square" lIns="0" tIns="0" rIns="0" bIns="0" anchor="t">
            <a:noAutofit/>
          </a:bodyPr>
          <a:lstStyle>
            <a:defPPr algn="l">
              <a:defRPr sz="1800" b="1">
                <a:solidFill>
                  <a:srgbClr val="17212B"/>
                </a:solidFill>
                <a:latin typeface="Arial"/>
                <a:ea typeface="Arial"/>
                <a:cs typeface="Arial"/>
              </a:defRPr>
            </a:defPPr>
          </a:lstStyle>
          <a:p>
            <a:pPr algn="l">
              <a:defRPr sz="1800" b="1">
                <a:solidFill>
                  <a:srgbClr val="17212B"/>
                </a:solidFill>
                <a:latin typeface="Arial"/>
                <a:ea typeface="Arial"/>
                <a:cs typeface="Arial"/>
              </a:defRPr>
            </a:pPr>
            <a:r>
              <a:rPr sz="1800" b="1">
                <a:solidFill>
                  <a:srgbClr val="17212B"/>
                </a:solidFill>
                <a:latin typeface="Arial"/>
                <a:ea typeface="Arial"/>
                <a:cs typeface="Arial"/>
              </a:rPr>
              <a:t>The required answer</a:t>
            </a:r>
          </a:p>
        </p:txBody>
      </p:sp>
      <p:sp>
        <p:nvSpPr>
          <p:cNvPr id="15370" name="tsf_6">
            <a:extLst>
              <a:ext uri="{FF2B5EF4-FFF2-40B4-BE49-F238E27FC236}">
                <a16:creationId xmlns:a16="http://schemas.microsoft.com/office/drawing/2014/main" id="{BBDE5AC3-F822-4E78-8151-7F3325045B23}"/>
              </a:ext>
            </a:extLst>
          </p:cNvPr>
          <p:cNvSpPr>
            <a:spLocks noGrp="1"/>
          </p:cNvSpPr>
          <p:nvPr/>
        </p:nvSpPr>
        <p:spPr>
          <a:xfrm>
            <a:off x="419100" y="4095750"/>
            <a:ext cx="2981325" cy="1047750"/>
          </a:xfrm>
          <a:prstGeom prst="rect">
            <a:avLst/>
          </a:prstGeom>
          <a:noFill/>
          <a:ln w="9525">
            <a:noFill/>
          </a:ln>
        </p:spPr>
        <p:txBody>
          <a:bodyPr wrap="square" lIns="0" tIns="0" rIns="0" bIns="0" anchor="t">
            <a:noAutofit/>
          </a:bodyPr>
          <a:lstStyle>
            <a:defPPr algn="l">
              <a:defRPr sz="1650" b="0">
                <a:solidFill>
                  <a:srgbClr val="17212B"/>
                </a:solidFill>
                <a:latin typeface="Arial"/>
                <a:ea typeface="Arial"/>
                <a:cs typeface="Arial"/>
              </a:defRPr>
            </a:defPPr>
          </a:lstStyle>
          <a:p>
            <a:pPr algn="l">
              <a:defRPr sz="1650" b="0">
                <a:solidFill>
                  <a:srgbClr val="17212B"/>
                </a:solidFill>
                <a:latin typeface="Arial"/>
                <a:ea typeface="Arial"/>
                <a:cs typeface="Arial"/>
              </a:defRPr>
            </a:pPr>
            <a:r>
              <a:rPr sz="1650" b="0">
                <a:solidFill>
                  <a:srgbClr val="17212B"/>
                </a:solidFill>
                <a:latin typeface="Arial"/>
                <a:ea typeface="Arial"/>
                <a:cs typeface="Arial"/>
              </a:rPr>
              <a:t>Which exchange or custodian</a:t>
            </a:r>
          </a:p>
          <a:p>
            <a:pPr algn="l">
              <a:defRPr sz="1650" b="0">
                <a:solidFill>
                  <a:srgbClr val="17212B"/>
                </a:solidFill>
                <a:latin typeface="Arial"/>
                <a:ea typeface="Arial"/>
                <a:cs typeface="Arial"/>
              </a:defRPr>
            </a:pPr>
            <a:r>
              <a:rPr sz="1650" b="0">
                <a:solidFill>
                  <a:srgbClr val="17212B"/>
                </a:solidFill>
                <a:latin typeface="Arial"/>
                <a:ea typeface="Arial"/>
                <a:cs typeface="Arial"/>
              </a:rPr>
              <a:t>received the funds, at which</a:t>
            </a:r>
          </a:p>
          <a:p>
            <a:pPr algn="l">
              <a:defRPr sz="1650" b="0">
                <a:solidFill>
                  <a:srgbClr val="17212B"/>
                </a:solidFill>
                <a:latin typeface="Arial"/>
                <a:ea typeface="Arial"/>
                <a:cs typeface="Arial"/>
              </a:defRPr>
            </a:pPr>
            <a:r>
              <a:rPr sz="1650" b="0">
                <a:solidFill>
                  <a:srgbClr val="17212B"/>
                </a:solidFill>
                <a:latin typeface="Arial"/>
                <a:ea typeface="Arial"/>
                <a:cs typeface="Arial"/>
              </a:rPr>
              <a:t>address, and what evidence</a:t>
            </a:r>
          </a:p>
          <a:p>
            <a:pPr algn="l">
              <a:defRPr sz="1650" b="0">
                <a:solidFill>
                  <a:srgbClr val="17212B"/>
                </a:solidFill>
                <a:latin typeface="Arial"/>
                <a:ea typeface="Arial"/>
                <a:cs typeface="Arial"/>
              </a:defRPr>
            </a:pPr>
            <a:r>
              <a:rPr sz="1650" b="0">
                <a:solidFill>
                  <a:srgbClr val="17212B"/>
                </a:solidFill>
                <a:latin typeface="Arial"/>
                <a:ea typeface="Arial"/>
                <a:cs typeface="Arial"/>
              </a:rPr>
              <a:t>supports that conclusion?</a:t>
            </a:r>
          </a:p>
        </p:txBody>
      </p:sp>
      <p:sp>
        <p:nvSpPr>
          <p:cNvPr id="15371" name="tsf_7">
            <a:extLst>
              <a:ext uri="{FF2B5EF4-FFF2-40B4-BE49-F238E27FC236}">
                <a16:creationId xmlns:a16="http://schemas.microsoft.com/office/drawing/2014/main" id="{0BB79867-0AA3-4721-8F61-64B59EBA5AF2}"/>
              </a:ext>
            </a:extLst>
          </p:cNvPr>
          <p:cNvSpPr>
            <a:spLocks noGrp="1"/>
          </p:cNvSpPr>
          <p:nvPr/>
        </p:nvSpPr>
        <p:spPr>
          <a:xfrm>
            <a:off x="419100" y="5295900"/>
            <a:ext cx="2981325" cy="676275"/>
          </a:xfrm>
          <a:prstGeom prst="rect">
            <a:avLst/>
          </a:prstGeom>
          <a:noFill/>
          <a:ln w="9525">
            <a:noFill/>
          </a:ln>
        </p:spPr>
        <p:txBody>
          <a:bodyPr wrap="square" lIns="0" tIns="0" rIns="0" bIns="0" anchor="t">
            <a:noAutofit/>
          </a:bodyPr>
          <a:lstStyle>
            <a:defPPr algn="l">
              <a:defRPr sz="1500" b="0">
                <a:solidFill>
                  <a:srgbClr val="55606B"/>
                </a:solidFill>
                <a:latin typeface="Arial"/>
                <a:ea typeface="Arial"/>
                <a:cs typeface="Arial"/>
              </a:defRPr>
            </a:defPPr>
          </a:lstStyle>
          <a:p>
            <a:pPr algn="l">
              <a:defRPr sz="1500" b="0">
                <a:solidFill>
                  <a:srgbClr val="55606B"/>
                </a:solidFill>
                <a:latin typeface="Arial"/>
                <a:ea typeface="Arial"/>
                <a:cs typeface="Arial"/>
              </a:defRPr>
            </a:pPr>
            <a:r>
              <a:rPr sz="1500" b="0">
                <a:solidFill>
                  <a:srgbClr val="55606B"/>
                </a:solidFill>
                <a:latin typeface="Arial"/>
                <a:ea typeface="Arial"/>
                <a:cs typeface="Arial"/>
              </a:rPr>
              <a:t>VASP means a company that</a:t>
            </a:r>
          </a:p>
          <a:p>
            <a:pPr algn="l">
              <a:defRPr sz="1500" b="0">
                <a:solidFill>
                  <a:srgbClr val="55606B"/>
                </a:solidFill>
                <a:latin typeface="Arial"/>
                <a:ea typeface="Arial"/>
                <a:cs typeface="Arial"/>
              </a:defRPr>
            </a:pPr>
            <a:r>
              <a:rPr sz="1500" b="0">
                <a:solidFill>
                  <a:srgbClr val="55606B"/>
                </a:solidFill>
                <a:latin typeface="Arial"/>
                <a:ea typeface="Arial"/>
                <a:cs typeface="Arial"/>
              </a:rPr>
              <a:t>provides services such as crypto</a:t>
            </a:r>
          </a:p>
          <a:p>
            <a:pPr algn="l">
              <a:defRPr sz="1500" b="0">
                <a:solidFill>
                  <a:srgbClr val="55606B"/>
                </a:solidFill>
                <a:latin typeface="Arial"/>
                <a:ea typeface="Arial"/>
                <a:cs typeface="Arial"/>
              </a:defRPr>
            </a:pPr>
            <a:r>
              <a:rPr sz="1500" b="0">
                <a:solidFill>
                  <a:srgbClr val="55606B"/>
                </a:solidFill>
                <a:latin typeface="Arial"/>
                <a:ea typeface="Arial"/>
                <a:cs typeface="Arial"/>
              </a:rPr>
              <a:t>exchange or custody.</a:t>
            </a:r>
          </a:p>
        </p:txBody>
      </p:sp>
      <p:sp>
        <p:nvSpPr>
          <p:cNvPr id="15372" name="tsf_8">
            <a:extLst>
              <a:ext uri="{FF2B5EF4-FFF2-40B4-BE49-F238E27FC236}">
                <a16:creationId xmlns:a16="http://schemas.microsoft.com/office/drawing/2014/main" id="{592F9820-5886-4D02-87BD-A960EBD25A3D}"/>
              </a:ext>
            </a:extLst>
          </p:cNvPr>
          <p:cNvSpPr>
            <a:spLocks noGrp="1"/>
          </p:cNvSpPr>
          <p:nvPr/>
        </p:nvSpPr>
        <p:spPr>
          <a:xfrm>
            <a:off x="3819525" y="1943100"/>
            <a:ext cx="7905750" cy="285750"/>
          </a:xfrm>
          <a:prstGeom prst="rect">
            <a:avLst/>
          </a:prstGeom>
          <a:noFill/>
          <a:ln w="9525">
            <a:noFill/>
          </a:ln>
        </p:spPr>
        <p:txBody>
          <a:bodyPr wrap="square" lIns="0" tIns="0" rIns="0" bIns="0" anchor="t">
            <a:noAutofit/>
          </a:bodyPr>
          <a:lstStyle>
            <a:defPPr algn="l">
              <a:defRPr sz="1500" b="0">
                <a:solidFill>
                  <a:srgbClr val="55606B"/>
                </a:solidFill>
                <a:latin typeface="Arial"/>
                <a:ea typeface="Arial"/>
                <a:cs typeface="Arial"/>
              </a:defRPr>
            </a:defPPr>
          </a:lstStyle>
          <a:p>
            <a:pPr algn="l">
              <a:defRPr sz="1500" b="0">
                <a:solidFill>
                  <a:srgbClr val="55606B"/>
                </a:solidFill>
                <a:latin typeface="Arial"/>
                <a:ea typeface="Arial"/>
                <a:cs typeface="Arial"/>
              </a:defRPr>
            </a:pPr>
            <a:r>
              <a:rPr sz="1500" b="0">
                <a:solidFill>
                  <a:srgbClr val="55606B"/>
                </a:solidFill>
                <a:latin typeface="Arial"/>
                <a:ea typeface="Arial"/>
                <a:cs typeface="Arial"/>
              </a:rPr>
              <a:t>Worked example: all addresses and service names are fictional</a:t>
            </a:r>
          </a:p>
        </p:txBody>
      </p:sp>
      <p:sp>
        <p:nvSpPr>
          <p:cNvPr id="15373" name="tsf_9">
            <a:extLst>
              <a:ext uri="{FF2B5EF4-FFF2-40B4-BE49-F238E27FC236}">
                <a16:creationId xmlns:a16="http://schemas.microsoft.com/office/drawing/2014/main" id="{2F9399FD-8CBC-47DF-9EF3-45A768C9C4F0}"/>
              </a:ext>
            </a:extLst>
          </p:cNvPr>
          <p:cNvSpPr>
            <a:spLocks noGrp="1"/>
          </p:cNvSpPr>
          <p:nvPr/>
        </p:nvSpPr>
        <p:spPr>
          <a:xfrm>
            <a:off x="4019550" y="3067050"/>
            <a:ext cx="685800" cy="685800"/>
          </a:xfrm>
          <a:prstGeom prst="ellipse">
            <a:avLst/>
          </a:prstGeom>
          <a:solidFill>
            <a:srgbClr val="FFFFFF"/>
          </a:solidFill>
          <a:ln w="16193">
            <a:solidFill>
              <a:srgbClr val="1F497D"/>
            </a:solidFill>
          </a:ln>
        </p:spPr>
        <p:txBody>
          <a:bodyPr lIns="19050" tIns="19050" rIns="19050" bIns="19050" anchor="ctr">
            <a:noAutofit/>
          </a:bodyPr>
          <a:lstStyle>
            <a:defPPr algn="ctr">
              <a:defRPr sz="1950" b="1">
                <a:solidFill>
                  <a:srgbClr val="1F497D"/>
                </a:solidFill>
                <a:latin typeface="Arial"/>
                <a:ea typeface="Arial"/>
                <a:cs typeface="Arial"/>
              </a:defRPr>
            </a:defPPr>
          </a:lstStyle>
          <a:p>
            <a:pPr algn="ctr">
              <a:defRPr sz="1950" b="1">
                <a:solidFill>
                  <a:srgbClr val="1F497D"/>
                </a:solidFill>
                <a:latin typeface="Arial"/>
                <a:ea typeface="Arial"/>
                <a:cs typeface="Arial"/>
              </a:defRPr>
            </a:pPr>
            <a:r>
              <a:rPr sz="1950" b="1">
                <a:solidFill>
                  <a:srgbClr val="1F497D"/>
                </a:solidFill>
                <a:latin typeface="Arial"/>
                <a:ea typeface="Arial"/>
                <a:cs typeface="Arial"/>
              </a:rPr>
              <a:t>R</a:t>
            </a:r>
          </a:p>
        </p:txBody>
      </p:sp>
      <p:sp>
        <p:nvSpPr>
          <p:cNvPr id="15374" name="tsf_10">
            <a:extLst>
              <a:ext uri="{FF2B5EF4-FFF2-40B4-BE49-F238E27FC236}">
                <a16:creationId xmlns:a16="http://schemas.microsoft.com/office/drawing/2014/main" id="{CDDCD088-55DF-482C-B6AB-AEA8F9B94A65}"/>
              </a:ext>
            </a:extLst>
          </p:cNvPr>
          <p:cNvSpPr>
            <a:spLocks noGrp="1"/>
          </p:cNvSpPr>
          <p:nvPr/>
        </p:nvSpPr>
        <p:spPr>
          <a:xfrm>
            <a:off x="7153275" y="3067050"/>
            <a:ext cx="685800" cy="685800"/>
          </a:xfrm>
          <a:prstGeom prst="ellipse">
            <a:avLst/>
          </a:prstGeom>
          <a:solidFill>
            <a:srgbClr val="FFFFFF"/>
          </a:solidFill>
          <a:ln w="16193">
            <a:solidFill>
              <a:srgbClr val="9B6018"/>
            </a:solidFill>
          </a:ln>
        </p:spPr>
        <p:txBody>
          <a:bodyPr lIns="19050" tIns="19050" rIns="19050" bIns="19050" anchor="ctr">
            <a:noAutofit/>
          </a:bodyPr>
          <a:lstStyle>
            <a:defPPr algn="ctr">
              <a:defRPr sz="1950" b="1">
                <a:solidFill>
                  <a:srgbClr val="9B6018"/>
                </a:solidFill>
                <a:latin typeface="Arial"/>
                <a:ea typeface="Arial"/>
                <a:cs typeface="Arial"/>
              </a:defRPr>
            </a:defPPr>
          </a:lstStyle>
          <a:p>
            <a:pPr algn="ctr">
              <a:defRPr sz="1950" b="1">
                <a:solidFill>
                  <a:srgbClr val="9B6018"/>
                </a:solidFill>
                <a:latin typeface="Arial"/>
                <a:ea typeface="Arial"/>
                <a:cs typeface="Arial"/>
              </a:defRPr>
            </a:pPr>
            <a:r>
              <a:rPr sz="1950" b="1">
                <a:solidFill>
                  <a:srgbClr val="9B6018"/>
                </a:solidFill>
                <a:latin typeface="Arial"/>
                <a:ea typeface="Arial"/>
                <a:cs typeface="Arial"/>
              </a:rPr>
              <a:t>D</a:t>
            </a:r>
          </a:p>
        </p:txBody>
      </p:sp>
      <p:sp>
        <p:nvSpPr>
          <p:cNvPr id="15375" name="tsf_11">
            <a:extLst>
              <a:ext uri="{FF2B5EF4-FFF2-40B4-BE49-F238E27FC236}">
                <a16:creationId xmlns:a16="http://schemas.microsoft.com/office/drawing/2014/main" id="{30171724-BEBA-482B-B0F4-E9ABA243F1F3}"/>
              </a:ext>
            </a:extLst>
          </p:cNvPr>
          <p:cNvSpPr>
            <a:spLocks noGrp="1"/>
          </p:cNvSpPr>
          <p:nvPr/>
        </p:nvSpPr>
        <p:spPr>
          <a:xfrm>
            <a:off x="10610850" y="3067050"/>
            <a:ext cx="790575" cy="685800"/>
          </a:xfrm>
          <a:prstGeom prst="rect">
            <a:avLst/>
          </a:prstGeom>
          <a:solidFill>
            <a:srgbClr val="FFFFFF"/>
          </a:solidFill>
          <a:ln w="16193">
            <a:solidFill>
              <a:srgbClr val="1F497D"/>
            </a:solidFill>
          </a:ln>
        </p:spPr>
        <p:txBody>
          <a:bodyPr lIns="19050" tIns="19050" rIns="19050" bIns="19050" anchor="ctr">
            <a:noAutofit/>
          </a:bodyPr>
          <a:lstStyle>
            <a:defPPr algn="ctr">
              <a:defRPr sz="1950" b="1">
                <a:solidFill>
                  <a:srgbClr val="1F497D"/>
                </a:solidFill>
                <a:latin typeface="Arial"/>
                <a:ea typeface="Arial"/>
                <a:cs typeface="Arial"/>
              </a:defRPr>
            </a:defPPr>
          </a:lstStyle>
          <a:p>
            <a:pPr algn="ctr">
              <a:defRPr sz="1950" b="1">
                <a:solidFill>
                  <a:srgbClr val="1F497D"/>
                </a:solidFill>
                <a:latin typeface="Arial"/>
                <a:ea typeface="Arial"/>
                <a:cs typeface="Arial"/>
              </a:defRPr>
            </a:pPr>
            <a:r>
              <a:rPr sz="1950" b="1">
                <a:solidFill>
                  <a:srgbClr val="1F497D"/>
                </a:solidFill>
                <a:latin typeface="Arial"/>
                <a:ea typeface="Arial"/>
                <a:cs typeface="Arial"/>
              </a:rPr>
              <a:t>H</a:t>
            </a:r>
          </a:p>
        </p:txBody>
      </p:sp>
      <p:sp>
        <p:nvSpPr>
          <p:cNvPr id="15376" name="tsf_12">
            <a:extLst>
              <a:ext uri="{FF2B5EF4-FFF2-40B4-BE49-F238E27FC236}">
                <a16:creationId xmlns:a16="http://schemas.microsoft.com/office/drawing/2014/main" id="{6D6F1188-A71A-45EF-9DAE-5EB287D17AD3}"/>
              </a:ext>
            </a:extLst>
          </p:cNvPr>
          <p:cNvSpPr>
            <a:spLocks noGrp="1"/>
          </p:cNvSpPr>
          <p:nvPr/>
        </p:nvSpPr>
        <p:spPr>
          <a:xfrm>
            <a:off x="7153275" y="2305050"/>
            <a:ext cx="685800" cy="447675"/>
          </a:xfrm>
          <a:prstGeom prst="rect">
            <a:avLst/>
          </a:prstGeom>
          <a:solidFill>
            <a:srgbClr val="FFFFFF"/>
          </a:solidFill>
          <a:ln w="16193">
            <a:solidFill>
              <a:srgbClr val="1F497D"/>
            </a:solidFill>
          </a:ln>
        </p:spPr>
        <p:txBody>
          <a:bodyPr lIns="19050" tIns="19050" rIns="19050" bIns="19050" anchor="ctr">
            <a:noAutofit/>
          </a:bodyPr>
          <a:lstStyle>
            <a:defPPr algn="ctr">
              <a:defRPr sz="1800" b="1">
                <a:solidFill>
                  <a:srgbClr val="1F497D"/>
                </a:solidFill>
                <a:latin typeface="Arial"/>
                <a:ea typeface="Arial"/>
                <a:cs typeface="Arial"/>
              </a:defRPr>
            </a:defPPr>
          </a:lstStyle>
          <a:p>
            <a:pPr algn="ctr">
              <a:defRPr sz="1800" b="1">
                <a:solidFill>
                  <a:srgbClr val="1F497D"/>
                </a:solidFill>
                <a:latin typeface="Arial"/>
                <a:ea typeface="Arial"/>
                <a:cs typeface="Arial"/>
              </a:defRPr>
            </a:pPr>
            <a:r>
              <a:rPr sz="1800" b="1">
                <a:solidFill>
                  <a:srgbClr val="1F497D"/>
                </a:solidFill>
                <a:latin typeface="Arial"/>
                <a:ea typeface="Arial"/>
                <a:cs typeface="Arial"/>
              </a:rPr>
              <a:t>G</a:t>
            </a:r>
          </a:p>
        </p:txBody>
      </p:sp>
      <p:sp>
        <p:nvSpPr>
          <p:cNvPr id="15377" name="tsf_16">
            <a:extLst>
              <a:ext uri="{FF2B5EF4-FFF2-40B4-BE49-F238E27FC236}">
                <a16:creationId xmlns:a16="http://schemas.microsoft.com/office/drawing/2014/main" id="{1BB34D58-F250-441F-A969-3E2011971414}"/>
              </a:ext>
            </a:extLst>
          </p:cNvPr>
          <p:cNvSpPr>
            <a:spLocks noGrp="1"/>
          </p:cNvSpPr>
          <p:nvPr/>
        </p:nvSpPr>
        <p:spPr>
          <a:xfrm>
            <a:off x="4752975" y="2752725"/>
            <a:ext cx="2324100" cy="276225"/>
          </a:xfrm>
          <a:prstGeom prst="rect">
            <a:avLst/>
          </a:prstGeom>
          <a:noFill/>
          <a:ln w="9525">
            <a:noFill/>
          </a:ln>
        </p:spPr>
        <p:txBody>
          <a:bodyPr wrap="square" lIns="0" tIns="0" rIns="0" bIns="0" anchor="t">
            <a:noAutofit/>
          </a:bodyPr>
          <a:lstStyle>
            <a:defPPr algn="ctr">
              <a:defRPr sz="1575" b="0">
                <a:solidFill>
                  <a:srgbClr val="1F497D"/>
                </a:solidFill>
                <a:latin typeface="Arial"/>
                <a:ea typeface="Arial"/>
                <a:cs typeface="Arial"/>
              </a:defRPr>
            </a:defPPr>
          </a:lstStyle>
          <a:p>
            <a:pPr algn="ctr">
              <a:defRPr sz="1575" b="0">
                <a:solidFill>
                  <a:srgbClr val="1F497D"/>
                </a:solidFill>
                <a:latin typeface="Arial"/>
                <a:ea typeface="Arial"/>
                <a:cs typeface="Arial"/>
              </a:defRPr>
            </a:pPr>
            <a:r>
              <a:rPr sz="1575" b="0">
                <a:solidFill>
                  <a:srgbClr val="1F497D"/>
                </a:solidFill>
                <a:latin typeface="Arial"/>
                <a:ea typeface="Arial"/>
                <a:cs typeface="Arial"/>
              </a:rPr>
              <a:t>Token deposit</a:t>
            </a:r>
          </a:p>
        </p:txBody>
      </p:sp>
      <p:sp>
        <p:nvSpPr>
          <p:cNvPr id="15378" name="tsf_17">
            <a:extLst>
              <a:ext uri="{FF2B5EF4-FFF2-40B4-BE49-F238E27FC236}">
                <a16:creationId xmlns:a16="http://schemas.microsoft.com/office/drawing/2014/main" id="{8BC1BC50-7967-440C-B655-CA6EB0691070}"/>
              </a:ext>
            </a:extLst>
          </p:cNvPr>
          <p:cNvSpPr>
            <a:spLocks noGrp="1"/>
          </p:cNvSpPr>
          <p:nvPr/>
        </p:nvSpPr>
        <p:spPr>
          <a:xfrm>
            <a:off x="7981950" y="2752725"/>
            <a:ext cx="2486025" cy="276225"/>
          </a:xfrm>
          <a:prstGeom prst="rect">
            <a:avLst/>
          </a:prstGeom>
          <a:noFill/>
          <a:ln w="9525">
            <a:noFill/>
          </a:ln>
        </p:spPr>
        <p:txBody>
          <a:bodyPr wrap="square" lIns="0" tIns="0" rIns="0" bIns="0" anchor="t">
            <a:noAutofit/>
          </a:bodyPr>
          <a:lstStyle>
            <a:defPPr algn="ctr">
              <a:defRPr sz="1575" b="0">
                <a:solidFill>
                  <a:srgbClr val="1F497D"/>
                </a:solidFill>
                <a:latin typeface="Arial"/>
                <a:ea typeface="Arial"/>
                <a:cs typeface="Arial"/>
              </a:defRPr>
            </a:defPPr>
          </a:lstStyle>
          <a:p>
            <a:pPr algn="ctr">
              <a:defRPr sz="1575" b="0">
                <a:solidFill>
                  <a:srgbClr val="1F497D"/>
                </a:solidFill>
                <a:latin typeface="Arial"/>
                <a:ea typeface="Arial"/>
                <a:cs typeface="Arial"/>
              </a:defRPr>
            </a:pPr>
            <a:r>
              <a:rPr sz="1575" b="0">
                <a:solidFill>
                  <a:srgbClr val="1F497D"/>
                </a:solidFill>
                <a:latin typeface="Arial"/>
                <a:ea typeface="Arial"/>
                <a:cs typeface="Arial"/>
              </a:rPr>
              <a:t>Token sweep</a:t>
            </a:r>
          </a:p>
        </p:txBody>
      </p:sp>
      <p:sp>
        <p:nvSpPr>
          <p:cNvPr id="15379" name="tsf_18">
            <a:extLst>
              <a:ext uri="{FF2B5EF4-FFF2-40B4-BE49-F238E27FC236}">
                <a16:creationId xmlns:a16="http://schemas.microsoft.com/office/drawing/2014/main" id="{C5C7AB56-7115-4C08-895A-8A12182F9917}"/>
              </a:ext>
            </a:extLst>
          </p:cNvPr>
          <p:cNvSpPr>
            <a:spLocks noGrp="1"/>
          </p:cNvSpPr>
          <p:nvPr/>
        </p:nvSpPr>
        <p:spPr>
          <a:xfrm>
            <a:off x="8020050" y="2371725"/>
            <a:ext cx="3409950" cy="257175"/>
          </a:xfrm>
          <a:prstGeom prst="rect">
            <a:avLst/>
          </a:prstGeom>
          <a:noFill/>
          <a:ln w="9525">
            <a:noFill/>
          </a:ln>
        </p:spPr>
        <p:txBody>
          <a:bodyPr wrap="square" lIns="0" tIns="0" rIns="0" bIns="0" anchor="t">
            <a:noAutofit/>
          </a:bodyPr>
          <a:lstStyle>
            <a:defPPr algn="l">
              <a:defRPr sz="1500" b="0">
                <a:solidFill>
                  <a:srgbClr val="55606B"/>
                </a:solidFill>
                <a:latin typeface="Arial"/>
                <a:ea typeface="Arial"/>
                <a:cs typeface="Arial"/>
              </a:defRPr>
            </a:defPPr>
          </a:lstStyle>
          <a:p>
            <a:pPr algn="l">
              <a:defRPr sz="1500" b="0">
                <a:solidFill>
                  <a:srgbClr val="55606B"/>
                </a:solidFill>
                <a:latin typeface="Arial"/>
                <a:ea typeface="Arial"/>
                <a:cs typeface="Arial"/>
              </a:defRPr>
            </a:pPr>
            <a:r>
              <a:rPr sz="1500" b="0">
                <a:solidFill>
                  <a:srgbClr val="55606B"/>
                </a:solidFill>
                <a:latin typeface="Arial"/>
                <a:ea typeface="Arial"/>
                <a:cs typeface="Arial"/>
              </a:rPr>
              <a:t>G supplies the transaction fee</a:t>
            </a:r>
          </a:p>
        </p:txBody>
      </p:sp>
      <p:sp>
        <p:nvSpPr>
          <p:cNvPr id="15380" name="tsf_19">
            <a:extLst>
              <a:ext uri="{FF2B5EF4-FFF2-40B4-BE49-F238E27FC236}">
                <a16:creationId xmlns:a16="http://schemas.microsoft.com/office/drawing/2014/main" id="{39CDF181-231F-40B3-8FD9-9E018B4D8253}"/>
              </a:ext>
            </a:extLst>
          </p:cNvPr>
          <p:cNvSpPr>
            <a:spLocks noGrp="1"/>
          </p:cNvSpPr>
          <p:nvPr/>
        </p:nvSpPr>
        <p:spPr>
          <a:xfrm>
            <a:off x="3829050" y="3905250"/>
            <a:ext cx="1238250" cy="514350"/>
          </a:xfrm>
          <a:prstGeom prst="rect">
            <a:avLst/>
          </a:prstGeom>
          <a:noFill/>
          <a:ln w="9525">
            <a:noFill/>
          </a:ln>
        </p:spPr>
        <p:txBody>
          <a:bodyPr wrap="square" lIns="0" tIns="0" rIns="0" bIns="0" anchor="t">
            <a:noAutofit/>
          </a:bodyPr>
          <a:lstStyle>
            <a:defPPr algn="ctr">
              <a:defRPr sz="1575" b="0">
                <a:solidFill>
                  <a:srgbClr val="17212B"/>
                </a:solidFill>
                <a:latin typeface="Arial"/>
                <a:ea typeface="Arial"/>
                <a:cs typeface="Arial"/>
              </a:defRPr>
            </a:defPPr>
          </a:lstStyle>
          <a:p>
            <a:pPr algn="ctr">
              <a:defRPr sz="1575" b="0">
                <a:solidFill>
                  <a:srgbClr val="17212B"/>
                </a:solidFill>
                <a:latin typeface="Arial"/>
                <a:ea typeface="Arial"/>
                <a:cs typeface="Arial"/>
              </a:defRPr>
            </a:pPr>
            <a:r>
              <a:rPr sz="1575" b="0">
                <a:solidFill>
                  <a:srgbClr val="17212B"/>
                </a:solidFill>
                <a:latin typeface="Arial"/>
                <a:ea typeface="Arial"/>
                <a:cs typeface="Arial"/>
              </a:rPr>
              <a:t>Reported</a:t>
            </a:r>
          </a:p>
          <a:p>
            <a:pPr algn="ctr">
              <a:defRPr sz="1575" b="0">
                <a:solidFill>
                  <a:srgbClr val="17212B"/>
                </a:solidFill>
                <a:latin typeface="Arial"/>
                <a:ea typeface="Arial"/>
                <a:cs typeface="Arial"/>
              </a:defRPr>
            </a:pPr>
            <a:r>
              <a:rPr sz="1575" b="0">
                <a:solidFill>
                  <a:srgbClr val="17212B"/>
                </a:solidFill>
                <a:latin typeface="Arial"/>
                <a:ea typeface="Arial"/>
                <a:cs typeface="Arial"/>
              </a:rPr>
              <a:t>wallet</a:t>
            </a:r>
          </a:p>
        </p:txBody>
      </p:sp>
      <p:sp>
        <p:nvSpPr>
          <p:cNvPr id="15381" name="tsf_20">
            <a:extLst>
              <a:ext uri="{FF2B5EF4-FFF2-40B4-BE49-F238E27FC236}">
                <a16:creationId xmlns:a16="http://schemas.microsoft.com/office/drawing/2014/main" id="{6DB15494-EEC0-4EDD-B5AC-A8CA6EF34162}"/>
              </a:ext>
            </a:extLst>
          </p:cNvPr>
          <p:cNvSpPr>
            <a:spLocks noGrp="1"/>
          </p:cNvSpPr>
          <p:nvPr/>
        </p:nvSpPr>
        <p:spPr>
          <a:xfrm>
            <a:off x="6543675" y="3905250"/>
            <a:ext cx="1924050" cy="542925"/>
          </a:xfrm>
          <a:prstGeom prst="rect">
            <a:avLst/>
          </a:prstGeom>
          <a:noFill/>
          <a:ln w="9525">
            <a:noFill/>
          </a:ln>
        </p:spPr>
        <p:txBody>
          <a:bodyPr wrap="square" lIns="0" tIns="0" rIns="0" bIns="0" anchor="t">
            <a:noAutofit/>
          </a:bodyPr>
          <a:lstStyle>
            <a:defPPr algn="ctr">
              <a:defRPr sz="1575" b="1">
                <a:solidFill>
                  <a:srgbClr val="9B6018"/>
                </a:solidFill>
                <a:latin typeface="Arial"/>
                <a:ea typeface="Arial"/>
                <a:cs typeface="Arial"/>
              </a:defRPr>
            </a:defPPr>
          </a:lstStyle>
          <a:p>
            <a:pPr algn="ctr">
              <a:defRPr sz="1575" b="1">
                <a:solidFill>
                  <a:srgbClr val="9B6018"/>
                </a:solidFill>
                <a:latin typeface="Arial"/>
                <a:ea typeface="Arial"/>
                <a:cs typeface="Arial"/>
              </a:defRPr>
            </a:pPr>
            <a:r>
              <a:rPr sz="1575" b="1">
                <a:solidFill>
                  <a:srgbClr val="9B6018"/>
                </a:solidFill>
                <a:latin typeface="Arial"/>
                <a:ea typeface="Arial"/>
                <a:cs typeface="Arial"/>
              </a:rPr>
              <a:t>Unknown wallet</a:t>
            </a:r>
          </a:p>
          <a:p>
            <a:pPr algn="ctr">
              <a:defRPr sz="1575" b="1">
                <a:solidFill>
                  <a:srgbClr val="9B6018"/>
                </a:solidFill>
                <a:latin typeface="Arial"/>
                <a:ea typeface="Arial"/>
                <a:cs typeface="Arial"/>
              </a:defRPr>
            </a:pPr>
            <a:r>
              <a:rPr sz="1575" b="1">
                <a:solidFill>
                  <a:srgbClr val="9B6018"/>
                </a:solidFill>
                <a:latin typeface="Arial"/>
                <a:ea typeface="Arial"/>
                <a:cs typeface="Arial"/>
              </a:rPr>
              <a:t>Possible deposit?</a:t>
            </a:r>
          </a:p>
        </p:txBody>
      </p:sp>
      <p:sp>
        <p:nvSpPr>
          <p:cNvPr id="15382" name="tsf_21">
            <a:extLst>
              <a:ext uri="{FF2B5EF4-FFF2-40B4-BE49-F238E27FC236}">
                <a16:creationId xmlns:a16="http://schemas.microsoft.com/office/drawing/2014/main" id="{431FF820-A322-4F25-9662-CE5A565C7DAD}"/>
              </a:ext>
            </a:extLst>
          </p:cNvPr>
          <p:cNvSpPr>
            <a:spLocks noGrp="1"/>
          </p:cNvSpPr>
          <p:nvPr/>
        </p:nvSpPr>
        <p:spPr>
          <a:xfrm>
            <a:off x="9715500" y="3905250"/>
            <a:ext cx="2028825" cy="523875"/>
          </a:xfrm>
          <a:prstGeom prst="rect">
            <a:avLst/>
          </a:prstGeom>
          <a:noFill/>
          <a:ln w="9525">
            <a:noFill/>
          </a:ln>
        </p:spPr>
        <p:txBody>
          <a:bodyPr wrap="square" lIns="0" tIns="0" rIns="0" bIns="0" anchor="t">
            <a:noAutofit/>
          </a:bodyPr>
          <a:lstStyle>
            <a:defPPr algn="ctr">
              <a:defRPr sz="1575" b="0">
                <a:solidFill>
                  <a:srgbClr val="17212B"/>
                </a:solidFill>
                <a:latin typeface="Arial"/>
                <a:ea typeface="Arial"/>
                <a:cs typeface="Arial"/>
              </a:defRPr>
            </a:defPPr>
          </a:lstStyle>
          <a:p>
            <a:pPr algn="ctr">
              <a:defRPr sz="1575" b="0">
                <a:solidFill>
                  <a:srgbClr val="17212B"/>
                </a:solidFill>
                <a:latin typeface="Arial"/>
                <a:ea typeface="Arial"/>
                <a:cs typeface="Arial"/>
              </a:defRPr>
            </a:pPr>
            <a:r>
              <a:rPr sz="1575" b="0">
                <a:solidFill>
                  <a:srgbClr val="17212B"/>
                </a:solidFill>
                <a:latin typeface="Arial"/>
                <a:ea typeface="Arial"/>
                <a:cs typeface="Arial"/>
              </a:rPr>
              <a:t>Service E</a:t>
            </a:r>
          </a:p>
          <a:p>
            <a:pPr algn="ctr">
              <a:defRPr sz="1575" b="0">
                <a:solidFill>
                  <a:srgbClr val="17212B"/>
                </a:solidFill>
                <a:latin typeface="Arial"/>
                <a:ea typeface="Arial"/>
                <a:cs typeface="Arial"/>
              </a:defRPr>
            </a:pPr>
            <a:r>
              <a:rPr sz="1575" b="0">
                <a:solidFill>
                  <a:srgbClr val="17212B"/>
                </a:solidFill>
                <a:latin typeface="Arial"/>
                <a:ea typeface="Arial"/>
                <a:cs typeface="Arial"/>
              </a:rPr>
              <a:t>Collection wallet</a:t>
            </a:r>
          </a:p>
        </p:txBody>
      </p:sp>
      <p:sp>
        <p:nvSpPr>
          <p:cNvPr id="15383" name="tsf_22">
            <a:extLst>
              <a:ext uri="{FF2B5EF4-FFF2-40B4-BE49-F238E27FC236}">
                <a16:creationId xmlns:a16="http://schemas.microsoft.com/office/drawing/2014/main" id="{80FD0984-FA1B-4762-8A9E-50CCF94181A0}"/>
              </a:ext>
            </a:extLst>
          </p:cNvPr>
          <p:cNvSpPr>
            <a:spLocks noGrp="1"/>
          </p:cNvSpPr>
          <p:nvPr/>
        </p:nvSpPr>
        <p:spPr>
          <a:xfrm>
            <a:off x="3829050" y="4629150"/>
            <a:ext cx="7905750" cy="0"/>
          </a:xfrm>
          <a:prstGeom prst="line">
            <a:avLst/>
          </a:prstGeom>
          <a:noFill/>
          <a:ln w="9525">
            <a:solidFill>
              <a:srgbClr val="C8CDD1"/>
            </a:solidFill>
          </a:ln>
        </p:spPr>
      </p:sp>
      <p:sp>
        <p:nvSpPr>
          <p:cNvPr id="15384" name="tsf_23">
            <a:extLst>
              <a:ext uri="{FF2B5EF4-FFF2-40B4-BE49-F238E27FC236}">
                <a16:creationId xmlns:a16="http://schemas.microsoft.com/office/drawing/2014/main" id="{73680F33-9E79-4410-9157-3FCF10637989}"/>
              </a:ext>
            </a:extLst>
          </p:cNvPr>
          <p:cNvSpPr>
            <a:spLocks noGrp="1"/>
          </p:cNvSpPr>
          <p:nvPr/>
        </p:nvSpPr>
        <p:spPr>
          <a:xfrm>
            <a:off x="3838575" y="4819650"/>
            <a:ext cx="3724275" cy="285750"/>
          </a:xfrm>
          <a:prstGeom prst="rect">
            <a:avLst/>
          </a:prstGeom>
          <a:noFill/>
          <a:ln w="9525">
            <a:noFill/>
          </a:ln>
        </p:spPr>
        <p:txBody>
          <a:bodyPr wrap="square" lIns="0" tIns="0" rIns="0" bIns="0" anchor="t">
            <a:noAutofit/>
          </a:bodyPr>
          <a:lstStyle>
            <a:defPPr algn="l">
              <a:defRPr sz="1725" b="1">
                <a:solidFill>
                  <a:srgbClr val="1F497D"/>
                </a:solidFill>
                <a:latin typeface="Arial"/>
                <a:ea typeface="Arial"/>
                <a:cs typeface="Arial"/>
              </a:defRPr>
            </a:defPPr>
          </a:lstStyle>
          <a:p>
            <a:pPr algn="l">
              <a:defRPr sz="1725" b="1">
                <a:solidFill>
                  <a:srgbClr val="1F497D"/>
                </a:solidFill>
                <a:latin typeface="Arial"/>
                <a:ea typeface="Arial"/>
                <a:cs typeface="Arial"/>
              </a:defRPr>
            </a:pPr>
            <a:r>
              <a:rPr sz="1725" b="1">
                <a:solidFill>
                  <a:srgbClr val="1F497D"/>
                </a:solidFill>
                <a:latin typeface="Arial"/>
                <a:ea typeface="Arial"/>
                <a:cs typeface="Arial"/>
              </a:rPr>
              <a:t>Where “Service E” comes from</a:t>
            </a:r>
          </a:p>
        </p:txBody>
      </p:sp>
      <p:sp>
        <p:nvSpPr>
          <p:cNvPr id="15385" name="tsf_24">
            <a:extLst>
              <a:ext uri="{FF2B5EF4-FFF2-40B4-BE49-F238E27FC236}">
                <a16:creationId xmlns:a16="http://schemas.microsoft.com/office/drawing/2014/main" id="{CF2307D1-007B-443D-A272-14AFBF63E12C}"/>
              </a:ext>
            </a:extLst>
          </p:cNvPr>
          <p:cNvSpPr>
            <a:spLocks noGrp="1"/>
          </p:cNvSpPr>
          <p:nvPr/>
        </p:nvSpPr>
        <p:spPr>
          <a:xfrm>
            <a:off x="3838575" y="5200650"/>
            <a:ext cx="3733800" cy="990600"/>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A sourced register links G and H</a:t>
            </a:r>
          </a:p>
          <a:p>
            <a:pPr algn="l">
              <a:defRPr sz="1575" b="0">
                <a:solidFill>
                  <a:srgbClr val="17212B"/>
                </a:solidFill>
                <a:latin typeface="Arial"/>
                <a:ea typeface="Arial"/>
                <a:cs typeface="Arial"/>
              </a:defRPr>
            </a:pPr>
            <a:r>
              <a:rPr sz="1575" b="0">
                <a:solidFill>
                  <a:srgbClr val="17212B"/>
                </a:solidFill>
                <a:latin typeface="Arial"/>
                <a:ea typeface="Arial"/>
                <a:cs typeface="Arial"/>
              </a:rPr>
              <a:t>to E, with their roles and dates.</a:t>
            </a:r>
          </a:p>
          <a:p>
            <a:pPr algn="l">
              <a:defRPr sz="1575" b="0">
                <a:solidFill>
                  <a:srgbClr val="17212B"/>
                </a:solidFill>
                <a:latin typeface="Arial"/>
                <a:ea typeface="Arial"/>
                <a:cs typeface="Arial"/>
              </a:defRPr>
            </a:pPr>
            <a:r>
              <a:rPr sz="1575" b="0">
                <a:solidFill>
                  <a:srgbClr val="17212B"/>
                </a:solidFill>
                <a:latin typeface="Arial"/>
                <a:ea typeface="Arial"/>
                <a:cs typeface="Arial"/>
              </a:rPr>
              <a:t>Public tags or reviewed service</a:t>
            </a:r>
          </a:p>
          <a:p>
            <a:pPr algn="l">
              <a:defRPr sz="1575" b="0">
                <a:solidFill>
                  <a:srgbClr val="17212B"/>
                </a:solidFill>
                <a:latin typeface="Arial"/>
                <a:ea typeface="Arial"/>
                <a:cs typeface="Arial"/>
              </a:defRPr>
            </a:pPr>
            <a:r>
              <a:rPr sz="1575" b="0">
                <a:solidFill>
                  <a:srgbClr val="17212B"/>
                </a:solidFill>
                <a:latin typeface="Arial"/>
                <a:ea typeface="Arial"/>
                <a:cs typeface="Arial"/>
              </a:rPr>
              <a:t>confirmations supply the names. [4]</a:t>
            </a:r>
          </a:p>
        </p:txBody>
      </p:sp>
      <p:sp>
        <p:nvSpPr>
          <p:cNvPr id="15386" name="tsf_25">
            <a:extLst>
              <a:ext uri="{FF2B5EF4-FFF2-40B4-BE49-F238E27FC236}">
                <a16:creationId xmlns:a16="http://schemas.microsoft.com/office/drawing/2014/main" id="{613D1EDE-2542-42F3-980D-5837F6ED3C6A}"/>
              </a:ext>
            </a:extLst>
          </p:cNvPr>
          <p:cNvSpPr>
            <a:spLocks noGrp="1"/>
          </p:cNvSpPr>
          <p:nvPr/>
        </p:nvSpPr>
        <p:spPr>
          <a:xfrm>
            <a:off x="7924800" y="4819650"/>
            <a:ext cx="3790950" cy="285750"/>
          </a:xfrm>
          <a:prstGeom prst="rect">
            <a:avLst/>
          </a:prstGeom>
          <a:noFill/>
          <a:ln w="9525">
            <a:noFill/>
          </a:ln>
        </p:spPr>
        <p:txBody>
          <a:bodyPr wrap="square" lIns="0" tIns="0" rIns="0" bIns="0" anchor="t">
            <a:noAutofit/>
          </a:bodyPr>
          <a:lstStyle>
            <a:defPPr algn="l">
              <a:defRPr sz="1725" b="1">
                <a:solidFill>
                  <a:srgbClr val="1F497D"/>
                </a:solidFill>
                <a:latin typeface="Arial"/>
                <a:ea typeface="Arial"/>
                <a:cs typeface="Arial"/>
              </a:defRPr>
            </a:defPPr>
          </a:lstStyle>
          <a:p>
            <a:pPr algn="l">
              <a:defRPr sz="1725" b="1">
                <a:solidFill>
                  <a:srgbClr val="1F497D"/>
                </a:solidFill>
                <a:latin typeface="Arial"/>
                <a:ea typeface="Arial"/>
                <a:cs typeface="Arial"/>
              </a:defRPr>
            </a:pPr>
            <a:r>
              <a:rPr sz="1725" b="1">
                <a:solidFill>
                  <a:srgbClr val="1F497D"/>
                </a:solidFill>
                <a:latin typeface="Arial"/>
                <a:ea typeface="Arial"/>
                <a:cs typeface="Arial"/>
              </a:rPr>
              <a:t>What TraceSetu investigates</a:t>
            </a:r>
          </a:p>
        </p:txBody>
      </p:sp>
      <p:sp>
        <p:nvSpPr>
          <p:cNvPr id="15387" name="tsf_26">
            <a:extLst>
              <a:ext uri="{FF2B5EF4-FFF2-40B4-BE49-F238E27FC236}">
                <a16:creationId xmlns:a16="http://schemas.microsoft.com/office/drawing/2014/main" id="{7354690C-57AE-4BAB-B130-A0CA2CF0EA05}"/>
              </a:ext>
            </a:extLst>
          </p:cNvPr>
          <p:cNvSpPr>
            <a:spLocks noGrp="1"/>
          </p:cNvSpPr>
          <p:nvPr/>
        </p:nvSpPr>
        <p:spPr>
          <a:xfrm>
            <a:off x="7924800" y="5200650"/>
            <a:ext cx="3790950" cy="990600"/>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Does D repeatedly receive tokens,</a:t>
            </a:r>
          </a:p>
          <a:p>
            <a:pPr algn="l">
              <a:defRPr sz="1575" b="0">
                <a:solidFill>
                  <a:srgbClr val="17212B"/>
                </a:solidFill>
                <a:latin typeface="Arial"/>
                <a:ea typeface="Arial"/>
                <a:cs typeface="Arial"/>
              </a:defRPr>
            </a:pPr>
            <a:r>
              <a:rPr sz="1575" b="0">
                <a:solidFill>
                  <a:srgbClr val="17212B"/>
                </a:solidFill>
                <a:latin typeface="Arial"/>
                <a:ea typeface="Arial"/>
                <a:cs typeface="Arial"/>
              </a:rPr>
              <a:t>get fees from G and sweep to H?</a:t>
            </a:r>
          </a:p>
          <a:p>
            <a:pPr algn="l">
              <a:defRPr sz="1575" b="0">
                <a:solidFill>
                  <a:srgbClr val="17212B"/>
                </a:solidFill>
                <a:latin typeface="Arial"/>
                <a:ea typeface="Arial"/>
                <a:cs typeface="Arial"/>
              </a:defRPr>
            </a:pPr>
            <a:r>
              <a:rPr sz="1575" b="0">
                <a:solidFill>
                  <a:srgbClr val="17212B"/>
                </a:solidFill>
                <a:latin typeface="Arial"/>
                <a:ea typeface="Arial"/>
                <a:cs typeface="Arial"/>
              </a:rPr>
              <a:t>If the checks pass, D becomes an</a:t>
            </a:r>
          </a:p>
          <a:p>
            <a:pPr algn="l">
              <a:defRPr sz="1575" b="0">
                <a:solidFill>
                  <a:srgbClr val="17212B"/>
                </a:solidFill>
                <a:latin typeface="Arial"/>
                <a:ea typeface="Arial"/>
                <a:cs typeface="Arial"/>
              </a:defRPr>
            </a:pPr>
            <a:r>
              <a:rPr sz="1575" b="0">
                <a:solidFill>
                  <a:srgbClr val="17212B"/>
                </a:solidFill>
                <a:latin typeface="Arial"/>
                <a:ea typeface="Arial"/>
                <a:cs typeface="Arial"/>
              </a:rPr>
              <a:t>unconfirmed deposit lead. [1, 2]</a:t>
            </a:r>
          </a:p>
        </p:txBody>
      </p:sp>
      <p:cxnSp>
        <p:nvCxnSpPr>
          <p:cNvPr id="15362" name="tsf_15">
            <a:extLst>
              <a:ext uri="{FF2B5EF4-FFF2-40B4-BE49-F238E27FC236}">
                <a16:creationId xmlns:a16="http://schemas.microsoft.com/office/drawing/2014/main" id="{B67549D6-8A35-426C-94A0-DD8F081BF39F}"/>
              </a:ext>
            </a:extLst>
          </p:cNvPr>
          <p:cNvCxnSpPr>
            <a:stCxn id="15376" idx="2"/>
            <a:endCxn id="15374" idx="0"/>
          </p:cNvCxnSpPr>
          <p:nvPr/>
        </p:nvCxnSpPr>
        <p:spPr>
          <a:xfrm>
            <a:off x="7496175" y="2752725"/>
            <a:ext cx="0" cy="314325"/>
          </a:xfrm>
          <a:prstGeom prst="straightConnector1">
            <a:avLst/>
          </a:prstGeom>
          <a:ln w="19050">
            <a:solidFill>
              <a:srgbClr val="55606B"/>
            </a:solidFill>
            <a:tailEnd type="triangle" w="sm" len="sm"/>
          </a:ln>
        </p:spPr>
      </p:cxnSp>
      <p:cxnSp>
        <p:nvCxnSpPr>
          <p:cNvPr id="15363" name="tsf_14">
            <a:extLst>
              <a:ext uri="{FF2B5EF4-FFF2-40B4-BE49-F238E27FC236}">
                <a16:creationId xmlns:a16="http://schemas.microsoft.com/office/drawing/2014/main" id="{147A942E-CD88-4E6E-92F0-09BD94C1DFB8}"/>
              </a:ext>
            </a:extLst>
          </p:cNvPr>
          <p:cNvCxnSpPr>
            <a:stCxn id="15374" idx="6"/>
            <a:endCxn id="15375" idx="1"/>
          </p:cNvCxnSpPr>
          <p:nvPr/>
        </p:nvCxnSpPr>
        <p:spPr>
          <a:xfrm>
            <a:off x="7839075" y="3409950"/>
            <a:ext cx="2771775" cy="0"/>
          </a:xfrm>
          <a:prstGeom prst="straightConnector1">
            <a:avLst/>
          </a:prstGeom>
          <a:ln w="19050">
            <a:solidFill>
              <a:srgbClr val="1F497D"/>
            </a:solidFill>
            <a:tailEnd type="triangle" w="sm" len="sm"/>
          </a:ln>
        </p:spPr>
      </p:cxnSp>
      <p:cxnSp>
        <p:nvCxnSpPr>
          <p:cNvPr id="15364" name="tsf_13">
            <a:extLst>
              <a:ext uri="{FF2B5EF4-FFF2-40B4-BE49-F238E27FC236}">
                <a16:creationId xmlns:a16="http://schemas.microsoft.com/office/drawing/2014/main" id="{B1628E15-47CF-4F7D-84EF-E7800EE95C3E}"/>
              </a:ext>
            </a:extLst>
          </p:cNvPr>
          <p:cNvCxnSpPr>
            <a:stCxn id="15373" idx="6"/>
            <a:endCxn id="15374" idx="2"/>
          </p:cNvCxnSpPr>
          <p:nvPr/>
        </p:nvCxnSpPr>
        <p:spPr>
          <a:xfrm>
            <a:off x="4705350" y="3409950"/>
            <a:ext cx="2447925" cy="0"/>
          </a:xfrm>
          <a:prstGeom prst="straightConnector1">
            <a:avLst/>
          </a:prstGeom>
          <a:ln w="19050">
            <a:solidFill>
              <a:srgbClr val="1F497D"/>
            </a:solidFill>
            <a:tailEnd type="triangl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27">
            <a:extLst>
              <a:ext uri="{FF2B5EF4-FFF2-40B4-BE49-F238E27FC236}">
                <a16:creationId xmlns:a16="http://schemas.microsoft.com/office/drawing/2014/main" id="{4BE755FF-F8AC-4B3D-B5C3-74E3C546CE1A}"/>
              </a:ext>
            </a:extLst>
          </p:cNvPr>
          <p:cNvSpPr>
            <a:spLocks noGrp="1"/>
          </p:cNvSpPr>
          <p:nvPr/>
        </p:nvSpPr>
        <p:spPr>
          <a:xfrm>
            <a:off x="419100" y="1371600"/>
            <a:ext cx="11334750" cy="390525"/>
          </a:xfrm>
          <a:prstGeom prst="rect">
            <a:avLst/>
          </a:prstGeom>
          <a:noFill/>
          <a:ln w="9525">
            <a:noFill/>
          </a:ln>
        </p:spPr>
        <p:txBody>
          <a:bodyPr wrap="square" lIns="0" tIns="0" rIns="0" bIns="0" anchor="t">
            <a:noAutofit/>
          </a:bodyPr>
          <a:lstStyle>
            <a:defPPr algn="l">
              <a:defRPr sz="2100" b="1">
                <a:solidFill>
                  <a:srgbClr val="1F497D"/>
                </a:solidFill>
                <a:latin typeface="Arial"/>
                <a:ea typeface="Arial"/>
                <a:cs typeface="Arial"/>
              </a:defRPr>
            </a:defPPr>
          </a:lstStyle>
          <a:p>
            <a:pPr algn="l">
              <a:defRPr sz="2100" b="1">
                <a:solidFill>
                  <a:srgbClr val="1F497D"/>
                </a:solidFill>
                <a:latin typeface="Arial"/>
                <a:ea typeface="Arial"/>
                <a:cs typeface="Arial"/>
              </a:defRPr>
            </a:pPr>
            <a:r>
              <a:rPr sz="2100" b="1">
                <a:solidFill>
                  <a:srgbClr val="1F497D"/>
                </a:solidFill>
                <a:latin typeface="Arial"/>
                <a:ea typeface="Arial"/>
                <a:cs typeface="Arial"/>
              </a:rPr>
              <a:t>Seeded deposit-pattern matching + chronological graph search</a:t>
            </a:r>
          </a:p>
        </p:txBody>
      </p:sp>
      <p:sp>
        <p:nvSpPr>
          <p:cNvPr id="17411" name="tsf_28">
            <a:extLst>
              <a:ext uri="{FF2B5EF4-FFF2-40B4-BE49-F238E27FC236}">
                <a16:creationId xmlns:a16="http://schemas.microsoft.com/office/drawing/2014/main" id="{4F419E59-4830-45BE-8B65-E0B977E40F90}"/>
              </a:ext>
            </a:extLst>
          </p:cNvPr>
          <p:cNvSpPr>
            <a:spLocks noGrp="1"/>
          </p:cNvSpPr>
          <p:nvPr/>
        </p:nvSpPr>
        <p:spPr>
          <a:xfrm>
            <a:off x="419100" y="1962150"/>
            <a:ext cx="5486400" cy="285750"/>
          </a:xfrm>
          <a:prstGeom prst="rect">
            <a:avLst/>
          </a:prstGeom>
          <a:noFill/>
          <a:ln w="9525">
            <a:noFill/>
          </a:ln>
        </p:spPr>
        <p:txBody>
          <a:bodyPr wrap="square" lIns="0" tIns="0" rIns="0" bIns="0" anchor="t">
            <a:noAutofit/>
          </a:bodyPr>
          <a:lstStyle>
            <a:defPPr algn="l">
              <a:defRPr sz="1725" b="1">
                <a:solidFill>
                  <a:srgbClr val="17212B"/>
                </a:solidFill>
                <a:latin typeface="Arial"/>
                <a:ea typeface="Arial"/>
                <a:cs typeface="Arial"/>
              </a:defRPr>
            </a:defPPr>
          </a:lstStyle>
          <a:p>
            <a:pPr algn="l">
              <a:defRPr sz="1725" b="1">
                <a:solidFill>
                  <a:srgbClr val="17212B"/>
                </a:solidFill>
                <a:latin typeface="Arial"/>
                <a:ea typeface="Arial"/>
                <a:cs typeface="Arial"/>
              </a:defRPr>
            </a:pPr>
            <a:r>
              <a:rPr sz="1725" b="1">
                <a:solidFill>
                  <a:srgbClr val="17212B"/>
                </a:solidFill>
                <a:latin typeface="Arial"/>
                <a:ea typeface="Arial"/>
                <a:cs typeface="Arial"/>
              </a:rPr>
              <a:t>1. Research test for deposit address D [1, 2]</a:t>
            </a:r>
          </a:p>
        </p:txBody>
      </p:sp>
      <p:sp>
        <p:nvSpPr>
          <p:cNvPr id="17412" name="tsf_29">
            <a:extLst>
              <a:ext uri="{FF2B5EF4-FFF2-40B4-BE49-F238E27FC236}">
                <a16:creationId xmlns:a16="http://schemas.microsoft.com/office/drawing/2014/main" id="{AE1E6983-5B1A-4B06-8BA4-A5D11FE362E9}"/>
              </a:ext>
            </a:extLst>
          </p:cNvPr>
          <p:cNvSpPr>
            <a:spLocks noGrp="1"/>
          </p:cNvSpPr>
          <p:nvPr/>
        </p:nvSpPr>
        <p:spPr>
          <a:xfrm>
            <a:off x="419100" y="2324100"/>
            <a:ext cx="5486400" cy="285750"/>
          </a:xfrm>
          <a:prstGeom prst="rect">
            <a:avLst/>
          </a:prstGeom>
          <a:noFill/>
          <a:ln w="9525">
            <a:noFill/>
          </a:ln>
        </p:spPr>
        <p:txBody>
          <a:bodyPr wrap="square" lIns="0" tIns="0" rIns="0" bIns="0" anchor="t">
            <a:noAutofit/>
          </a:bodyPr>
          <a:lstStyle>
            <a:defPPr algn="l">
              <a:defRPr sz="1500" b="0">
                <a:solidFill>
                  <a:srgbClr val="55606B"/>
                </a:solidFill>
                <a:latin typeface="Arial"/>
                <a:ea typeface="Arial"/>
                <a:cs typeface="Arial"/>
              </a:defRPr>
            </a:defPPr>
          </a:lstStyle>
          <a:p>
            <a:pPr algn="l">
              <a:defRPr sz="1500" b="0">
                <a:solidFill>
                  <a:srgbClr val="55606B"/>
                </a:solidFill>
                <a:latin typeface="Arial"/>
                <a:ea typeface="Arial"/>
                <a:cs typeface="Arial"/>
              </a:defRPr>
            </a:pPr>
            <a:r>
              <a:rPr sz="1500" b="0">
                <a:solidFill>
                  <a:srgbClr val="55606B"/>
                </a:solidFill>
                <a:latin typeface="Arial"/>
                <a:ea typeface="Arial"/>
                <a:cs typeface="Arial"/>
              </a:rPr>
              <a:t>Per cycle: G adds 100 native units before D sweeps</a:t>
            </a:r>
          </a:p>
        </p:txBody>
      </p:sp>
      <p:graphicFrame>
        <p:nvGraphicFramePr>
          <p:cNvPr id="17413" name="tsf_30">
            <a:extLst>
              <a:ext uri="{FF2B5EF4-FFF2-40B4-BE49-F238E27FC236}">
                <a16:creationId xmlns:a16="http://schemas.microsoft.com/office/drawing/2014/main" id="{20DF44FD-6CA9-47A1-9E4B-D1A467BDC2DE}"/>
              </a:ext>
            </a:extLst>
          </p:cNvPr>
          <p:cNvGraphicFramePr/>
          <p:nvPr/>
        </p:nvGraphicFramePr>
        <p:xfrm>
          <a:off x="419100" y="2714625"/>
          <a:ext cx="5486400" cy="1485900"/>
        </p:xfrm>
        <a:graphic>
          <a:graphicData uri="http://schemas.openxmlformats.org/drawingml/2006/table">
            <a:tbl>
              <a:tblPr/>
              <a:tblGrid>
                <a:gridCol w="819150"/>
                <a:gridCol w="1428750"/>
                <a:gridCol w="1619250"/>
                <a:gridCol w="1619250"/>
              </a:tblGrid>
              <a:tr h="371475">
                <a:tc>
                  <a:txBody>
                    <a:bodyPr/>
                    <a:lstStyle/>
                    <a:p>
                      <a:r>
                        <a:rPr sz="1425" b="1">
                          <a:solidFill>
                            <a:srgbClr val="1F497D"/>
                          </a:solidFill>
                          <a:latin typeface="Arial"/>
                          <a:ea typeface="Arial"/>
                          <a:cs typeface="Arial"/>
                        </a:rPr>
                        <a:t>Cycle</a:t>
                      </a:r>
                    </a:p>
                  </a:txBody>
                  <a:tcPr marL="91440" marR="91440" marT="45720" marB="45720">
                    <a:solidFill>
                      <a:srgbClr val="F2F4F5"/>
                    </a:solidFill>
                  </a:tcPr>
                </a:tc>
                <a:tc>
                  <a:txBody>
                    <a:bodyPr/>
                    <a:lstStyle/>
                    <a:p>
                      <a:r>
                        <a:rPr sz="1425" b="1">
                          <a:solidFill>
                            <a:srgbClr val="1F497D"/>
                          </a:solidFill>
                          <a:latin typeface="Arial"/>
                          <a:ea typeface="Arial"/>
                          <a:cs typeface="Arial"/>
                        </a:rPr>
                        <a:t>Tokens in</a:t>
                      </a:r>
                    </a:p>
                  </a:txBody>
                  <a:tcPr marL="91440" marR="91440" marT="45720" marB="45720">
                    <a:solidFill>
                      <a:srgbClr val="F2F4F5"/>
                    </a:solidFill>
                  </a:tcPr>
                </a:tc>
                <a:tc>
                  <a:txBody>
                    <a:bodyPr/>
                    <a:lstStyle/>
                    <a:p>
                      <a:r>
                        <a:rPr sz="1425" b="1">
                          <a:solidFill>
                            <a:srgbClr val="1F497D"/>
                          </a:solidFill>
                          <a:latin typeface="Arial"/>
                          <a:ea typeface="Arial"/>
                          <a:cs typeface="Arial"/>
                        </a:rPr>
                        <a:t>Tokens to H</a:t>
                      </a:r>
                    </a:p>
                  </a:txBody>
                  <a:tcPr marL="91440" marR="91440" marT="45720" marB="45720">
                    <a:solidFill>
                      <a:srgbClr val="F2F4F5"/>
                    </a:solidFill>
                  </a:tcPr>
                </a:tc>
                <a:tc>
                  <a:txBody>
                    <a:bodyPr/>
                    <a:lstStyle/>
                    <a:p>
                      <a:r>
                        <a:rPr sz="1425" b="1">
                          <a:solidFill>
                            <a:srgbClr val="1F497D"/>
                          </a:solidFill>
                          <a:latin typeface="Arial"/>
                          <a:ea typeface="Arial"/>
                          <a:cs typeface="Arial"/>
                        </a:rPr>
                        <a:t>Fee paid</a:t>
                      </a:r>
                    </a:p>
                  </a:txBody>
                  <a:tcPr marL="91440" marR="91440" marT="45720" marB="45720">
                    <a:solidFill>
                      <a:srgbClr val="F2F4F5"/>
                    </a:solidFill>
                  </a:tcPr>
                </a:tc>
              </a:tr>
              <a:tr h="371475">
                <a:tc>
                  <a:txBody>
                    <a:bodyPr/>
                    <a:lstStyle/>
                    <a:p>
                      <a:r>
                        <a:rPr sz="1575" b="0">
                          <a:solidFill>
                            <a:srgbClr val="17212B"/>
                          </a:solidFill>
                          <a:latin typeface="Arial"/>
                          <a:ea typeface="Arial"/>
                          <a:cs typeface="Arial"/>
                        </a:rPr>
                        <a:t>1</a:t>
                      </a:r>
                    </a:p>
                  </a:txBody>
                  <a:tcPr marL="91440" marR="91440" marT="45720" marB="45720">
                    <a:solidFill>
                      <a:srgbClr val="FFFFFF"/>
                    </a:solidFill>
                  </a:tcPr>
                </a:tc>
                <a:tc>
                  <a:txBody>
                    <a:bodyPr/>
                    <a:lstStyle/>
                    <a:p>
                      <a:r>
                        <a:rPr sz="1575" b="0">
                          <a:solidFill>
                            <a:srgbClr val="17212B"/>
                          </a:solidFill>
                          <a:latin typeface="Arial"/>
                          <a:ea typeface="Arial"/>
                          <a:cs typeface="Arial"/>
                        </a:rPr>
                        <a:t>1,000</a:t>
                      </a:r>
                    </a:p>
                  </a:txBody>
                  <a:tcPr marL="91440" marR="91440" marT="45720" marB="45720">
                    <a:solidFill>
                      <a:srgbClr val="FFFFFF"/>
                    </a:solidFill>
                  </a:tcPr>
                </a:tc>
                <a:tc>
                  <a:txBody>
                    <a:bodyPr/>
                    <a:lstStyle/>
                    <a:p>
                      <a:r>
                        <a:rPr sz="1575" b="0">
                          <a:solidFill>
                            <a:srgbClr val="17212B"/>
                          </a:solidFill>
                          <a:latin typeface="Arial"/>
                          <a:ea typeface="Arial"/>
                          <a:cs typeface="Arial"/>
                        </a:rPr>
                        <a:t>1,000</a:t>
                      </a:r>
                    </a:p>
                  </a:txBody>
                  <a:tcPr marL="91440" marR="91440" marT="45720" marB="45720">
                    <a:solidFill>
                      <a:srgbClr val="FFFFFF"/>
                    </a:solidFill>
                  </a:tcPr>
                </a:tc>
                <a:tc>
                  <a:txBody>
                    <a:bodyPr/>
                    <a:lstStyle/>
                    <a:p>
                      <a:r>
                        <a:rPr sz="1575" b="0">
                          <a:solidFill>
                            <a:srgbClr val="17212B"/>
                          </a:solidFill>
                          <a:latin typeface="Arial"/>
                          <a:ea typeface="Arial"/>
                          <a:cs typeface="Arial"/>
                        </a:rPr>
                        <a:t>10</a:t>
                      </a:r>
                    </a:p>
                  </a:txBody>
                  <a:tcPr marL="91440" marR="91440" marT="45720" marB="45720">
                    <a:solidFill>
                      <a:srgbClr val="FFFFFF"/>
                    </a:solidFill>
                  </a:tcPr>
                </a:tc>
              </a:tr>
              <a:tr h="371475">
                <a:tc>
                  <a:txBody>
                    <a:bodyPr/>
                    <a:lstStyle/>
                    <a:p>
                      <a:r>
                        <a:rPr sz="1575" b="0">
                          <a:solidFill>
                            <a:srgbClr val="17212B"/>
                          </a:solidFill>
                          <a:latin typeface="Arial"/>
                          <a:ea typeface="Arial"/>
                          <a:cs typeface="Arial"/>
                        </a:rPr>
                        <a:t>2</a:t>
                      </a:r>
                    </a:p>
                  </a:txBody>
                  <a:tcPr marL="91440" marR="91440" marT="45720" marB="45720">
                    <a:solidFill>
                      <a:srgbClr val="FFFFFF"/>
                    </a:solidFill>
                  </a:tcPr>
                </a:tc>
                <a:tc>
                  <a:txBody>
                    <a:bodyPr/>
                    <a:lstStyle/>
                    <a:p>
                      <a:r>
                        <a:rPr sz="1575" b="0">
                          <a:solidFill>
                            <a:srgbClr val="17212B"/>
                          </a:solidFill>
                          <a:latin typeface="Arial"/>
                          <a:ea typeface="Arial"/>
                          <a:cs typeface="Arial"/>
                        </a:rPr>
                        <a:t>2,000</a:t>
                      </a:r>
                    </a:p>
                  </a:txBody>
                  <a:tcPr marL="91440" marR="91440" marT="45720" marB="45720">
                    <a:solidFill>
                      <a:srgbClr val="FFFFFF"/>
                    </a:solidFill>
                  </a:tcPr>
                </a:tc>
                <a:tc>
                  <a:txBody>
                    <a:bodyPr/>
                    <a:lstStyle/>
                    <a:p>
                      <a:r>
                        <a:rPr sz="1575" b="0">
                          <a:solidFill>
                            <a:srgbClr val="17212B"/>
                          </a:solidFill>
                          <a:latin typeface="Arial"/>
                          <a:ea typeface="Arial"/>
                          <a:cs typeface="Arial"/>
                        </a:rPr>
                        <a:t>2,000</a:t>
                      </a:r>
                    </a:p>
                  </a:txBody>
                  <a:tcPr marL="91440" marR="91440" marT="45720" marB="45720">
                    <a:solidFill>
                      <a:srgbClr val="FFFFFF"/>
                    </a:solidFill>
                  </a:tcPr>
                </a:tc>
                <a:tc>
                  <a:txBody>
                    <a:bodyPr/>
                    <a:lstStyle/>
                    <a:p>
                      <a:r>
                        <a:rPr sz="1575" b="0">
                          <a:solidFill>
                            <a:srgbClr val="17212B"/>
                          </a:solidFill>
                          <a:latin typeface="Arial"/>
                          <a:ea typeface="Arial"/>
                          <a:cs typeface="Arial"/>
                        </a:rPr>
                        <a:t>10</a:t>
                      </a:r>
                    </a:p>
                  </a:txBody>
                  <a:tcPr marL="91440" marR="91440" marT="45720" marB="45720">
                    <a:solidFill>
                      <a:srgbClr val="FFFFFF"/>
                    </a:solidFill>
                  </a:tcPr>
                </a:tc>
              </a:tr>
              <a:tr h="371475">
                <a:tc>
                  <a:txBody>
                    <a:bodyPr/>
                    <a:lstStyle/>
                    <a:p>
                      <a:r>
                        <a:rPr sz="1575" b="0">
                          <a:solidFill>
                            <a:srgbClr val="17212B"/>
                          </a:solidFill>
                          <a:latin typeface="Arial"/>
                          <a:ea typeface="Arial"/>
                          <a:cs typeface="Arial"/>
                        </a:rPr>
                        <a:t>3</a:t>
                      </a:r>
                    </a:p>
                  </a:txBody>
                  <a:tcPr marL="91440" marR="91440" marT="45720" marB="45720">
                    <a:solidFill>
                      <a:srgbClr val="FFFFFF"/>
                    </a:solidFill>
                  </a:tcPr>
                </a:tc>
                <a:tc>
                  <a:txBody>
                    <a:bodyPr/>
                    <a:lstStyle/>
                    <a:p>
                      <a:r>
                        <a:rPr sz="1575" b="0">
                          <a:solidFill>
                            <a:srgbClr val="17212B"/>
                          </a:solidFill>
                          <a:latin typeface="Arial"/>
                          <a:ea typeface="Arial"/>
                          <a:cs typeface="Arial"/>
                        </a:rPr>
                        <a:t>3,000</a:t>
                      </a:r>
                    </a:p>
                  </a:txBody>
                  <a:tcPr marL="91440" marR="91440" marT="45720" marB="45720">
                    <a:solidFill>
                      <a:srgbClr val="FFFFFF"/>
                    </a:solidFill>
                  </a:tcPr>
                </a:tc>
                <a:tc>
                  <a:txBody>
                    <a:bodyPr/>
                    <a:lstStyle/>
                    <a:p>
                      <a:r>
                        <a:rPr sz="1575" b="0">
                          <a:solidFill>
                            <a:srgbClr val="17212B"/>
                          </a:solidFill>
                          <a:latin typeface="Arial"/>
                          <a:ea typeface="Arial"/>
                          <a:cs typeface="Arial"/>
                        </a:rPr>
                        <a:t>3,000</a:t>
                      </a:r>
                    </a:p>
                  </a:txBody>
                  <a:tcPr marL="91440" marR="91440" marT="45720" marB="45720">
                    <a:solidFill>
                      <a:srgbClr val="FFFFFF"/>
                    </a:solidFill>
                  </a:tcPr>
                </a:tc>
                <a:tc>
                  <a:txBody>
                    <a:bodyPr/>
                    <a:lstStyle/>
                    <a:p>
                      <a:r>
                        <a:rPr sz="1575" b="0">
                          <a:solidFill>
                            <a:srgbClr val="17212B"/>
                          </a:solidFill>
                          <a:latin typeface="Arial"/>
                          <a:ea typeface="Arial"/>
                          <a:cs typeface="Arial"/>
                        </a:rPr>
                        <a:t>10</a:t>
                      </a:r>
                    </a:p>
                  </a:txBody>
                  <a:tcPr marL="91440" marR="91440" marT="45720" marB="45720">
                    <a:solidFill>
                      <a:srgbClr val="FFFFFF"/>
                    </a:solidFill>
                  </a:tcPr>
                </a:tc>
              </a:tr>
            </a:tbl>
          </a:graphicData>
        </a:graphic>
      </p:graphicFrame>
      <p:sp>
        <p:nvSpPr>
          <p:cNvPr id="17414" name="tsf_31">
            <a:extLst>
              <a:ext uri="{FF2B5EF4-FFF2-40B4-BE49-F238E27FC236}">
                <a16:creationId xmlns:a16="http://schemas.microsoft.com/office/drawing/2014/main" id="{85A66D97-3A7D-4C3E-85FE-8777025ABB7B}"/>
              </a:ext>
            </a:extLst>
          </p:cNvPr>
          <p:cNvSpPr>
            <a:spLocks noGrp="1"/>
          </p:cNvSpPr>
          <p:nvPr/>
        </p:nvSpPr>
        <p:spPr>
          <a:xfrm>
            <a:off x="419100" y="4324350"/>
            <a:ext cx="5486400" cy="295275"/>
          </a:xfrm>
          <a:prstGeom prst="rect">
            <a:avLst/>
          </a:prstGeom>
          <a:noFill/>
          <a:ln w="9525">
            <a:noFill/>
          </a:ln>
        </p:spPr>
        <p:txBody>
          <a:bodyPr wrap="square" lIns="0" tIns="0" rIns="0" bIns="0" anchor="t">
            <a:noAutofit/>
          </a:bodyPr>
          <a:lstStyle>
            <a:defPPr algn="l">
              <a:defRPr sz="1725" b="1">
                <a:solidFill>
                  <a:srgbClr val="1F497D"/>
                </a:solidFill>
                <a:latin typeface="Arial"/>
                <a:ea typeface="Arial"/>
                <a:cs typeface="Arial"/>
              </a:defRPr>
            </a:defPPr>
          </a:lstStyle>
          <a:p>
            <a:pPr algn="l">
              <a:defRPr sz="1725" b="1">
                <a:solidFill>
                  <a:srgbClr val="1F497D"/>
                </a:solidFill>
                <a:latin typeface="Arial"/>
                <a:ea typeface="Arial"/>
                <a:cs typeface="Arial"/>
              </a:defRPr>
            </a:pPr>
            <a:r>
              <a:rPr sz="1725" b="1">
                <a:solidFill>
                  <a:srgbClr val="1F497D"/>
                </a:solidFill>
                <a:latin typeface="Arial"/>
                <a:ea typeface="Arial"/>
                <a:cs typeface="Arial"/>
              </a:rPr>
              <a:t>Token balance: 0 + 6,000 − 6,000 = 0</a:t>
            </a:r>
          </a:p>
        </p:txBody>
      </p:sp>
      <p:sp>
        <p:nvSpPr>
          <p:cNvPr id="17415" name="tsf_32">
            <a:extLst>
              <a:ext uri="{FF2B5EF4-FFF2-40B4-BE49-F238E27FC236}">
                <a16:creationId xmlns:a16="http://schemas.microsoft.com/office/drawing/2014/main" id="{51778CFC-367B-44FC-9901-DA9AF129193D}"/>
              </a:ext>
            </a:extLst>
          </p:cNvPr>
          <p:cNvSpPr>
            <a:spLocks noGrp="1"/>
          </p:cNvSpPr>
          <p:nvPr/>
        </p:nvSpPr>
        <p:spPr>
          <a:xfrm>
            <a:off x="419100" y="4667250"/>
            <a:ext cx="5486400" cy="295275"/>
          </a:xfrm>
          <a:prstGeom prst="rect">
            <a:avLst/>
          </a:prstGeom>
          <a:noFill/>
          <a:ln w="9525">
            <a:noFill/>
          </a:ln>
        </p:spPr>
        <p:txBody>
          <a:bodyPr wrap="square" lIns="0" tIns="0" rIns="0" bIns="0" anchor="t">
            <a:noAutofit/>
          </a:bodyPr>
          <a:lstStyle>
            <a:defPPr algn="l">
              <a:defRPr sz="1725" b="1">
                <a:solidFill>
                  <a:srgbClr val="1F497D"/>
                </a:solidFill>
                <a:latin typeface="Arial"/>
                <a:ea typeface="Arial"/>
                <a:cs typeface="Arial"/>
              </a:defRPr>
            </a:defPPr>
          </a:lstStyle>
          <a:p>
            <a:pPr algn="l">
              <a:defRPr sz="1725" b="1">
                <a:solidFill>
                  <a:srgbClr val="1F497D"/>
                </a:solidFill>
                <a:latin typeface="Arial"/>
                <a:ea typeface="Arial"/>
                <a:cs typeface="Arial"/>
              </a:defRPr>
            </a:pPr>
            <a:r>
              <a:rPr sz="1725" b="1">
                <a:solidFill>
                  <a:srgbClr val="1F497D"/>
                </a:solidFill>
                <a:latin typeface="Arial"/>
                <a:ea typeface="Arial"/>
                <a:cs typeface="Arial"/>
              </a:rPr>
              <a:t>Native balance: 0 + 300 − 30 = 270</a:t>
            </a:r>
          </a:p>
        </p:txBody>
      </p:sp>
      <p:sp>
        <p:nvSpPr>
          <p:cNvPr id="17416" name="tsf_33">
            <a:extLst>
              <a:ext uri="{FF2B5EF4-FFF2-40B4-BE49-F238E27FC236}">
                <a16:creationId xmlns:a16="http://schemas.microsoft.com/office/drawing/2014/main" id="{062ED7C1-8BDB-4E5C-9C89-4F12CB1C2114}"/>
              </a:ext>
            </a:extLst>
          </p:cNvPr>
          <p:cNvSpPr>
            <a:spLocks noGrp="1"/>
          </p:cNvSpPr>
          <p:nvPr/>
        </p:nvSpPr>
        <p:spPr>
          <a:xfrm>
            <a:off x="419100" y="5057775"/>
            <a:ext cx="5486400" cy="704850"/>
          </a:xfrm>
          <a:prstGeom prst="rect">
            <a:avLst/>
          </a:prstGeom>
          <a:noFill/>
          <a:ln w="9525">
            <a:noFill/>
          </a:ln>
        </p:spPr>
        <p:txBody>
          <a:bodyPr wrap="square" lIns="0" tIns="0" rIns="0" bIns="0" anchor="t">
            <a:noAutofit/>
          </a:bodyPr>
          <a:lstStyle>
            <a:defPPr algn="l">
              <a:defRPr sz="1500" b="0">
                <a:solidFill>
                  <a:srgbClr val="17212B"/>
                </a:solidFill>
                <a:latin typeface="Arial"/>
                <a:ea typeface="Arial"/>
                <a:cs typeface="Arial"/>
              </a:defRPr>
            </a:defPPr>
          </a:lstStyle>
          <a:p>
            <a:pPr algn="l">
              <a:defRPr sz="1500" b="0">
                <a:solidFill>
                  <a:srgbClr val="17212B"/>
                </a:solidFill>
                <a:latin typeface="Arial"/>
                <a:ea typeface="Arial"/>
                <a:cs typeface="Arial"/>
              </a:defRPr>
            </a:pPr>
            <a:r>
              <a:rPr sz="1500" b="0">
                <a:solidFill>
                  <a:srgbClr val="17212B"/>
                </a:solidFill>
                <a:latin typeface="Arial"/>
                <a:ea typeface="Arial"/>
                <a:cs typeface="Arial"/>
              </a:rPr>
              <a:t>Require complete attested history, actual fee receipts,</a:t>
            </a:r>
          </a:p>
          <a:p>
            <a:pPr algn="l">
              <a:defRPr sz="1500" b="0">
                <a:solidFill>
                  <a:srgbClr val="17212B"/>
                </a:solidFill>
                <a:latin typeface="Arial"/>
                <a:ea typeface="Arial"/>
                <a:cs typeface="Arial"/>
              </a:defRPr>
            </a:pPr>
            <a:r>
              <a:rPr sz="1500" b="0">
                <a:solidFill>
                  <a:srgbClr val="17212B"/>
                </a:solidFill>
                <a:latin typeface="Arial"/>
                <a:ea typeface="Arial"/>
                <a:cs typeface="Arial"/>
              </a:rPr>
              <a:t>matching balances and dated G/H labels for service E.</a:t>
            </a:r>
          </a:p>
          <a:p>
            <a:pPr algn="l">
              <a:defRPr sz="1500" b="0">
                <a:solidFill>
                  <a:srgbClr val="17212B"/>
                </a:solidFill>
                <a:latin typeface="Arial"/>
                <a:ea typeface="Arial"/>
                <a:cs typeface="Arial"/>
              </a:defRPr>
            </a:pPr>
            <a:r>
              <a:rPr sz="1500" b="0">
                <a:solidFill>
                  <a:srgbClr val="17212B"/>
                </a:solidFill>
                <a:latin typeface="Arial"/>
                <a:ea typeface="Arial"/>
                <a:cs typeface="Arial"/>
              </a:rPr>
              <a:t>Reject conflicts, unexplained flows or missing evidence.</a:t>
            </a:r>
          </a:p>
        </p:txBody>
      </p:sp>
      <p:sp>
        <p:nvSpPr>
          <p:cNvPr id="17417" name="tsf_34">
            <a:extLst>
              <a:ext uri="{FF2B5EF4-FFF2-40B4-BE49-F238E27FC236}">
                <a16:creationId xmlns:a16="http://schemas.microsoft.com/office/drawing/2014/main" id="{08D0FCD2-0F3B-48CC-9866-704F09151921}"/>
              </a:ext>
            </a:extLst>
          </p:cNvPr>
          <p:cNvSpPr>
            <a:spLocks noGrp="1"/>
          </p:cNvSpPr>
          <p:nvPr/>
        </p:nvSpPr>
        <p:spPr>
          <a:xfrm>
            <a:off x="419100" y="5876925"/>
            <a:ext cx="5486400" cy="438150"/>
          </a:xfrm>
          <a:prstGeom prst="rect">
            <a:avLst/>
          </a:prstGeom>
          <a:noFill/>
          <a:ln w="9525">
            <a:noFill/>
          </a:ln>
        </p:spPr>
        <p:txBody>
          <a:bodyPr wrap="square" lIns="0" tIns="0" rIns="0" bIns="0" anchor="t">
            <a:noAutofit/>
          </a:bodyPr>
          <a:lstStyle>
            <a:defPPr algn="l">
              <a:defRPr sz="1350" b="0">
                <a:solidFill>
                  <a:srgbClr val="55606B"/>
                </a:solidFill>
                <a:latin typeface="Arial"/>
                <a:ea typeface="Arial"/>
                <a:cs typeface="Arial"/>
              </a:defRPr>
            </a:defPPr>
          </a:lstStyle>
          <a:p>
            <a:pPr algn="l">
              <a:defRPr sz="1350" b="0">
                <a:solidFill>
                  <a:srgbClr val="55606B"/>
                </a:solidFill>
                <a:latin typeface="Arial"/>
                <a:ea typeface="Arial"/>
                <a:cs typeface="Arial"/>
              </a:defRPr>
            </a:pPr>
            <a:r>
              <a:rPr sz="1350" b="0">
                <a:solidFill>
                  <a:srgbClr val="55606B"/>
                </a:solidFill>
                <a:latin typeface="Arial"/>
                <a:ea typeface="Arial"/>
                <a:cs typeface="Arial"/>
              </a:rPr>
              <a:t>Synthetic integer units. Three cycles is an uncalibrated</a:t>
            </a:r>
          </a:p>
          <a:p>
            <a:pPr algn="l">
              <a:defRPr sz="1350" b="0">
                <a:solidFill>
                  <a:srgbClr val="55606B"/>
                </a:solidFill>
                <a:latin typeface="Arial"/>
                <a:ea typeface="Arial"/>
                <a:cs typeface="Arial"/>
              </a:defRPr>
            </a:pPr>
            <a:r>
              <a:rPr sz="1350" b="0">
                <a:solidFill>
                  <a:srgbClr val="55606B"/>
                </a:solidFill>
                <a:latin typeface="Arial"/>
                <a:ea typeface="Arial"/>
                <a:cs typeface="Arial"/>
              </a:rPr>
              <a:t>research setting, not a confidence percentage.</a:t>
            </a:r>
          </a:p>
        </p:txBody>
      </p:sp>
      <p:sp>
        <p:nvSpPr>
          <p:cNvPr id="17418" name="tsf_35">
            <a:extLst>
              <a:ext uri="{FF2B5EF4-FFF2-40B4-BE49-F238E27FC236}">
                <a16:creationId xmlns:a16="http://schemas.microsoft.com/office/drawing/2014/main" id="{E354B3D4-17EB-4E87-8202-FD5D2A9325AA}"/>
              </a:ext>
            </a:extLst>
          </p:cNvPr>
          <p:cNvSpPr>
            <a:spLocks noGrp="1"/>
          </p:cNvSpPr>
          <p:nvPr/>
        </p:nvSpPr>
        <p:spPr>
          <a:xfrm>
            <a:off x="6172200" y="1962150"/>
            <a:ext cx="0" cy="4257675"/>
          </a:xfrm>
          <a:prstGeom prst="line">
            <a:avLst/>
          </a:prstGeom>
          <a:noFill/>
          <a:ln w="9525">
            <a:solidFill>
              <a:srgbClr val="C8CDD1"/>
            </a:solidFill>
          </a:ln>
        </p:spPr>
      </p:sp>
      <p:sp>
        <p:nvSpPr>
          <p:cNvPr id="17419" name="tsf_36">
            <a:extLst>
              <a:ext uri="{FF2B5EF4-FFF2-40B4-BE49-F238E27FC236}">
                <a16:creationId xmlns:a16="http://schemas.microsoft.com/office/drawing/2014/main" id="{C226DAC5-08E5-4579-B28F-4C22C6BCB2A2}"/>
              </a:ext>
            </a:extLst>
          </p:cNvPr>
          <p:cNvSpPr>
            <a:spLocks noGrp="1"/>
          </p:cNvSpPr>
          <p:nvPr/>
        </p:nvSpPr>
        <p:spPr>
          <a:xfrm>
            <a:off x="6438900" y="1962150"/>
            <a:ext cx="5276850" cy="285750"/>
          </a:xfrm>
          <a:prstGeom prst="rect">
            <a:avLst/>
          </a:prstGeom>
          <a:noFill/>
          <a:ln w="9525">
            <a:noFill/>
          </a:ln>
        </p:spPr>
        <p:txBody>
          <a:bodyPr wrap="square" lIns="0" tIns="0" rIns="0" bIns="0" anchor="t">
            <a:noAutofit/>
          </a:bodyPr>
          <a:lstStyle>
            <a:defPPr algn="l">
              <a:defRPr sz="1725" b="1">
                <a:solidFill>
                  <a:srgbClr val="17212B"/>
                </a:solidFill>
                <a:latin typeface="Arial"/>
                <a:ea typeface="Arial"/>
                <a:cs typeface="Arial"/>
              </a:defRPr>
            </a:defPPr>
          </a:lstStyle>
          <a:p>
            <a:pPr algn="l">
              <a:defRPr sz="1725" b="1">
                <a:solidFill>
                  <a:srgbClr val="17212B"/>
                </a:solidFill>
                <a:latin typeface="Arial"/>
                <a:ea typeface="Arial"/>
                <a:cs typeface="Arial"/>
              </a:defRPr>
            </a:pPr>
            <a:r>
              <a:rPr sz="1725" b="1">
                <a:solidFill>
                  <a:srgbClr val="17212B"/>
                </a:solidFill>
                <a:latin typeface="Arial"/>
                <a:ea typeface="Arial"/>
                <a:cs typeface="Arial"/>
              </a:rPr>
              <a:t>2. Find the first service on each path [3]</a:t>
            </a:r>
          </a:p>
        </p:txBody>
      </p:sp>
      <p:sp>
        <p:nvSpPr>
          <p:cNvPr id="17420" name="tsf_37">
            <a:extLst>
              <a:ext uri="{FF2B5EF4-FFF2-40B4-BE49-F238E27FC236}">
                <a16:creationId xmlns:a16="http://schemas.microsoft.com/office/drawing/2014/main" id="{7FB97A65-6C13-41A3-8705-4270FDD04ED0}"/>
              </a:ext>
            </a:extLst>
          </p:cNvPr>
          <p:cNvSpPr>
            <a:spLocks noGrp="1"/>
          </p:cNvSpPr>
          <p:nvPr/>
        </p:nvSpPr>
        <p:spPr>
          <a:xfrm>
            <a:off x="6457950" y="2400300"/>
            <a:ext cx="276225" cy="257175"/>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rPr>
              <a:t>1</a:t>
            </a:r>
          </a:p>
        </p:txBody>
      </p:sp>
      <p:sp>
        <p:nvSpPr>
          <p:cNvPr id="17421" name="tsf_38">
            <a:extLst>
              <a:ext uri="{FF2B5EF4-FFF2-40B4-BE49-F238E27FC236}">
                <a16:creationId xmlns:a16="http://schemas.microsoft.com/office/drawing/2014/main" id="{10AE6780-166E-4645-A45D-96CD11D98A5B}"/>
              </a:ext>
            </a:extLst>
          </p:cNvPr>
          <p:cNvSpPr>
            <a:spLocks noGrp="1"/>
          </p:cNvSpPr>
          <p:nvPr/>
        </p:nvSpPr>
        <p:spPr>
          <a:xfrm>
            <a:off x="6838950" y="2400300"/>
            <a:ext cx="4848225" cy="257175"/>
          </a:xfrm>
          <a:prstGeom prst="rect">
            <a:avLst/>
          </a:prstGeom>
          <a:noFill/>
          <a:ln w="9525">
            <a:noFill/>
          </a:ln>
        </p:spPr>
        <p:txBody>
          <a:bodyPr wrap="square" lIns="0" tIns="0" rIns="0" bIns="0" anchor="t">
            <a:noAutofit/>
          </a:bodyPr>
          <a:lstStyle>
            <a:defPPr algn="l">
              <a:defRPr sz="1650" b="1">
                <a:solidFill>
                  <a:srgbClr val="17212B"/>
                </a:solidFill>
                <a:latin typeface="Arial"/>
                <a:ea typeface="Arial"/>
                <a:cs typeface="Arial"/>
              </a:defRPr>
            </a:defPPr>
          </a:lstStyle>
          <a:p>
            <a:pPr algn="l">
              <a:defRPr sz="1650" b="1">
                <a:solidFill>
                  <a:srgbClr val="17212B"/>
                </a:solidFill>
                <a:latin typeface="Arial"/>
                <a:ea typeface="Arial"/>
                <a:cs typeface="Arial"/>
              </a:defRPr>
            </a:pPr>
            <a:r>
              <a:rPr sz="1650" b="1">
                <a:solidFill>
                  <a:srgbClr val="17212B"/>
                </a:solidFill>
                <a:latin typeface="Arial"/>
                <a:ea typeface="Arial"/>
                <a:cs typeface="Arial"/>
              </a:rPr>
              <a:t>Start with R</a:t>
            </a:r>
          </a:p>
        </p:txBody>
      </p:sp>
      <p:sp>
        <p:nvSpPr>
          <p:cNvPr id="17422" name="tsf_39">
            <a:extLst>
              <a:ext uri="{FF2B5EF4-FFF2-40B4-BE49-F238E27FC236}">
                <a16:creationId xmlns:a16="http://schemas.microsoft.com/office/drawing/2014/main" id="{B941E9EF-6EDF-4ED8-830F-45FD6A3B8304}"/>
              </a:ext>
            </a:extLst>
          </p:cNvPr>
          <p:cNvSpPr>
            <a:spLocks noGrp="1"/>
          </p:cNvSpPr>
          <p:nvPr/>
        </p:nvSpPr>
        <p:spPr>
          <a:xfrm>
            <a:off x="6838950" y="2686050"/>
            <a:ext cx="4848225" cy="28575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Queue the address, asset, arrival event and path.</a:t>
            </a:r>
          </a:p>
        </p:txBody>
      </p:sp>
      <p:sp>
        <p:nvSpPr>
          <p:cNvPr id="17423" name="tsf_40">
            <a:extLst>
              <a:ext uri="{FF2B5EF4-FFF2-40B4-BE49-F238E27FC236}">
                <a16:creationId xmlns:a16="http://schemas.microsoft.com/office/drawing/2014/main" id="{901DD0F5-0ED5-4FB8-8918-400BE7EA3ABA}"/>
              </a:ext>
            </a:extLst>
          </p:cNvPr>
          <p:cNvSpPr>
            <a:spLocks noGrp="1"/>
          </p:cNvSpPr>
          <p:nvPr/>
        </p:nvSpPr>
        <p:spPr>
          <a:xfrm>
            <a:off x="6457950" y="3028950"/>
            <a:ext cx="276225" cy="257175"/>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rPr>
              <a:t>2</a:t>
            </a:r>
          </a:p>
        </p:txBody>
      </p:sp>
      <p:sp>
        <p:nvSpPr>
          <p:cNvPr id="17424" name="tsf_41">
            <a:extLst>
              <a:ext uri="{FF2B5EF4-FFF2-40B4-BE49-F238E27FC236}">
                <a16:creationId xmlns:a16="http://schemas.microsoft.com/office/drawing/2014/main" id="{328B9C26-5AB4-43BA-B31A-A736C175DFB9}"/>
              </a:ext>
            </a:extLst>
          </p:cNvPr>
          <p:cNvSpPr>
            <a:spLocks noGrp="1"/>
          </p:cNvSpPr>
          <p:nvPr/>
        </p:nvSpPr>
        <p:spPr>
          <a:xfrm>
            <a:off x="6838950" y="3028950"/>
            <a:ext cx="4848225" cy="257175"/>
          </a:xfrm>
          <a:prstGeom prst="rect">
            <a:avLst/>
          </a:prstGeom>
          <a:noFill/>
          <a:ln w="9525">
            <a:noFill/>
          </a:ln>
        </p:spPr>
        <p:txBody>
          <a:bodyPr wrap="square" lIns="0" tIns="0" rIns="0" bIns="0" anchor="t">
            <a:noAutofit/>
          </a:bodyPr>
          <a:lstStyle>
            <a:defPPr algn="l">
              <a:defRPr sz="1650" b="1">
                <a:solidFill>
                  <a:srgbClr val="17212B"/>
                </a:solidFill>
                <a:latin typeface="Arial"/>
                <a:ea typeface="Arial"/>
                <a:cs typeface="Arial"/>
              </a:defRPr>
            </a:defPPr>
          </a:lstStyle>
          <a:p>
            <a:pPr algn="l">
              <a:defRPr sz="1650" b="1">
                <a:solidFill>
                  <a:srgbClr val="17212B"/>
                </a:solidFill>
                <a:latin typeface="Arial"/>
                <a:ea typeface="Arial"/>
                <a:cs typeface="Arial"/>
              </a:defRPr>
            </a:pPr>
            <a:r>
              <a:rPr sz="1650" b="1">
                <a:solidFill>
                  <a:srgbClr val="17212B"/>
                </a:solidFill>
                <a:latin typeface="Arial"/>
                <a:ea typeface="Arial"/>
                <a:cs typeface="Arial"/>
              </a:rPr>
              <a:t>Expand one transfer at a time</a:t>
            </a:r>
          </a:p>
        </p:txBody>
      </p:sp>
      <p:sp>
        <p:nvSpPr>
          <p:cNvPr id="17425" name="tsf_42">
            <a:extLst>
              <a:ext uri="{FF2B5EF4-FFF2-40B4-BE49-F238E27FC236}">
                <a16:creationId xmlns:a16="http://schemas.microsoft.com/office/drawing/2014/main" id="{468FCC77-AE0C-4D8A-993C-29380681E6B3}"/>
              </a:ext>
            </a:extLst>
          </p:cNvPr>
          <p:cNvSpPr>
            <a:spLocks noGrp="1"/>
          </p:cNvSpPr>
          <p:nvPr/>
        </p:nvSpPr>
        <p:spPr>
          <a:xfrm>
            <a:off x="6838950" y="3314700"/>
            <a:ext cx="4848225" cy="28575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Breadth-first search checks fewer hops first.</a:t>
            </a:r>
          </a:p>
        </p:txBody>
      </p:sp>
      <p:sp>
        <p:nvSpPr>
          <p:cNvPr id="17426" name="tsf_43">
            <a:extLst>
              <a:ext uri="{FF2B5EF4-FFF2-40B4-BE49-F238E27FC236}">
                <a16:creationId xmlns:a16="http://schemas.microsoft.com/office/drawing/2014/main" id="{BEC52FAF-00A7-4071-A4C9-67DC8816E129}"/>
              </a:ext>
            </a:extLst>
          </p:cNvPr>
          <p:cNvSpPr>
            <a:spLocks noGrp="1"/>
          </p:cNvSpPr>
          <p:nvPr/>
        </p:nvSpPr>
        <p:spPr>
          <a:xfrm>
            <a:off x="6457950" y="3657600"/>
            <a:ext cx="276225" cy="257175"/>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rPr>
              <a:t>3</a:t>
            </a:r>
          </a:p>
        </p:txBody>
      </p:sp>
      <p:sp>
        <p:nvSpPr>
          <p:cNvPr id="17427" name="tsf_44">
            <a:extLst>
              <a:ext uri="{FF2B5EF4-FFF2-40B4-BE49-F238E27FC236}">
                <a16:creationId xmlns:a16="http://schemas.microsoft.com/office/drawing/2014/main" id="{B19700F3-7E12-422C-8C09-68CFA2C207F3}"/>
              </a:ext>
            </a:extLst>
          </p:cNvPr>
          <p:cNvSpPr>
            <a:spLocks noGrp="1"/>
          </p:cNvSpPr>
          <p:nvPr/>
        </p:nvSpPr>
        <p:spPr>
          <a:xfrm>
            <a:off x="6838950" y="3657600"/>
            <a:ext cx="4848225" cy="257175"/>
          </a:xfrm>
          <a:prstGeom prst="rect">
            <a:avLst/>
          </a:prstGeom>
          <a:noFill/>
          <a:ln w="9525">
            <a:noFill/>
          </a:ln>
        </p:spPr>
        <p:txBody>
          <a:bodyPr wrap="square" lIns="0" tIns="0" rIns="0" bIns="0" anchor="t">
            <a:noAutofit/>
          </a:bodyPr>
          <a:lstStyle>
            <a:defPPr algn="l">
              <a:defRPr sz="1650" b="1">
                <a:solidFill>
                  <a:srgbClr val="17212B"/>
                </a:solidFill>
                <a:latin typeface="Arial"/>
                <a:ea typeface="Arial"/>
                <a:cs typeface="Arial"/>
              </a:defRPr>
            </a:defPPr>
          </a:lstStyle>
          <a:p>
            <a:pPr algn="l">
              <a:defRPr sz="1650" b="1">
                <a:solidFill>
                  <a:srgbClr val="17212B"/>
                </a:solidFill>
                <a:latin typeface="Arial"/>
                <a:ea typeface="Arial"/>
                <a:cs typeface="Arial"/>
              </a:defRPr>
            </a:pPr>
            <a:r>
              <a:rPr sz="1650" b="1">
                <a:solidFill>
                  <a:srgbClr val="17212B"/>
                </a:solidFill>
                <a:latin typeface="Arial"/>
                <a:ea typeface="Arial"/>
                <a:cs typeface="Arial"/>
              </a:rPr>
              <a:t>Keep ledger order</a:t>
            </a:r>
          </a:p>
        </p:txBody>
      </p:sp>
      <p:sp>
        <p:nvSpPr>
          <p:cNvPr id="17428" name="tsf_45">
            <a:extLst>
              <a:ext uri="{FF2B5EF4-FFF2-40B4-BE49-F238E27FC236}">
                <a16:creationId xmlns:a16="http://schemas.microsoft.com/office/drawing/2014/main" id="{A77F9F2D-BE31-4BC8-8158-CE81774CA2DB}"/>
              </a:ext>
            </a:extLst>
          </p:cNvPr>
          <p:cNvSpPr>
            <a:spLocks noGrp="1"/>
          </p:cNvSpPr>
          <p:nvPr/>
        </p:nvSpPr>
        <p:spPr>
          <a:xfrm>
            <a:off x="6838950" y="3943350"/>
            <a:ext cx="4848225" cy="28575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A later receipt cannot fund an earlier transfer.</a:t>
            </a:r>
          </a:p>
        </p:txBody>
      </p:sp>
      <p:sp>
        <p:nvSpPr>
          <p:cNvPr id="17429" name="tsf_46">
            <a:extLst>
              <a:ext uri="{FF2B5EF4-FFF2-40B4-BE49-F238E27FC236}">
                <a16:creationId xmlns:a16="http://schemas.microsoft.com/office/drawing/2014/main" id="{0A2B1BCD-BE81-4E62-A524-EE1DB4E3D49B}"/>
              </a:ext>
            </a:extLst>
          </p:cNvPr>
          <p:cNvSpPr>
            <a:spLocks noGrp="1"/>
          </p:cNvSpPr>
          <p:nvPr/>
        </p:nvSpPr>
        <p:spPr>
          <a:xfrm>
            <a:off x="6457950" y="4286250"/>
            <a:ext cx="276225" cy="257175"/>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rPr>
              <a:t>4</a:t>
            </a:r>
          </a:p>
        </p:txBody>
      </p:sp>
      <p:sp>
        <p:nvSpPr>
          <p:cNvPr id="17430" name="tsf_47">
            <a:extLst>
              <a:ext uri="{FF2B5EF4-FFF2-40B4-BE49-F238E27FC236}">
                <a16:creationId xmlns:a16="http://schemas.microsoft.com/office/drawing/2014/main" id="{034F930A-F996-4B7C-ABF8-1D88D680910D}"/>
              </a:ext>
            </a:extLst>
          </p:cNvPr>
          <p:cNvSpPr>
            <a:spLocks noGrp="1"/>
          </p:cNvSpPr>
          <p:nvPr/>
        </p:nvSpPr>
        <p:spPr>
          <a:xfrm>
            <a:off x="6838950" y="4286250"/>
            <a:ext cx="4848225" cy="257175"/>
          </a:xfrm>
          <a:prstGeom prst="rect">
            <a:avLst/>
          </a:prstGeom>
          <a:noFill/>
          <a:ln w="9525">
            <a:noFill/>
          </a:ln>
        </p:spPr>
        <p:txBody>
          <a:bodyPr wrap="square" lIns="0" tIns="0" rIns="0" bIns="0" anchor="t">
            <a:noAutofit/>
          </a:bodyPr>
          <a:lstStyle>
            <a:defPPr algn="l">
              <a:defRPr sz="1650" b="1">
                <a:solidFill>
                  <a:srgbClr val="17212B"/>
                </a:solidFill>
                <a:latin typeface="Arial"/>
                <a:ea typeface="Arial"/>
                <a:cs typeface="Arial"/>
              </a:defRPr>
            </a:defPPr>
          </a:lstStyle>
          <a:p>
            <a:pPr algn="l">
              <a:defRPr sz="1650" b="1">
                <a:solidFill>
                  <a:srgbClr val="17212B"/>
                </a:solidFill>
                <a:latin typeface="Arial"/>
                <a:ea typeface="Arial"/>
                <a:cs typeface="Arial"/>
              </a:defRPr>
            </a:pPr>
            <a:r>
              <a:rPr sz="1650" b="1">
                <a:solidFill>
                  <a:srgbClr val="17212B"/>
                </a:solidFill>
                <a:latin typeface="Arial"/>
                <a:ea typeface="Arial"/>
                <a:cs typeface="Arial"/>
              </a:rPr>
              <a:t>Check the receiving address</a:t>
            </a:r>
          </a:p>
        </p:txBody>
      </p:sp>
      <p:sp>
        <p:nvSpPr>
          <p:cNvPr id="17431" name="tsf_48">
            <a:extLst>
              <a:ext uri="{FF2B5EF4-FFF2-40B4-BE49-F238E27FC236}">
                <a16:creationId xmlns:a16="http://schemas.microsoft.com/office/drawing/2014/main" id="{509AC1BB-5AAE-420B-BA3F-6FF6D461A067}"/>
              </a:ext>
            </a:extLst>
          </p:cNvPr>
          <p:cNvSpPr>
            <a:spLocks noGrp="1"/>
          </p:cNvSpPr>
          <p:nvPr/>
        </p:nvSpPr>
        <p:spPr>
          <a:xfrm>
            <a:off x="6838950" y="4572000"/>
            <a:ext cx="4848225" cy="28575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Join dated service labels and deposit assessments.</a:t>
            </a:r>
          </a:p>
        </p:txBody>
      </p:sp>
      <p:sp>
        <p:nvSpPr>
          <p:cNvPr id="17432" name="tsf_49">
            <a:extLst>
              <a:ext uri="{FF2B5EF4-FFF2-40B4-BE49-F238E27FC236}">
                <a16:creationId xmlns:a16="http://schemas.microsoft.com/office/drawing/2014/main" id="{2A8E8521-B695-4E9F-B201-E358E0C433A5}"/>
              </a:ext>
            </a:extLst>
          </p:cNvPr>
          <p:cNvSpPr>
            <a:spLocks noGrp="1"/>
          </p:cNvSpPr>
          <p:nvPr/>
        </p:nvSpPr>
        <p:spPr>
          <a:xfrm>
            <a:off x="6457950" y="4914900"/>
            <a:ext cx="276225" cy="257175"/>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rPr>
              <a:t>5</a:t>
            </a:r>
          </a:p>
        </p:txBody>
      </p:sp>
      <p:sp>
        <p:nvSpPr>
          <p:cNvPr id="17433" name="tsf_50">
            <a:extLst>
              <a:ext uri="{FF2B5EF4-FFF2-40B4-BE49-F238E27FC236}">
                <a16:creationId xmlns:a16="http://schemas.microsoft.com/office/drawing/2014/main" id="{A5CA288A-61E2-4539-8964-7025DCF2AC1B}"/>
              </a:ext>
            </a:extLst>
          </p:cNvPr>
          <p:cNvSpPr>
            <a:spLocks noGrp="1"/>
          </p:cNvSpPr>
          <p:nvPr/>
        </p:nvSpPr>
        <p:spPr>
          <a:xfrm>
            <a:off x="6838950" y="4914900"/>
            <a:ext cx="4848225" cy="257175"/>
          </a:xfrm>
          <a:prstGeom prst="rect">
            <a:avLst/>
          </a:prstGeom>
          <a:noFill/>
          <a:ln w="9525">
            <a:noFill/>
          </a:ln>
        </p:spPr>
        <p:txBody>
          <a:bodyPr wrap="square" lIns="0" tIns="0" rIns="0" bIns="0" anchor="t">
            <a:noAutofit/>
          </a:bodyPr>
          <a:lstStyle>
            <a:defPPr algn="l">
              <a:defRPr sz="1650" b="1">
                <a:solidFill>
                  <a:srgbClr val="17212B"/>
                </a:solidFill>
                <a:latin typeface="Arial"/>
                <a:ea typeface="Arial"/>
                <a:cs typeface="Arial"/>
              </a:defRPr>
            </a:defPPr>
          </a:lstStyle>
          <a:p>
            <a:pPr algn="l">
              <a:defRPr sz="1650" b="1">
                <a:solidFill>
                  <a:srgbClr val="17212B"/>
                </a:solidFill>
                <a:latin typeface="Arial"/>
                <a:ea typeface="Arial"/>
                <a:cs typeface="Arial"/>
              </a:defRPr>
            </a:pPr>
            <a:r>
              <a:rPr sz="1650" b="1">
                <a:solidFill>
                  <a:srgbClr val="17212B"/>
                </a:solidFill>
                <a:latin typeface="Arial"/>
                <a:ea typeface="Arial"/>
                <a:cs typeface="Arial"/>
              </a:rPr>
              <a:t>Stop at custody or a gap</a:t>
            </a:r>
          </a:p>
        </p:txBody>
      </p:sp>
      <p:sp>
        <p:nvSpPr>
          <p:cNvPr id="17434" name="tsf_51">
            <a:extLst>
              <a:ext uri="{FF2B5EF4-FFF2-40B4-BE49-F238E27FC236}">
                <a16:creationId xmlns:a16="http://schemas.microsoft.com/office/drawing/2014/main" id="{67A78107-1AF5-4813-8E18-DBA7457A801E}"/>
              </a:ext>
            </a:extLst>
          </p:cNvPr>
          <p:cNvSpPr>
            <a:spLocks noGrp="1"/>
          </p:cNvSpPr>
          <p:nvPr/>
        </p:nvSpPr>
        <p:spPr>
          <a:xfrm>
            <a:off x="6838950" y="5200650"/>
            <a:ext cx="4848225" cy="28575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Return the service, address, path and unresolved leads.</a:t>
            </a:r>
          </a:p>
        </p:txBody>
      </p:sp>
      <p:sp>
        <p:nvSpPr>
          <p:cNvPr id="17435" name="tsf_52">
            <a:extLst>
              <a:ext uri="{FF2B5EF4-FFF2-40B4-BE49-F238E27FC236}">
                <a16:creationId xmlns:a16="http://schemas.microsoft.com/office/drawing/2014/main" id="{79E68AC2-516B-4638-BA59-CACF225D90F4}"/>
              </a:ext>
            </a:extLst>
          </p:cNvPr>
          <p:cNvSpPr>
            <a:spLocks noGrp="1"/>
          </p:cNvSpPr>
          <p:nvPr/>
        </p:nvSpPr>
        <p:spPr>
          <a:xfrm>
            <a:off x="6448425" y="5619750"/>
            <a:ext cx="5267325" cy="0"/>
          </a:xfrm>
          <a:prstGeom prst="line">
            <a:avLst/>
          </a:prstGeom>
          <a:noFill/>
          <a:ln w="9525">
            <a:solidFill>
              <a:srgbClr val="C8CDD1"/>
            </a:solidFill>
          </a:ln>
        </p:spPr>
      </p:sp>
      <p:sp>
        <p:nvSpPr>
          <p:cNvPr id="17436" name="tsf_53">
            <a:extLst>
              <a:ext uri="{FF2B5EF4-FFF2-40B4-BE49-F238E27FC236}">
                <a16:creationId xmlns:a16="http://schemas.microsoft.com/office/drawing/2014/main" id="{88DF56A1-37EF-4F86-9AEC-36EF33A6BBA7}"/>
              </a:ext>
            </a:extLst>
          </p:cNvPr>
          <p:cNvSpPr>
            <a:spLocks noGrp="1"/>
          </p:cNvSpPr>
          <p:nvPr/>
        </p:nvSpPr>
        <p:spPr>
          <a:xfrm>
            <a:off x="6448425" y="5800725"/>
            <a:ext cx="5267325" cy="457200"/>
          </a:xfrm>
          <a:prstGeom prst="rect">
            <a:avLst/>
          </a:prstGeom>
          <a:noFill/>
          <a:ln w="9525">
            <a:noFill/>
          </a:ln>
        </p:spPr>
        <p:txBody>
          <a:bodyPr wrap="square" lIns="0" tIns="0" rIns="0" bIns="0" anchor="t">
            <a:noAutofit/>
          </a:bodyPr>
          <a:lstStyle>
            <a:defPPr algn="l">
              <a:defRPr sz="1500" b="1">
                <a:solidFill>
                  <a:srgbClr val="9B6018"/>
                </a:solidFill>
                <a:latin typeface="Arial"/>
                <a:ea typeface="Arial"/>
                <a:cs typeface="Arial"/>
              </a:defRPr>
            </a:defPPr>
          </a:lstStyle>
          <a:p>
            <a:pPr algn="l">
              <a:defRPr sz="1500" b="1">
                <a:solidFill>
                  <a:srgbClr val="9B6018"/>
                </a:solidFill>
                <a:latin typeface="Arial"/>
                <a:ea typeface="Arial"/>
                <a:cs typeface="Arial"/>
              </a:defRPr>
            </a:pPr>
            <a:r>
              <a:rPr sz="1500" b="1">
                <a:solidFill>
                  <a:srgbClr val="9B6018"/>
                </a:solidFill>
                <a:latin typeface="Arial"/>
                <a:ea typeface="Arial"/>
                <a:cs typeface="Arial"/>
              </a:rPr>
              <a:t>“Nearest” means fewest observed transfers in scope.</a:t>
            </a:r>
          </a:p>
          <a:p>
            <a:pPr algn="l">
              <a:defRPr sz="1500" b="1">
                <a:solidFill>
                  <a:srgbClr val="9B6018"/>
                </a:solidFill>
                <a:latin typeface="Arial"/>
                <a:ea typeface="Arial"/>
                <a:cs typeface="Arial"/>
              </a:defRPr>
            </a:pPr>
            <a:r>
              <a:rPr sz="1500" b="1">
                <a:solidFill>
                  <a:srgbClr val="9B6018"/>
                </a:solidFill>
                <a:latin typeface="Arial"/>
                <a:ea typeface="Arial"/>
                <a:cs typeface="Arial"/>
              </a:rPr>
              <a:t>A customer can imitate the pattern. D stays unconfirmed.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3" name="tsf_54">
            <a:extLst>
              <a:ext uri="{FF2B5EF4-FFF2-40B4-BE49-F238E27FC236}">
                <a16:creationId xmlns:a16="http://schemas.microsoft.com/office/drawing/2014/main" id="{0A081A5A-F989-43F1-BEF2-A63AFE580290}"/>
              </a:ext>
            </a:extLst>
          </p:cNvPr>
          <p:cNvSpPr>
            <a:spLocks noGrp="1"/>
          </p:cNvSpPr>
          <p:nvPr/>
        </p:nvSpPr>
        <p:spPr>
          <a:xfrm>
            <a:off x="419100" y="1371600"/>
            <a:ext cx="11334750" cy="352425"/>
          </a:xfrm>
          <a:prstGeom prst="rect">
            <a:avLst/>
          </a:prstGeom>
          <a:noFill/>
          <a:ln w="9525">
            <a:noFill/>
          </a:ln>
        </p:spPr>
        <p:txBody>
          <a:bodyPr wrap="square" lIns="0" tIns="0" rIns="0" bIns="0" anchor="t">
            <a:noAutofit/>
          </a:bodyPr>
          <a:lstStyle>
            <a:defPPr algn="l">
              <a:defRPr sz="2100" b="1">
                <a:solidFill>
                  <a:srgbClr val="1F497D"/>
                </a:solidFill>
                <a:latin typeface="Arial"/>
                <a:ea typeface="Arial"/>
                <a:cs typeface="Arial"/>
              </a:defRPr>
            </a:defPPr>
          </a:lstStyle>
          <a:p>
            <a:pPr algn="l">
              <a:defRPr sz="2100" b="1">
                <a:solidFill>
                  <a:srgbClr val="1F497D"/>
                </a:solidFill>
                <a:latin typeface="Arial"/>
                <a:ea typeface="Arial"/>
                <a:cs typeface="Arial"/>
              </a:defRPr>
            </a:pPr>
            <a:r>
              <a:rPr sz="2100" b="1">
                <a:solidFill>
                  <a:srgbClr val="1F497D"/>
                </a:solidFill>
                <a:latin typeface="Arial"/>
                <a:ea typeface="Arial"/>
                <a:cs typeface="Arial"/>
              </a:rPr>
              <a:t>A 36-hour demo is feasible on the existing foundation</a:t>
            </a:r>
          </a:p>
        </p:txBody>
      </p:sp>
      <p:sp>
        <p:nvSpPr>
          <p:cNvPr id="17414" name="tsf_55">
            <a:extLst>
              <a:ext uri="{FF2B5EF4-FFF2-40B4-BE49-F238E27FC236}">
                <a16:creationId xmlns:a16="http://schemas.microsoft.com/office/drawing/2014/main" id="{00226B1A-DAE8-43C5-A6F8-9356E7C183E6}"/>
              </a:ext>
            </a:extLst>
          </p:cNvPr>
          <p:cNvSpPr>
            <a:spLocks noGrp="1"/>
          </p:cNvSpPr>
          <p:nvPr/>
        </p:nvSpPr>
        <p:spPr>
          <a:xfrm>
            <a:off x="419100" y="1895475"/>
            <a:ext cx="3600450" cy="295275"/>
          </a:xfrm>
          <a:prstGeom prst="rect">
            <a:avLst/>
          </a:prstGeom>
          <a:noFill/>
          <a:ln w="9525">
            <a:noFill/>
          </a:ln>
        </p:spPr>
        <p:txBody>
          <a:bodyPr wrap="square" lIns="0" tIns="0" rIns="0" bIns="0" anchor="t">
            <a:noAutofit/>
          </a:bodyPr>
          <a:lstStyle>
            <a:defPPr algn="l">
              <a:defRPr sz="1800" b="1">
                <a:solidFill>
                  <a:srgbClr val="17212B"/>
                </a:solidFill>
                <a:latin typeface="Arial"/>
                <a:ea typeface="Arial"/>
                <a:cs typeface="Arial"/>
              </a:defRPr>
            </a:defPPr>
          </a:lstStyle>
          <a:p>
            <a:pPr algn="l">
              <a:defRPr sz="1800" b="1">
                <a:solidFill>
                  <a:srgbClr val="17212B"/>
                </a:solidFill>
                <a:latin typeface="Arial"/>
                <a:ea typeface="Arial"/>
                <a:cs typeface="Arial"/>
              </a:defRPr>
            </a:pPr>
            <a:r>
              <a:rPr sz="1800" b="1">
                <a:solidFill>
                  <a:srgbClr val="17212B"/>
                </a:solidFill>
                <a:latin typeface="Arial"/>
                <a:ea typeface="Arial"/>
                <a:cs typeface="Arial"/>
              </a:rPr>
              <a:t>Hackathon scope</a:t>
            </a:r>
          </a:p>
        </p:txBody>
      </p:sp>
      <p:sp>
        <p:nvSpPr>
          <p:cNvPr id="17415" name="tsf_56">
            <a:extLst>
              <a:ext uri="{FF2B5EF4-FFF2-40B4-BE49-F238E27FC236}">
                <a16:creationId xmlns:a16="http://schemas.microsoft.com/office/drawing/2014/main" id="{F38F27FF-6570-43F0-AF71-86638EE97475}"/>
              </a:ext>
            </a:extLst>
          </p:cNvPr>
          <p:cNvSpPr>
            <a:spLocks noGrp="1"/>
          </p:cNvSpPr>
          <p:nvPr/>
        </p:nvSpPr>
        <p:spPr>
          <a:xfrm>
            <a:off x="419100" y="2333625"/>
            <a:ext cx="942975" cy="295275"/>
          </a:xfrm>
          <a:prstGeom prst="rect">
            <a:avLst/>
          </a:prstGeom>
          <a:noFill/>
          <a:ln w="9525">
            <a:noFill/>
          </a:ln>
        </p:spPr>
        <p:txBody>
          <a:bodyPr wrap="square" lIns="0" tIns="0" rIns="0" bIns="0" anchor="t">
            <a:noAutofit/>
          </a:bodyPr>
          <a:lstStyle>
            <a:defPPr algn="l">
              <a:defRPr sz="1575" b="1">
                <a:solidFill>
                  <a:srgbClr val="1F497D"/>
                </a:solidFill>
                <a:latin typeface="Arial"/>
                <a:ea typeface="Arial"/>
                <a:cs typeface="Arial"/>
              </a:defRPr>
            </a:defPPr>
          </a:lstStyle>
          <a:p>
            <a:pPr algn="l">
              <a:defRPr sz="1575" b="1">
                <a:solidFill>
                  <a:srgbClr val="1F497D"/>
                </a:solidFill>
                <a:latin typeface="Arial"/>
                <a:ea typeface="Arial"/>
                <a:cs typeface="Arial"/>
              </a:defRPr>
            </a:pPr>
            <a:r>
              <a:rPr sz="1575" b="1">
                <a:solidFill>
                  <a:srgbClr val="1F497D"/>
                </a:solidFill>
                <a:latin typeface="Arial"/>
                <a:ea typeface="Arial"/>
                <a:cs typeface="Arial"/>
              </a:rPr>
              <a:t>0–8 h</a:t>
            </a:r>
          </a:p>
        </p:txBody>
      </p:sp>
      <p:sp>
        <p:nvSpPr>
          <p:cNvPr id="17416" name="tsf_57">
            <a:extLst>
              <a:ext uri="{FF2B5EF4-FFF2-40B4-BE49-F238E27FC236}">
                <a16:creationId xmlns:a16="http://schemas.microsoft.com/office/drawing/2014/main" id="{9D1773BA-C6F4-41B6-9B6C-BA0948A3CEE2}"/>
              </a:ext>
            </a:extLst>
          </p:cNvPr>
          <p:cNvSpPr>
            <a:spLocks noGrp="1"/>
          </p:cNvSpPr>
          <p:nvPr/>
        </p:nvSpPr>
        <p:spPr>
          <a:xfrm>
            <a:off x="1495425" y="2333625"/>
            <a:ext cx="3533775" cy="295275"/>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Acquire a bounded Bitcoin case</a:t>
            </a:r>
          </a:p>
        </p:txBody>
      </p:sp>
      <p:sp>
        <p:nvSpPr>
          <p:cNvPr id="17417" name="tsf_58">
            <a:extLst>
              <a:ext uri="{FF2B5EF4-FFF2-40B4-BE49-F238E27FC236}">
                <a16:creationId xmlns:a16="http://schemas.microsoft.com/office/drawing/2014/main" id="{F28A96DC-757E-49C4-826B-4942D44FAD34}"/>
              </a:ext>
            </a:extLst>
          </p:cNvPr>
          <p:cNvSpPr>
            <a:spLocks noGrp="1"/>
          </p:cNvSpPr>
          <p:nvPr/>
        </p:nvSpPr>
        <p:spPr>
          <a:xfrm>
            <a:off x="419100" y="2743200"/>
            <a:ext cx="942975" cy="295275"/>
          </a:xfrm>
          <a:prstGeom prst="rect">
            <a:avLst/>
          </a:prstGeom>
          <a:noFill/>
          <a:ln w="9525">
            <a:noFill/>
          </a:ln>
        </p:spPr>
        <p:txBody>
          <a:bodyPr wrap="square" lIns="0" tIns="0" rIns="0" bIns="0" anchor="t">
            <a:noAutofit/>
          </a:bodyPr>
          <a:lstStyle>
            <a:defPPr algn="l">
              <a:defRPr sz="1575" b="1">
                <a:solidFill>
                  <a:srgbClr val="1F497D"/>
                </a:solidFill>
                <a:latin typeface="Arial"/>
                <a:ea typeface="Arial"/>
                <a:cs typeface="Arial"/>
              </a:defRPr>
            </a:defPPr>
          </a:lstStyle>
          <a:p>
            <a:pPr algn="l">
              <a:defRPr sz="1575" b="1">
                <a:solidFill>
                  <a:srgbClr val="1F497D"/>
                </a:solidFill>
                <a:latin typeface="Arial"/>
                <a:ea typeface="Arial"/>
                <a:cs typeface="Arial"/>
              </a:defRPr>
            </a:pPr>
            <a:r>
              <a:rPr sz="1575" b="1">
                <a:solidFill>
                  <a:srgbClr val="1F497D"/>
                </a:solidFill>
                <a:latin typeface="Arial"/>
                <a:ea typeface="Arial"/>
                <a:cs typeface="Arial"/>
              </a:rPr>
              <a:t>8–18 h</a:t>
            </a:r>
          </a:p>
        </p:txBody>
      </p:sp>
      <p:sp>
        <p:nvSpPr>
          <p:cNvPr id="17418" name="tsf_59">
            <a:extLst>
              <a:ext uri="{FF2B5EF4-FFF2-40B4-BE49-F238E27FC236}">
                <a16:creationId xmlns:a16="http://schemas.microsoft.com/office/drawing/2014/main" id="{4AB2AFC0-4336-4E1D-80BE-23481BFF9CA0}"/>
              </a:ext>
            </a:extLst>
          </p:cNvPr>
          <p:cNvSpPr>
            <a:spLocks noGrp="1"/>
          </p:cNvSpPr>
          <p:nvPr/>
        </p:nvSpPr>
        <p:spPr>
          <a:xfrm>
            <a:off x="1495425" y="2743200"/>
            <a:ext cx="3533775" cy="295275"/>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Trace paths and inspect labels</a:t>
            </a:r>
          </a:p>
        </p:txBody>
      </p:sp>
      <p:sp>
        <p:nvSpPr>
          <p:cNvPr id="17419" name="tsf_60">
            <a:extLst>
              <a:ext uri="{FF2B5EF4-FFF2-40B4-BE49-F238E27FC236}">
                <a16:creationId xmlns:a16="http://schemas.microsoft.com/office/drawing/2014/main" id="{0D1F093E-0B69-4D4D-B2EA-6C0B11CC85F9}"/>
              </a:ext>
            </a:extLst>
          </p:cNvPr>
          <p:cNvSpPr>
            <a:spLocks noGrp="1"/>
          </p:cNvSpPr>
          <p:nvPr/>
        </p:nvSpPr>
        <p:spPr>
          <a:xfrm>
            <a:off x="419100" y="3152775"/>
            <a:ext cx="942975" cy="295275"/>
          </a:xfrm>
          <a:prstGeom prst="rect">
            <a:avLst/>
          </a:prstGeom>
          <a:noFill/>
          <a:ln w="9525">
            <a:noFill/>
          </a:ln>
        </p:spPr>
        <p:txBody>
          <a:bodyPr wrap="square" lIns="0" tIns="0" rIns="0" bIns="0" anchor="t">
            <a:noAutofit/>
          </a:bodyPr>
          <a:lstStyle>
            <a:defPPr algn="l">
              <a:defRPr sz="1575" b="1">
                <a:solidFill>
                  <a:srgbClr val="1F497D"/>
                </a:solidFill>
                <a:latin typeface="Arial"/>
                <a:ea typeface="Arial"/>
                <a:cs typeface="Arial"/>
              </a:defRPr>
            </a:defPPr>
          </a:lstStyle>
          <a:p>
            <a:pPr algn="l">
              <a:defRPr sz="1575" b="1">
                <a:solidFill>
                  <a:srgbClr val="1F497D"/>
                </a:solidFill>
                <a:latin typeface="Arial"/>
                <a:ea typeface="Arial"/>
                <a:cs typeface="Arial"/>
              </a:defRPr>
            </a:pPr>
            <a:r>
              <a:rPr sz="1575" b="1">
                <a:solidFill>
                  <a:srgbClr val="1F497D"/>
                </a:solidFill>
                <a:latin typeface="Arial"/>
                <a:ea typeface="Arial"/>
                <a:cs typeface="Arial"/>
              </a:rPr>
              <a:t>18–26 h</a:t>
            </a:r>
          </a:p>
        </p:txBody>
      </p:sp>
      <p:sp>
        <p:nvSpPr>
          <p:cNvPr id="17420" name="tsf_61">
            <a:extLst>
              <a:ext uri="{FF2B5EF4-FFF2-40B4-BE49-F238E27FC236}">
                <a16:creationId xmlns:a16="http://schemas.microsoft.com/office/drawing/2014/main" id="{313636C2-D994-48B2-86D6-75AE7804EAEC}"/>
              </a:ext>
            </a:extLst>
          </p:cNvPr>
          <p:cNvSpPr>
            <a:spLocks noGrp="1"/>
          </p:cNvSpPr>
          <p:nvPr/>
        </p:nvSpPr>
        <p:spPr>
          <a:xfrm>
            <a:off x="1495425" y="3152775"/>
            <a:ext cx="3533775" cy="295275"/>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Challenge evidence and show gaps</a:t>
            </a:r>
          </a:p>
        </p:txBody>
      </p:sp>
      <p:sp>
        <p:nvSpPr>
          <p:cNvPr id="17421" name="tsf_62">
            <a:extLst>
              <a:ext uri="{FF2B5EF4-FFF2-40B4-BE49-F238E27FC236}">
                <a16:creationId xmlns:a16="http://schemas.microsoft.com/office/drawing/2014/main" id="{05D45B3E-DE29-43EE-AF21-E713C4DCBE2B}"/>
              </a:ext>
            </a:extLst>
          </p:cNvPr>
          <p:cNvSpPr>
            <a:spLocks noGrp="1"/>
          </p:cNvSpPr>
          <p:nvPr/>
        </p:nvSpPr>
        <p:spPr>
          <a:xfrm>
            <a:off x="419100" y="3562350"/>
            <a:ext cx="942975" cy="295275"/>
          </a:xfrm>
          <a:prstGeom prst="rect">
            <a:avLst/>
          </a:prstGeom>
          <a:noFill/>
          <a:ln w="9525">
            <a:noFill/>
          </a:ln>
        </p:spPr>
        <p:txBody>
          <a:bodyPr wrap="square" lIns="0" tIns="0" rIns="0" bIns="0" anchor="t">
            <a:noAutofit/>
          </a:bodyPr>
          <a:lstStyle>
            <a:defPPr algn="l">
              <a:defRPr sz="1575" b="1">
                <a:solidFill>
                  <a:srgbClr val="1F497D"/>
                </a:solidFill>
                <a:latin typeface="Arial"/>
                <a:ea typeface="Arial"/>
                <a:cs typeface="Arial"/>
              </a:defRPr>
            </a:defPPr>
          </a:lstStyle>
          <a:p>
            <a:pPr algn="l">
              <a:defRPr sz="1575" b="1">
                <a:solidFill>
                  <a:srgbClr val="1F497D"/>
                </a:solidFill>
                <a:latin typeface="Arial"/>
                <a:ea typeface="Arial"/>
                <a:cs typeface="Arial"/>
              </a:defRPr>
            </a:pPr>
            <a:r>
              <a:rPr sz="1575" b="1">
                <a:solidFill>
                  <a:srgbClr val="1F497D"/>
                </a:solidFill>
                <a:latin typeface="Arial"/>
                <a:ea typeface="Arial"/>
                <a:cs typeface="Arial"/>
              </a:rPr>
              <a:t>26–32 h</a:t>
            </a:r>
          </a:p>
        </p:txBody>
      </p:sp>
      <p:sp>
        <p:nvSpPr>
          <p:cNvPr id="17422" name="tsf_63">
            <a:extLst>
              <a:ext uri="{FF2B5EF4-FFF2-40B4-BE49-F238E27FC236}">
                <a16:creationId xmlns:a16="http://schemas.microsoft.com/office/drawing/2014/main" id="{E541ED35-BD7A-46C9-8926-E98A1F7926D8}"/>
              </a:ext>
            </a:extLst>
          </p:cNvPr>
          <p:cNvSpPr>
            <a:spLocks noGrp="1"/>
          </p:cNvSpPr>
          <p:nvPr/>
        </p:nvSpPr>
        <p:spPr>
          <a:xfrm>
            <a:off x="1495425" y="3562350"/>
            <a:ext cx="3533775" cy="295275"/>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Review and export a signed case</a:t>
            </a:r>
          </a:p>
        </p:txBody>
      </p:sp>
      <p:sp>
        <p:nvSpPr>
          <p:cNvPr id="17423" name="tsf_64">
            <a:extLst>
              <a:ext uri="{FF2B5EF4-FFF2-40B4-BE49-F238E27FC236}">
                <a16:creationId xmlns:a16="http://schemas.microsoft.com/office/drawing/2014/main" id="{EFBC5EC9-37BA-467C-AF73-D69B505A02DC}"/>
              </a:ext>
            </a:extLst>
          </p:cNvPr>
          <p:cNvSpPr>
            <a:spLocks noGrp="1"/>
          </p:cNvSpPr>
          <p:nvPr/>
        </p:nvSpPr>
        <p:spPr>
          <a:xfrm>
            <a:off x="419100" y="3971925"/>
            <a:ext cx="942975" cy="295275"/>
          </a:xfrm>
          <a:prstGeom prst="rect">
            <a:avLst/>
          </a:prstGeom>
          <a:noFill/>
          <a:ln w="9525">
            <a:noFill/>
          </a:ln>
        </p:spPr>
        <p:txBody>
          <a:bodyPr wrap="square" lIns="0" tIns="0" rIns="0" bIns="0" anchor="t">
            <a:noAutofit/>
          </a:bodyPr>
          <a:lstStyle>
            <a:defPPr algn="l">
              <a:defRPr sz="1575" b="1">
                <a:solidFill>
                  <a:srgbClr val="1F497D"/>
                </a:solidFill>
                <a:latin typeface="Arial"/>
                <a:ea typeface="Arial"/>
                <a:cs typeface="Arial"/>
              </a:defRPr>
            </a:defPPr>
          </a:lstStyle>
          <a:p>
            <a:pPr algn="l">
              <a:defRPr sz="1575" b="1">
                <a:solidFill>
                  <a:srgbClr val="1F497D"/>
                </a:solidFill>
                <a:latin typeface="Arial"/>
                <a:ea typeface="Arial"/>
                <a:cs typeface="Arial"/>
              </a:defRPr>
            </a:pPr>
            <a:r>
              <a:rPr sz="1575" b="1">
                <a:solidFill>
                  <a:srgbClr val="1F497D"/>
                </a:solidFill>
                <a:latin typeface="Arial"/>
                <a:ea typeface="Arial"/>
                <a:cs typeface="Arial"/>
              </a:rPr>
              <a:t>32–36 h</a:t>
            </a:r>
          </a:p>
        </p:txBody>
      </p:sp>
      <p:sp>
        <p:nvSpPr>
          <p:cNvPr id="17424" name="tsf_65">
            <a:extLst>
              <a:ext uri="{FF2B5EF4-FFF2-40B4-BE49-F238E27FC236}">
                <a16:creationId xmlns:a16="http://schemas.microsoft.com/office/drawing/2014/main" id="{7E291B4D-FD07-4BE5-BF45-0483ED2188CE}"/>
              </a:ext>
            </a:extLst>
          </p:cNvPr>
          <p:cNvSpPr>
            <a:spLocks noGrp="1"/>
          </p:cNvSpPr>
          <p:nvPr/>
        </p:nvSpPr>
        <p:spPr>
          <a:xfrm>
            <a:off x="1495425" y="3971925"/>
            <a:ext cx="3533775" cy="295275"/>
          </a:xfrm>
          <a:prstGeom prst="rect">
            <a:avLst/>
          </a:prstGeom>
          <a:noFill/>
          <a:ln w="9525">
            <a:noFill/>
          </a:ln>
        </p:spPr>
        <p:txBody>
          <a:bodyPr wrap="square" lIns="0" tIns="0" rIns="0" bIns="0" anchor="t">
            <a:noAutofit/>
          </a:bodyPr>
          <a:lstStyle>
            <a:defPPr algn="l">
              <a:defRPr sz="1575" b="0">
                <a:solidFill>
                  <a:srgbClr val="17212B"/>
                </a:solidFill>
                <a:latin typeface="Arial"/>
                <a:ea typeface="Arial"/>
                <a:cs typeface="Arial"/>
              </a:defRPr>
            </a:defPPr>
          </a:lstStyle>
          <a:p>
            <a:pPr algn="l">
              <a:defRPr sz="1575" b="0">
                <a:solidFill>
                  <a:srgbClr val="17212B"/>
                </a:solidFill>
                <a:latin typeface="Arial"/>
                <a:ea typeface="Arial"/>
                <a:cs typeface="Arial"/>
              </a:defRPr>
            </a:pPr>
            <a:r>
              <a:rPr sz="1575" b="0">
                <a:solidFill>
                  <a:srgbClr val="17212B"/>
                </a:solidFill>
                <a:latin typeface="Arial"/>
                <a:ea typeface="Arial"/>
                <a:cs typeface="Arial"/>
              </a:rPr>
              <a:t>Test failures and rehearse</a:t>
            </a:r>
          </a:p>
        </p:txBody>
      </p:sp>
      <p:sp>
        <p:nvSpPr>
          <p:cNvPr id="17425" name="tsf_66">
            <a:extLst>
              <a:ext uri="{FF2B5EF4-FFF2-40B4-BE49-F238E27FC236}">
                <a16:creationId xmlns:a16="http://schemas.microsoft.com/office/drawing/2014/main" id="{CD13B63A-F699-4945-AEFA-4FA80558B429}"/>
              </a:ext>
            </a:extLst>
          </p:cNvPr>
          <p:cNvSpPr>
            <a:spLocks noGrp="1"/>
          </p:cNvSpPr>
          <p:nvPr/>
        </p:nvSpPr>
        <p:spPr>
          <a:xfrm>
            <a:off x="419100" y="4562475"/>
            <a:ext cx="4610100" cy="723900"/>
          </a:xfrm>
          <a:prstGeom prst="rect">
            <a:avLst/>
          </a:prstGeom>
          <a:noFill/>
          <a:ln w="9525">
            <a:noFill/>
          </a:ln>
        </p:spPr>
        <p:txBody>
          <a:bodyPr wrap="square" lIns="0" tIns="0" rIns="0" bIns="0" anchor="t">
            <a:noAutofit/>
          </a:bodyPr>
          <a:lstStyle>
            <a:defPPr algn="l">
              <a:defRPr sz="1500" b="0">
                <a:solidFill>
                  <a:srgbClr val="55606B"/>
                </a:solidFill>
                <a:latin typeface="Arial"/>
                <a:ea typeface="Arial"/>
                <a:cs typeface="Arial"/>
              </a:defRPr>
            </a:defPPr>
          </a:lstStyle>
          <a:p>
            <a:pPr algn="l">
              <a:defRPr sz="1500" b="0">
                <a:solidFill>
                  <a:srgbClr val="55606B"/>
                </a:solidFill>
                <a:latin typeface="Arial"/>
                <a:ea typeface="Arial"/>
                <a:cs typeface="Arial"/>
              </a:defRPr>
            </a:pPr>
            <a:r>
              <a:rPr sz="1500" b="0">
                <a:solidFill>
                  <a:srgbClr val="55606B"/>
                </a:solidFill>
                <a:latin typeface="Arial"/>
                <a:ea typeface="Arial"/>
                <a:cs typeface="Arial"/>
              </a:rPr>
              <a:t>Research module: 64 synthetic checks pass.</a:t>
            </a:r>
          </a:p>
          <a:p>
            <a:pPr algn="l">
              <a:defRPr sz="1500" b="0">
                <a:solidFill>
                  <a:srgbClr val="55606B"/>
                </a:solidFill>
                <a:latin typeface="Arial"/>
                <a:ea typeface="Arial"/>
                <a:cs typeface="Arial"/>
              </a:defRPr>
            </a:pPr>
            <a:r>
              <a:rPr sz="1500" b="0">
                <a:solidFill>
                  <a:srgbClr val="55606B"/>
                </a:solidFill>
                <a:latin typeface="Arial"/>
                <a:ea typeface="Arial"/>
                <a:cs typeface="Arial"/>
              </a:rPr>
              <a:t>Live integration and independent accuracy</a:t>
            </a:r>
          </a:p>
          <a:p>
            <a:pPr algn="l">
              <a:defRPr sz="1500" b="0">
                <a:solidFill>
                  <a:srgbClr val="55606B"/>
                </a:solidFill>
                <a:latin typeface="Arial"/>
                <a:ea typeface="Arial"/>
                <a:cs typeface="Arial"/>
              </a:defRPr>
            </a:pPr>
            <a:r>
              <a:rPr sz="1500" b="0">
                <a:solidFill>
                  <a:srgbClr val="55606B"/>
                </a:solidFill>
                <a:latin typeface="Arial"/>
                <a:ea typeface="Arial"/>
                <a:cs typeface="Arial"/>
              </a:rPr>
              <a:t>validation are still pending.</a:t>
            </a:r>
          </a:p>
        </p:txBody>
      </p:sp>
      <p:sp>
        <p:nvSpPr>
          <p:cNvPr id="17426" name="tsf_67">
            <a:extLst>
              <a:ext uri="{FF2B5EF4-FFF2-40B4-BE49-F238E27FC236}">
                <a16:creationId xmlns:a16="http://schemas.microsoft.com/office/drawing/2014/main" id="{EAD5A4CD-8AB4-4D1D-AF8F-DC6F2AA0F7C3}"/>
              </a:ext>
            </a:extLst>
          </p:cNvPr>
          <p:cNvSpPr>
            <a:spLocks noGrp="1"/>
          </p:cNvSpPr>
          <p:nvPr/>
        </p:nvSpPr>
        <p:spPr>
          <a:xfrm>
            <a:off x="419100" y="5400675"/>
            <a:ext cx="4610100" cy="790575"/>
          </a:xfrm>
          <a:prstGeom prst="rect">
            <a:avLst/>
          </a:prstGeom>
          <a:noFill/>
          <a:ln w="9525">
            <a:noFill/>
          </a:ln>
        </p:spPr>
        <p:txBody>
          <a:bodyPr wrap="square" lIns="0" tIns="0" rIns="0" bIns="0" anchor="t">
            <a:noAutofit/>
          </a:bodyPr>
          <a:lstStyle>
            <a:defPPr algn="l">
              <a:defRPr sz="1500" b="0">
                <a:solidFill>
                  <a:srgbClr val="17212B"/>
                </a:solidFill>
                <a:latin typeface="Arial"/>
                <a:ea typeface="Arial"/>
                <a:cs typeface="Arial"/>
              </a:defRPr>
            </a:defPPr>
          </a:lstStyle>
          <a:p>
            <a:pPr algn="l">
              <a:defRPr sz="1500" b="0">
                <a:solidFill>
                  <a:srgbClr val="17212B"/>
                </a:solidFill>
                <a:latin typeface="Arial"/>
                <a:ea typeface="Arial"/>
                <a:cs typeface="Arial"/>
              </a:defRPr>
            </a:pPr>
            <a:r>
              <a:rPr sz="1500" b="0">
                <a:solidFill>
                  <a:srgbClr val="17212B"/>
                </a:solidFill>
                <a:latin typeface="Arial"/>
                <a:ea typeface="Arial"/>
                <a:cs typeface="Arial"/>
              </a:rPr>
              <a:t>Public Bitcoin check: 2 transactions, 3 outputs.</a:t>
            </a:r>
          </a:p>
          <a:p>
            <a:pPr algn="l">
              <a:defRPr sz="1500" b="0">
                <a:solidFill>
                  <a:srgbClr val="17212B"/>
                </a:solidFill>
                <a:latin typeface="Arial"/>
                <a:ea typeface="Arial"/>
                <a:cs typeface="Arial"/>
              </a:defRPr>
            </a:pPr>
            <a:r>
              <a:rPr sz="1500" b="0">
                <a:solidFill>
                  <a:srgbClr val="17212B"/>
                </a:solidFill>
                <a:latin typeface="Arial"/>
                <a:ea typeface="Arial"/>
                <a:cs typeface="Arial"/>
              </a:rPr>
              <a:t>Transfer data reproduced. No VASP established.</a:t>
            </a:r>
          </a:p>
          <a:p>
            <a:pPr algn="l">
              <a:defRPr sz="1500" b="0">
                <a:solidFill>
                  <a:srgbClr val="17212B"/>
                </a:solidFill>
                <a:latin typeface="Arial"/>
                <a:ea typeface="Arial"/>
                <a:cs typeface="Arial"/>
              </a:defRPr>
            </a:pPr>
            <a:r>
              <a:rPr sz="1500" b="0">
                <a:solidFill>
                  <a:srgbClr val="17212B"/>
                </a:solidFill>
                <a:latin typeface="Arial"/>
                <a:ea typeface="Arial"/>
                <a:cs typeface="Arial"/>
              </a:rPr>
              <a:t>Six chain adapters exist, with unequal live coverage.</a:t>
            </a:r>
          </a:p>
        </p:txBody>
      </p:sp>
      <p:sp>
        <p:nvSpPr>
          <p:cNvPr id="17427" name="tsf_68">
            <a:extLst>
              <a:ext uri="{FF2B5EF4-FFF2-40B4-BE49-F238E27FC236}">
                <a16:creationId xmlns:a16="http://schemas.microsoft.com/office/drawing/2014/main" id="{7625F0DF-F23F-439E-9480-748B81C08A37}"/>
              </a:ext>
            </a:extLst>
          </p:cNvPr>
          <p:cNvSpPr>
            <a:spLocks noGrp="1"/>
          </p:cNvSpPr>
          <p:nvPr/>
        </p:nvSpPr>
        <p:spPr>
          <a:xfrm>
            <a:off x="5257800" y="1885950"/>
            <a:ext cx="0" cy="4333875"/>
          </a:xfrm>
          <a:prstGeom prst="line">
            <a:avLst/>
          </a:prstGeom>
          <a:noFill/>
          <a:ln w="9525">
            <a:solidFill>
              <a:srgbClr val="C8CDD1"/>
            </a:solidFill>
          </a:ln>
        </p:spPr>
      </p:sp>
      <p:sp>
        <p:nvSpPr>
          <p:cNvPr id="17428" name="tsf_69">
            <a:extLst>
              <a:ext uri="{FF2B5EF4-FFF2-40B4-BE49-F238E27FC236}">
                <a16:creationId xmlns:a16="http://schemas.microsoft.com/office/drawing/2014/main" id="{AF2E7426-B813-4E4A-A6CB-C8BD48DA9F97}"/>
              </a:ext>
            </a:extLst>
          </p:cNvPr>
          <p:cNvSpPr>
            <a:spLocks noGrp="1"/>
          </p:cNvSpPr>
          <p:nvPr/>
        </p:nvSpPr>
        <p:spPr>
          <a:xfrm>
            <a:off x="5534025" y="1895475"/>
            <a:ext cx="6229350" cy="295275"/>
          </a:xfrm>
          <a:prstGeom prst="rect">
            <a:avLst/>
          </a:prstGeom>
          <a:noFill/>
          <a:ln w="9525">
            <a:noFill/>
          </a:ln>
        </p:spPr>
        <p:txBody>
          <a:bodyPr wrap="square" lIns="0" tIns="0" rIns="0" bIns="0" anchor="t">
            <a:noAutofit/>
          </a:bodyPr>
          <a:lstStyle>
            <a:defPPr algn="l">
              <a:defRPr sz="1800" b="1">
                <a:solidFill>
                  <a:srgbClr val="17212B"/>
                </a:solidFill>
                <a:latin typeface="Arial"/>
                <a:ea typeface="Arial"/>
                <a:cs typeface="Arial"/>
              </a:defRPr>
            </a:defPPr>
          </a:lstStyle>
          <a:p>
            <a:pPr algn="l">
              <a:defRPr sz="1800" b="1">
                <a:solidFill>
                  <a:srgbClr val="17212B"/>
                </a:solidFill>
                <a:latin typeface="Arial"/>
                <a:ea typeface="Arial"/>
                <a:cs typeface="Arial"/>
              </a:defRPr>
            </a:pPr>
            <a:r>
              <a:rPr sz="1800" b="1">
                <a:solidFill>
                  <a:srgbClr val="17212B"/>
                </a:solidFill>
                <a:latin typeface="Arial"/>
                <a:ea typeface="Arial"/>
                <a:cs typeface="Arial"/>
              </a:rPr>
              <a:t>A path to Ministry deployment</a:t>
            </a:r>
          </a:p>
        </p:txBody>
      </p:sp>
      <p:sp>
        <p:nvSpPr>
          <p:cNvPr id="17429" name="tsf_70">
            <a:extLst>
              <a:ext uri="{FF2B5EF4-FFF2-40B4-BE49-F238E27FC236}">
                <a16:creationId xmlns:a16="http://schemas.microsoft.com/office/drawing/2014/main" id="{4ECE64EB-3EF4-4E08-9B9E-B7616B7AE453}"/>
              </a:ext>
            </a:extLst>
          </p:cNvPr>
          <p:cNvSpPr>
            <a:spLocks noGrp="1"/>
          </p:cNvSpPr>
          <p:nvPr/>
        </p:nvSpPr>
        <p:spPr>
          <a:xfrm>
            <a:off x="5543550" y="2419350"/>
            <a:ext cx="1314450" cy="514350"/>
          </a:xfrm>
          <a:prstGeom prst="rect">
            <a:avLst/>
          </a:prstGeom>
          <a:solidFill>
            <a:srgbClr val="FFFFFF"/>
          </a:solidFill>
          <a:ln w="16193">
            <a:solidFill>
              <a:srgbClr val="1F497D"/>
            </a:solidFill>
          </a:ln>
        </p:spPr>
        <p:txBody>
          <a:bodyPr lIns="19050" tIns="19050" rIns="19050" bIns="19050" anchor="ctr">
            <a:noAutofit/>
          </a:bodyPr>
          <a:lstStyle>
            <a:defPPr algn="ctr">
              <a:defRPr sz="1500" b="1">
                <a:solidFill>
                  <a:srgbClr val="1F497D"/>
                </a:solidFill>
                <a:latin typeface="Arial"/>
                <a:ea typeface="Arial"/>
                <a:cs typeface="Arial"/>
              </a:defRPr>
            </a:defPPr>
          </a:lstStyle>
          <a:p>
            <a:pPr algn="ctr">
              <a:defRPr sz="1500" b="1">
                <a:solidFill>
                  <a:srgbClr val="1F497D"/>
                </a:solidFill>
                <a:latin typeface="Arial"/>
                <a:ea typeface="Arial"/>
                <a:cs typeface="Arial"/>
              </a:defRPr>
            </a:pPr>
            <a:r>
              <a:rPr sz="1500" b="1">
                <a:solidFill>
                  <a:srgbClr val="1F497D"/>
                </a:solidFill>
                <a:latin typeface="Arial"/>
                <a:ea typeface="Arial"/>
                <a:cs typeface="Arial"/>
              </a:rPr>
              <a:t>Case API</a:t>
            </a:r>
          </a:p>
        </p:txBody>
      </p:sp>
      <p:sp>
        <p:nvSpPr>
          <p:cNvPr id="17430" name="tsf_71">
            <a:extLst>
              <a:ext uri="{FF2B5EF4-FFF2-40B4-BE49-F238E27FC236}">
                <a16:creationId xmlns:a16="http://schemas.microsoft.com/office/drawing/2014/main" id="{C687AEE6-FE80-45DC-B7DB-267B51259AB8}"/>
              </a:ext>
            </a:extLst>
          </p:cNvPr>
          <p:cNvSpPr>
            <a:spLocks noGrp="1"/>
          </p:cNvSpPr>
          <p:nvPr/>
        </p:nvSpPr>
        <p:spPr>
          <a:xfrm>
            <a:off x="7162800" y="2419350"/>
            <a:ext cx="1304925" cy="514350"/>
          </a:xfrm>
          <a:prstGeom prst="rect">
            <a:avLst/>
          </a:prstGeom>
          <a:solidFill>
            <a:srgbClr val="FFFFFF"/>
          </a:solidFill>
          <a:ln w="16193">
            <a:solidFill>
              <a:srgbClr val="1F497D"/>
            </a:solidFill>
          </a:ln>
        </p:spPr>
        <p:txBody>
          <a:bodyPr lIns="19050" tIns="19050" rIns="19050" bIns="19050" anchor="ctr">
            <a:noAutofit/>
          </a:bodyPr>
          <a:lstStyle>
            <a:defPPr algn="ctr">
              <a:defRPr sz="1500" b="1">
                <a:solidFill>
                  <a:srgbClr val="1F497D"/>
                </a:solidFill>
                <a:latin typeface="Arial"/>
                <a:ea typeface="Arial"/>
                <a:cs typeface="Arial"/>
              </a:defRPr>
            </a:defPPr>
          </a:lstStyle>
          <a:p>
            <a:pPr algn="ctr">
              <a:defRPr sz="1500" b="1">
                <a:solidFill>
                  <a:srgbClr val="1F497D"/>
                </a:solidFill>
                <a:latin typeface="Arial"/>
                <a:ea typeface="Arial"/>
                <a:cs typeface="Arial"/>
              </a:defRPr>
            </a:pPr>
            <a:r>
              <a:rPr sz="1500" b="1">
                <a:solidFill>
                  <a:srgbClr val="1F497D"/>
                </a:solidFill>
                <a:latin typeface="Arial"/>
                <a:ea typeface="Arial"/>
                <a:cs typeface="Arial"/>
              </a:rPr>
              <a:t>Job queue</a:t>
            </a:r>
          </a:p>
        </p:txBody>
      </p:sp>
      <p:sp>
        <p:nvSpPr>
          <p:cNvPr id="17431" name="tsf_72">
            <a:extLst>
              <a:ext uri="{FF2B5EF4-FFF2-40B4-BE49-F238E27FC236}">
                <a16:creationId xmlns:a16="http://schemas.microsoft.com/office/drawing/2014/main" id="{C6B1B75F-7663-4677-AC2E-873031B00CF1}"/>
              </a:ext>
            </a:extLst>
          </p:cNvPr>
          <p:cNvSpPr>
            <a:spLocks noGrp="1"/>
          </p:cNvSpPr>
          <p:nvPr/>
        </p:nvSpPr>
        <p:spPr>
          <a:xfrm>
            <a:off x="8772525" y="2419350"/>
            <a:ext cx="1304925" cy="514350"/>
          </a:xfrm>
          <a:prstGeom prst="rect">
            <a:avLst/>
          </a:prstGeom>
          <a:solidFill>
            <a:srgbClr val="FFFFFF"/>
          </a:solidFill>
          <a:ln w="16193">
            <a:solidFill>
              <a:srgbClr val="1F497D"/>
            </a:solidFill>
          </a:ln>
        </p:spPr>
        <p:txBody>
          <a:bodyPr lIns="19050" tIns="19050" rIns="19050" bIns="19050" anchor="ctr">
            <a:noAutofit/>
          </a:bodyPr>
          <a:lstStyle>
            <a:defPPr algn="ctr">
              <a:defRPr sz="1500" b="1">
                <a:solidFill>
                  <a:srgbClr val="1F497D"/>
                </a:solidFill>
                <a:latin typeface="Arial"/>
                <a:ea typeface="Arial"/>
                <a:cs typeface="Arial"/>
              </a:defRPr>
            </a:defPPr>
          </a:lstStyle>
          <a:p>
            <a:pPr algn="ctr">
              <a:defRPr sz="1500" b="1">
                <a:solidFill>
                  <a:srgbClr val="1F497D"/>
                </a:solidFill>
                <a:latin typeface="Arial"/>
                <a:ea typeface="Arial"/>
                <a:cs typeface="Arial"/>
              </a:defRPr>
            </a:pPr>
            <a:r>
              <a:rPr sz="1500" b="1">
                <a:solidFill>
                  <a:srgbClr val="1F497D"/>
                </a:solidFill>
                <a:latin typeface="Arial"/>
                <a:ea typeface="Arial"/>
                <a:cs typeface="Arial"/>
              </a:rPr>
              <a:t>Workers</a:t>
            </a:r>
          </a:p>
        </p:txBody>
      </p:sp>
      <p:sp>
        <p:nvSpPr>
          <p:cNvPr id="17432" name="tsf_73">
            <a:extLst>
              <a:ext uri="{FF2B5EF4-FFF2-40B4-BE49-F238E27FC236}">
                <a16:creationId xmlns:a16="http://schemas.microsoft.com/office/drawing/2014/main" id="{C4ACAB0C-5739-4ED4-9360-C3873B06D0FB}"/>
              </a:ext>
            </a:extLst>
          </p:cNvPr>
          <p:cNvSpPr>
            <a:spLocks noGrp="1"/>
          </p:cNvSpPr>
          <p:nvPr/>
        </p:nvSpPr>
        <p:spPr>
          <a:xfrm>
            <a:off x="10382250" y="2419350"/>
            <a:ext cx="1371600" cy="514350"/>
          </a:xfrm>
          <a:prstGeom prst="rect">
            <a:avLst/>
          </a:prstGeom>
          <a:solidFill>
            <a:srgbClr val="FFFFFF"/>
          </a:solidFill>
          <a:ln w="16193">
            <a:solidFill>
              <a:srgbClr val="1F497D"/>
            </a:solidFill>
          </a:ln>
        </p:spPr>
        <p:txBody>
          <a:bodyPr lIns="19050" tIns="19050" rIns="19050" bIns="19050" anchor="ctr">
            <a:noAutofit/>
          </a:bodyPr>
          <a:lstStyle>
            <a:defPPr algn="ctr">
              <a:defRPr sz="1500" b="1">
                <a:solidFill>
                  <a:srgbClr val="1F497D"/>
                </a:solidFill>
                <a:latin typeface="Arial"/>
                <a:ea typeface="Arial"/>
                <a:cs typeface="Arial"/>
              </a:defRPr>
            </a:defPPr>
          </a:lstStyle>
          <a:p>
            <a:pPr algn="ctr">
              <a:defRPr sz="1500" b="1">
                <a:solidFill>
                  <a:srgbClr val="1F497D"/>
                </a:solidFill>
                <a:latin typeface="Arial"/>
                <a:ea typeface="Arial"/>
                <a:cs typeface="Arial"/>
              </a:defRPr>
            </a:pPr>
            <a:r>
              <a:rPr sz="1500" b="1">
                <a:solidFill>
                  <a:srgbClr val="1F497D"/>
                </a:solidFill>
                <a:latin typeface="Arial"/>
                <a:ea typeface="Arial"/>
                <a:cs typeface="Arial"/>
              </a:rPr>
              <a:t>Data APIs</a:t>
            </a:r>
          </a:p>
        </p:txBody>
      </p:sp>
      <p:sp>
        <p:nvSpPr>
          <p:cNvPr id="17433" name="tsf_77">
            <a:extLst>
              <a:ext uri="{FF2B5EF4-FFF2-40B4-BE49-F238E27FC236}">
                <a16:creationId xmlns:a16="http://schemas.microsoft.com/office/drawing/2014/main" id="{A30EC6A3-1647-4AED-BCEA-535226DFD08B}"/>
              </a:ext>
            </a:extLst>
          </p:cNvPr>
          <p:cNvSpPr>
            <a:spLocks noGrp="1"/>
          </p:cNvSpPr>
          <p:nvPr/>
        </p:nvSpPr>
        <p:spPr>
          <a:xfrm>
            <a:off x="5543550" y="3124200"/>
            <a:ext cx="6210300" cy="714375"/>
          </a:xfrm>
          <a:prstGeom prst="rect">
            <a:avLst/>
          </a:prstGeom>
          <a:noFill/>
          <a:ln w="9525">
            <a:noFill/>
          </a:ln>
        </p:spPr>
        <p:txBody>
          <a:bodyPr wrap="square" lIns="0" tIns="0" rIns="0" bIns="0" anchor="t">
            <a:noAutofit/>
          </a:bodyPr>
          <a:lstStyle>
            <a:defPPr algn="l">
              <a:defRPr sz="1500" b="0">
                <a:solidFill>
                  <a:srgbClr val="17212B"/>
                </a:solidFill>
                <a:latin typeface="Arial"/>
                <a:ea typeface="Arial"/>
                <a:cs typeface="Arial"/>
              </a:defRPr>
            </a:defPPr>
          </a:lstStyle>
          <a:p>
            <a:pPr algn="l">
              <a:defRPr sz="1500" b="0">
                <a:solidFill>
                  <a:srgbClr val="17212B"/>
                </a:solidFill>
                <a:latin typeface="Arial"/>
                <a:ea typeface="Arial"/>
                <a:cs typeface="Arial"/>
              </a:defRPr>
            </a:pPr>
            <a:r>
              <a:rPr sz="1500" b="0">
                <a:solidFill>
                  <a:srgbClr val="17212B"/>
                </a:solidFill>
                <a:latin typeface="Arial"/>
                <a:ea typeface="Arial"/>
                <a:cs typeface="Arial"/>
              </a:rPr>
              <a:t>Bound each search by time, hops and API budget. Cache replies.</a:t>
            </a:r>
          </a:p>
          <a:p>
            <a:pPr algn="l">
              <a:defRPr sz="1500" b="0">
                <a:solidFill>
                  <a:srgbClr val="17212B"/>
                </a:solidFill>
                <a:latin typeface="Arial"/>
                <a:ea typeface="Arial"/>
                <a:cs typeface="Arial"/>
              </a:defRPr>
            </a:pPr>
            <a:r>
              <a:rPr sz="1500" b="0">
                <a:solidFill>
                  <a:srgbClr val="17212B"/>
                </a:solidFill>
                <a:latin typeface="Arial"/>
                <a:ea typeface="Arial"/>
                <a:cs typeface="Arial"/>
              </a:rPr>
              <a:t>Separate workers let case acquisition run outside the web request.</a:t>
            </a:r>
          </a:p>
          <a:p>
            <a:pPr algn="l">
              <a:defRPr sz="1500" b="0">
                <a:solidFill>
                  <a:srgbClr val="17212B"/>
                </a:solidFill>
                <a:latin typeface="Arial"/>
                <a:ea typeface="Arial"/>
                <a:cs typeface="Arial"/>
              </a:defRPr>
            </a:pPr>
            <a:r>
              <a:rPr sz="1500" b="0">
                <a:solidFill>
                  <a:srgbClr val="17212B"/>
                </a:solidFill>
                <a:latin typeface="Arial"/>
                <a:ea typeface="Arial"/>
                <a:cs typeface="Arial"/>
              </a:rPr>
              <a:t>Shared quotas, agency fairness and load tests remain pending.</a:t>
            </a:r>
          </a:p>
        </p:txBody>
      </p:sp>
      <p:sp>
        <p:nvSpPr>
          <p:cNvPr id="17434" name="tsf_78">
            <a:extLst>
              <a:ext uri="{FF2B5EF4-FFF2-40B4-BE49-F238E27FC236}">
                <a16:creationId xmlns:a16="http://schemas.microsoft.com/office/drawing/2014/main" id="{D84AFAA3-5B42-4FC8-916A-CD177221EE89}"/>
              </a:ext>
            </a:extLst>
          </p:cNvPr>
          <p:cNvSpPr>
            <a:spLocks noGrp="1"/>
          </p:cNvSpPr>
          <p:nvPr/>
        </p:nvSpPr>
        <p:spPr>
          <a:xfrm>
            <a:off x="5543550" y="3981450"/>
            <a:ext cx="6200775" cy="0"/>
          </a:xfrm>
          <a:prstGeom prst="line">
            <a:avLst/>
          </a:prstGeom>
          <a:noFill/>
          <a:ln w="9525">
            <a:solidFill>
              <a:srgbClr val="C8CDD1"/>
            </a:solidFill>
          </a:ln>
        </p:spPr>
      </p:sp>
      <p:sp>
        <p:nvSpPr>
          <p:cNvPr id="17435" name="tsf_79">
            <a:extLst>
              <a:ext uri="{FF2B5EF4-FFF2-40B4-BE49-F238E27FC236}">
                <a16:creationId xmlns:a16="http://schemas.microsoft.com/office/drawing/2014/main" id="{CA7D171B-BC56-42F1-A8D1-A178229031BF}"/>
              </a:ext>
            </a:extLst>
          </p:cNvPr>
          <p:cNvSpPr>
            <a:spLocks noGrp="1"/>
          </p:cNvSpPr>
          <p:nvPr/>
        </p:nvSpPr>
        <p:spPr>
          <a:xfrm>
            <a:off x="5543550" y="4143375"/>
            <a:ext cx="6200775" cy="276225"/>
          </a:xfrm>
          <a:prstGeom prst="rect">
            <a:avLst/>
          </a:prstGeom>
          <a:noFill/>
          <a:ln w="9525">
            <a:noFill/>
          </a:ln>
        </p:spPr>
        <p:txBody>
          <a:bodyPr wrap="square" lIns="0" tIns="0" rIns="0" bIns="0" anchor="t">
            <a:noAutofit/>
          </a:bodyPr>
          <a:lstStyle>
            <a:defPPr algn="l">
              <a:defRPr sz="1800" b="1">
                <a:solidFill>
                  <a:srgbClr val="1F497D"/>
                </a:solidFill>
                <a:latin typeface="Arial"/>
                <a:ea typeface="Arial"/>
                <a:cs typeface="Arial"/>
              </a:defRPr>
            </a:defPPr>
          </a:lstStyle>
          <a:p>
            <a:pPr algn="l">
              <a:defRPr sz="1800" b="1">
                <a:solidFill>
                  <a:srgbClr val="1F497D"/>
                </a:solidFill>
                <a:latin typeface="Arial"/>
                <a:ea typeface="Arial"/>
                <a:cs typeface="Arial"/>
              </a:defRPr>
            </a:pPr>
            <a:r>
              <a:rPr sz="1800" b="1">
                <a:solidFill>
                  <a:srgbClr val="1F497D"/>
                </a:solidFill>
                <a:latin typeface="Arial"/>
                <a:ea typeface="Arial"/>
                <a:cs typeface="Arial"/>
              </a:rPr>
              <a:t>Tools and their jobs</a:t>
            </a:r>
          </a:p>
        </p:txBody>
      </p:sp>
      <p:sp>
        <p:nvSpPr>
          <p:cNvPr id="17436" name="tsf_80">
            <a:extLst>
              <a:ext uri="{FF2B5EF4-FFF2-40B4-BE49-F238E27FC236}">
                <a16:creationId xmlns:a16="http://schemas.microsoft.com/office/drawing/2014/main" id="{6C6B61FA-BE94-4A07-AB95-3B3B69EC9D51}"/>
              </a:ext>
            </a:extLst>
          </p:cNvPr>
          <p:cNvSpPr>
            <a:spLocks noGrp="1"/>
          </p:cNvSpPr>
          <p:nvPr/>
        </p:nvSpPr>
        <p:spPr>
          <a:xfrm>
            <a:off x="5543550" y="4562475"/>
            <a:ext cx="2962275" cy="266700"/>
          </a:xfrm>
          <a:prstGeom prst="rect">
            <a:avLst/>
          </a:prstGeom>
          <a:noFill/>
          <a:ln w="9525">
            <a:noFill/>
          </a:ln>
        </p:spPr>
        <p:txBody>
          <a:bodyPr wrap="square" lIns="0" tIns="0" rIns="0" bIns="0" anchor="t">
            <a:noAutofit/>
          </a:bodyPr>
          <a:lstStyle>
            <a:defPPr algn="l">
              <a:defRPr sz="1425" b="1">
                <a:solidFill>
                  <a:srgbClr val="17212B"/>
                </a:solidFill>
                <a:latin typeface="Arial"/>
                <a:ea typeface="Arial"/>
                <a:cs typeface="Arial"/>
              </a:defRPr>
            </a:defPPr>
          </a:lstStyle>
          <a:p>
            <a:pPr algn="l">
              <a:defRPr sz="1425" b="1">
                <a:solidFill>
                  <a:srgbClr val="17212B"/>
                </a:solidFill>
                <a:latin typeface="Arial"/>
                <a:ea typeface="Arial"/>
                <a:cs typeface="Arial"/>
              </a:defRPr>
            </a:pPr>
            <a:r>
              <a:rPr sz="1425" b="1">
                <a:solidFill>
                  <a:srgbClr val="17212B"/>
                </a:solidFill>
                <a:latin typeface="Arial"/>
                <a:ea typeface="Arial"/>
                <a:cs typeface="Arial"/>
              </a:rPr>
              <a:t>Python / FastAPI</a:t>
            </a:r>
          </a:p>
        </p:txBody>
      </p:sp>
      <p:sp>
        <p:nvSpPr>
          <p:cNvPr id="17437" name="tsf_81">
            <a:extLst>
              <a:ext uri="{FF2B5EF4-FFF2-40B4-BE49-F238E27FC236}">
                <a16:creationId xmlns:a16="http://schemas.microsoft.com/office/drawing/2014/main" id="{4B9032C2-EFD8-4183-80CA-854A00775D86}"/>
              </a:ext>
            </a:extLst>
          </p:cNvPr>
          <p:cNvSpPr>
            <a:spLocks noGrp="1"/>
          </p:cNvSpPr>
          <p:nvPr/>
        </p:nvSpPr>
        <p:spPr>
          <a:xfrm>
            <a:off x="8591550" y="4562475"/>
            <a:ext cx="3162300" cy="26670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Evidence rules and authenticated APIs</a:t>
            </a:r>
          </a:p>
        </p:txBody>
      </p:sp>
      <p:sp>
        <p:nvSpPr>
          <p:cNvPr id="17438" name="tsf_82">
            <a:extLst>
              <a:ext uri="{FF2B5EF4-FFF2-40B4-BE49-F238E27FC236}">
                <a16:creationId xmlns:a16="http://schemas.microsoft.com/office/drawing/2014/main" id="{135DB141-8D0D-4C43-8554-9AE79F82FB15}"/>
              </a:ext>
            </a:extLst>
          </p:cNvPr>
          <p:cNvSpPr>
            <a:spLocks noGrp="1"/>
          </p:cNvSpPr>
          <p:nvPr/>
        </p:nvSpPr>
        <p:spPr>
          <a:xfrm>
            <a:off x="5543550" y="4867275"/>
            <a:ext cx="2962275" cy="266700"/>
          </a:xfrm>
          <a:prstGeom prst="rect">
            <a:avLst/>
          </a:prstGeom>
          <a:noFill/>
          <a:ln w="9525">
            <a:noFill/>
          </a:ln>
        </p:spPr>
        <p:txBody>
          <a:bodyPr wrap="square" lIns="0" tIns="0" rIns="0" bIns="0" anchor="t">
            <a:noAutofit/>
          </a:bodyPr>
          <a:lstStyle>
            <a:defPPr algn="l">
              <a:defRPr sz="1425" b="1">
                <a:solidFill>
                  <a:srgbClr val="17212B"/>
                </a:solidFill>
                <a:latin typeface="Arial"/>
                <a:ea typeface="Arial"/>
                <a:cs typeface="Arial"/>
              </a:defRPr>
            </a:defPPr>
          </a:lstStyle>
          <a:p>
            <a:pPr algn="l">
              <a:defRPr sz="1425" b="1">
                <a:solidFill>
                  <a:srgbClr val="17212B"/>
                </a:solidFill>
                <a:latin typeface="Arial"/>
                <a:ea typeface="Arial"/>
                <a:cs typeface="Arial"/>
              </a:defRPr>
            </a:pPr>
            <a:r>
              <a:rPr sz="1425" b="1">
                <a:solidFill>
                  <a:srgbClr val="17212B"/>
                </a:solidFill>
                <a:latin typeface="Arial"/>
                <a:ea typeface="Arial"/>
                <a:cs typeface="Arial"/>
              </a:rPr>
              <a:t>React / TypeScript</a:t>
            </a:r>
          </a:p>
        </p:txBody>
      </p:sp>
      <p:sp>
        <p:nvSpPr>
          <p:cNvPr id="17439" name="tsf_83">
            <a:extLst>
              <a:ext uri="{FF2B5EF4-FFF2-40B4-BE49-F238E27FC236}">
                <a16:creationId xmlns:a16="http://schemas.microsoft.com/office/drawing/2014/main" id="{8914D849-1EDA-49EF-B14B-721A27E01C50}"/>
              </a:ext>
            </a:extLst>
          </p:cNvPr>
          <p:cNvSpPr>
            <a:spLocks noGrp="1"/>
          </p:cNvSpPr>
          <p:nvPr/>
        </p:nvSpPr>
        <p:spPr>
          <a:xfrm>
            <a:off x="8591550" y="4867275"/>
            <a:ext cx="3162300" cy="26670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UI and Cytoscape graph view</a:t>
            </a:r>
          </a:p>
        </p:txBody>
      </p:sp>
      <p:sp>
        <p:nvSpPr>
          <p:cNvPr id="17440" name="tsf_84">
            <a:extLst>
              <a:ext uri="{FF2B5EF4-FFF2-40B4-BE49-F238E27FC236}">
                <a16:creationId xmlns:a16="http://schemas.microsoft.com/office/drawing/2014/main" id="{93E86C4F-68D6-41E5-8422-4939A17EAAC9}"/>
              </a:ext>
            </a:extLst>
          </p:cNvPr>
          <p:cNvSpPr>
            <a:spLocks noGrp="1"/>
          </p:cNvSpPr>
          <p:nvPr/>
        </p:nvSpPr>
        <p:spPr>
          <a:xfrm>
            <a:off x="5543550" y="5172075"/>
            <a:ext cx="2962275" cy="266700"/>
          </a:xfrm>
          <a:prstGeom prst="rect">
            <a:avLst/>
          </a:prstGeom>
          <a:noFill/>
          <a:ln w="9525">
            <a:noFill/>
          </a:ln>
        </p:spPr>
        <p:txBody>
          <a:bodyPr wrap="square" lIns="0" tIns="0" rIns="0" bIns="0" anchor="t">
            <a:noAutofit/>
          </a:bodyPr>
          <a:lstStyle>
            <a:defPPr algn="l">
              <a:defRPr sz="1425" b="1">
                <a:solidFill>
                  <a:srgbClr val="17212B"/>
                </a:solidFill>
                <a:latin typeface="Arial"/>
                <a:ea typeface="Arial"/>
                <a:cs typeface="Arial"/>
              </a:defRPr>
            </a:defPPr>
          </a:lstStyle>
          <a:p>
            <a:pPr algn="l">
              <a:defRPr sz="1425" b="1">
                <a:solidFill>
                  <a:srgbClr val="17212B"/>
                </a:solidFill>
                <a:latin typeface="Arial"/>
                <a:ea typeface="Arial"/>
                <a:cs typeface="Arial"/>
              </a:defRPr>
            </a:pPr>
            <a:r>
              <a:rPr sz="1425" b="1">
                <a:solidFill>
                  <a:srgbClr val="17212B"/>
                </a:solidFill>
                <a:latin typeface="Arial"/>
                <a:ea typeface="Arial"/>
                <a:cs typeface="Arial"/>
              </a:rPr>
              <a:t>PostgreSQL + workers</a:t>
            </a:r>
          </a:p>
        </p:txBody>
      </p:sp>
      <p:sp>
        <p:nvSpPr>
          <p:cNvPr id="17441" name="tsf_85">
            <a:extLst>
              <a:ext uri="{FF2B5EF4-FFF2-40B4-BE49-F238E27FC236}">
                <a16:creationId xmlns:a16="http://schemas.microsoft.com/office/drawing/2014/main" id="{41A54B71-6C7B-4D84-90FB-9C119A8D302A}"/>
              </a:ext>
            </a:extLst>
          </p:cNvPr>
          <p:cNvSpPr>
            <a:spLocks noGrp="1"/>
          </p:cNvSpPr>
          <p:nvPr/>
        </p:nvSpPr>
        <p:spPr>
          <a:xfrm>
            <a:off x="8591550" y="5172075"/>
            <a:ext cx="3162300" cy="26670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Durable jobs; SQLite for the local demo</a:t>
            </a:r>
          </a:p>
        </p:txBody>
      </p:sp>
      <p:sp>
        <p:nvSpPr>
          <p:cNvPr id="17442" name="tsf_86">
            <a:extLst>
              <a:ext uri="{FF2B5EF4-FFF2-40B4-BE49-F238E27FC236}">
                <a16:creationId xmlns:a16="http://schemas.microsoft.com/office/drawing/2014/main" id="{806F5993-F849-4985-918D-6CF739297E9F}"/>
              </a:ext>
            </a:extLst>
          </p:cNvPr>
          <p:cNvSpPr>
            <a:spLocks noGrp="1"/>
          </p:cNvSpPr>
          <p:nvPr/>
        </p:nvSpPr>
        <p:spPr>
          <a:xfrm>
            <a:off x="5543550" y="5476875"/>
            <a:ext cx="2962275" cy="266700"/>
          </a:xfrm>
          <a:prstGeom prst="rect">
            <a:avLst/>
          </a:prstGeom>
          <a:noFill/>
          <a:ln w="9525">
            <a:noFill/>
          </a:ln>
        </p:spPr>
        <p:txBody>
          <a:bodyPr wrap="square" lIns="0" tIns="0" rIns="0" bIns="0" anchor="t">
            <a:noAutofit/>
          </a:bodyPr>
          <a:lstStyle>
            <a:defPPr algn="l">
              <a:defRPr sz="1425" b="1">
                <a:solidFill>
                  <a:srgbClr val="17212B"/>
                </a:solidFill>
                <a:latin typeface="Arial"/>
                <a:ea typeface="Arial"/>
                <a:cs typeface="Arial"/>
              </a:defRPr>
            </a:defPPr>
          </a:lstStyle>
          <a:p>
            <a:pPr algn="l">
              <a:defRPr sz="1425" b="1">
                <a:solidFill>
                  <a:srgbClr val="17212B"/>
                </a:solidFill>
                <a:latin typeface="Arial"/>
                <a:ea typeface="Arial"/>
                <a:cs typeface="Arial"/>
              </a:defRPr>
            </a:pPr>
            <a:r>
              <a:rPr sz="1425" b="1">
                <a:solidFill>
                  <a:srgbClr val="17212B"/>
                </a:solidFill>
                <a:latin typeface="Arial"/>
                <a:ea typeface="Arial"/>
                <a:cs typeface="Arial"/>
              </a:rPr>
              <a:t>SHA-256 / Ed25519</a:t>
            </a:r>
          </a:p>
        </p:txBody>
      </p:sp>
      <p:sp>
        <p:nvSpPr>
          <p:cNvPr id="17443" name="tsf_87">
            <a:extLst>
              <a:ext uri="{FF2B5EF4-FFF2-40B4-BE49-F238E27FC236}">
                <a16:creationId xmlns:a16="http://schemas.microsoft.com/office/drawing/2014/main" id="{D68CF245-F303-4674-A108-52743357BF05}"/>
              </a:ext>
            </a:extLst>
          </p:cNvPr>
          <p:cNvSpPr>
            <a:spLocks noGrp="1"/>
          </p:cNvSpPr>
          <p:nvPr/>
        </p:nvSpPr>
        <p:spPr>
          <a:xfrm>
            <a:off x="8591550" y="5476875"/>
            <a:ext cx="3162300" cy="266700"/>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Sign and verify evidence exports</a:t>
            </a:r>
          </a:p>
        </p:txBody>
      </p:sp>
      <p:sp>
        <p:nvSpPr>
          <p:cNvPr id="17444" name="tsf_88">
            <a:extLst>
              <a:ext uri="{FF2B5EF4-FFF2-40B4-BE49-F238E27FC236}">
                <a16:creationId xmlns:a16="http://schemas.microsoft.com/office/drawing/2014/main" id="{AB2CE1D5-B971-42EF-BF7F-6608482EA4D3}"/>
              </a:ext>
            </a:extLst>
          </p:cNvPr>
          <p:cNvSpPr>
            <a:spLocks noGrp="1"/>
          </p:cNvSpPr>
          <p:nvPr/>
        </p:nvSpPr>
        <p:spPr>
          <a:xfrm>
            <a:off x="5543550" y="5895975"/>
            <a:ext cx="6200775" cy="428625"/>
          </a:xfrm>
          <a:prstGeom prst="rect">
            <a:avLst/>
          </a:prstGeom>
          <a:noFill/>
          <a:ln w="9525">
            <a:noFill/>
          </a:ln>
        </p:spPr>
        <p:txBody>
          <a:bodyPr wrap="square" lIns="0" tIns="0" rIns="0" bIns="0" anchor="t">
            <a:noAutofit/>
          </a:bodyPr>
          <a:lstStyle>
            <a:defPPr algn="l">
              <a:defRPr sz="1350" b="0">
                <a:solidFill>
                  <a:srgbClr val="55606B"/>
                </a:solidFill>
                <a:latin typeface="Arial"/>
                <a:ea typeface="Arial"/>
                <a:cs typeface="Arial"/>
              </a:defRPr>
            </a:defPPr>
          </a:lstStyle>
          <a:p>
            <a:pPr algn="l">
              <a:defRPr sz="1350" b="0">
                <a:solidFill>
                  <a:srgbClr val="55606B"/>
                </a:solidFill>
                <a:latin typeface="Arial"/>
                <a:ea typeface="Arial"/>
                <a:cs typeface="Arial"/>
              </a:defRPr>
            </a:pPr>
            <a:r>
              <a:rPr sz="1350" b="0">
                <a:solidFill>
                  <a:srgbClr val="55606B"/>
                </a:solidFill>
                <a:latin typeface="Arial"/>
                <a:ea typeface="Arial"/>
                <a:cs typeface="Arial"/>
              </a:rPr>
              <a:t>National rollout also needs governed labels, SSO/MFA and approved</a:t>
            </a:r>
          </a:p>
          <a:p>
            <a:pPr algn="l">
              <a:defRPr sz="1350" b="0">
                <a:solidFill>
                  <a:srgbClr val="55606B"/>
                </a:solidFill>
                <a:latin typeface="Arial"/>
                <a:ea typeface="Arial"/>
                <a:cs typeface="Arial"/>
              </a:defRPr>
            </a:pPr>
            <a:r>
              <a:rPr sz="1350" b="0">
                <a:solidFill>
                  <a:srgbClr val="55606B"/>
                </a:solidFill>
                <a:latin typeface="Arial"/>
                <a:ea typeface="Arial"/>
                <a:cs typeface="Arial"/>
              </a:rPr>
              <a:t>SAHYOG access. Public/free APIs alone do not provide that coverage.</a:t>
            </a:r>
          </a:p>
        </p:txBody>
      </p:sp>
      <p:cxnSp>
        <p:nvCxnSpPr>
          <p:cNvPr id="17410" name="tsf_76">
            <a:extLst>
              <a:ext uri="{FF2B5EF4-FFF2-40B4-BE49-F238E27FC236}">
                <a16:creationId xmlns:a16="http://schemas.microsoft.com/office/drawing/2014/main" id="{B1EFAFC0-D15F-4ADC-854C-6DD98452AFEC}"/>
              </a:ext>
            </a:extLst>
          </p:cNvPr>
          <p:cNvCxnSpPr>
            <a:stCxn id="17431" idx="3"/>
            <a:endCxn id="17432" idx="1"/>
          </p:cNvCxnSpPr>
          <p:nvPr/>
        </p:nvCxnSpPr>
        <p:spPr>
          <a:xfrm>
            <a:off x="10077450" y="2676525"/>
            <a:ext cx="304800" cy="0"/>
          </a:xfrm>
          <a:prstGeom prst="straightConnector1">
            <a:avLst/>
          </a:prstGeom>
          <a:ln w="19050">
            <a:solidFill>
              <a:srgbClr val="1F497D"/>
            </a:solidFill>
            <a:tailEnd type="triangle" w="sm" len="sm"/>
          </a:ln>
        </p:spPr>
      </p:cxnSp>
      <p:cxnSp>
        <p:nvCxnSpPr>
          <p:cNvPr id="17411" name="tsf_75">
            <a:extLst>
              <a:ext uri="{FF2B5EF4-FFF2-40B4-BE49-F238E27FC236}">
                <a16:creationId xmlns:a16="http://schemas.microsoft.com/office/drawing/2014/main" id="{30869B97-60A7-469D-9352-79A8B789FC1E}"/>
              </a:ext>
            </a:extLst>
          </p:cNvPr>
          <p:cNvCxnSpPr>
            <a:stCxn id="17430" idx="3"/>
            <a:endCxn id="17431" idx="1"/>
          </p:cNvCxnSpPr>
          <p:nvPr/>
        </p:nvCxnSpPr>
        <p:spPr>
          <a:xfrm>
            <a:off x="8467725" y="2676525"/>
            <a:ext cx="304800" cy="0"/>
          </a:xfrm>
          <a:prstGeom prst="straightConnector1">
            <a:avLst/>
          </a:prstGeom>
          <a:ln w="19050">
            <a:solidFill>
              <a:srgbClr val="1F497D"/>
            </a:solidFill>
            <a:tailEnd type="triangle" w="sm" len="sm"/>
          </a:ln>
        </p:spPr>
      </p:cxnSp>
      <p:cxnSp>
        <p:nvCxnSpPr>
          <p:cNvPr id="17412" name="tsf_74">
            <a:extLst>
              <a:ext uri="{FF2B5EF4-FFF2-40B4-BE49-F238E27FC236}">
                <a16:creationId xmlns:a16="http://schemas.microsoft.com/office/drawing/2014/main" id="{3F25DD90-6E93-42D0-B41B-9172AF6DB21D}"/>
              </a:ext>
            </a:extLst>
          </p:cNvPr>
          <p:cNvCxnSpPr>
            <a:stCxn id="17429" idx="3"/>
            <a:endCxn id="17430" idx="1"/>
          </p:cNvCxnSpPr>
          <p:nvPr/>
        </p:nvCxnSpPr>
        <p:spPr>
          <a:xfrm>
            <a:off x="6858000" y="2676525"/>
            <a:ext cx="304800" cy="0"/>
          </a:xfrm>
          <a:prstGeom prst="straightConnector1">
            <a:avLst/>
          </a:prstGeom>
          <a:ln w="19050">
            <a:solidFill>
              <a:srgbClr val="1F497D"/>
            </a:solidFill>
            <a:tailEnd type="triangle" w="sm" len="sm"/>
          </a:ln>
        </p:spPr>
      </p:cxn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89">
            <a:extLst>
              <a:ext uri="{FF2B5EF4-FFF2-40B4-BE49-F238E27FC236}">
                <a16:creationId xmlns:a16="http://schemas.microsoft.com/office/drawing/2014/main" id="{C0DEF457-9A3E-4BBA-AC2C-28BD5E1946F3}"/>
              </a:ext>
            </a:extLst>
          </p:cNvPr>
          <p:cNvSpPr>
            <a:spLocks noGrp="1"/>
          </p:cNvSpPr>
          <p:nvPr/>
        </p:nvSpPr>
        <p:spPr>
          <a:xfrm>
            <a:off x="419100" y="1371600"/>
            <a:ext cx="11325225" cy="361950"/>
          </a:xfrm>
          <a:prstGeom prst="rect">
            <a:avLst/>
          </a:prstGeom>
          <a:noFill/>
          <a:ln w="9525">
            <a:noFill/>
          </a:ln>
        </p:spPr>
        <p:txBody>
          <a:bodyPr wrap="square" lIns="0" tIns="0" rIns="0" bIns="0" anchor="t">
            <a:noAutofit/>
          </a:bodyPr>
          <a:lstStyle>
            <a:defPPr algn="l">
              <a:defRPr sz="2100" b="1">
                <a:solidFill>
                  <a:srgbClr val="1F497D"/>
                </a:solidFill>
                <a:latin typeface="Arial"/>
                <a:ea typeface="Arial"/>
                <a:cs typeface="Arial"/>
              </a:defRPr>
            </a:defPPr>
          </a:lstStyle>
          <a:p>
            <a:pPr algn="l">
              <a:defRPr sz="2100" b="1">
                <a:solidFill>
                  <a:srgbClr val="1F497D"/>
                </a:solidFill>
                <a:latin typeface="Arial"/>
                <a:ea typeface="Arial"/>
                <a:cs typeface="Arial"/>
              </a:defRPr>
            </a:pPr>
            <a:r>
              <a:rPr sz="2100" b="1">
                <a:solidFill>
                  <a:srgbClr val="1F497D"/>
                </a:solidFill>
                <a:latin typeface="Arial"/>
                <a:ea typeface="Arial"/>
                <a:cs typeface="Arial"/>
              </a:rPr>
              <a:t>Our contribution: decide which evidence to check next</a:t>
            </a:r>
          </a:p>
        </p:txBody>
      </p:sp>
      <p:sp>
        <p:nvSpPr>
          <p:cNvPr id="17411" name="tsf_90">
            <a:extLst>
              <a:ext uri="{FF2B5EF4-FFF2-40B4-BE49-F238E27FC236}">
                <a16:creationId xmlns:a16="http://schemas.microsoft.com/office/drawing/2014/main" id="{DBEE0401-D7DF-4125-B1F5-627072E046F2}"/>
              </a:ext>
            </a:extLst>
          </p:cNvPr>
          <p:cNvSpPr>
            <a:spLocks noGrp="1"/>
          </p:cNvSpPr>
          <p:nvPr/>
        </p:nvSpPr>
        <p:spPr>
          <a:xfrm>
            <a:off x="419100" y="1914525"/>
            <a:ext cx="5238750" cy="285750"/>
          </a:xfrm>
          <a:prstGeom prst="rect">
            <a:avLst/>
          </a:prstGeom>
          <a:noFill/>
          <a:ln w="9525">
            <a:noFill/>
          </a:ln>
        </p:spPr>
        <p:txBody>
          <a:bodyPr wrap="square" lIns="0" tIns="0" rIns="0" bIns="0" anchor="t">
            <a:noAutofit/>
          </a:bodyPr>
          <a:lstStyle>
            <a:defPPr algn="l">
              <a:defRPr sz="1725" b="1">
                <a:solidFill>
                  <a:srgbClr val="17212B"/>
                </a:solidFill>
                <a:latin typeface="Arial"/>
                <a:ea typeface="Arial"/>
                <a:cs typeface="Arial"/>
              </a:defRPr>
            </a:defPPr>
          </a:lstStyle>
          <a:p>
            <a:pPr algn="l">
              <a:defRPr sz="1725" b="1">
                <a:solidFill>
                  <a:srgbClr val="17212B"/>
                </a:solidFill>
                <a:latin typeface="Arial"/>
                <a:ea typeface="Arial"/>
                <a:cs typeface="Arial"/>
              </a:defRPr>
            </a:pPr>
            <a:r>
              <a:rPr sz="1725" b="1">
                <a:solidFill>
                  <a:srgbClr val="17212B"/>
                </a:solidFill>
                <a:latin typeface="Arial"/>
                <a:ea typeface="Arial"/>
                <a:cs typeface="Arial"/>
              </a:rPr>
              <a:t>What changes the investigator’s answer</a:t>
            </a:r>
          </a:p>
        </p:txBody>
      </p:sp>
      <p:graphicFrame>
        <p:nvGraphicFramePr>
          <p:cNvPr id="17412" name="tsf_91">
            <a:extLst>
              <a:ext uri="{FF2B5EF4-FFF2-40B4-BE49-F238E27FC236}">
                <a16:creationId xmlns:a16="http://schemas.microsoft.com/office/drawing/2014/main" id="{DD69680E-0B0B-4527-869F-45FCBD99A621}"/>
              </a:ext>
            </a:extLst>
          </p:cNvPr>
          <p:cNvGraphicFramePr/>
          <p:nvPr/>
        </p:nvGraphicFramePr>
        <p:xfrm>
          <a:off x="419100" y="2343150"/>
          <a:ext cx="5362575" cy="1790700"/>
        </p:xfrm>
        <a:graphic>
          <a:graphicData uri="http://schemas.openxmlformats.org/drawingml/2006/table">
            <a:tbl>
              <a:tblPr/>
              <a:tblGrid>
                <a:gridCol w="2286000"/>
                <a:gridCol w="3076575"/>
              </a:tblGrid>
              <a:tr h="447675">
                <a:tc>
                  <a:txBody>
                    <a:bodyPr/>
                    <a:lstStyle/>
                    <a:p>
                      <a:r>
                        <a:rPr sz="1500" b="1">
                          <a:solidFill>
                            <a:srgbClr val="1F497D"/>
                          </a:solidFill>
                          <a:latin typeface="Arial"/>
                          <a:ea typeface="Arial"/>
                          <a:cs typeface="Arial"/>
                        </a:rPr>
                        <a:t>Evidence available</a:t>
                      </a:r>
                    </a:p>
                  </a:txBody>
                  <a:tcPr marL="91440" marR="91440" marT="45720" marB="45720">
                    <a:solidFill>
                      <a:srgbClr val="F2F4F5"/>
                    </a:solidFill>
                  </a:tcPr>
                </a:tc>
                <a:tc>
                  <a:txBody>
                    <a:bodyPr/>
                    <a:lstStyle/>
                    <a:p>
                      <a:r>
                        <a:rPr sz="1500" b="1">
                          <a:solidFill>
                            <a:srgbClr val="1F497D"/>
                          </a:solidFill>
                          <a:latin typeface="Arial"/>
                          <a:ea typeface="Arial"/>
                          <a:cs typeface="Arial"/>
                        </a:rPr>
                        <a:t>Result for the worked example</a:t>
                      </a:r>
                    </a:p>
                  </a:txBody>
                  <a:tcPr marL="91440" marR="91440" marT="45720" marB="45720">
                    <a:solidFill>
                      <a:srgbClr val="F2F4F5"/>
                    </a:solidFill>
                  </a:tcPr>
                </a:tc>
              </a:tr>
              <a:tr h="447675">
                <a:tc>
                  <a:txBody>
                    <a:bodyPr/>
                    <a:lstStyle/>
                    <a:p>
                      <a:r>
                        <a:rPr sz="1425" b="0">
                          <a:solidFill>
                            <a:srgbClr val="17212B"/>
                          </a:solidFill>
                          <a:latin typeface="Arial"/>
                          <a:ea typeface="Arial"/>
                          <a:cs typeface="Arial"/>
                        </a:rPr>
                        <a:t>Known labels only</a:t>
                      </a:r>
                    </a:p>
                  </a:txBody>
                  <a:tcPr marL="91440" marR="91440" marT="45720" marB="45720">
                    <a:solidFill>
                      <a:srgbClr val="FFFFFF"/>
                    </a:solidFill>
                  </a:tcPr>
                </a:tc>
                <a:tc>
                  <a:txBody>
                    <a:bodyPr/>
                    <a:lstStyle/>
                    <a:p>
                      <a:r>
                        <a:rPr sz="1425" b="0">
                          <a:solidFill>
                            <a:srgbClr val="17212B"/>
                          </a:solidFill>
                          <a:latin typeface="Arial"/>
                          <a:ea typeface="Arial"/>
                          <a:cs typeface="Arial"/>
                        </a:rPr>
                        <a:t>H: service label, 2 transfers away</a:t>
                      </a:r>
                    </a:p>
                  </a:txBody>
                  <a:tcPr marL="91440" marR="91440" marT="45720" marB="45720">
                    <a:solidFill>
                      <a:srgbClr val="FFFFFF"/>
                    </a:solidFill>
                  </a:tcPr>
                </a:tc>
              </a:tr>
              <a:tr h="447675">
                <a:tc>
                  <a:txBody>
                    <a:bodyPr/>
                    <a:lstStyle/>
                    <a:p>
                      <a:r>
                        <a:rPr sz="1425" b="0">
                          <a:solidFill>
                            <a:srgbClr val="17212B"/>
                          </a:solidFill>
                          <a:latin typeface="Arial"/>
                          <a:ea typeface="Arial"/>
                          <a:cs typeface="Arial"/>
                        </a:rPr>
                        <a:t>Deposit pattern also passes</a:t>
                      </a:r>
                    </a:p>
                  </a:txBody>
                  <a:tcPr marL="91440" marR="91440" marT="45720" marB="45720">
                    <a:solidFill>
                      <a:srgbClr val="FFFFFF"/>
                    </a:solidFill>
                  </a:tcPr>
                </a:tc>
                <a:tc>
                  <a:txBody>
                    <a:bodyPr/>
                    <a:lstStyle/>
                    <a:p>
                      <a:r>
                        <a:rPr sz="1425" b="0">
                          <a:solidFill>
                            <a:srgbClr val="17212B"/>
                          </a:solidFill>
                          <a:latin typeface="Arial"/>
                          <a:ea typeface="Arial"/>
                          <a:cs typeface="Arial"/>
                        </a:rPr>
                        <a:t>D: unconfirmed lead, 1 transfer</a:t>
                      </a:r>
                    </a:p>
                  </a:txBody>
                  <a:tcPr marL="91440" marR="91440" marT="45720" marB="45720">
                    <a:solidFill>
                      <a:srgbClr val="FFFFFF"/>
                    </a:solidFill>
                  </a:tcPr>
                </a:tc>
              </a:tr>
              <a:tr h="447675">
                <a:tc>
                  <a:txBody>
                    <a:bodyPr/>
                    <a:lstStyle/>
                    <a:p>
                      <a:r>
                        <a:rPr sz="1425" b="0">
                          <a:solidFill>
                            <a:srgbClr val="17212B"/>
                          </a:solidFill>
                          <a:latin typeface="Arial"/>
                          <a:ea typeface="Arial"/>
                          <a:cs typeface="Arial"/>
                        </a:rPr>
                        <a:t>Remove G’s service evidence</a:t>
                      </a:r>
                    </a:p>
                  </a:txBody>
                  <a:tcPr marL="91440" marR="91440" marT="45720" marB="45720">
                    <a:solidFill>
                      <a:srgbClr val="FFFFFF"/>
                    </a:solidFill>
                  </a:tcPr>
                </a:tc>
                <a:tc>
                  <a:txBody>
                    <a:bodyPr/>
                    <a:lstStyle/>
                    <a:p>
                      <a:r>
                        <a:rPr sz="1425" b="0">
                          <a:solidFill>
                            <a:srgbClr val="17212B"/>
                          </a:solidFill>
                          <a:latin typeface="Arial"/>
                          <a:ea typeface="Arial"/>
                          <a:cs typeface="Arial"/>
                        </a:rPr>
                        <a:t>D: unresolved; seek corroboration</a:t>
                      </a:r>
                    </a:p>
                  </a:txBody>
                  <a:tcPr marL="91440" marR="91440" marT="45720" marB="45720">
                    <a:solidFill>
                      <a:srgbClr val="FFFFFF"/>
                    </a:solidFill>
                  </a:tcPr>
                </a:tc>
              </a:tr>
            </a:tbl>
          </a:graphicData>
        </a:graphic>
      </p:graphicFrame>
      <p:sp>
        <p:nvSpPr>
          <p:cNvPr id="17413" name="tsf_92">
            <a:extLst>
              <a:ext uri="{FF2B5EF4-FFF2-40B4-BE49-F238E27FC236}">
                <a16:creationId xmlns:a16="http://schemas.microsoft.com/office/drawing/2014/main" id="{3AE050E8-FB7A-44F7-8489-45D279B0C8C5}"/>
              </a:ext>
            </a:extLst>
          </p:cNvPr>
          <p:cNvSpPr>
            <a:spLocks noGrp="1"/>
          </p:cNvSpPr>
          <p:nvPr/>
        </p:nvSpPr>
        <p:spPr>
          <a:xfrm>
            <a:off x="419100" y="4343400"/>
            <a:ext cx="5343525" cy="685800"/>
          </a:xfrm>
          <a:prstGeom prst="rect">
            <a:avLst/>
          </a:prstGeom>
          <a:noFill/>
          <a:ln w="9525">
            <a:noFill/>
          </a:ln>
        </p:spPr>
        <p:txBody>
          <a:bodyPr wrap="square" lIns="0" tIns="0" rIns="0" bIns="0" anchor="t">
            <a:noAutofit/>
          </a:bodyPr>
          <a:lstStyle>
            <a:defPPr algn="l">
              <a:defRPr sz="1500" b="0">
                <a:solidFill>
                  <a:srgbClr val="17212B"/>
                </a:solidFill>
                <a:latin typeface="Arial"/>
                <a:ea typeface="Arial"/>
                <a:cs typeface="Arial"/>
              </a:defRPr>
            </a:defPPr>
          </a:lstStyle>
          <a:p>
            <a:pPr algn="l">
              <a:defRPr sz="1500" b="0">
                <a:solidFill>
                  <a:srgbClr val="17212B"/>
                </a:solidFill>
                <a:latin typeface="Arial"/>
                <a:ea typeface="Arial"/>
                <a:cs typeface="Arial"/>
              </a:defRPr>
            </a:pPr>
            <a:r>
              <a:rPr sz="1500" b="0">
                <a:solidFill>
                  <a:srgbClr val="17212B"/>
                </a:solidFill>
                <a:latin typeface="Arial"/>
                <a:ea typeface="Arial"/>
                <a:cs typeface="Arial"/>
              </a:rPr>
              <a:t>The next-query planner prioritises nearer evidence gaps.</a:t>
            </a:r>
          </a:p>
          <a:p>
            <a:pPr algn="l">
              <a:defRPr sz="1500" b="0">
                <a:solidFill>
                  <a:srgbClr val="17212B"/>
                </a:solidFill>
                <a:latin typeface="Arial"/>
                <a:ea typeface="Arial"/>
                <a:cs typeface="Arial"/>
              </a:defRPr>
            </a:pPr>
            <a:r>
              <a:rPr sz="1500" b="0">
                <a:solidFill>
                  <a:srgbClr val="17212B"/>
                </a:solidFill>
                <a:latin typeface="Arial"/>
                <a:ea typeface="Arial"/>
                <a:cs typeface="Arial"/>
              </a:rPr>
              <a:t>The source challenge reruns the case without a disputed label.</a:t>
            </a:r>
          </a:p>
          <a:p>
            <a:pPr algn="l">
              <a:defRPr sz="1500" b="0">
                <a:solidFill>
                  <a:srgbClr val="17212B"/>
                </a:solidFill>
                <a:latin typeface="Arial"/>
                <a:ea typeface="Arial"/>
                <a:cs typeface="Arial"/>
              </a:defRPr>
            </a:pPr>
            <a:r>
              <a:rPr sz="1500" b="0">
                <a:solidFill>
                  <a:srgbClr val="17212B"/>
                </a:solidFill>
                <a:latin typeface="Arial"/>
                <a:ea typeface="Arial"/>
                <a:cs typeface="Arial"/>
              </a:rPr>
              <a:t>The certificate records what the search did and did not cover.</a:t>
            </a:r>
          </a:p>
        </p:txBody>
      </p:sp>
      <p:sp>
        <p:nvSpPr>
          <p:cNvPr id="17414" name="tsf_93">
            <a:extLst>
              <a:ext uri="{FF2B5EF4-FFF2-40B4-BE49-F238E27FC236}">
                <a16:creationId xmlns:a16="http://schemas.microsoft.com/office/drawing/2014/main" id="{D195AABC-50C4-42B2-B4A1-842910F27B8D}"/>
              </a:ext>
            </a:extLst>
          </p:cNvPr>
          <p:cNvSpPr>
            <a:spLocks noGrp="1"/>
          </p:cNvSpPr>
          <p:nvPr/>
        </p:nvSpPr>
        <p:spPr>
          <a:xfrm>
            <a:off x="419100" y="5229225"/>
            <a:ext cx="5343525" cy="476250"/>
          </a:xfrm>
          <a:prstGeom prst="rect">
            <a:avLst/>
          </a:prstGeom>
          <a:noFill/>
          <a:ln w="9525">
            <a:noFill/>
          </a:ln>
        </p:spPr>
        <p:txBody>
          <a:bodyPr wrap="square" lIns="0" tIns="0" rIns="0" bIns="0" anchor="t">
            <a:noAutofit/>
          </a:bodyPr>
          <a:lstStyle>
            <a:defPPr algn="l">
              <a:defRPr sz="1575" b="1">
                <a:solidFill>
                  <a:srgbClr val="1F497D"/>
                </a:solidFill>
                <a:latin typeface="Arial"/>
                <a:ea typeface="Arial"/>
                <a:cs typeface="Arial"/>
              </a:defRPr>
            </a:defPPr>
          </a:lstStyle>
          <a:p>
            <a:pPr algn="l">
              <a:defRPr sz="1575" b="1">
                <a:solidFill>
                  <a:srgbClr val="1F497D"/>
                </a:solidFill>
                <a:latin typeface="Arial"/>
                <a:ea typeface="Arial"/>
                <a:cs typeface="Arial"/>
              </a:defRPr>
            </a:pPr>
            <a:r>
              <a:rPr sz="1575" b="1">
                <a:solidFill>
                  <a:srgbClr val="1F497D"/>
                </a:solidFill>
                <a:latin typeface="Arial"/>
                <a:ea typeface="Arial"/>
                <a:cs typeface="Arial"/>
              </a:rPr>
              <a:t>Testable benefit: preserve nearer deposit leads</a:t>
            </a:r>
          </a:p>
          <a:p>
            <a:pPr algn="l">
              <a:defRPr sz="1575" b="1">
                <a:solidFill>
                  <a:srgbClr val="1F497D"/>
                </a:solidFill>
                <a:latin typeface="Arial"/>
                <a:ea typeface="Arial"/>
                <a:cs typeface="Arial"/>
              </a:defRPr>
            </a:pPr>
            <a:r>
              <a:rPr sz="1575" b="1">
                <a:solidFill>
                  <a:srgbClr val="1F497D"/>
                </a:solidFill>
                <a:latin typeface="Arial"/>
                <a:ea typeface="Arial"/>
                <a:cs typeface="Arial"/>
              </a:rPr>
              <a:t>and expose the evidence that could change them.</a:t>
            </a:r>
          </a:p>
        </p:txBody>
      </p:sp>
      <p:sp>
        <p:nvSpPr>
          <p:cNvPr id="17415" name="tsf_94">
            <a:extLst>
              <a:ext uri="{FF2B5EF4-FFF2-40B4-BE49-F238E27FC236}">
                <a16:creationId xmlns:a16="http://schemas.microsoft.com/office/drawing/2014/main" id="{B20D53B3-76C1-4AEB-B99B-B42C2D6B7AF5}"/>
              </a:ext>
            </a:extLst>
          </p:cNvPr>
          <p:cNvSpPr>
            <a:spLocks noGrp="1"/>
          </p:cNvSpPr>
          <p:nvPr/>
        </p:nvSpPr>
        <p:spPr>
          <a:xfrm>
            <a:off x="419100" y="5895975"/>
            <a:ext cx="5343525" cy="428625"/>
          </a:xfrm>
          <a:prstGeom prst="rect">
            <a:avLst/>
          </a:prstGeom>
          <a:noFill/>
          <a:ln w="9525">
            <a:noFill/>
          </a:ln>
        </p:spPr>
        <p:txBody>
          <a:bodyPr wrap="square" lIns="0" tIns="0" rIns="0" bIns="0" anchor="t">
            <a:noAutofit/>
          </a:bodyPr>
          <a:lstStyle>
            <a:defPPr algn="l">
              <a:defRPr sz="1350" b="0">
                <a:solidFill>
                  <a:srgbClr val="55606B"/>
                </a:solidFill>
                <a:latin typeface="Arial"/>
                <a:ea typeface="Arial"/>
                <a:cs typeface="Arial"/>
              </a:defRPr>
            </a:defPPr>
          </a:lstStyle>
          <a:p>
            <a:pPr algn="l">
              <a:defRPr sz="1350" b="0">
                <a:solidFill>
                  <a:srgbClr val="55606B"/>
                </a:solidFill>
                <a:latin typeface="Arial"/>
                <a:ea typeface="Arial"/>
                <a:cs typeface="Arial"/>
              </a:defRPr>
            </a:pPr>
            <a:r>
              <a:rPr sz="1350" b="0">
                <a:solidFill>
                  <a:srgbClr val="55606B"/>
                </a:solidFill>
                <a:latin typeface="Arial"/>
                <a:ea typeface="Arial"/>
                <a:cs typeface="Arial"/>
              </a:rPr>
              <a:t>Temporal graphs and clustering are established methods.</a:t>
            </a:r>
          </a:p>
          <a:p>
            <a:pPr algn="l">
              <a:defRPr sz="1350" b="0">
                <a:solidFill>
                  <a:srgbClr val="55606B"/>
                </a:solidFill>
                <a:latin typeface="Arial"/>
                <a:ea typeface="Arial"/>
                <a:cs typeface="Arial"/>
              </a:defRPr>
            </a:pPr>
            <a:r>
              <a:rPr sz="1350" b="0">
                <a:solidFill>
                  <a:srgbClr val="55606B"/>
                </a:solidFill>
                <a:latin typeface="Arial"/>
                <a:ea typeface="Arial"/>
                <a:cs typeface="Arial"/>
              </a:rPr>
              <a:t>Our combined decision workflow still needs comparative evaluation.</a:t>
            </a:r>
          </a:p>
        </p:txBody>
      </p:sp>
      <p:sp>
        <p:nvSpPr>
          <p:cNvPr id="17416" name="tsf_95">
            <a:extLst>
              <a:ext uri="{FF2B5EF4-FFF2-40B4-BE49-F238E27FC236}">
                <a16:creationId xmlns:a16="http://schemas.microsoft.com/office/drawing/2014/main" id="{9D3B34EE-BDAC-4055-A80E-A3983D62E3C6}"/>
              </a:ext>
            </a:extLst>
          </p:cNvPr>
          <p:cNvSpPr>
            <a:spLocks noGrp="1"/>
          </p:cNvSpPr>
          <p:nvPr/>
        </p:nvSpPr>
        <p:spPr>
          <a:xfrm>
            <a:off x="6172200" y="1914525"/>
            <a:ext cx="5600700" cy="285750"/>
          </a:xfrm>
          <a:prstGeom prst="rect">
            <a:avLst/>
          </a:prstGeom>
          <a:noFill/>
          <a:ln w="9525">
            <a:noFill/>
          </a:ln>
        </p:spPr>
        <p:txBody>
          <a:bodyPr wrap="square" lIns="0" tIns="0" rIns="0" bIns="0" anchor="t">
            <a:noAutofit/>
          </a:bodyPr>
          <a:lstStyle>
            <a:defPPr algn="l">
              <a:defRPr sz="1725" b="1">
                <a:solidFill>
                  <a:srgbClr val="17212B"/>
                </a:solidFill>
                <a:latin typeface="Arial"/>
                <a:ea typeface="Arial"/>
                <a:cs typeface="Arial"/>
              </a:defRPr>
            </a:defPPr>
          </a:lstStyle>
          <a:p>
            <a:pPr algn="l">
              <a:defRPr sz="1725" b="1">
                <a:solidFill>
                  <a:srgbClr val="17212B"/>
                </a:solidFill>
                <a:latin typeface="Arial"/>
                <a:ea typeface="Arial"/>
                <a:cs typeface="Arial"/>
              </a:defRPr>
            </a:pPr>
            <a:r>
              <a:rPr sz="1725" b="1">
                <a:solidFill>
                  <a:srgbClr val="17212B"/>
                </a:solidFill>
                <a:latin typeface="Arial"/>
                <a:ea typeface="Arial"/>
                <a:cs typeface="Arial"/>
              </a:rPr>
              <a:t>The current investigation workspace</a:t>
            </a:r>
          </a:p>
        </p:txBody>
      </p:sp>
      <p:pic>
        <p:nvPicPr>
          <p:cNvPr id="17417" name="TraceSetu actual prototype screenshot" descr="Synthetic training case in the actual TraceSetu prototype. Wallets and service names are fictional.">
            <a:extLst>
              <a:ext uri="{FF2B5EF4-FFF2-40B4-BE49-F238E27FC236}">
                <a16:creationId xmlns:a16="http://schemas.microsoft.com/office/drawing/2014/main" id="{7C5C55E1-7155-4011-9829-265BF1AA57AD}"/>
              </a:ext>
            </a:extLst>
          </p:cNvPr>
          <p:cNvPicPr>
            <a:picLocks noChangeAspect="1"/>
          </p:cNvPicPr>
          <p:nvPr/>
        </p:nvPicPr>
        <p:blipFill>
          <a:blip r:embed="rIdTraceSetu1"/>
          <a:srcRect l="15100" t="25200" r="1200" b="41500"/>
          <a:stretch/>
        </p:blipFill>
        <p:spPr>
          <a:xfrm>
            <a:off x="6181725" y="2324100"/>
            <a:ext cx="5581650" cy="2476500"/>
          </a:xfrm>
          <a:prstGeom prst="rect">
            <a:avLst/>
          </a:prstGeom>
        </p:spPr>
      </p:pic>
      <p:sp>
        <p:nvSpPr>
          <p:cNvPr id="17418" name="tsf_96">
            <a:extLst>
              <a:ext uri="{FF2B5EF4-FFF2-40B4-BE49-F238E27FC236}">
                <a16:creationId xmlns:a16="http://schemas.microsoft.com/office/drawing/2014/main" id="{B8458EB2-B24E-40EF-B3BA-B352BA58CEC2}"/>
              </a:ext>
            </a:extLst>
          </p:cNvPr>
          <p:cNvSpPr>
            <a:spLocks noGrp="1"/>
          </p:cNvSpPr>
          <p:nvPr/>
        </p:nvSpPr>
        <p:spPr>
          <a:xfrm>
            <a:off x="6181725" y="4857750"/>
            <a:ext cx="5581650" cy="447675"/>
          </a:xfrm>
          <a:prstGeom prst="rect">
            <a:avLst/>
          </a:prstGeom>
          <a:noFill/>
          <a:ln w="9525">
            <a:noFill/>
          </a:ln>
        </p:spPr>
        <p:txBody>
          <a:bodyPr wrap="square" lIns="0" tIns="0" rIns="0" bIns="0" anchor="t">
            <a:noAutofit/>
          </a:bodyPr>
          <a:lstStyle>
            <a:defPPr algn="l">
              <a:defRPr sz="1350" b="0">
                <a:solidFill>
                  <a:srgbClr val="55606B"/>
                </a:solidFill>
                <a:latin typeface="Arial"/>
                <a:ea typeface="Arial"/>
                <a:cs typeface="Arial"/>
              </a:defRPr>
            </a:defPPr>
          </a:lstStyle>
          <a:p>
            <a:pPr algn="l">
              <a:defRPr sz="1350" b="0">
                <a:solidFill>
                  <a:srgbClr val="55606B"/>
                </a:solidFill>
                <a:latin typeface="Arial"/>
                <a:ea typeface="Arial"/>
                <a:cs typeface="Arial"/>
              </a:defRPr>
            </a:pPr>
            <a:r>
              <a:rPr sz="1350" b="0">
                <a:solidFill>
                  <a:srgbClr val="55606B"/>
                </a:solidFill>
                <a:latin typeface="Arial"/>
                <a:ea typeface="Arial"/>
                <a:cs typeface="Arial"/>
              </a:rPr>
              <a:t>Actual app, fictional training case. The pattern detector</a:t>
            </a:r>
          </a:p>
          <a:p>
            <a:pPr algn="l">
              <a:defRPr sz="1350" b="0">
                <a:solidFill>
                  <a:srgbClr val="55606B"/>
                </a:solidFill>
                <a:latin typeface="Arial"/>
                <a:ea typeface="Arial"/>
                <a:cs typeface="Arial"/>
              </a:defRPr>
            </a:pPr>
            <a:r>
              <a:rPr sz="1350" b="0">
                <a:solidFill>
                  <a:srgbClr val="55606B"/>
                </a:solidFill>
                <a:latin typeface="Arial"/>
                <a:ea typeface="Arial"/>
                <a:cs typeface="Arial"/>
              </a:rPr>
              <a:t>remains a separate research module.</a:t>
            </a:r>
          </a:p>
        </p:txBody>
      </p:sp>
      <p:sp>
        <p:nvSpPr>
          <p:cNvPr id="17419" name="tsf_97">
            <a:extLst>
              <a:ext uri="{FF2B5EF4-FFF2-40B4-BE49-F238E27FC236}">
                <a16:creationId xmlns:a16="http://schemas.microsoft.com/office/drawing/2014/main" id="{DE80D4C3-6E97-4767-91AB-524A6E998C51}"/>
              </a:ext>
            </a:extLst>
          </p:cNvPr>
          <p:cNvSpPr>
            <a:spLocks noGrp="1"/>
          </p:cNvSpPr>
          <p:nvPr/>
        </p:nvSpPr>
        <p:spPr>
          <a:xfrm>
            <a:off x="6181725" y="5353050"/>
            <a:ext cx="5581650" cy="0"/>
          </a:xfrm>
          <a:prstGeom prst="line">
            <a:avLst/>
          </a:prstGeom>
          <a:noFill/>
          <a:ln w="9525">
            <a:solidFill>
              <a:srgbClr val="C8CDD1"/>
            </a:solidFill>
          </a:ln>
        </p:spPr>
      </p:sp>
      <p:sp>
        <p:nvSpPr>
          <p:cNvPr id="17420" name="tsf_98">
            <a:extLst>
              <a:ext uri="{FF2B5EF4-FFF2-40B4-BE49-F238E27FC236}">
                <a16:creationId xmlns:a16="http://schemas.microsoft.com/office/drawing/2014/main" id="{2AD4B4BC-75E7-4AE5-BF55-6DE617D0A87D}"/>
              </a:ext>
            </a:extLst>
          </p:cNvPr>
          <p:cNvSpPr>
            <a:spLocks noGrp="1"/>
          </p:cNvSpPr>
          <p:nvPr/>
        </p:nvSpPr>
        <p:spPr>
          <a:xfrm>
            <a:off x="6181725" y="5505450"/>
            <a:ext cx="5581650"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rPr>
              <a:t>After review: a VASP request package</a:t>
            </a:r>
          </a:p>
        </p:txBody>
      </p:sp>
      <p:sp>
        <p:nvSpPr>
          <p:cNvPr id="17421" name="tsf_99">
            <a:extLst>
              <a:ext uri="{FF2B5EF4-FFF2-40B4-BE49-F238E27FC236}">
                <a16:creationId xmlns:a16="http://schemas.microsoft.com/office/drawing/2014/main" id="{CF2B817C-E3AE-4550-899C-7A09BECF5D76}"/>
              </a:ext>
            </a:extLst>
          </p:cNvPr>
          <p:cNvSpPr>
            <a:spLocks noGrp="1"/>
          </p:cNvSpPr>
          <p:nvPr/>
        </p:nvSpPr>
        <p:spPr>
          <a:xfrm>
            <a:off x="6181725" y="5838825"/>
            <a:ext cx="5581650"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A verified recipient and independent reviewer precede export.</a:t>
            </a:r>
          </a:p>
          <a:p>
            <a:pPr algn="l">
              <a:defRPr sz="1425" b="0">
                <a:solidFill>
                  <a:srgbClr val="17212B"/>
                </a:solidFill>
                <a:latin typeface="Arial"/>
                <a:ea typeface="Arial"/>
                <a:cs typeface="Arial"/>
              </a:defRPr>
            </a:pPr>
            <a:r>
              <a:rPr sz="1425" b="0">
                <a:solidFill>
                  <a:srgbClr val="17212B"/>
                </a:solidFill>
                <a:latin typeface="Arial"/>
                <a:ea typeface="Arial"/>
                <a:cs typeface="Arial"/>
              </a:rPr>
              <a:t>SAHYOG is not connected. Current exports remain NOT_SENT.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100">
            <a:extLst>
              <a:ext uri="{FF2B5EF4-FFF2-40B4-BE49-F238E27FC236}">
                <a16:creationId xmlns:a16="http://schemas.microsoft.com/office/drawing/2014/main" id="{774DE664-FF9F-4247-82F5-C4E9775AB92D}"/>
              </a:ext>
            </a:extLst>
          </p:cNvPr>
          <p:cNvSpPr>
            <a:spLocks noGrp="1"/>
          </p:cNvSpPr>
          <p:nvPr/>
        </p:nvSpPr>
        <p:spPr>
          <a:xfrm>
            <a:off x="419100" y="1371600"/>
            <a:ext cx="11334750" cy="361950"/>
          </a:xfrm>
          <a:prstGeom prst="rect">
            <a:avLst/>
          </a:prstGeom>
          <a:noFill/>
          <a:ln w="9525">
            <a:noFill/>
          </a:ln>
        </p:spPr>
        <p:txBody>
          <a:bodyPr wrap="square" lIns="0" tIns="0" rIns="0" bIns="0" anchor="t">
            <a:noAutofit/>
          </a:bodyPr>
          <a:lstStyle>
            <a:defPPr algn="l">
              <a:defRPr sz="2100" b="1">
                <a:solidFill>
                  <a:srgbClr val="1F497D"/>
                </a:solidFill>
                <a:latin typeface="Arial"/>
                <a:ea typeface="Arial"/>
                <a:cs typeface="Arial"/>
              </a:defRPr>
            </a:defPPr>
          </a:lstStyle>
          <a:p>
            <a:pPr algn="l">
              <a:defRPr sz="2100" b="1">
                <a:solidFill>
                  <a:srgbClr val="1F497D"/>
                </a:solidFill>
                <a:latin typeface="Arial"/>
                <a:ea typeface="Arial"/>
                <a:cs typeface="Arial"/>
              </a:defRPr>
            </a:pPr>
            <a:r>
              <a:rPr sz="2100" b="1">
                <a:solidFill>
                  <a:srgbClr val="1F497D"/>
                </a:solidFill>
                <a:latin typeface="Arial"/>
                <a:ea typeface="Arial"/>
                <a:cs typeface="Arial"/>
              </a:rPr>
              <a:t>The method, its sources and the evidence still needed</a:t>
            </a:r>
          </a:p>
        </p:txBody>
      </p:sp>
      <p:sp>
        <p:nvSpPr>
          <p:cNvPr id="17411" name="tsf_101">
            <a:extLst>
              <a:ext uri="{FF2B5EF4-FFF2-40B4-BE49-F238E27FC236}">
                <a16:creationId xmlns:a16="http://schemas.microsoft.com/office/drawing/2014/main" id="{77113FEB-23B4-4FC1-BB36-6A0C8CB48DCC}"/>
              </a:ext>
            </a:extLst>
          </p:cNvPr>
          <p:cNvSpPr>
            <a:spLocks noGrp="1"/>
          </p:cNvSpPr>
          <p:nvPr/>
        </p:nvSpPr>
        <p:spPr>
          <a:xfrm>
            <a:off x="419100" y="1943100"/>
            <a:ext cx="7096125"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hlinkClick r:id="rIdTraceSetu1"/>
              </a:rPr>
              <a:t>[1] Victor, FC 2020</a:t>
            </a:r>
          </a:p>
        </p:txBody>
      </p:sp>
      <p:sp>
        <p:nvSpPr>
          <p:cNvPr id="17412" name="tsf_102">
            <a:extLst>
              <a:ext uri="{FF2B5EF4-FFF2-40B4-BE49-F238E27FC236}">
                <a16:creationId xmlns:a16="http://schemas.microsoft.com/office/drawing/2014/main" id="{FE898736-B5AF-4177-8671-FB82CBB0CAF6}"/>
              </a:ext>
            </a:extLst>
          </p:cNvPr>
          <p:cNvSpPr>
            <a:spLocks noGrp="1"/>
          </p:cNvSpPr>
          <p:nvPr/>
        </p:nvSpPr>
        <p:spPr>
          <a:xfrm>
            <a:off x="419100" y="2238375"/>
            <a:ext cx="7096125"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Deposit forwarding into known exchange addresses.</a:t>
            </a:r>
          </a:p>
          <a:p>
            <a:pPr algn="l">
              <a:defRPr sz="1425" b="0">
                <a:solidFill>
                  <a:srgbClr val="17212B"/>
                </a:solidFill>
                <a:latin typeface="Arial"/>
                <a:ea typeface="Arial"/>
                <a:cs typeface="Arial"/>
              </a:defRPr>
            </a:pPr>
            <a:r>
              <a:rPr sz="1425" b="0">
                <a:solidFill>
                  <a:srgbClr val="17212B"/>
                </a:solidFill>
                <a:latin typeface="Arial"/>
                <a:ea typeface="Arial"/>
                <a:cs typeface="Arial"/>
              </a:rPr>
              <a:t>Motivates the unknown-deposit candidate test.</a:t>
            </a:r>
          </a:p>
        </p:txBody>
      </p:sp>
      <p:sp>
        <p:nvSpPr>
          <p:cNvPr id="17413" name="tsf_103">
            <a:extLst>
              <a:ext uri="{FF2B5EF4-FFF2-40B4-BE49-F238E27FC236}">
                <a16:creationId xmlns:a16="http://schemas.microsoft.com/office/drawing/2014/main" id="{19F30696-8DEB-4798-91EB-F340BE82237A}"/>
              </a:ext>
            </a:extLst>
          </p:cNvPr>
          <p:cNvSpPr>
            <a:spLocks noGrp="1"/>
          </p:cNvSpPr>
          <p:nvPr/>
        </p:nvSpPr>
        <p:spPr>
          <a:xfrm>
            <a:off x="419100" y="2638425"/>
            <a:ext cx="7096125"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hlinkClick r:id="rIdTraceSetu2"/>
              </a:rPr>
              <a:t>[2] Brechlin et al., 2025</a:t>
            </a:r>
          </a:p>
        </p:txBody>
      </p:sp>
      <p:sp>
        <p:nvSpPr>
          <p:cNvPr id="17414" name="tsf_104">
            <a:extLst>
              <a:ext uri="{FF2B5EF4-FFF2-40B4-BE49-F238E27FC236}">
                <a16:creationId xmlns:a16="http://schemas.microsoft.com/office/drawing/2014/main" id="{7A52BC47-F07D-437A-9837-AF553B19338E}"/>
              </a:ext>
            </a:extLst>
          </p:cNvPr>
          <p:cNvSpPr>
            <a:spLocks noGrp="1"/>
          </p:cNvSpPr>
          <p:nvPr/>
        </p:nvSpPr>
        <p:spPr>
          <a:xfrm>
            <a:off x="419100" y="2933700"/>
            <a:ext cx="7096125"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Evonax fee funding and collection pattern.</a:t>
            </a:r>
          </a:p>
          <a:p>
            <a:pPr algn="l">
              <a:defRPr sz="1425" b="0">
                <a:solidFill>
                  <a:srgbClr val="17212B"/>
                </a:solidFill>
                <a:latin typeface="Arial"/>
                <a:ea typeface="Arial"/>
                <a:cs typeface="Arial"/>
              </a:defRPr>
            </a:pPr>
            <a:r>
              <a:rPr sz="1425" b="0">
                <a:solidFill>
                  <a:srgbClr val="17212B"/>
                </a:solidFill>
                <a:latin typeface="Arial"/>
                <a:ea typeface="Arial"/>
                <a:cs typeface="Arial"/>
              </a:rPr>
              <a:t>The paper used service records to confirm address roles.</a:t>
            </a:r>
          </a:p>
        </p:txBody>
      </p:sp>
      <p:sp>
        <p:nvSpPr>
          <p:cNvPr id="17415" name="tsf_105">
            <a:extLst>
              <a:ext uri="{FF2B5EF4-FFF2-40B4-BE49-F238E27FC236}">
                <a16:creationId xmlns:a16="http://schemas.microsoft.com/office/drawing/2014/main" id="{2F4C4352-97AA-4F5E-B06E-AD09EBFC4001}"/>
              </a:ext>
            </a:extLst>
          </p:cNvPr>
          <p:cNvSpPr>
            <a:spLocks noGrp="1"/>
          </p:cNvSpPr>
          <p:nvPr/>
        </p:nvSpPr>
        <p:spPr>
          <a:xfrm>
            <a:off x="419100" y="3333750"/>
            <a:ext cx="7096125"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hlinkClick r:id="rIdTraceSetu3"/>
              </a:rPr>
              <a:t>[3] Wu et al., PVLDB 2014</a:t>
            </a:r>
          </a:p>
        </p:txBody>
      </p:sp>
      <p:sp>
        <p:nvSpPr>
          <p:cNvPr id="17416" name="tsf_106">
            <a:extLst>
              <a:ext uri="{FF2B5EF4-FFF2-40B4-BE49-F238E27FC236}">
                <a16:creationId xmlns:a16="http://schemas.microsoft.com/office/drawing/2014/main" id="{892B7A37-5239-40CB-8522-CC5596036084}"/>
              </a:ext>
            </a:extLst>
          </p:cNvPr>
          <p:cNvSpPr>
            <a:spLocks noGrp="1"/>
          </p:cNvSpPr>
          <p:nvPr/>
        </p:nvSpPr>
        <p:spPr>
          <a:xfrm>
            <a:off x="419100" y="3629025"/>
            <a:ext cx="7096125"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Time-respecting paths. Our bounded breadth-first search</a:t>
            </a:r>
          </a:p>
          <a:p>
            <a:pPr algn="l">
              <a:defRPr sz="1425" b="0">
                <a:solidFill>
                  <a:srgbClr val="17212B"/>
                </a:solidFill>
                <a:latin typeface="Arial"/>
                <a:ea typeface="Arial"/>
                <a:cs typeface="Arial"/>
              </a:defRPr>
            </a:pPr>
            <a:r>
              <a:rPr sz="1425" b="0">
                <a:solidFill>
                  <a:srgbClr val="17212B"/>
                </a:solidFill>
                <a:latin typeface="Arial"/>
                <a:ea typeface="Arial"/>
                <a:cs typeface="Arial"/>
              </a:rPr>
              <a:t>requires transfers to follow ledger order.</a:t>
            </a:r>
          </a:p>
        </p:txBody>
      </p:sp>
      <p:sp>
        <p:nvSpPr>
          <p:cNvPr id="17417" name="tsf_107">
            <a:extLst>
              <a:ext uri="{FF2B5EF4-FFF2-40B4-BE49-F238E27FC236}">
                <a16:creationId xmlns:a16="http://schemas.microsoft.com/office/drawing/2014/main" id="{82C256F2-33BF-48F6-9E6A-9C037B2AE69E}"/>
              </a:ext>
            </a:extLst>
          </p:cNvPr>
          <p:cNvSpPr>
            <a:spLocks noGrp="1"/>
          </p:cNvSpPr>
          <p:nvPr/>
        </p:nvSpPr>
        <p:spPr>
          <a:xfrm>
            <a:off x="419100" y="4029075"/>
            <a:ext cx="7096125"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hlinkClick r:id="rIdTraceSetu4"/>
              </a:rPr>
              <a:t>[4] GraphSense Public TagPacks</a:t>
            </a:r>
          </a:p>
        </p:txBody>
      </p:sp>
      <p:sp>
        <p:nvSpPr>
          <p:cNvPr id="17418" name="tsf_108">
            <a:extLst>
              <a:ext uri="{FF2B5EF4-FFF2-40B4-BE49-F238E27FC236}">
                <a16:creationId xmlns:a16="http://schemas.microsoft.com/office/drawing/2014/main" id="{7E8BC367-7292-4AEF-88ED-F48882E119AF}"/>
              </a:ext>
            </a:extLst>
          </p:cNvPr>
          <p:cNvSpPr>
            <a:spLocks noGrp="1"/>
          </p:cNvSpPr>
          <p:nvPr/>
        </p:nvSpPr>
        <p:spPr>
          <a:xfrm>
            <a:off x="419100" y="4324350"/>
            <a:ext cx="7096125"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Public address labels with links to their original sources.</a:t>
            </a:r>
          </a:p>
          <a:p>
            <a:pPr algn="l">
              <a:defRPr sz="1425" b="0">
                <a:solidFill>
                  <a:srgbClr val="17212B"/>
                </a:solidFill>
                <a:latin typeface="Arial"/>
                <a:ea typeface="Arial"/>
                <a:cs typeface="Arial"/>
              </a:defRPr>
            </a:pPr>
            <a:r>
              <a:rPr sz="1425" b="0">
                <a:solidFill>
                  <a:srgbClr val="17212B"/>
                </a:solidFill>
                <a:latin typeface="Arial"/>
                <a:ea typeface="Arial"/>
                <a:cs typeface="Arial"/>
              </a:rPr>
              <a:t>A proposed input for a reviewed service register.</a:t>
            </a:r>
          </a:p>
        </p:txBody>
      </p:sp>
      <p:sp>
        <p:nvSpPr>
          <p:cNvPr id="17419" name="tsf_109">
            <a:extLst>
              <a:ext uri="{FF2B5EF4-FFF2-40B4-BE49-F238E27FC236}">
                <a16:creationId xmlns:a16="http://schemas.microsoft.com/office/drawing/2014/main" id="{F1563970-FCD2-4215-842B-9F3B90F2ED02}"/>
              </a:ext>
            </a:extLst>
          </p:cNvPr>
          <p:cNvSpPr>
            <a:spLocks noGrp="1"/>
          </p:cNvSpPr>
          <p:nvPr/>
        </p:nvSpPr>
        <p:spPr>
          <a:xfrm>
            <a:off x="419100" y="4724400"/>
            <a:ext cx="7096125"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hlinkClick r:id="rIdTraceSetu5"/>
              </a:rPr>
              <a:t>[5] Lubbertsen et al., USENIX 2025</a:t>
            </a:r>
          </a:p>
        </p:txBody>
      </p:sp>
      <p:sp>
        <p:nvSpPr>
          <p:cNvPr id="17420" name="tsf_110">
            <a:extLst>
              <a:ext uri="{FF2B5EF4-FFF2-40B4-BE49-F238E27FC236}">
                <a16:creationId xmlns:a16="http://schemas.microsoft.com/office/drawing/2014/main" id="{5246B643-B527-4C0B-9863-31A3E79A4BD0}"/>
              </a:ext>
            </a:extLst>
          </p:cNvPr>
          <p:cNvSpPr>
            <a:spLocks noGrp="1"/>
          </p:cNvSpPr>
          <p:nvPr/>
        </p:nvSpPr>
        <p:spPr>
          <a:xfrm>
            <a:off x="419100" y="5019675"/>
            <a:ext cx="7096125"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Evaluate ownership and deposit roles against independent</a:t>
            </a:r>
          </a:p>
          <a:p>
            <a:pPr algn="l">
              <a:defRPr sz="1425" b="0">
                <a:solidFill>
                  <a:srgbClr val="17212B"/>
                </a:solidFill>
                <a:latin typeface="Arial"/>
                <a:ea typeface="Arial"/>
                <a:cs typeface="Arial"/>
              </a:defRPr>
            </a:pPr>
            <a:r>
              <a:rPr sz="1425" b="0">
                <a:solidFill>
                  <a:srgbClr val="17212B"/>
                </a:solidFill>
                <a:latin typeface="Arial"/>
                <a:ea typeface="Arial"/>
                <a:cs typeface="Arial"/>
              </a:rPr>
              <a:t>ground truth, including coverage and missed addresses.</a:t>
            </a:r>
          </a:p>
        </p:txBody>
      </p:sp>
      <p:sp>
        <p:nvSpPr>
          <p:cNvPr id="17421" name="tsf_111">
            <a:extLst>
              <a:ext uri="{FF2B5EF4-FFF2-40B4-BE49-F238E27FC236}">
                <a16:creationId xmlns:a16="http://schemas.microsoft.com/office/drawing/2014/main" id="{10869B14-919A-4D36-8A0A-DF8DDFD6AC7B}"/>
              </a:ext>
            </a:extLst>
          </p:cNvPr>
          <p:cNvSpPr>
            <a:spLocks noGrp="1"/>
          </p:cNvSpPr>
          <p:nvPr/>
        </p:nvSpPr>
        <p:spPr>
          <a:xfrm>
            <a:off x="419100" y="5419725"/>
            <a:ext cx="7096125" cy="266700"/>
          </a:xfrm>
          <a:prstGeom prst="rect">
            <a:avLst/>
          </a:prstGeom>
          <a:noFill/>
          <a:ln w="9525">
            <a:noFill/>
          </a:ln>
        </p:spPr>
        <p:txBody>
          <a:bodyPr wrap="square" lIns="0" tIns="0" rIns="0" bIns="0" anchor="t">
            <a:noAutofit/>
          </a:bodyPr>
          <a:lstStyle>
            <a:defPPr algn="l">
              <a:defRPr sz="1650" b="1">
                <a:solidFill>
                  <a:srgbClr val="1F497D"/>
                </a:solidFill>
                <a:latin typeface="Arial"/>
                <a:ea typeface="Arial"/>
                <a:cs typeface="Arial"/>
              </a:defRPr>
            </a:defPPr>
          </a:lstStyle>
          <a:p>
            <a:pPr algn="l">
              <a:defRPr sz="1650" b="1">
                <a:solidFill>
                  <a:srgbClr val="1F497D"/>
                </a:solidFill>
                <a:latin typeface="Arial"/>
                <a:ea typeface="Arial"/>
                <a:cs typeface="Arial"/>
              </a:defRPr>
            </a:pPr>
            <a:r>
              <a:rPr sz="1650" b="1">
                <a:solidFill>
                  <a:srgbClr val="1F497D"/>
                </a:solidFill>
                <a:latin typeface="Arial"/>
                <a:ea typeface="Arial"/>
                <a:cs typeface="Arial"/>
                <a:hlinkClick r:id="rIdTraceSetu6"/>
              </a:rPr>
              <a:t>[6] Kappos et al., USENIX 2022</a:t>
            </a:r>
          </a:p>
        </p:txBody>
      </p:sp>
      <p:sp>
        <p:nvSpPr>
          <p:cNvPr id="17422" name="tsf_112">
            <a:extLst>
              <a:ext uri="{FF2B5EF4-FFF2-40B4-BE49-F238E27FC236}">
                <a16:creationId xmlns:a16="http://schemas.microsoft.com/office/drawing/2014/main" id="{277098E4-3217-463A-9804-95AC4F885D9A}"/>
              </a:ext>
            </a:extLst>
          </p:cNvPr>
          <p:cNvSpPr>
            <a:spLocks noGrp="1"/>
          </p:cNvSpPr>
          <p:nvPr/>
        </p:nvSpPr>
        <p:spPr>
          <a:xfrm>
            <a:off x="419100" y="5715000"/>
            <a:ext cx="7096125" cy="409575"/>
          </a:xfrm>
          <a:prstGeom prst="rect">
            <a:avLst/>
          </a:prstGeom>
          <a:noFill/>
          <a:ln w="9525">
            <a:noFill/>
          </a:ln>
        </p:spPr>
        <p:txBody>
          <a:bodyPr wrap="square" lIns="0" tIns="0" rIns="0" bIns="0" anchor="t">
            <a:noAutofit/>
          </a:bodyPr>
          <a:lstStyle>
            <a:defPPr algn="l">
              <a:defRPr sz="1425" b="0">
                <a:solidFill>
                  <a:srgbClr val="17212B"/>
                </a:solidFill>
                <a:latin typeface="Arial"/>
                <a:ea typeface="Arial"/>
                <a:cs typeface="Arial"/>
              </a:defRPr>
            </a:defPPr>
          </a:lstStyle>
          <a:p>
            <a:pPr algn="l">
              <a:defRPr sz="1425" b="0">
                <a:solidFill>
                  <a:srgbClr val="17212B"/>
                </a:solidFill>
                <a:latin typeface="Arial"/>
                <a:ea typeface="Arial"/>
                <a:cs typeface="Arial"/>
              </a:defRPr>
            </a:pPr>
            <a:r>
              <a:rPr sz="1425" b="0">
                <a:solidFill>
                  <a:srgbClr val="17212B"/>
                </a:solidFill>
                <a:latin typeface="Arial"/>
                <a:ea typeface="Arial"/>
                <a:cs typeface="Arial"/>
              </a:rPr>
              <a:t>Bitcoin peel-chain clustering. A future guarded extension,</a:t>
            </a:r>
          </a:p>
          <a:p>
            <a:pPr algn="l">
              <a:defRPr sz="1425" b="0">
                <a:solidFill>
                  <a:srgbClr val="17212B"/>
                </a:solidFill>
                <a:latin typeface="Arial"/>
                <a:ea typeface="Arial"/>
                <a:cs typeface="Arial"/>
              </a:defRPr>
            </a:pPr>
            <a:r>
              <a:rPr sz="1425" b="0">
                <a:solidFill>
                  <a:srgbClr val="17212B"/>
                </a:solidFill>
                <a:latin typeface="Arial"/>
                <a:ea typeface="Arial"/>
                <a:cs typeface="Arial"/>
              </a:rPr>
              <a:t>not a capability of our current deposit-pattern module.</a:t>
            </a:r>
          </a:p>
        </p:txBody>
      </p:sp>
      <p:sp>
        <p:nvSpPr>
          <p:cNvPr id="17423" name="tsf_113">
            <a:extLst>
              <a:ext uri="{FF2B5EF4-FFF2-40B4-BE49-F238E27FC236}">
                <a16:creationId xmlns:a16="http://schemas.microsoft.com/office/drawing/2014/main" id="{5F856038-2AE3-4EB5-BADD-BACDD548BB0C}"/>
              </a:ext>
            </a:extLst>
          </p:cNvPr>
          <p:cNvSpPr>
            <a:spLocks noGrp="1"/>
          </p:cNvSpPr>
          <p:nvPr/>
        </p:nvSpPr>
        <p:spPr>
          <a:xfrm>
            <a:off x="7800975" y="1943100"/>
            <a:ext cx="0" cy="4238625"/>
          </a:xfrm>
          <a:prstGeom prst="line">
            <a:avLst/>
          </a:prstGeom>
          <a:noFill/>
          <a:ln w="9525">
            <a:solidFill>
              <a:srgbClr val="C8CDD1"/>
            </a:solidFill>
          </a:ln>
        </p:spPr>
      </p:sp>
      <p:sp>
        <p:nvSpPr>
          <p:cNvPr id="17424" name="tsf_114">
            <a:extLst>
              <a:ext uri="{FF2B5EF4-FFF2-40B4-BE49-F238E27FC236}">
                <a16:creationId xmlns:a16="http://schemas.microsoft.com/office/drawing/2014/main" id="{6231E9FD-C50A-4969-A78F-2E70D6E36703}"/>
              </a:ext>
            </a:extLst>
          </p:cNvPr>
          <p:cNvSpPr>
            <a:spLocks noGrp="1"/>
          </p:cNvSpPr>
          <p:nvPr/>
        </p:nvSpPr>
        <p:spPr>
          <a:xfrm>
            <a:off x="8086725" y="1943100"/>
            <a:ext cx="3676650" cy="295275"/>
          </a:xfrm>
          <a:prstGeom prst="rect">
            <a:avLst/>
          </a:prstGeom>
          <a:noFill/>
          <a:ln w="9525">
            <a:noFill/>
          </a:ln>
        </p:spPr>
        <p:txBody>
          <a:bodyPr wrap="square" lIns="0" tIns="0" rIns="0" bIns="0" anchor="t">
            <a:noAutofit/>
          </a:bodyPr>
          <a:lstStyle>
            <a:defPPr algn="l">
              <a:defRPr sz="1800" b="1">
                <a:solidFill>
                  <a:srgbClr val="17212B"/>
                </a:solidFill>
                <a:latin typeface="Arial"/>
                <a:ea typeface="Arial"/>
                <a:cs typeface="Arial"/>
              </a:defRPr>
            </a:defPPr>
          </a:lstStyle>
          <a:p>
            <a:pPr algn="l">
              <a:defRPr sz="1800" b="1">
                <a:solidFill>
                  <a:srgbClr val="17212B"/>
                </a:solidFill>
                <a:latin typeface="Arial"/>
                <a:ea typeface="Arial"/>
                <a:cs typeface="Arial"/>
              </a:defRPr>
            </a:pPr>
            <a:r>
              <a:rPr sz="1800" b="1">
                <a:solidFill>
                  <a:srgbClr val="17212B"/>
                </a:solidFill>
                <a:latin typeface="Arial"/>
                <a:ea typeface="Arial"/>
                <a:cs typeface="Arial"/>
              </a:rPr>
              <a:t>Working code and research</a:t>
            </a:r>
          </a:p>
        </p:txBody>
      </p:sp>
      <p:sp>
        <p:nvSpPr>
          <p:cNvPr id="17425" name="tsf_115">
            <a:extLst>
              <a:ext uri="{FF2B5EF4-FFF2-40B4-BE49-F238E27FC236}">
                <a16:creationId xmlns:a16="http://schemas.microsoft.com/office/drawing/2014/main" id="{EE9C60B0-6B29-4139-9685-8BF0DEE98353}"/>
              </a:ext>
            </a:extLst>
          </p:cNvPr>
          <p:cNvSpPr>
            <a:spLocks noGrp="1"/>
          </p:cNvSpPr>
          <p:nvPr/>
        </p:nvSpPr>
        <p:spPr>
          <a:xfrm>
            <a:off x="8086725" y="2371725"/>
            <a:ext cx="3676650" cy="523875"/>
          </a:xfrm>
          <a:prstGeom prst="rect">
            <a:avLst/>
          </a:prstGeom>
          <a:noFill/>
          <a:ln w="9525">
            <a:noFill/>
          </a:ln>
        </p:spPr>
        <p:txBody>
          <a:bodyPr wrap="square" lIns="0" tIns="0" rIns="0" bIns="0" anchor="t">
            <a:noAutofit/>
          </a:bodyPr>
          <a:lstStyle>
            <a:defPPr algn="l">
              <a:defRPr sz="1800" b="0">
                <a:solidFill>
                  <a:srgbClr val="1F497D"/>
                </a:solidFill>
                <a:latin typeface="Arial"/>
                <a:ea typeface="Arial"/>
                <a:cs typeface="Arial"/>
              </a:defRPr>
            </a:defPPr>
          </a:lstStyle>
          <a:p>
            <a:pPr algn="l">
              <a:defRPr sz="1800" b="0">
                <a:solidFill>
                  <a:srgbClr val="1F497D"/>
                </a:solidFill>
                <a:latin typeface="Arial"/>
                <a:ea typeface="Arial"/>
                <a:cs typeface="Arial"/>
              </a:defRPr>
            </a:pPr>
            <a:r>
              <a:rPr sz="1800" b="0">
                <a:solidFill>
                  <a:srgbClr val="1F497D"/>
                </a:solidFill>
                <a:latin typeface="Arial"/>
                <a:ea typeface="Arial"/>
                <a:cs typeface="Arial"/>
                <a:hlinkClick r:id="rIdTraceSetu7"/>
              </a:rPr>
              <a:t>github.com/</a:t>
            </a:r>
          </a:p>
          <a:p>
            <a:pPr algn="l">
              <a:defRPr sz="1800" b="0">
                <a:solidFill>
                  <a:srgbClr val="1F497D"/>
                </a:solidFill>
                <a:latin typeface="Arial"/>
                <a:ea typeface="Arial"/>
                <a:cs typeface="Arial"/>
              </a:defRPr>
            </a:pPr>
            <a:r>
              <a:rPr sz="1800" b="0">
                <a:solidFill>
                  <a:srgbClr val="1F497D"/>
                </a:solidFill>
                <a:latin typeface="Arial"/>
                <a:ea typeface="Arial"/>
                <a:cs typeface="Arial"/>
                <a:hlinkClick r:id="rIdTraceSetu8"/>
              </a:rPr>
              <a:t>notvinayaks/TraceSetu</a:t>
            </a:r>
          </a:p>
        </p:txBody>
      </p:sp>
      <p:sp>
        <p:nvSpPr>
          <p:cNvPr id="17426" name="tsf_116">
            <a:extLst>
              <a:ext uri="{FF2B5EF4-FFF2-40B4-BE49-F238E27FC236}">
                <a16:creationId xmlns:a16="http://schemas.microsoft.com/office/drawing/2014/main" id="{40D05D49-7C32-4C98-A68B-2167AD44FDC6}"/>
              </a:ext>
            </a:extLst>
          </p:cNvPr>
          <p:cNvSpPr>
            <a:spLocks noGrp="1"/>
          </p:cNvSpPr>
          <p:nvPr/>
        </p:nvSpPr>
        <p:spPr>
          <a:xfrm>
            <a:off x="8086725" y="3000375"/>
            <a:ext cx="3676650" cy="285750"/>
          </a:xfrm>
          <a:prstGeom prst="rect">
            <a:avLst/>
          </a:prstGeom>
          <a:noFill/>
          <a:ln w="9525">
            <a:noFill/>
          </a:ln>
        </p:spPr>
        <p:txBody>
          <a:bodyPr wrap="square" lIns="0" tIns="0" rIns="0" bIns="0" anchor="t">
            <a:noAutofit/>
          </a:bodyPr>
          <a:lstStyle>
            <a:defPPr algn="l">
              <a:defRPr sz="1425" b="0">
                <a:solidFill>
                  <a:srgbClr val="55606B"/>
                </a:solidFill>
                <a:latin typeface="Arial"/>
                <a:ea typeface="Arial"/>
                <a:cs typeface="Arial"/>
              </a:defRPr>
            </a:defPPr>
          </a:lstStyle>
          <a:p>
            <a:pPr algn="l">
              <a:defRPr sz="1425" b="0">
                <a:solidFill>
                  <a:srgbClr val="55606B"/>
                </a:solidFill>
                <a:latin typeface="Arial"/>
                <a:ea typeface="Arial"/>
                <a:cs typeface="Arial"/>
              </a:defRPr>
            </a:pPr>
            <a:r>
              <a:rPr sz="1425" b="0">
                <a:solidFill>
                  <a:srgbClr val="55606B"/>
                </a:solidFill>
                <a:latin typeface="Arial"/>
                <a:ea typeface="Arial"/>
                <a:cs typeface="Arial"/>
              </a:rPr>
              <a:t>Branch: product/live-foundation</a:t>
            </a:r>
          </a:p>
        </p:txBody>
      </p:sp>
      <p:sp>
        <p:nvSpPr>
          <p:cNvPr id="17427" name="tsf_117">
            <a:extLst>
              <a:ext uri="{FF2B5EF4-FFF2-40B4-BE49-F238E27FC236}">
                <a16:creationId xmlns:a16="http://schemas.microsoft.com/office/drawing/2014/main" id="{FE2FEF34-A83F-46DB-BA37-27D7978C8B6E}"/>
              </a:ext>
            </a:extLst>
          </p:cNvPr>
          <p:cNvSpPr>
            <a:spLocks noGrp="1"/>
          </p:cNvSpPr>
          <p:nvPr/>
        </p:nvSpPr>
        <p:spPr>
          <a:xfrm>
            <a:off x="8086725" y="3524250"/>
            <a:ext cx="3676650" cy="295275"/>
          </a:xfrm>
          <a:prstGeom prst="rect">
            <a:avLst/>
          </a:prstGeom>
          <a:noFill/>
          <a:ln w="9525">
            <a:noFill/>
          </a:ln>
        </p:spPr>
        <p:txBody>
          <a:bodyPr wrap="square" lIns="0" tIns="0" rIns="0" bIns="0" anchor="t">
            <a:noAutofit/>
          </a:bodyPr>
          <a:lstStyle>
            <a:defPPr algn="l">
              <a:defRPr sz="1800" b="1">
                <a:solidFill>
                  <a:srgbClr val="17212B"/>
                </a:solidFill>
                <a:latin typeface="Arial"/>
                <a:ea typeface="Arial"/>
                <a:cs typeface="Arial"/>
              </a:defRPr>
            </a:defPPr>
          </a:lstStyle>
          <a:p>
            <a:pPr algn="l">
              <a:defRPr sz="1800" b="1">
                <a:solidFill>
                  <a:srgbClr val="17212B"/>
                </a:solidFill>
                <a:latin typeface="Arial"/>
                <a:ea typeface="Arial"/>
                <a:cs typeface="Arial"/>
              </a:defRPr>
            </a:pPr>
            <a:r>
              <a:rPr sz="1800" b="1">
                <a:solidFill>
                  <a:srgbClr val="17212B"/>
                </a:solidFill>
                <a:latin typeface="Arial"/>
                <a:ea typeface="Arial"/>
                <a:cs typeface="Arial"/>
              </a:rPr>
              <a:t>Prototype video</a:t>
            </a:r>
          </a:p>
        </p:txBody>
      </p:sp>
      <p:sp>
        <p:nvSpPr>
          <p:cNvPr id="17428" name="tsf_118">
            <a:extLst>
              <a:ext uri="{FF2B5EF4-FFF2-40B4-BE49-F238E27FC236}">
                <a16:creationId xmlns:a16="http://schemas.microsoft.com/office/drawing/2014/main" id="{09FE1767-6441-408B-9EFB-12AC1C86E70A}"/>
              </a:ext>
            </a:extLst>
          </p:cNvPr>
          <p:cNvSpPr>
            <a:spLocks noGrp="1"/>
          </p:cNvSpPr>
          <p:nvPr/>
        </p:nvSpPr>
        <p:spPr>
          <a:xfrm>
            <a:off x="8086725" y="3933825"/>
            <a:ext cx="3676650" cy="561975"/>
          </a:xfrm>
          <a:prstGeom prst="rect">
            <a:avLst/>
          </a:prstGeom>
          <a:noFill/>
          <a:ln w="9525">
            <a:noFill/>
          </a:ln>
        </p:spPr>
        <p:txBody>
          <a:bodyPr wrap="square" lIns="0" tIns="0" rIns="0" bIns="0" anchor="t">
            <a:noAutofit/>
          </a:bodyPr>
          <a:lstStyle>
            <a:defPPr algn="l">
              <a:defRPr sz="1725" b="0">
                <a:solidFill>
                  <a:srgbClr val="1F497D"/>
                </a:solidFill>
                <a:latin typeface="Arial"/>
                <a:ea typeface="Arial"/>
                <a:cs typeface="Arial"/>
              </a:defRPr>
            </a:defPPr>
          </a:lstStyle>
          <a:p>
            <a:pPr algn="l">
              <a:defRPr sz="1725" b="0">
                <a:solidFill>
                  <a:srgbClr val="1F497D"/>
                </a:solidFill>
                <a:latin typeface="Arial"/>
                <a:ea typeface="Arial"/>
                <a:cs typeface="Arial"/>
              </a:defRPr>
            </a:pPr>
            <a:r>
              <a:rPr sz="1725" b="0">
                <a:solidFill>
                  <a:srgbClr val="1F497D"/>
                </a:solidFill>
                <a:latin typeface="Arial"/>
                <a:ea typeface="Arial"/>
                <a:cs typeface="Arial"/>
                <a:hlinkClick r:id="rIdTraceSetu9"/>
              </a:rPr>
              <a:t>youtube.com/watch?</a:t>
            </a:r>
          </a:p>
          <a:p>
            <a:pPr algn="l">
              <a:defRPr sz="1725" b="0">
                <a:solidFill>
                  <a:srgbClr val="1F497D"/>
                </a:solidFill>
                <a:latin typeface="Arial"/>
                <a:ea typeface="Arial"/>
                <a:cs typeface="Arial"/>
              </a:defRPr>
            </a:pPr>
            <a:r>
              <a:rPr sz="1725" b="0">
                <a:solidFill>
                  <a:srgbClr val="1F497D"/>
                </a:solidFill>
                <a:latin typeface="Arial"/>
                <a:ea typeface="Arial"/>
                <a:cs typeface="Arial"/>
                <a:hlinkClick r:id="rIdTraceSetu10"/>
              </a:rPr>
              <a:t>v=V_qB6dL934w</a:t>
            </a:r>
          </a:p>
        </p:txBody>
      </p:sp>
      <p:sp>
        <p:nvSpPr>
          <p:cNvPr id="17429" name="tsf_119">
            <a:extLst>
              <a:ext uri="{FF2B5EF4-FFF2-40B4-BE49-F238E27FC236}">
                <a16:creationId xmlns:a16="http://schemas.microsoft.com/office/drawing/2014/main" id="{AA22F0E1-1214-4F7C-8DDB-F0266066E9C5}"/>
              </a:ext>
            </a:extLst>
          </p:cNvPr>
          <p:cNvSpPr>
            <a:spLocks noGrp="1"/>
          </p:cNvSpPr>
          <p:nvPr/>
        </p:nvSpPr>
        <p:spPr>
          <a:xfrm>
            <a:off x="8086725" y="4629150"/>
            <a:ext cx="3676650" cy="0"/>
          </a:xfrm>
          <a:prstGeom prst="line">
            <a:avLst/>
          </a:prstGeom>
          <a:noFill/>
          <a:ln w="9525">
            <a:solidFill>
              <a:srgbClr val="C8CDD1"/>
            </a:solidFill>
          </a:ln>
        </p:spPr>
      </p:sp>
      <p:sp>
        <p:nvSpPr>
          <p:cNvPr id="17430" name="tsf_120">
            <a:extLst>
              <a:ext uri="{FF2B5EF4-FFF2-40B4-BE49-F238E27FC236}">
                <a16:creationId xmlns:a16="http://schemas.microsoft.com/office/drawing/2014/main" id="{47ADE0A5-225B-4045-BD8E-92C6792FB019}"/>
              </a:ext>
            </a:extLst>
          </p:cNvPr>
          <p:cNvSpPr>
            <a:spLocks noGrp="1"/>
          </p:cNvSpPr>
          <p:nvPr/>
        </p:nvSpPr>
        <p:spPr>
          <a:xfrm>
            <a:off x="8086725" y="4848225"/>
            <a:ext cx="3676650" cy="276225"/>
          </a:xfrm>
          <a:prstGeom prst="rect">
            <a:avLst/>
          </a:prstGeom>
          <a:noFill/>
          <a:ln w="9525">
            <a:noFill/>
          </a:ln>
        </p:spPr>
        <p:txBody>
          <a:bodyPr wrap="square" lIns="0" tIns="0" rIns="0" bIns="0" anchor="t">
            <a:noAutofit/>
          </a:bodyPr>
          <a:lstStyle>
            <a:defPPr algn="l">
              <a:defRPr sz="1800" b="1">
                <a:solidFill>
                  <a:srgbClr val="1F497D"/>
                </a:solidFill>
                <a:latin typeface="Arial"/>
                <a:ea typeface="Arial"/>
                <a:cs typeface="Arial"/>
              </a:defRPr>
            </a:defPPr>
          </a:lstStyle>
          <a:p>
            <a:pPr algn="l">
              <a:defRPr sz="1800" b="1">
                <a:solidFill>
                  <a:srgbClr val="1F497D"/>
                </a:solidFill>
                <a:latin typeface="Arial"/>
                <a:ea typeface="Arial"/>
                <a:cs typeface="Arial"/>
              </a:defRPr>
            </a:pPr>
            <a:r>
              <a:rPr sz="1800" b="1">
                <a:solidFill>
                  <a:srgbClr val="1F497D"/>
                </a:solidFill>
                <a:latin typeface="Arial"/>
                <a:ea typeface="Arial"/>
                <a:cs typeface="Arial"/>
              </a:rPr>
              <a:t>Next validation</a:t>
            </a:r>
          </a:p>
        </p:txBody>
      </p:sp>
      <p:sp>
        <p:nvSpPr>
          <p:cNvPr id="17431" name="tsf_121">
            <a:extLst>
              <a:ext uri="{FF2B5EF4-FFF2-40B4-BE49-F238E27FC236}">
                <a16:creationId xmlns:a16="http://schemas.microsoft.com/office/drawing/2014/main" id="{C3B5A871-CC3A-4F1B-AF0B-D7FD6CC23785}"/>
              </a:ext>
            </a:extLst>
          </p:cNvPr>
          <p:cNvSpPr>
            <a:spLocks noGrp="1"/>
          </p:cNvSpPr>
          <p:nvPr/>
        </p:nvSpPr>
        <p:spPr>
          <a:xfrm>
            <a:off x="8086725" y="5238750"/>
            <a:ext cx="3676650" cy="952500"/>
          </a:xfrm>
          <a:prstGeom prst="rect">
            <a:avLst/>
          </a:prstGeom>
          <a:noFill/>
          <a:ln w="9525">
            <a:noFill/>
          </a:ln>
        </p:spPr>
        <p:txBody>
          <a:bodyPr wrap="square" lIns="0" tIns="0" rIns="0" bIns="0" anchor="t">
            <a:noAutofit/>
          </a:bodyPr>
          <a:lstStyle>
            <a:defPPr algn="l">
              <a:defRPr sz="1500" b="0">
                <a:solidFill>
                  <a:srgbClr val="17212B"/>
                </a:solidFill>
                <a:latin typeface="Arial"/>
                <a:ea typeface="Arial"/>
                <a:cs typeface="Arial"/>
              </a:defRPr>
            </a:defPPr>
          </a:lstStyle>
          <a:p>
            <a:pPr algn="l">
              <a:defRPr sz="1500" b="0">
                <a:solidFill>
                  <a:srgbClr val="17212B"/>
                </a:solidFill>
                <a:latin typeface="Arial"/>
                <a:ea typeface="Arial"/>
                <a:cs typeface="Arial"/>
              </a:defRPr>
            </a:pPr>
            <a:r>
              <a:rPr sz="1500" b="0">
                <a:solidFill>
                  <a:srgbClr val="17212B"/>
                </a:solidFill>
                <a:latin typeface="Arial"/>
                <a:ea typeface="Arial"/>
                <a:cs typeface="Arial"/>
              </a:rPr>
              <a:t>Use confirmed deposits and look-alikes.</a:t>
            </a:r>
          </a:p>
          <a:p>
            <a:pPr algn="l">
              <a:defRPr sz="1500" b="0">
                <a:solidFill>
                  <a:srgbClr val="17212B"/>
                </a:solidFill>
                <a:latin typeface="Arial"/>
                <a:ea typeface="Arial"/>
                <a:cs typeface="Arial"/>
              </a:defRPr>
            </a:pPr>
            <a:r>
              <a:rPr sz="1500" b="0">
                <a:solidFill>
                  <a:srgbClr val="17212B"/>
                </a:solidFill>
                <a:latin typeface="Arial"/>
                <a:ea typeface="Arial"/>
                <a:cs typeface="Arial"/>
              </a:rPr>
              <a:t>Measure correct service and role,</a:t>
            </a:r>
          </a:p>
          <a:p>
            <a:pPr algn="l">
              <a:defRPr sz="1500" b="0">
                <a:solidFill>
                  <a:srgbClr val="17212B"/>
                </a:solidFill>
                <a:latin typeface="Arial"/>
                <a:ea typeface="Arial"/>
                <a:cs typeface="Arial"/>
              </a:defRPr>
            </a:pPr>
            <a:r>
              <a:rPr sz="1500" b="0">
                <a:solidFill>
                  <a:srgbClr val="17212B"/>
                </a:solidFill>
                <a:latin typeface="Arial"/>
                <a:ea typeface="Arial"/>
                <a:cs typeface="Arial"/>
              </a:rPr>
              <a:t>coverage, API calls and officer time.</a:t>
            </a:r>
          </a:p>
          <a:p>
            <a:pPr algn="l">
              <a:defRPr sz="1500" b="0">
                <a:solidFill>
                  <a:srgbClr val="17212B"/>
                </a:solidFill>
                <a:latin typeface="Arial"/>
                <a:ea typeface="Arial"/>
                <a:cs typeface="Arial"/>
              </a:defRPr>
            </a:pPr>
            <a:r>
              <a:rPr sz="1500" b="0">
                <a:solidFill>
                  <a:srgbClr val="17212B"/>
                </a:solidFill>
                <a:latin typeface="Arial"/>
                <a:ea typeface="Arial"/>
                <a:cs typeface="Arial"/>
              </a:rPr>
              <a:t>No accuracy percentage is claimed.</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