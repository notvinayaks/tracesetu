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c14e5e58324cfc" /><Relationship Type="http://schemas.openxmlformats.org/officeDocument/2006/relationships/extended-properties" Target="/docProps/app.xml" Id="R7b6dd94f8f06436f" /><Relationship Type="http://schemas.openxmlformats.org/officeDocument/2006/relationships/officeDocument" Target="/ppt/presentation.xml" Id="Red281a2d8df04fd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b02436df37143e6"/>
  </p:sldMasterIdLst>
  <p:notesMasterIdLst>
    <p:notesMasterId xmlns:r="http://schemas.openxmlformats.org/officeDocument/2006/relationships" r:id="R3df42668d0ed4bc8"/>
  </p:notesMasterIdLst>
  <p:sldIdLst>
    <p:sldId xmlns:r="http://schemas.openxmlformats.org/officeDocument/2006/relationships" id="256" r:id="R717e21f306c14a9f"/>
    <p:sldId xmlns:r="http://schemas.openxmlformats.org/officeDocument/2006/relationships" id="257" r:id="R7c65f8e7582c4099"/>
    <p:sldId xmlns:r="http://schemas.openxmlformats.org/officeDocument/2006/relationships" id="258" r:id="R01af9b75e6ba4fcb"/>
    <p:sldId xmlns:r="http://schemas.openxmlformats.org/officeDocument/2006/relationships" id="259" r:id="Reea30000f19f4e32"/>
    <p:sldId xmlns:r="http://schemas.openxmlformats.org/officeDocument/2006/relationships" id="260" r:id="Rb1e0488c0ab14095"/>
    <p:sldId xmlns:r="http://schemas.openxmlformats.org/officeDocument/2006/relationships" id="261" r:id="Rd4119223523a4ca8"/>
  </p:sldIdLst>
  <p:sldSz cx="12192000" cy="6858000"/>
  <p:notesSz cx="6858000" cy="9144000"/>
  <p:embeddedFontLst>
    <p:embeddedFont>
      <p:font typeface="Garamond"/>
      <p:regular xmlns:r="http://schemas.openxmlformats.org/officeDocument/2006/relationships" r:id="Red0f93980c0d4e35"/>
      <p:bold xmlns:r="http://schemas.openxmlformats.org/officeDocument/2006/relationships" r:id="R421cbe8543c54269"/>
      <p:italic xmlns:r="http://schemas.openxmlformats.org/officeDocument/2006/relationships" r:id="R89acf0c81aab49c8"/>
      <p:boldItalic xmlns:r="http://schemas.openxmlformats.org/officeDocument/2006/relationships" r:id="R051f61c9dd564d6c"/>
    </p:embeddedFont>
    <p:embeddedFont>
      <p:font typeface="Oswald"/>
      <p:regular xmlns:r="http://schemas.openxmlformats.org/officeDocument/2006/relationships" r:id="R7bcf7497418648fc"/>
      <p:bold xmlns:r="http://schemas.openxmlformats.org/officeDocument/2006/relationships" r:id="Rb57e6d0a069749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03B619A-9704-4A30-834C-D90841D23277}">
  <a:tblStyle styleId="{503B619A-9704-4A30-834C-D90841D232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0a927868f2b74a42" /><Relationship Type="http://schemas.openxmlformats.org/officeDocument/2006/relationships/slideMaster" Target="/ppt/slideMasters/slideMaster1.xml" Id="Rfb02436df37143e6" /><Relationship Type="http://schemas.openxmlformats.org/officeDocument/2006/relationships/notesMaster" Target="/ppt/notesMasters/notesMaster1.xml" Id="R3df42668d0ed4bc8" /><Relationship Type="http://schemas.openxmlformats.org/officeDocument/2006/relationships/presProps" Target="/ppt/presProps.xml" Id="Re7a0536a93234d7a" /><Relationship Type="http://schemas.openxmlformats.org/officeDocument/2006/relationships/viewProps" Target="/ppt/viewProps.xml" Id="R1b34a5b309b34047" /><Relationship Type="http://schemas.openxmlformats.org/officeDocument/2006/relationships/tableStyles" Target="/ppt/tableStyles.xml" Id="R68bfb516603d4ebf" /><Relationship Type="http://schemas.openxmlformats.org/officeDocument/2006/relationships/font" Target="/ppt/fonts/font.dat" Id="Red0f93980c0d4e35" /><Relationship Type="http://schemas.openxmlformats.org/officeDocument/2006/relationships/font" Target="/ppt/fonts/font2.dat" Id="R421cbe8543c54269" /><Relationship Type="http://schemas.openxmlformats.org/officeDocument/2006/relationships/font" Target="/ppt/fonts/font3.dat" Id="R89acf0c81aab49c8" /><Relationship Type="http://schemas.openxmlformats.org/officeDocument/2006/relationships/font" Target="/ppt/fonts/font4.dat" Id="R051f61c9dd564d6c" /><Relationship Type="http://schemas.openxmlformats.org/officeDocument/2006/relationships/font" Target="/ppt/fonts/font5.dat" Id="R7bcf7497418648fc" /><Relationship Type="http://schemas.openxmlformats.org/officeDocument/2006/relationships/font" Target="/ppt/fonts/font6.dat" Id="Rb57e6d0a06974902" /><Relationship Type="http://schemas.openxmlformats.org/officeDocument/2006/relationships/slide" Target="/ppt/slides/slide1.xml" Id="R717e21f306c14a9f" /><Relationship Type="http://schemas.openxmlformats.org/officeDocument/2006/relationships/slide" Target="/ppt/slides/slide2.xml" Id="R7c65f8e7582c4099" /><Relationship Type="http://schemas.openxmlformats.org/officeDocument/2006/relationships/slide" Target="/ppt/slides/slide3.xml" Id="R01af9b75e6ba4fcb" /><Relationship Type="http://schemas.openxmlformats.org/officeDocument/2006/relationships/slide" Target="/ppt/slides/slide4.xml" Id="Reea30000f19f4e32" /><Relationship Type="http://schemas.openxmlformats.org/officeDocument/2006/relationships/slide" Target="/ppt/slides/slide5.xml" Id="Rb1e0488c0ab14095" /><Relationship Type="http://schemas.openxmlformats.org/officeDocument/2006/relationships/slide" Target="/ppt/slides/slide6.xml" Id="Rd4119223523a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fcac8a6ec84a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bec4202cf04a5e" /><Relationship Type="http://schemas.openxmlformats.org/officeDocument/2006/relationships/notesMaster" Target="/ppt/notesMasters/notesMaster1.xml" Id="R3b2837ec07174d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9049d4c8840a0" /><Relationship Type="http://schemas.openxmlformats.org/officeDocument/2006/relationships/notesMaster" Target="/ppt/notesMasters/notesMaster1.xml" Id="Reba84cda550e45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dcaa55485f4ef1" /><Relationship Type="http://schemas.openxmlformats.org/officeDocument/2006/relationships/notesMaster" Target="/ppt/notesMasters/notesMaster1.xml" Id="R68e87dc0606645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06532de5a54c08" /><Relationship Type="http://schemas.openxmlformats.org/officeDocument/2006/relationships/notesMaster" Target="/ppt/notesMasters/notesMaster1.xml" Id="R299d0330bba149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4332953a6471b" /><Relationship Type="http://schemas.openxmlformats.org/officeDocument/2006/relationships/notesMaster" Target="/ppt/notesMasters/notesMaster1.xml" Id="Rce8d420b9d38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a71e9519f444bb" /><Relationship Type="http://schemas.openxmlformats.org/officeDocument/2006/relationships/notesMaster" Target="/ppt/notesMasters/notesMaster1.xml" Id="Ra1ad2c88cfe54c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Research revision, 29 September 2026. This deck preserves the supplied six-slide design. Problem ID 26182 and team metadata are retained from the supplied deck, not independently verified official endorsement. This is a research-backed method proposal plus an isolated executable reference experiment, not a claim that the running MVP implements every method. The exact user problem is cryptocurrency receiving-VASP attribution, not the separate ATM hotspot problem. The application UI has not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rPr/>
              <a:t>The earlier MVP uses source-qualified labels and a bounded temporal search. The new research contribution under investigation is discovery of previously unlabelled deposit candidates from a small set of named service anchors. Keep a transfer graph and a separate service-control evidence graph. Transfers never automatically become ownership links. The initial reference experiment covers a strict account-based token sweep/gas motif on explicit synthetic data; it does not implement generic clustering or Bitcoin expansion in the running MVP. A seed needs chain, address, operator, role, validity interval, retrieval time and source. A payer to an exchange is not necessarily exchange-controlled. Repeated forwarding plus gas funding remains a hypothesis, not proof. Source challenge and reviewed evidence export are existing application features. Official SAHYOG is not connected. References: [1] https://fc20.ifca.ai/preproceedings/31.pdf [2] https://doi.org/10.1002/nem.2325 [4] https://www.vldb.org/pvldb/vol7/p721-wu.pdf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Proposed algorithm: preserve ledger-order events, build candidate service links separately, then search states carrying address/output, asset, ledger position and hop budget. In a time-expanded representation, waiting edges have cost zero and recorded transfer edges have cost one; 0-1 BFS is one implementation option. The current app already has bounded chronological traversal; the reference experiment uses an event-aware minimum-hop search. Bitcoin continuation must preserve spent outpoints. Input-to-output amount allocation and account pooled balances remain ambiguous. Bitcoin shared-input/change/peel heuristics are future guarded extensions, not newly deployed features. Excluding obvious CoinJoin does not prove single ownership. Gas sponsors and customer withdrawals are confounders. Cross-chain matches need supported protocol/service evidence; matching time and amount alone is insufficient. Current CCTP scope is V2 native USDC Ethereum/Polygon, synthetic validation only. Risk and ownership scores are different tasks. Numeric probabilities require independent calibration; a rule score is not an ownership probability. References: [1] https://fc20.ifca.ai/preproceedings/31.pdf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[2] https://doi.org/10.1002/nem.2325</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[3] https://www.usenix.org/system/files/sec22-kappos.pdf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[4] https://www.vldb.org/pvldb/vol7/p721-wu.pdf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[5] https://www.usenix.org/system/files/usenixsecurity25-lubbertsen.pdf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[6] https://cseweb.ucsd.edu/~smeiklejohn/files/imc13.pdf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[7] https://www.usenix.org/system/files/sec19-yousaf_0.pdf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Status is split deliberately. Published MVP verification: 116 backend tests, frontend and browser workflow; newer foundation branch separately recorded 130 PostgreSQL checks. Real bounded Bitcoin acquisition retrieved two transactions/three outputs; no receiving VASP established. Six parser adapters are not six-chain live attribution validation. The new reference experiment is isolated from app code and live cases and uses synthetic fixtures. Its positive pattern remains a hypothesis even when every rule matches. An imitation case demonstrates the identifiability limit. The primary empirical evaluation still requires independently confirmed deposit roles and negative customer examples. Use chronological and wallet-family splits; hold out queried deposit labels. Compare exact-label-only, temporal exact-label tracing, sweep-only and corroborated inference under common data/budgets. Report false attributions, deposit-role precision, coverage, abstention, latency, calls and review time, with sample sizes and uncertainty. No figures are claimed for benefits yet. [5] https://www.usenix.org/system/files/usenixsecurity25-lubbertsen.pdf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Differentiation hypothesis: add conservative deposit discovery to bounded first-custody search, source/heuristic challenge, query budgeting and replayable review. The ingredients are published methods; neither graph dashboards nor entity clustering alone are novel. Test whether the integration gives a better investigator outcome than simpler baselines. Customer identity and internal exchange ledgers remain outside public-chain observation. The service association at a hot wallet does not establish a preceding deposit role automatically. No automatic notice delivery or asset freeze occurs. The benefits shown are evaluation objectives, not measured improvements. A missing seed or ambiguous service must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Primary literature anchors and limitations. [1] Victor 2020, section 5.1 and Algorithm 1; use service deposit inference, not customer identity merging. Historical thresholds must not be copied as contemporary guarantees. [2] Brechlin, Schaefer and Armknecht 2025, section 5.1/Figure 4: one service-specific gas/sweep motif, not a universal rule; we do not collect exposed customer data. [3] Kappos et al. 2022, sections 5 and 7: conservative peel continuation; published FDR is not TraceSetu accuracy. [4] Wu et al. 2014, sections 2-5: temporal paths; define our hop objective separately from their weighted-distance definitions. [5] Ghost Clusters 2025, sections 3, 5-10: independent service data, role coverage, historical-label limitations. [6] Meiklejohn et al. 2013: identity anchors plus clustering and false super-cluster warning. [7] Yousaf et al. 2019: cross-ledger matches depend on service evidence, not time/amount alone. [8] GraphSense Public TagPacks provides sourced public assertions, not independent truth; review per-source rights and default against unvalidated cluster-wide propagation. [9] Weber et al. 2019 studies licit/illicit transaction classification, not exchange identity.</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[1] https://fc20.ifca.ai/preproceedings/31.pdf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[2] https://doi.org/10.1002/nem.2325</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[3] https://www.usenix.org/system/files/sec22-kappos.pdf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[4] https://www.vldb.org/pvldb/vol7/p721-wu.pdf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[5] https://www.usenix.org/system/files/usenixsecurity25-lubbertsen.pdf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[6] https://cseweb.ucsd.edu/~smeiklejohn/files/imc13.pdf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[7] https://www.usenix.org/system/files/sec19-yousaf_0.pdf</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[8] https://github.com/graphsense/graphsense-tagpacks</a:t>
            </a: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dde987948646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5a84e4d54745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b4859dd7aa49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ba7767a7ab4b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ff5a65599643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b8d1be332645b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824846e5f2141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25575915b5a4b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f9217310192417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79366ca80e24d6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029a6f3dccd49e1"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E5289B37-22C0-4403-BC5F-3F154972E7CB}"/>
              </a:ext>
            </a:extLst>
          </p:cNvPr>
          <p:cNvSpPr>
            <a:spLocks xmlns:a="http://schemas.openxmlformats.org/drawingml/2006/main" noGrp="1"/>
          </p:cNvSpPr>
          <p:nvPr>
            <p:ph type="ctrTitle" idx="0"/>
          </p:nvPr>
        </p:nvSpPr>
        <p:spPr>
          <a:xfrm xmlns:a="http://schemas.openxmlformats.org/drawingml/2006/main">
            <a:off x="914400" y="2130428"/>
            <a:ext cx="103632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38A41C9B-C068-4FEE-B608-9198E58F80C6}"/>
              </a:ext>
            </a:extLst>
          </p:cNvPr>
          <p:cNvSpPr>
            <a:spLocks xmlns:a="http://schemas.openxmlformats.org/drawingml/2006/main" noGrp="1"/>
          </p:cNvSpPr>
          <p:nvPr>
            <p:ph type="subTitle"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14E5FF02-7AB3-4ED7-8E7F-D3AD2A0D3D44}"/>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2">
            <a:extLst xmlns:a="http://schemas.openxmlformats.org/drawingml/2006/main">
              <a:ext uri="{FF2B5EF4-FFF2-40B4-BE49-F238E27FC236}">
                <a16:creationId xmlns:a16="http://schemas.microsoft.com/office/drawing/2014/main" id="{4E523B15-10F7-49A4-BFF0-0B9E5B9C9656}"/>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2">
            <a:extLst xmlns:a="http://schemas.openxmlformats.org/drawingml/2006/main">
              <a:ext uri="{FF2B5EF4-FFF2-40B4-BE49-F238E27FC236}">
                <a16:creationId xmlns:a16="http://schemas.microsoft.com/office/drawing/2014/main" id="{AD60D721-47A8-483E-9DA3-3EA27CA5FD7E}"/>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3">
            <a:extLst xmlns:a="http://schemas.openxmlformats.org/drawingml/2006/main">
              <a:ext uri="{FF2B5EF4-FFF2-40B4-BE49-F238E27FC236}">
                <a16:creationId xmlns:a16="http://schemas.microsoft.com/office/drawing/2014/main" id="{7FB780C6-E822-4831-A859-00EC0242E41E}"/>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C0BFF7FD-DABD-446A-9735-B46364DAA1C0}"/>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690F3B5F-16B8-4E83-A5AF-4C6B48361FCA}"/>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3">
            <a:extLst xmlns:a="http://schemas.openxmlformats.org/drawingml/2006/main">
              <a:ext uri="{FF2B5EF4-FFF2-40B4-BE49-F238E27FC236}">
                <a16:creationId xmlns:a16="http://schemas.microsoft.com/office/drawing/2014/main" id="{0CF9BFF1-0EB7-4FC9-BA1D-9875D8C3814C}"/>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3">
            <a:extLst xmlns:a="http://schemas.openxmlformats.org/drawingml/2006/main">
              <a:ext uri="{FF2B5EF4-FFF2-40B4-BE49-F238E27FC236}">
                <a16:creationId xmlns:a16="http://schemas.microsoft.com/office/drawing/2014/main" id="{2DD812CE-BFB0-489C-887E-6E9773B423EA}"/>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1FF7E73E-8031-4A72-8FB7-912DBAF50184}"/>
              </a:ext>
            </a:extLst>
          </p:cNvPr>
          <p:cNvSpPr>
            <a:spLocks xmlns:a="http://schemas.openxmlformats.org/drawingml/2006/main" noGrp="1"/>
          </p:cNvSpPr>
          <p:nvPr>
            <p:ph type="title" idx="0"/>
          </p:nvPr>
        </p:nvSpPr>
        <p:spPr>
          <a:xfrm xmlns:a="http://schemas.openxmlformats.org/drawingml/2006/main">
            <a:off x="963084" y="4406903"/>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l">
              <a:spcBef>
                <a:spcPts val="0"/>
              </a:spcBef>
              <a:spcAft>
                <a:spcPts val="0"/>
              </a:spcAft>
              <a:buSzPts val="1400"/>
              <a:buNone/>
              <a:defRPr sz="4000" b="1" cap="none"/>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81889F3C-1502-46FE-BD88-20BD4AB97C72}"/>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68BCF4DB-7BC4-4E9C-A468-94DBDDF9CA7C}"/>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4">
            <a:extLst xmlns:a="http://schemas.openxmlformats.org/drawingml/2006/main">
              <a:ext uri="{FF2B5EF4-FFF2-40B4-BE49-F238E27FC236}">
                <a16:creationId xmlns:a16="http://schemas.microsoft.com/office/drawing/2014/main" id="{4F2225C3-FCC7-49BB-8DFA-09D4BA51E074}"/>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4">
            <a:extLst xmlns:a="http://schemas.openxmlformats.org/drawingml/2006/main">
              <a:ext uri="{FF2B5EF4-FFF2-40B4-BE49-F238E27FC236}">
                <a16:creationId xmlns:a16="http://schemas.microsoft.com/office/drawing/2014/main" id="{98A773E5-2C21-4F29-BA65-C1DFB71C6705}"/>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5">
            <a:extLst xmlns:a="http://schemas.openxmlformats.org/drawingml/2006/main">
              <a:ext uri="{FF2B5EF4-FFF2-40B4-BE49-F238E27FC236}">
                <a16:creationId xmlns:a16="http://schemas.microsoft.com/office/drawing/2014/main" id="{31AA8DF8-3A1D-4695-B7F5-D74934E004A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572D78FB-4165-4EEF-BCDC-376D2E5C9C82}"/>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18358432-6CF7-4D2B-8696-4A4FC3C6AAD3}"/>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BBB3DBA2-4FA1-440A-BFD6-E021519BF054}"/>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5">
            <a:extLst xmlns:a="http://schemas.openxmlformats.org/drawingml/2006/main">
              <a:ext uri="{FF2B5EF4-FFF2-40B4-BE49-F238E27FC236}">
                <a16:creationId xmlns:a16="http://schemas.microsoft.com/office/drawing/2014/main" id="{31F679C6-E135-40F6-8ABA-EF9E366868A8}"/>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5">
            <a:extLst xmlns:a="http://schemas.openxmlformats.org/drawingml/2006/main">
              <a:ext uri="{FF2B5EF4-FFF2-40B4-BE49-F238E27FC236}">
                <a16:creationId xmlns:a16="http://schemas.microsoft.com/office/drawing/2014/main" id="{9E65DD3D-FB4C-434B-B78B-BA521988E1E8}"/>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6">
            <a:extLst xmlns:a="http://schemas.openxmlformats.org/drawingml/2006/main">
              <a:ext uri="{FF2B5EF4-FFF2-40B4-BE49-F238E27FC236}">
                <a16:creationId xmlns:a16="http://schemas.microsoft.com/office/drawing/2014/main" id="{F23A40B4-CFA1-4914-B8A8-FFABC881D9AD}"/>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23A5982C-CAD3-4BCF-AC1D-F4446EE2AECD}"/>
              </a:ext>
            </a:extLst>
          </p:cNvPr>
          <p:cNvSpPr>
            <a:spLocks xmlns:a="http://schemas.openxmlformats.org/drawingml/2006/main" noGrp="1"/>
          </p:cNvSpPr>
          <p:nvPr>
            <p:ph type="body" idx="1"/>
          </p:nvPr>
        </p:nvSpPr>
        <p:spPr>
          <a:xfrm xmlns:a="http://schemas.openxmlformats.org/drawingml/2006/main">
            <a:off x="609600" y="1535113"/>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74E97672-0C53-43DC-ACBA-33963CD8CB24}"/>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A6C22456-8D30-4EAD-A7D2-9D7014C09B0F}"/>
              </a:ext>
            </a:extLst>
          </p:cNvPr>
          <p:cNvSpPr>
            <a:spLocks xmlns:a="http://schemas.openxmlformats.org/drawingml/2006/main" noGrp="1"/>
          </p:cNvSpPr>
          <p:nvPr>
            <p:ph type="body" idx="3"/>
          </p:nvPr>
        </p:nvSpPr>
        <p:spPr>
          <a:xfrm xmlns:a="http://schemas.openxmlformats.org/drawingml/2006/main">
            <a:off x="6193369" y="1535113"/>
            <a:ext cx="5389033"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CE2FD314-34FD-488D-B340-898CBDE85FF7}"/>
              </a:ext>
            </a:extLst>
          </p:cNvPr>
          <p:cNvSpPr>
            <a:spLocks xmlns:a="http://schemas.openxmlformats.org/drawingml/2006/main" noGrp="1"/>
          </p:cNvSpPr>
          <p:nvPr>
            <p:ph type="body" idx="4"/>
          </p:nvPr>
        </p:nvSpPr>
        <p:spPr>
          <a:xfrm xmlns:a="http://schemas.openxmlformats.org/drawingml/2006/main">
            <a:off x="6193369" y="2174875"/>
            <a:ext cx="5389033"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608AC13C-1898-43CB-936A-263C06944E9F}"/>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6">
            <a:extLst xmlns:a="http://schemas.openxmlformats.org/drawingml/2006/main">
              <a:ext uri="{FF2B5EF4-FFF2-40B4-BE49-F238E27FC236}">
                <a16:creationId xmlns:a16="http://schemas.microsoft.com/office/drawing/2014/main" id="{843810B8-2B60-4247-AB4B-8CE0290FF18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6">
            <a:extLst xmlns:a="http://schemas.openxmlformats.org/drawingml/2006/main">
              <a:ext uri="{FF2B5EF4-FFF2-40B4-BE49-F238E27FC236}">
                <a16:creationId xmlns:a16="http://schemas.microsoft.com/office/drawing/2014/main" id="{48779020-A26E-4105-9C35-A98ABDE3B833}"/>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
            <a:extLst xmlns:a="http://schemas.openxmlformats.org/drawingml/2006/main">
              <a:ext uri="{FF2B5EF4-FFF2-40B4-BE49-F238E27FC236}">
                <a16:creationId xmlns:a16="http://schemas.microsoft.com/office/drawing/2014/main" id="{B91E3147-F844-4B87-BBCD-8A05016F2B8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B6EE977D-8F56-4952-B42E-E2FD0EBD8FDE}"/>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1DE55B6D-B60F-4028-A4C1-01BF4B710DC4}"/>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29F77120-7A67-4D7C-83B2-281751B80B5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8">
            <a:extLst xmlns:a="http://schemas.openxmlformats.org/drawingml/2006/main">
              <a:ext uri="{FF2B5EF4-FFF2-40B4-BE49-F238E27FC236}">
                <a16:creationId xmlns:a16="http://schemas.microsoft.com/office/drawing/2014/main" id="{F9C6DAB4-7868-4029-B185-9C7F1C6C7903}"/>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6" name="Google Shape;56;p8">
            <a:extLst xmlns:a="http://schemas.openxmlformats.org/drawingml/2006/main">
              <a:ext uri="{FF2B5EF4-FFF2-40B4-BE49-F238E27FC236}">
                <a16:creationId xmlns:a16="http://schemas.microsoft.com/office/drawing/2014/main" id="{F78B662C-1039-409C-B9E3-A8D1FF2B52BB}"/>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3A4ACD27-5933-4DD7-9E0E-515296A1207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9">
            <a:extLst xmlns:a="http://schemas.openxmlformats.org/drawingml/2006/main">
              <a:ext uri="{FF2B5EF4-FFF2-40B4-BE49-F238E27FC236}">
                <a16:creationId xmlns:a16="http://schemas.microsoft.com/office/drawing/2014/main" id="{29EC4EAB-E6EB-4B18-A050-F7DA25778DAC}"/>
              </a:ext>
            </a:extLst>
          </p:cNvPr>
          <p:cNvSpPr>
            <a:spLocks xmlns:a="http://schemas.openxmlformats.org/drawingml/2006/main" noGrp="1"/>
          </p:cNvSpPr>
          <p:nvPr>
            <p:ph type="title" idx="0"/>
          </p:nvPr>
        </p:nvSpPr>
        <p:spPr>
          <a:xfrm xmlns:a="http://schemas.openxmlformats.org/drawingml/2006/main">
            <a:off x="609602" y="273050"/>
            <a:ext cx="4011084"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F510B34-625E-4BDA-91D1-D44E1D44F793}"/>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6772020C-D1B9-4A64-B09C-52A28C6906B7}"/>
              </a:ext>
            </a:extLst>
          </p:cNvPr>
          <p:cNvSpPr>
            <a:spLocks xmlns:a="http://schemas.openxmlformats.org/drawingml/2006/main" noGrp="1"/>
          </p:cNvSpPr>
          <p:nvPr>
            <p:ph type="body" idx="2"/>
          </p:nvPr>
        </p:nvSpPr>
        <p:spPr>
          <a:xfrm xmlns:a="http://schemas.openxmlformats.org/drawingml/2006/main">
            <a:off x="609602" y="1435103"/>
            <a:ext cx="4011084"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B5CA9284-3F4E-44E5-BEC2-2C7082BF3D9B}"/>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3" name="Google Shape;63;p9">
            <a:extLst xmlns:a="http://schemas.openxmlformats.org/drawingml/2006/main">
              <a:ext uri="{FF2B5EF4-FFF2-40B4-BE49-F238E27FC236}">
                <a16:creationId xmlns:a16="http://schemas.microsoft.com/office/drawing/2014/main" id="{49938D3A-927A-443D-A75A-6FFF44A0D84F}"/>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9">
            <a:extLst xmlns:a="http://schemas.openxmlformats.org/drawingml/2006/main">
              <a:ext uri="{FF2B5EF4-FFF2-40B4-BE49-F238E27FC236}">
                <a16:creationId xmlns:a16="http://schemas.microsoft.com/office/drawing/2014/main" id="{E54A878D-9C77-4BBF-8931-4CE0A1114237}"/>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0">
            <a:extLst xmlns:a="http://schemas.openxmlformats.org/drawingml/2006/main">
              <a:ext uri="{FF2B5EF4-FFF2-40B4-BE49-F238E27FC236}">
                <a16:creationId xmlns:a16="http://schemas.microsoft.com/office/drawing/2014/main" id="{7F24DBA9-C799-4385-96E8-3ADF322CE153}"/>
              </a:ext>
            </a:extLst>
          </p:cNvPr>
          <p:cNvSpPr>
            <a:spLocks xmlns:a="http://schemas.openxmlformats.org/drawingml/2006/main" noGrp="1"/>
          </p:cNvSpPr>
          <p:nvPr>
            <p:ph type="title" idx="0"/>
          </p:nvPr>
        </p:nvSpPr>
        <p:spPr>
          <a:xfrm xmlns:a="http://schemas.openxmlformats.org/drawingml/2006/main">
            <a:off x="2389717" y="4800600"/>
            <a:ext cx="73152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A725A833-425A-4ABA-BD5F-5A70B72A1525}"/>
              </a:ext>
            </a:extLst>
          </p:cNvPr>
          <p:cNvSpPr>
            <a:spLocks xmlns:a="http://schemas.openxmlformats.org/drawingml/2006/main" noGrp="1"/>
          </p:cNvSpPr>
          <p:nvPr>
            <p:ph type="pic" idx="2"/>
          </p:nvPr>
        </p:nvSpPr>
        <p:spPr>
          <a:xfrm xmlns:a="http://schemas.openxmlformats.org/drawingml/2006/main">
            <a:off x="2389717" y="612775"/>
            <a:ext cx="7315200" cy="4114800"/>
          </a:xfrm>
          <a:prstGeom xmlns:a="http://schemas.openxmlformats.org/drawingml/2006/main" prst="rect">
            <a:avLst/>
          </a:prstGeom>
          <a:noFill xmlns:a="http://schemas.openxmlformats.org/drawingml/2006/main"/>
          <a:ln xmlns:a="http://schemas.openxmlformats.org/drawingml/2006/main">
            <a:noFill/>
          </a:ln>
        </p:spPr>
      </p:sp>
      <p:sp>
        <p:nvSpPr>
          <p:cNvPr id="68" name="Google Shape;68;p10">
            <a:extLst xmlns:a="http://schemas.openxmlformats.org/drawingml/2006/main">
              <a:ext uri="{FF2B5EF4-FFF2-40B4-BE49-F238E27FC236}">
                <a16:creationId xmlns:a16="http://schemas.microsoft.com/office/drawing/2014/main" id="{85E21EBF-408C-4193-95DA-3543806A1A0D}"/>
              </a:ext>
            </a:extLst>
          </p:cNvPr>
          <p:cNvSpPr>
            <a:spLocks xmlns:a="http://schemas.openxmlformats.org/drawingml/2006/main" noGrp="1"/>
          </p:cNvSpPr>
          <p:nvPr>
            <p:ph type="body" idx="1"/>
          </p:nvPr>
        </p:nvSpPr>
        <p:spPr>
          <a:xfrm xmlns:a="http://schemas.openxmlformats.org/drawingml/2006/main">
            <a:off x="2389717" y="5367338"/>
            <a:ext cx="73152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F86EB9CB-2ED4-4E51-B17F-FFAFEAB3E52B}"/>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0" name="Google Shape;70;p10">
            <a:extLst xmlns:a="http://schemas.openxmlformats.org/drawingml/2006/main">
              <a:ext uri="{FF2B5EF4-FFF2-40B4-BE49-F238E27FC236}">
                <a16:creationId xmlns:a16="http://schemas.microsoft.com/office/drawing/2014/main" id="{F34E3A08-0678-4090-8454-F7E791D7C86F}"/>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1" name="Google Shape;71;p10">
            <a:extLst xmlns:a="http://schemas.openxmlformats.org/drawingml/2006/main">
              <a:ext uri="{FF2B5EF4-FFF2-40B4-BE49-F238E27FC236}">
                <a16:creationId xmlns:a16="http://schemas.microsoft.com/office/drawing/2014/main" id="{DE233E96-F9AA-4074-8557-E53AD99910E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1">
            <a:extLst xmlns:a="http://schemas.openxmlformats.org/drawingml/2006/main">
              <a:ext uri="{FF2B5EF4-FFF2-40B4-BE49-F238E27FC236}">
                <a16:creationId xmlns:a16="http://schemas.microsoft.com/office/drawing/2014/main" id="{53546ACC-236F-47C6-89AF-F9A33A1E8910}"/>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62172EB0-97B4-42FA-8821-D17D06D18DA0}"/>
              </a:ext>
            </a:extLst>
          </p:cNvPr>
          <p:cNvSpPr>
            <a:spLocks xmlns:a="http://schemas.openxmlformats.org/drawingml/2006/main" noGrp="1"/>
          </p:cNvSpPr>
          <p:nvPr>
            <p:ph type="body" idx="1"/>
          </p:nvPr>
        </p:nvSpPr>
        <p:spPr>
          <a:xfrm xmlns:a="http://schemas.openxmlformats.org/drawingml/2006/main" rot="5400000">
            <a:off x="3580606" y="-1875631"/>
            <a:ext cx="5030788" cy="1097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12DD29B4-BA35-445B-9774-D250A65B805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6" name="Google Shape;76;p11">
            <a:extLst xmlns:a="http://schemas.openxmlformats.org/drawingml/2006/main">
              <a:ext uri="{FF2B5EF4-FFF2-40B4-BE49-F238E27FC236}">
                <a16:creationId xmlns:a16="http://schemas.microsoft.com/office/drawing/2014/main" id="{DABD0606-2D71-46CA-9E13-A228E91E8E63}"/>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7" name="Google Shape;77;p11">
            <a:extLst xmlns:a="http://schemas.openxmlformats.org/drawingml/2006/main">
              <a:ext uri="{FF2B5EF4-FFF2-40B4-BE49-F238E27FC236}">
                <a16:creationId xmlns:a16="http://schemas.microsoft.com/office/drawing/2014/main" id="{964CA41E-378E-4A85-93C7-D2DF66866F9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2">
            <a:extLst xmlns:a="http://schemas.openxmlformats.org/drawingml/2006/main">
              <a:ext uri="{FF2B5EF4-FFF2-40B4-BE49-F238E27FC236}">
                <a16:creationId xmlns:a16="http://schemas.microsoft.com/office/drawing/2014/main" id="{1E4A9AAA-8343-431A-9810-2E8649A454BD}"/>
              </a:ext>
            </a:extLst>
          </p:cNvPr>
          <p:cNvSpPr>
            <a:spLocks xmlns:a="http://schemas.openxmlformats.org/drawingml/2006/main" noGrp="1"/>
          </p:cNvSpPr>
          <p:nvPr>
            <p:ph type="title" idx="0"/>
          </p:nvPr>
        </p:nvSpPr>
        <p:spPr>
          <a:xfrm xmlns:a="http://schemas.openxmlformats.org/drawingml/2006/main" rot="5400000">
            <a:off x="7285038" y="1828804"/>
            <a:ext cx="5851525" cy="27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9ED45B99-5F0A-4504-BFBD-D6ADF29807B0}"/>
              </a:ext>
            </a:extLst>
          </p:cNvPr>
          <p:cNvSpPr>
            <a:spLocks xmlns:a="http://schemas.openxmlformats.org/drawingml/2006/main" noGrp="1"/>
          </p:cNvSpPr>
          <p:nvPr>
            <p:ph type="body" idx="1"/>
          </p:nvPr>
        </p:nvSpPr>
        <p:spPr>
          <a:xfrm xmlns:a="http://schemas.openxmlformats.org/drawingml/2006/main" rot="5400000">
            <a:off x="1697038" y="-812796"/>
            <a:ext cx="5851525" cy="802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0489C3A0-97AE-44C6-B84F-946D3C7E38F6}"/>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2" name="Google Shape;82;p12">
            <a:extLst xmlns:a="http://schemas.openxmlformats.org/drawingml/2006/main">
              <a:ext uri="{FF2B5EF4-FFF2-40B4-BE49-F238E27FC236}">
                <a16:creationId xmlns:a16="http://schemas.microsoft.com/office/drawing/2014/main" id="{23DFCBF6-982C-44BA-A029-E7427ABDFECD}"/>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3" name="Google Shape;83;p12">
            <a:extLst xmlns:a="http://schemas.openxmlformats.org/drawingml/2006/main">
              <a:ext uri="{FF2B5EF4-FFF2-40B4-BE49-F238E27FC236}">
                <a16:creationId xmlns:a16="http://schemas.microsoft.com/office/drawing/2014/main" id="{FBE20464-AD10-487A-AAA4-52B1867C009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d30df606074ac9" /><Relationship Type="http://schemas.openxmlformats.org/officeDocument/2006/relationships/slideLayout" Target="/ppt/slideLayouts/slideLayout1.xml" Id="R451b87b064f04aa9" /><Relationship Type="http://schemas.openxmlformats.org/officeDocument/2006/relationships/slideLayout" Target="/ppt/slideLayouts/slideLayout2.xml" Id="R553bce71f7a34b13" /><Relationship Type="http://schemas.openxmlformats.org/officeDocument/2006/relationships/slideLayout" Target="/ppt/slideLayouts/slideLayout3.xml" Id="R301bb5ae6c2f4bf5" /><Relationship Type="http://schemas.openxmlformats.org/officeDocument/2006/relationships/slideLayout" Target="/ppt/slideLayouts/slideLayout4.xml" Id="R9225d424f06d46d7" /><Relationship Type="http://schemas.openxmlformats.org/officeDocument/2006/relationships/slideLayout" Target="/ppt/slideLayouts/slideLayout5.xml" Id="R9853b0570d7d429b" /><Relationship Type="http://schemas.openxmlformats.org/officeDocument/2006/relationships/slideLayout" Target="/ppt/slideLayouts/slideLayout6.xml" Id="R94593dc0c0b440b0" /><Relationship Type="http://schemas.openxmlformats.org/officeDocument/2006/relationships/slideLayout" Target="/ppt/slideLayouts/slideLayout7.xml" Id="R4261c21d71d64109" /><Relationship Type="http://schemas.openxmlformats.org/officeDocument/2006/relationships/slideLayout" Target="/ppt/slideLayouts/slideLayout8.xml" Id="Rfbd27510654048ce" /><Relationship Type="http://schemas.openxmlformats.org/officeDocument/2006/relationships/slideLayout" Target="/ppt/slideLayouts/slideLayout9.xml" Id="R97a7159517b74ce0" /><Relationship Type="http://schemas.openxmlformats.org/officeDocument/2006/relationships/slideLayout" Target="/ppt/slideLayouts/slideLayout10.xml" Id="Rce0c3414f3174c42" /><Relationship Type="http://schemas.openxmlformats.org/officeDocument/2006/relationships/slideLayout" Target="/ppt/slideLayouts/slideLayout11.xml" Id="Rb05705d37aac4e3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37EACF71-1466-4922-AB7F-682CFE1D6EA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4400" b="0" i="0" u="none" cap="none">
                <a:solidFill>
                  <a:schemeClr val="dk1"/>
                </a:solidFill>
                <a:latin typeface="Oswald"/>
                <a:ea typeface="Oswald"/>
                <a:cs typeface="Oswald"/>
              </a:defRPr>
            </a:lvl1pPr>
            <a:lvl2pPr marR="0" algn="ctr">
              <a:spcBef>
                <a:spcPts val="0"/>
              </a:spcBef>
              <a:spcAft>
                <a:spcPts val="0"/>
              </a:spcAft>
              <a:buSzPts val="1400"/>
              <a:buNone/>
              <a:defRPr sz="4400" b="0" i="0" u="none" cap="none">
                <a:solidFill>
                  <a:schemeClr val="dk1"/>
                </a:solidFill>
                <a:latin typeface="Oswald"/>
                <a:ea typeface="Oswald"/>
                <a:cs typeface="Oswald"/>
              </a:defRPr>
            </a:lvl2pPr>
            <a:lvl3pPr marR="0" algn="ctr">
              <a:spcBef>
                <a:spcPts val="0"/>
              </a:spcBef>
              <a:spcAft>
                <a:spcPts val="0"/>
              </a:spcAft>
              <a:buSzPts val="1400"/>
              <a:buNone/>
              <a:defRPr sz="4400" b="0" i="0" u="none" cap="none">
                <a:solidFill>
                  <a:schemeClr val="dk1"/>
                </a:solidFill>
                <a:latin typeface="Oswald"/>
                <a:ea typeface="Oswald"/>
                <a:cs typeface="Oswald"/>
              </a:defRPr>
            </a:lvl3pPr>
            <a:lvl4pPr marR="0" algn="ctr">
              <a:spcBef>
                <a:spcPts val="0"/>
              </a:spcBef>
              <a:spcAft>
                <a:spcPts val="0"/>
              </a:spcAft>
              <a:buSzPts val="1400"/>
              <a:buNone/>
              <a:defRPr sz="4400" b="0" i="0" u="none" cap="none">
                <a:solidFill>
                  <a:schemeClr val="dk1"/>
                </a:solidFill>
                <a:latin typeface="Oswald"/>
                <a:ea typeface="Oswald"/>
                <a:cs typeface="Oswald"/>
              </a:defRPr>
            </a:lvl4pPr>
            <a:lvl5pPr marR="0" algn="ctr">
              <a:spcBef>
                <a:spcPts val="0"/>
              </a:spcBef>
              <a:spcAft>
                <a:spcPts val="0"/>
              </a:spcAft>
              <a:buSzPts val="1400"/>
              <a:buNone/>
              <a:defRPr sz="4400" b="0" i="0" u="none" cap="none">
                <a:solidFill>
                  <a:schemeClr val="dk1"/>
                </a:solidFill>
                <a:latin typeface="Oswald"/>
                <a:ea typeface="Oswald"/>
                <a:cs typeface="Oswald"/>
              </a:defRPr>
            </a:lvl5pPr>
            <a:lvl6pPr marR="0" algn="ctr">
              <a:spcBef>
                <a:spcPts val="0"/>
              </a:spcBef>
              <a:spcAft>
                <a:spcPts val="0"/>
              </a:spcAft>
              <a:buSzPts val="1400"/>
              <a:buNone/>
              <a:defRPr sz="4400" b="0" i="0" u="none" cap="none">
                <a:solidFill>
                  <a:schemeClr val="dk1"/>
                </a:solidFill>
                <a:latin typeface="Oswald"/>
                <a:ea typeface="Oswald"/>
                <a:cs typeface="Oswald"/>
              </a:defRPr>
            </a:lvl6pPr>
            <a:lvl7pPr marR="0" algn="ctr">
              <a:spcBef>
                <a:spcPts val="0"/>
              </a:spcBef>
              <a:spcAft>
                <a:spcPts val="0"/>
              </a:spcAft>
              <a:buSzPts val="1400"/>
              <a:buNone/>
              <a:defRPr sz="4400" b="0" i="0" u="none" cap="none">
                <a:solidFill>
                  <a:schemeClr val="dk1"/>
                </a:solidFill>
                <a:latin typeface="Oswald"/>
                <a:ea typeface="Oswald"/>
                <a:cs typeface="Oswald"/>
              </a:defRPr>
            </a:lvl7pPr>
            <a:lvl8pPr marR="0" algn="ctr">
              <a:spcBef>
                <a:spcPts val="0"/>
              </a:spcBef>
              <a:spcAft>
                <a:spcPts val="0"/>
              </a:spcAft>
              <a:buSzPts val="1400"/>
              <a:buNone/>
              <a:defRPr sz="4400" b="0" i="0" u="none" cap="none">
                <a:solidFill>
                  <a:schemeClr val="dk1"/>
                </a:solidFill>
                <a:latin typeface="Oswald"/>
                <a:ea typeface="Oswald"/>
                <a:cs typeface="Oswald"/>
              </a:defRPr>
            </a:lvl8pPr>
            <a:lvl9pPr marR="0" algn="ctr">
              <a:spcBef>
                <a:spcPts val="0"/>
              </a:spcBef>
              <a:spcAft>
                <a:spcPts val="0"/>
              </a:spcAft>
              <a:buSzPts val="1400"/>
              <a:buNone/>
              <a:defRPr sz="4400" b="0" i="0" u="none" cap="none">
                <a:solidFill>
                  <a:schemeClr val="dk1"/>
                </a:solidFill>
                <a:latin typeface="Oswald"/>
                <a:ea typeface="Oswald"/>
                <a:cs typeface="Oswald"/>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369E6AD0-E9A9-4565-A95F-EE22FFBFE484}"/>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Oswald"/>
                <a:ea typeface="Oswald"/>
                <a:cs typeface="Oswald"/>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Oswald"/>
                <a:ea typeface="Oswald"/>
                <a:cs typeface="Oswald"/>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Oswald"/>
                <a:ea typeface="Oswald"/>
                <a:cs typeface="Oswald"/>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6986FD40-0A20-4D2B-8B96-C9708C8EF1D6}"/>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98989"/>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09E0B60D-FE56-4075-AB64-A12905145CB5}"/>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56F3FA96-66B8-45AC-8A57-BC4E2B2DCD5F}"/>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spcAft>
                <a:spcPts val="0"/>
              </a:spcAft>
              <a:buNone/>
              <a:defRPr sz="1200" b="0" i="0" u="none" cap="none">
                <a:solidFill>
                  <a:srgbClr val="898989"/>
                </a:solidFill>
                <a:latin typeface="Oswald"/>
                <a:ea typeface="Oswald"/>
                <a:cs typeface="Oswald"/>
              </a:defRPr>
            </a:lvl1pPr>
            <a:lvl2pPr marL="0" marR="0" indent="0" algn="r">
              <a:spcBef>
                <a:spcPts val="0"/>
              </a:spcBef>
              <a:spcAft>
                <a:spcPts val="0"/>
              </a:spcAft>
              <a:buNone/>
              <a:defRPr sz="1200" b="0" i="0" u="none" cap="none">
                <a:solidFill>
                  <a:srgbClr val="898989"/>
                </a:solidFill>
                <a:latin typeface="Oswald"/>
                <a:ea typeface="Oswald"/>
                <a:cs typeface="Oswald"/>
              </a:defRPr>
            </a:lvl2pPr>
            <a:lvl3pPr marL="0" marR="0" indent="0" algn="r">
              <a:spcBef>
                <a:spcPts val="0"/>
              </a:spcBef>
              <a:spcAft>
                <a:spcPts val="0"/>
              </a:spcAft>
              <a:buNone/>
              <a:defRPr sz="1200" b="0" i="0" u="none" cap="none">
                <a:solidFill>
                  <a:srgbClr val="898989"/>
                </a:solidFill>
                <a:latin typeface="Oswald"/>
                <a:ea typeface="Oswald"/>
                <a:cs typeface="Oswald"/>
              </a:defRPr>
            </a:lvl3pPr>
            <a:lvl4pPr marL="0" marR="0" indent="0" algn="r">
              <a:spcBef>
                <a:spcPts val="0"/>
              </a:spcBef>
              <a:spcAft>
                <a:spcPts val="0"/>
              </a:spcAft>
              <a:buNone/>
              <a:defRPr sz="1200" b="0" i="0" u="none" cap="none">
                <a:solidFill>
                  <a:srgbClr val="898989"/>
                </a:solidFill>
                <a:latin typeface="Oswald"/>
                <a:ea typeface="Oswald"/>
                <a:cs typeface="Oswald"/>
              </a:defRPr>
            </a:lvl4pPr>
            <a:lvl5pPr marL="0" marR="0" indent="0" algn="r">
              <a:spcBef>
                <a:spcPts val="0"/>
              </a:spcBef>
              <a:spcAft>
                <a:spcPts val="0"/>
              </a:spcAft>
              <a:buNone/>
              <a:defRPr sz="1200" b="0" i="0" u="none" cap="none">
                <a:solidFill>
                  <a:srgbClr val="898989"/>
                </a:solidFill>
                <a:latin typeface="Oswald"/>
                <a:ea typeface="Oswald"/>
                <a:cs typeface="Oswald"/>
              </a:defRPr>
            </a:lvl5pPr>
            <a:lvl6pPr marL="0" marR="0" indent="0" algn="r">
              <a:spcBef>
                <a:spcPts val="0"/>
              </a:spcBef>
              <a:spcAft>
                <a:spcPts val="0"/>
              </a:spcAft>
              <a:buNone/>
              <a:defRPr sz="1200" b="0" i="0" u="none" cap="none">
                <a:solidFill>
                  <a:srgbClr val="898989"/>
                </a:solidFill>
                <a:latin typeface="Oswald"/>
                <a:ea typeface="Oswald"/>
                <a:cs typeface="Oswald"/>
              </a:defRPr>
            </a:lvl6pPr>
            <a:lvl7pPr marL="0" marR="0" indent="0" algn="r">
              <a:spcBef>
                <a:spcPts val="0"/>
              </a:spcBef>
              <a:spcAft>
                <a:spcPts val="0"/>
              </a:spcAft>
              <a:buNone/>
              <a:defRPr sz="1200" b="0" i="0" u="none" cap="none">
                <a:solidFill>
                  <a:srgbClr val="898989"/>
                </a:solidFill>
                <a:latin typeface="Oswald"/>
                <a:ea typeface="Oswald"/>
                <a:cs typeface="Oswald"/>
              </a:defRPr>
            </a:lvl7pPr>
            <a:lvl8pPr marL="0" marR="0" indent="0" algn="r">
              <a:spcBef>
                <a:spcPts val="0"/>
              </a:spcBef>
              <a:spcAft>
                <a:spcPts val="0"/>
              </a:spcAft>
              <a:buNone/>
              <a:defRPr sz="1200" b="0" i="0" u="none" cap="none">
                <a:solidFill>
                  <a:srgbClr val="898989"/>
                </a:solidFill>
                <a:latin typeface="Oswald"/>
                <a:ea typeface="Oswald"/>
                <a:cs typeface="Oswald"/>
              </a:defRPr>
            </a:lvl8pPr>
            <a:lvl9pPr marL="0" marR="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51b87b064f04aa9"/>
    <p:sldLayoutId xmlns:r="http://schemas.openxmlformats.org/officeDocument/2006/relationships" id="2147483650" r:id="R553bce71f7a34b13"/>
    <p:sldLayoutId xmlns:r="http://schemas.openxmlformats.org/officeDocument/2006/relationships" id="2147483651" r:id="R301bb5ae6c2f4bf5"/>
    <p:sldLayoutId xmlns:r="http://schemas.openxmlformats.org/officeDocument/2006/relationships" id="2147483652" r:id="R9225d424f06d46d7"/>
    <p:sldLayoutId xmlns:r="http://schemas.openxmlformats.org/officeDocument/2006/relationships" id="2147483653" r:id="R9853b0570d7d429b"/>
    <p:sldLayoutId xmlns:r="http://schemas.openxmlformats.org/officeDocument/2006/relationships" id="2147483654" r:id="R94593dc0c0b440b0"/>
    <p:sldLayoutId xmlns:r="http://schemas.openxmlformats.org/officeDocument/2006/relationships" id="2147483655" r:id="R4261c21d71d64109"/>
    <p:sldLayoutId xmlns:r="http://schemas.openxmlformats.org/officeDocument/2006/relationships" id="2147483656" r:id="Rfbd27510654048ce"/>
    <p:sldLayoutId xmlns:r="http://schemas.openxmlformats.org/officeDocument/2006/relationships" id="2147483657" r:id="R97a7159517b74ce0"/>
    <p:sldLayoutId xmlns:r="http://schemas.openxmlformats.org/officeDocument/2006/relationships" id="2147483658" r:id="Rce0c3414f3174c42"/>
    <p:sldLayoutId xmlns:r="http://schemas.openxmlformats.org/officeDocument/2006/relationships" id="2147483659" r:id="Rb05705d37aac4e3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c624e5882af4a5a"/><Relationship Type="http://schemas.openxmlformats.org/officeDocument/2006/relationships/image" Target="/ppt/media/image.png" Id="Rb4236e1cbe8c4017"/><Relationship Type="http://schemas.openxmlformats.org/officeDocument/2006/relationships/image" Target="/ppt/media/image2.png" Id="Rf9d7c84ea89c4029"/><Relationship Type="http://schemas.openxmlformats.org/officeDocument/2006/relationships/notesSlide" Target="/ppt/notesSlides/notesSlide1.xml" Id="Rf14866054d024f2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2.xml" Id="R5966a24abdef4d59"/><Relationship Type="http://schemas.openxmlformats.org/officeDocument/2006/relationships/image" Target="/ppt/media/image3.png" Id="R5dd3edcfde764a10"/><Relationship Type="http://schemas.openxmlformats.org/officeDocument/2006/relationships/image" Target="/ppt/media/image4.png" Id="R133c555c7e904664"/><Relationship Type="http://schemas.openxmlformats.org/officeDocument/2006/relationships/notesSlide" Target="/ppt/notesSlides/notesSlide2.xml" Id="R8fa4df55d4fa4fb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2.xml" Id="Rb6643f7a3ef742ac"/><Relationship Type="http://schemas.openxmlformats.org/officeDocument/2006/relationships/image" Target="/ppt/media/image2.png" Id="R9e83e2bb354741e2"/><Relationship Type="http://schemas.openxmlformats.org/officeDocument/2006/relationships/image" Target="/ppt/media/image5.png" Id="R954505b05513495c"/><Relationship Type="http://schemas.openxmlformats.org/officeDocument/2006/relationships/image" Target="/ppt/media/image6.png" Id="Ra575cc4c4c7a464c"/><Relationship Type="http://schemas.openxmlformats.org/officeDocument/2006/relationships/image" Target="/ppt/media/image7.png" Id="Ra6adab2d5d434a06"/><Relationship Type="http://schemas.openxmlformats.org/officeDocument/2006/relationships/image" Target="/ppt/media/image8.png" Id="R7055f859015e450e"/><Relationship Type="http://schemas.openxmlformats.org/officeDocument/2006/relationships/image" Target="/ppt/media/image9.png" Id="R2d1833bfd0de4ce1"/><Relationship Type="http://schemas.openxmlformats.org/officeDocument/2006/relationships/image" Target="/ppt/media/image10.png" Id="R9c4a144289624da0"/><Relationship Type="http://schemas.openxmlformats.org/officeDocument/2006/relationships/image" Target="/ppt/media/image11.png" Id="R5c74bc9586664cb9"/><Relationship Type="http://schemas.openxmlformats.org/officeDocument/2006/relationships/image" Target="/ppt/media/image12.png" Id="Rc8fb7efcf8b54e03"/><Relationship Type="http://schemas.openxmlformats.org/officeDocument/2006/relationships/image" Target="/ppt/media/image13.png" Id="R722d0258675e48ce"/><Relationship Type="http://schemas.openxmlformats.org/officeDocument/2006/relationships/image" Target="/ppt/media/image14.png" Id="Rd7155d66dcda4e13"/><Relationship Type="http://schemas.openxmlformats.org/officeDocument/2006/relationships/image" Target="/ppt/media/image15.png" Id="R2e5e0ce53fab414a"/><Relationship Type="http://schemas.openxmlformats.org/officeDocument/2006/relationships/image" Target="/ppt/media/image16.png" Id="R64109f7e7e9047e9"/><Relationship Type="http://schemas.openxmlformats.org/officeDocument/2006/relationships/image" Target="/ppt/media/image17.png" Id="R1a128d41fd354cdb"/><Relationship Type="http://schemas.openxmlformats.org/officeDocument/2006/relationships/image" Target="/ppt/media/image18.png" Id="Re2a70b2a0b284025"/><Relationship Type="http://schemas.openxmlformats.org/officeDocument/2006/relationships/image" Target="/ppt/media/image19.png" Id="R4b046798b732417e"/><Relationship Type="http://schemas.openxmlformats.org/officeDocument/2006/relationships/image" Target="/ppt/media/image20.png" Id="R90b1d8c3a4504d75"/><Relationship Type="http://schemas.openxmlformats.org/officeDocument/2006/relationships/image" Target="/ppt/media/image21.png" Id="R43550283d89b4eea"/><Relationship Type="http://schemas.openxmlformats.org/officeDocument/2006/relationships/image" Target="/ppt/media/image22.png" Id="Rd46b4f893c054f4a"/><Relationship Type="http://schemas.openxmlformats.org/officeDocument/2006/relationships/image" Target="/ppt/media/image23.png" Id="Rcdf21ca9ceed4f4d"/><Relationship Type="http://schemas.openxmlformats.org/officeDocument/2006/relationships/image" Target="/ppt/media/image24.png" Id="Rccb77195e26143b3"/><Relationship Type="http://schemas.openxmlformats.org/officeDocument/2006/relationships/image" Target="/ppt/media/image25.png" Id="Rf71808c9e12c4d55"/><Relationship Type="http://schemas.openxmlformats.org/officeDocument/2006/relationships/image" Target="/ppt/media/image26.png" Id="Rdef8f9807928477e"/><Relationship Type="http://schemas.openxmlformats.org/officeDocument/2006/relationships/image" Target="/ppt/media/image27.png" Id="R40fa619cd8c942dd"/><Relationship Type="http://schemas.openxmlformats.org/officeDocument/2006/relationships/notesSlide" Target="/ppt/notesSlides/notesSlide3.xml" Id="R769c00db6ea74ae5"/><Relationship Id="rIdMethod20260929local" Type="http://schemas.openxmlformats.org/officeDocument/2006/relationships/hyperlink" Target="http://127.0.0.1:8787/" TargetMode="External"/><Relationship Id="rIdMethod20260929repo" Type="http://schemas.openxmlformats.org/officeDocument/2006/relationships/hyperlink" Target="https://github.com/notvinayaks/TraceSetu"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2.xml" Id="R43f5d04ec47c4f68"/><Relationship Type="http://schemas.openxmlformats.org/officeDocument/2006/relationships/image" Target="/ppt/media/image28.png" Id="Rb3fe4309c175499e"/><Relationship Type="http://schemas.openxmlformats.org/officeDocument/2006/relationships/image" Target="/ppt/media/image29.png" Id="R66615cd04b774cf3"/><Relationship Type="http://schemas.openxmlformats.org/officeDocument/2006/relationships/image" Target="/ppt/media/image30.png" Id="R78515909288a48dc"/><Relationship Type="http://schemas.openxmlformats.org/officeDocument/2006/relationships/image" Target="/ppt/media/image31.png" Id="Rea7221d9d65e4078"/><Relationship Type="http://schemas.openxmlformats.org/officeDocument/2006/relationships/image" Target="/ppt/media/image32.png" Id="R288a1036222842c3"/><Relationship Type="http://schemas.openxmlformats.org/officeDocument/2006/relationships/notesSlide" Target="/ppt/notesSlides/notesSlide4.xml" Id="R175e26b3871d45d2"/></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2.xml" Id="R8d6b075e14274934"/><Relationship Type="http://schemas.openxmlformats.org/officeDocument/2006/relationships/image" Target="/ppt/media/image33.png" Id="R753cffabe843466d"/><Relationship Type="http://schemas.openxmlformats.org/officeDocument/2006/relationships/image" Target="/ppt/media/image34.png" Id="R5dc3df9cdd5346d7"/><Relationship Type="http://schemas.openxmlformats.org/officeDocument/2006/relationships/image" Target="/ppt/media/image35.png" Id="Ra8919f5a27f347f2"/><Relationship Type="http://schemas.openxmlformats.org/officeDocument/2006/relationships/image" Target="/ppt/media/image36.png" Id="R3755e5352f7b406c"/><Relationship Type="http://schemas.openxmlformats.org/officeDocument/2006/relationships/image" Target="/ppt/media/image37.png" Id="Rd453261cb31c469f"/><Relationship Type="http://schemas.openxmlformats.org/officeDocument/2006/relationships/image" Target="/ppt/media/image38.png" Id="Rdd3f694a38574151"/><Relationship Type="http://schemas.openxmlformats.org/officeDocument/2006/relationships/image" Target="/ppt/media/image39.png" Id="R0da3dd86841b400a"/><Relationship Type="http://schemas.openxmlformats.org/officeDocument/2006/relationships/image" Target="/ppt/media/image40.png" Id="Rf98c97ed5b474eda"/><Relationship Type="http://schemas.openxmlformats.org/officeDocument/2006/relationships/notesSlide" Target="/ppt/notesSlides/notesSlide5.xml" Id="R2fc5e0a0f9474f8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2.xml" Id="R8d1a5e9f24ac47f2"/><Relationship Type="http://schemas.openxmlformats.org/officeDocument/2006/relationships/hyperlink" Target="https://www.mha.gov.in/MHA1/Par2017/pdfs/par2025-pdfs/RS23072025/399.pdf" TargetMode="External" Id="R2f7a0323a819418b"/><Relationship Type="http://schemas.openxmlformats.org/officeDocument/2006/relationships/hyperlink" Target="https://github.com/Blockstream/esplora/blob/master/API.md" TargetMode="External" Id="Rb84b3b4dce9f4ef8"/><Relationship Type="http://schemas.openxmlformats.org/officeDocument/2006/relationships/hyperlink" Target="https://www.chainalysis.com/product/reactor/" TargetMode="External" Id="R4832ea7d450c49df"/><Relationship Type="http://schemas.openxmlformats.org/officeDocument/2006/relationships/image" Target="/ppt/media/image2.png" Id="R151a58e60ea64322"/><Relationship Type="http://schemas.openxmlformats.org/officeDocument/2006/relationships/hyperlink" Target="https://enforcementdirectorate.gov.in/sites/default/files/latestnews/Press%20Release-Search-%20Bitconnect-15.02.2025.pdf" TargetMode="External" Id="R5a67cd5edf234252"/><Relationship Type="http://schemas.openxmlformats.org/officeDocument/2006/relationships/notesSlide" Target="/ppt/notesSlides/notesSlide6.xml" Id="Reb6ebbf14f594e7f"/><Relationship Id="rIdMethod20260929ref1" Type="http://schemas.openxmlformats.org/officeDocument/2006/relationships/hyperlink" Target="https://fc20.ifca.ai/preproceedings/31.pdf" TargetMode="External"/><Relationship Id="rIdMethod20260929ref2" Type="http://schemas.openxmlformats.org/officeDocument/2006/relationships/hyperlink" Target="https://doi.org/10.1002/nem.2325" TargetMode="External"/><Relationship Id="rIdMethod20260929ref3" Type="http://schemas.openxmlformats.org/officeDocument/2006/relationships/hyperlink" Target="https://www.usenix.org/system/files/sec22-kappos.pdf" TargetMode="External"/><Relationship Id="rIdMethod20260929ref4" Type="http://schemas.openxmlformats.org/officeDocument/2006/relationships/hyperlink" Target="https://www.vldb.org/pvldb/vol7/p721-wu.pdf" TargetMode="External"/><Relationship Id="rIdMethod20260929ref5" Type="http://schemas.openxmlformats.org/officeDocument/2006/relationships/hyperlink" Target="https://www.usenix.org/system/files/usenixsecurity25-lubbertsen.pdf" TargetMode="External"/><Relationship Id="rIdMethod202609296" Type="http://schemas.openxmlformats.org/officeDocument/2006/relationships/hyperlink" Target="https://cseweb.ucsd.edu/~smeiklejohn/files/imc13.pdf" TargetMode="External"/><Relationship Id="rIdMethod202609297" Type="http://schemas.openxmlformats.org/officeDocument/2006/relationships/hyperlink" Target="https://www.usenix.org/system/files/sec19-yousaf_0.pdf" TargetMode="External"/><Relationship Id="rIdMethod202609298" Type="http://schemas.openxmlformats.org/officeDocument/2006/relationships/hyperlink" Target="https://github.com/graphsense/graphsense-tagpacks" TargetMode="External"/><Relationship Id="rIdMethod202609299" Type="http://schemas.openxmlformats.org/officeDocument/2006/relationships/hyperlink" Target="https://arxiv.org/abs/1908.02591" TargetMode="External"/></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89" name="Google Shape;89;p13">
            <a:extLst xmlns:a="http://schemas.openxmlformats.org/drawingml/2006/main">
              <a:ext uri="{FF2B5EF4-FFF2-40B4-BE49-F238E27FC236}">
                <a16:creationId xmlns:a16="http://schemas.microsoft.com/office/drawing/2014/main" id="{67D01F6C-3A57-4C03-9A58-2355083B77D9}"/>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sp>
        <p:nvSpPr>
          <p:cNvPr id="90" name="Google Shape;90;p13">
            <a:extLst xmlns:a="http://schemas.openxmlformats.org/drawingml/2006/main">
              <a:ext uri="{FF2B5EF4-FFF2-40B4-BE49-F238E27FC236}">
                <a16:creationId xmlns:a16="http://schemas.microsoft.com/office/drawing/2014/main" id="{02F1C19B-6C1D-4519-941C-8BFA05092B49}"/>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07"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b4236e1cbe8c4017">
            <a:alphaModFix/>
          </a:blip>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ACEF057E-5E1D-4E3E-9C9D-93B2275676E9}"/>
              </a:ext>
            </a:extLst>
          </p:cNvPr>
          <p:cNvSpPr>
            <a:spLocks xmlns:a="http://schemas.openxmlformats.org/drawingml/2006/main" noGrp="1"/>
          </p:cNvSpPr>
          <p:nvPr>
            <p:ph type="subTitle" idx="1"/>
          </p:nvPr>
        </p:nvSpPr>
        <p:spPr>
          <a:xfrm xmlns:a="http://schemas.openxmlformats.org/drawingml/2006/main">
            <a:off x="381000" y="1133475"/>
            <a:ext cx="628650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rgbClr val="888888"/>
              </a:buClr>
              <a:buSzPts val="3200"/>
              <a:buNone/>
              <a:defRPr sz="3300" b="1">
                <a:solidFill>
                  <a:srgbClr val="173A61"/>
                </a:solidFill>
                <a:latin typeface="Times New Roman"/>
                <a:ea typeface="Times New Roman"/>
                <a:cs typeface="Times New Roman"/>
              </a:defRPr>
            </a:pPr>
            <a:r>
              <a:rPr sz="3300" b="1">
                <a:solidFill>
                  <a:srgbClr val="173A61"/>
                </a:solidFill>
                <a:latin typeface="Times New Roman"/>
                <a:ea typeface="Times New Roman"/>
                <a:cs typeface="Times New Roman"/>
              </a:rPr>
              <a:t>TRACESETU</a:t>
            </a:r>
            <a:endParaRPr b="1">
              <a:solidFill>
                <a:schemeClr val="dk1"/>
              </a:solidFill>
              <a:latin typeface="Times New Roman"/>
              <a:ea typeface="Times New Roman"/>
              <a:cs typeface="Times New Roman"/>
            </a:endParaRPr>
          </a:p>
        </p:txBody>
      </p:sp>
      <p:sp>
        <p:nvSpPr>
          <p:cNvPr id="93" name="Google Shape;93;p13">
            <a:extLst xmlns:a="http://schemas.openxmlformats.org/drawingml/2006/main">
              <a:ext uri="{FF2B5EF4-FFF2-40B4-BE49-F238E27FC236}">
                <a16:creationId xmlns:a16="http://schemas.microsoft.com/office/drawing/2014/main" id="{A464198E-9AAB-4803-B7C5-097C0F636D42}"/>
              </a:ext>
            </a:extLst>
          </p:cNvPr>
          <p:cNvSpPr>
            <a:spLocks xmlns:a="http://schemas.openxmlformats.org/drawingml/2006/main" noGrp="1"/>
          </p:cNvSpPr>
          <p:nvPr>
            <p:ph type="ctrTitle" idx="0"/>
          </p:nvPr>
        </p:nvSpPr>
        <p:spPr>
          <a:xfrm xmlns:a="http://schemas.openxmlformats.org/drawingml/2006/main">
            <a:off x="381000" y="285750"/>
            <a:ext cx="8953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2850">
                <a:latin typeface="Arial"/>
                <a:ea typeface="Arial"/>
                <a:cs typeface="Arial"/>
              </a:defRPr>
            </a:pPr>
            <a:r>
              <a:rPr sz="2850" b="1">
                <a:solidFill>
                  <a:schemeClr val="dk2"/>
                </a:solidFill>
                <a:latin typeface="Arial"/>
                <a:ea typeface="Arial"/>
                <a:cs typeface="Arial"/>
              </a:rPr>
              <a:t>SMART INDIA HACKATHON 2026</a:t>
            </a:r>
            <a:endParaRPr sz="4000" b="1">
              <a:solidFill>
                <a:schemeClr val="dk2"/>
              </a:solidFill>
              <a:latin typeface="Garamond"/>
              <a:ea typeface="Garamond"/>
              <a:cs typeface="Garamond"/>
            </a:endParaRPr>
          </a:p>
        </p:txBody>
      </p:sp>
      <p:pic>
        <p:nvPicPr>
          <p:cNvPr id="110" name="Google Shape;94;p13"/>
          <p:cNvPicPr>
            <a:picLocks xmlns:a="http://schemas.openxmlformats.org/drawingml/2006/main" noChangeAspect="1"/>
          </p:cNvPicPr>
          <p:nvPr/>
        </p:nvPicPr>
        <p:blipFill rotWithShape="1">
          <a:blip xmlns:r="http://schemas.openxmlformats.org/officeDocument/2006/relationships" xmlns:a="http://schemas.openxmlformats.org/drawingml/2006/main" r:embed="Rf9d7c84ea89c4029">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EBC8027A-5E0C-47D4-BF4E-8B7709E967E1}"/>
              </a:ext>
            </a:extLst>
          </p:cNvPr>
          <p:cNvSpPr>
            <a:spLocks xmlns:a="http://schemas.openxmlformats.org/drawingml/2006/main" noGrp="1"/>
          </p:cNvSpPr>
          <p:nvPr/>
        </p:nvSpPr>
        <p:spPr>
          <a:xfrm xmlns:a="http://schemas.openxmlformats.org/drawingml/2006/main">
            <a:off x="428625" y="2009775"/>
            <a:ext cx="6286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800">
                <a:latin typeface="Arial"/>
                <a:ea typeface="Arial"/>
                <a:cs typeface="Arial"/>
              </a:defRPr>
            </a:pPr>
            <a:r>
              <a:rPr sz="1800" b="1" i="0" u="none" cap="none">
                <a:solidFill>
                  <a:srgbClr val="1F497D"/>
                </a:solidFill>
                <a:latin typeface="Arial"/>
                <a:ea typeface="Arial"/>
                <a:cs typeface="Arial"/>
              </a:rPr>
              <a:t>Temporal tracing and evidence-based deposit discovery</a:t>
            </a:r>
          </a:p>
        </p:txBody>
      </p:sp>
      <p:sp>
        <p:nvSpPr>
          <p:cNvPr id="96" name="Google Shape;96;p13">
            <a:extLst xmlns:a="http://schemas.openxmlformats.org/drawingml/2006/main">
              <a:ext uri="{FF2B5EF4-FFF2-40B4-BE49-F238E27FC236}">
                <a16:creationId xmlns:a16="http://schemas.microsoft.com/office/drawing/2014/main" id="{9698B25C-367D-4BF9-9A97-A4B286142411}"/>
              </a:ext>
            </a:extLst>
          </p:cNvPr>
          <p:cNvSpPr>
            <a:spLocks xmlns:a="http://schemas.openxmlformats.org/drawingml/2006/main" noGrp="1"/>
          </p:cNvSpPr>
          <p:nvPr/>
        </p:nvSpPr>
        <p:spPr>
          <a:xfrm xmlns:a="http://schemas.openxmlformats.org/drawingml/2006/main">
            <a:off x="428625" y="2562225"/>
            <a:ext cx="5524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0000"/>
                </a:solidFill>
                <a:latin typeface="Arial"/>
                <a:ea typeface="Arial"/>
                <a:cs typeface="Arial"/>
              </a:rPr>
              <a:t>Problem Statement ID: 26182</a:t>
            </a:r>
            <a:endParaRPr/>
          </a:p>
        </p:txBody>
      </p:sp>
      <p:sp>
        <p:nvSpPr>
          <p:cNvPr id="97" name="Google Shape;97;p13">
            <a:extLst xmlns:a="http://schemas.openxmlformats.org/drawingml/2006/main">
              <a:ext uri="{FF2B5EF4-FFF2-40B4-BE49-F238E27FC236}">
                <a16:creationId xmlns:a16="http://schemas.microsoft.com/office/drawing/2014/main" id="{6CF79420-571F-49E0-87B2-B7F60346C358}"/>
              </a:ext>
            </a:extLst>
          </p:cNvPr>
          <p:cNvSpPr>
            <a:spLocks xmlns:a="http://schemas.openxmlformats.org/drawingml/2006/main" noGrp="1"/>
          </p:cNvSpPr>
          <p:nvPr/>
        </p:nvSpPr>
        <p:spPr>
          <a:xfrm xmlns:a="http://schemas.openxmlformats.org/drawingml/2006/main">
            <a:off x="428625" y="3086100"/>
            <a:ext cx="55245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000000"/>
                </a:solidFill>
                <a:latin typeface="Arial"/>
                <a:ea typeface="Arial"/>
                <a:cs typeface="Arial"/>
              </a:rPr>
              <a:t>Problem Statement Title</a:t>
            </a:r>
            <a:endParaRPr/>
          </a:p>
        </p:txBody>
      </p:sp>
      <p:sp>
        <p:nvSpPr>
          <p:cNvPr id="98" name="Google Shape;98;p13">
            <a:extLst xmlns:a="http://schemas.openxmlformats.org/drawingml/2006/main">
              <a:ext uri="{FF2B5EF4-FFF2-40B4-BE49-F238E27FC236}">
                <a16:creationId xmlns:a16="http://schemas.microsoft.com/office/drawing/2014/main" id="{303E4D85-0D8E-4691-B908-D3081E3ADEBC}"/>
              </a:ext>
            </a:extLst>
          </p:cNvPr>
          <p:cNvSpPr>
            <a:spLocks xmlns:a="http://schemas.openxmlformats.org/drawingml/2006/main" noGrp="1"/>
          </p:cNvSpPr>
          <p:nvPr/>
        </p:nvSpPr>
        <p:spPr>
          <a:xfrm xmlns:a="http://schemas.openxmlformats.org/drawingml/2006/main">
            <a:off x="428625" y="3476625"/>
            <a:ext cx="531495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00" b="0" i="0" u="none" cap="none">
                <a:solidFill>
                  <a:srgbClr val="000000"/>
                </a:solidFill>
                <a:latin typeface="Arial"/>
                <a:ea typeface="Arial"/>
                <a:cs typeface="Arial"/>
              </a:rPr>
              <a:t>Automated Attribution of Unknown Cryptocurrency Wallets to Nearest Virtual Asset Service Providers (VASPs) through Blockchain Intelligence APIs</a:t>
            </a:r>
            <a:endParaRPr/>
          </a:p>
        </p:txBody>
      </p:sp>
      <p:sp>
        <p:nvSpPr>
          <p:cNvPr id="99" name="Google Shape;99;p13">
            <a:extLst xmlns:a="http://schemas.openxmlformats.org/drawingml/2006/main">
              <a:ext uri="{FF2B5EF4-FFF2-40B4-BE49-F238E27FC236}">
                <a16:creationId xmlns:a16="http://schemas.microsoft.com/office/drawing/2014/main" id="{1B526705-E9D0-4E46-8AA4-41379C98A45E}"/>
              </a:ext>
            </a:extLst>
          </p:cNvPr>
          <p:cNvSpPr>
            <a:spLocks xmlns:a="http://schemas.openxmlformats.org/drawingml/2006/main" noGrp="1"/>
          </p:cNvSpPr>
          <p:nvPr/>
        </p:nvSpPr>
        <p:spPr>
          <a:xfrm xmlns:a="http://schemas.openxmlformats.org/drawingml/2006/main">
            <a:off x="428625" y="481965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Theme: Blockchain &amp; Cybersecurity</a:t>
            </a:r>
            <a:endParaRPr/>
          </a:p>
        </p:txBody>
      </p:sp>
      <p:sp>
        <p:nvSpPr>
          <p:cNvPr id="100" name="Google Shape;100;p13">
            <a:extLst xmlns:a="http://schemas.openxmlformats.org/drawingml/2006/main">
              <a:ext uri="{FF2B5EF4-FFF2-40B4-BE49-F238E27FC236}">
                <a16:creationId xmlns:a16="http://schemas.microsoft.com/office/drawing/2014/main" id="{145FFA84-5187-4BA2-9F50-D5E56743B34E}"/>
              </a:ext>
            </a:extLst>
          </p:cNvPr>
          <p:cNvSpPr>
            <a:spLocks xmlns:a="http://schemas.openxmlformats.org/drawingml/2006/main" noGrp="1"/>
          </p:cNvSpPr>
          <p:nvPr/>
        </p:nvSpPr>
        <p:spPr>
          <a:xfrm xmlns:a="http://schemas.openxmlformats.org/drawingml/2006/main">
            <a:off x="428625" y="524827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PS Category: Software</a:t>
            </a:r>
            <a:endParaRPr/>
          </a:p>
        </p:txBody>
      </p:sp>
      <p:sp>
        <p:nvSpPr>
          <p:cNvPr id="101" name="Google Shape;101;p13">
            <a:extLst xmlns:a="http://schemas.openxmlformats.org/drawingml/2006/main">
              <a:ext uri="{FF2B5EF4-FFF2-40B4-BE49-F238E27FC236}">
                <a16:creationId xmlns:a16="http://schemas.microsoft.com/office/drawing/2014/main" id="{0DB506B7-92BF-4716-B4C4-D3BFFB2B5D71}"/>
              </a:ext>
            </a:extLst>
          </p:cNvPr>
          <p:cNvSpPr>
            <a:spLocks xmlns:a="http://schemas.openxmlformats.org/drawingml/2006/main" noGrp="1"/>
          </p:cNvSpPr>
          <p:nvPr/>
        </p:nvSpPr>
        <p:spPr>
          <a:xfrm xmlns:a="http://schemas.openxmlformats.org/drawingml/2006/main">
            <a:off x="428625" y="567690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ID: 170835</a:t>
            </a:r>
            <a:endParaRPr/>
          </a:p>
        </p:txBody>
      </p:sp>
      <p:sp>
        <p:nvSpPr>
          <p:cNvPr id="102" name="Google Shape;102;p13">
            <a:extLst xmlns:a="http://schemas.openxmlformats.org/drawingml/2006/main">
              <a:ext uri="{FF2B5EF4-FFF2-40B4-BE49-F238E27FC236}">
                <a16:creationId xmlns:a16="http://schemas.microsoft.com/office/drawing/2014/main" id="{475C0008-608A-462D-8C97-1AB9982453BB}"/>
              </a:ext>
            </a:extLst>
          </p:cNvPr>
          <p:cNvSpPr>
            <a:spLocks xmlns:a="http://schemas.openxmlformats.org/drawingml/2006/main" noGrp="1"/>
          </p:cNvSpPr>
          <p:nvPr/>
        </p:nvSpPr>
        <p:spPr>
          <a:xfrm xmlns:a="http://schemas.openxmlformats.org/drawingml/2006/main">
            <a:off x="428625" y="610552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Name: ANANTHA</a:t>
            </a:r>
            <a:endParaRPr/>
          </a:p>
        </p:txBody>
      </p:sp>
    </p:spTree>
    <p:extLst>
      <p:ext uri="{BB962C8B-B14F-4D97-AF65-F5344CB8AC3E}">
        <p14:creationId xmlns:p14="http://schemas.microsoft.com/office/powerpoint/2010/main" val="170191177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6" name="Google Shape;226;p15">
            <a:extLst xmlns:a="http://schemas.openxmlformats.org/drawingml/2006/main">
              <a:ext uri="{FF2B5EF4-FFF2-40B4-BE49-F238E27FC236}">
                <a16:creationId xmlns:a16="http://schemas.microsoft.com/office/drawing/2014/main" id="{A9217E92-2427-4BF9-8019-47DF215849D0}"/>
              </a:ext>
            </a:extLst>
          </p:cNvPr>
          <p:cNvSpPr>
            <a:spLocks xmlns:a="http://schemas.openxmlformats.org/drawingml/2006/main" noGrp="1"/>
          </p:cNvSpPr>
          <p:nvPr>
            <p:ph type="sldNum" idx="12"/>
          </p:nvPr>
        </p:nvSpPr>
        <p:spPr>
          <a:xfrm xmlns:a="http://schemas.openxmlformats.org/drawingml/2006/main">
            <a:off x="8737600" y="6356353"/>
            <a:ext cx="2844900" cy="3651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Clr>
                <a:srgbClr val="000000"/>
              </a:buClr>
              <a:buFont typeface="Arial"/>
              <a:buNone/>
            </a:pPr>
            <a:fld id="{E2598689-54C9-18A7-3A19-ED76AA08988F}" type="slidenum">
              <a:t>2</a:t>
            </a:fld>
            <a:endParaRPr/>
          </a:p>
        </p:txBody>
      </p:sp>
      <p:sp>
        <p:nvSpPr>
          <p:cNvPr id="227" name="Google Shape;227;p15">
            <a:extLst xmlns:a="http://schemas.openxmlformats.org/drawingml/2006/main">
              <a:ext uri="{FF2B5EF4-FFF2-40B4-BE49-F238E27FC236}">
                <a16:creationId xmlns:a16="http://schemas.microsoft.com/office/drawing/2014/main" id="{83E0038B-7A17-40E7-A234-170934C3FB1C}"/>
              </a:ext>
            </a:extLst>
          </p:cNvPr>
          <p:cNvSpPr>
            <a:spLocks xmlns:a="http://schemas.openxmlformats.org/drawingml/2006/main" noGrp="1"/>
          </p:cNvSpPr>
          <p:nvPr/>
        </p:nvSpPr>
        <p:spPr>
          <a:xfrm xmlns:a="http://schemas.openxmlformats.org/drawingml/2006/main">
            <a:off x="333375" y="1381125"/>
            <a:ext cx="27717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8" name="Google Shape;228;p15">
            <a:extLst xmlns:a="http://schemas.openxmlformats.org/drawingml/2006/main">
              <a:ext uri="{FF2B5EF4-FFF2-40B4-BE49-F238E27FC236}">
                <a16:creationId xmlns:a16="http://schemas.microsoft.com/office/drawing/2014/main" id="{A3A15320-CA5E-47FE-9421-2A1CE45F8A46}"/>
              </a:ext>
            </a:extLst>
          </p:cNvPr>
          <p:cNvSpPr>
            <a:spLocks xmlns:a="http://schemas.openxmlformats.org/drawingml/2006/main" noGrp="1"/>
          </p:cNvSpPr>
          <p:nvPr/>
        </p:nvSpPr>
        <p:spPr>
          <a:xfrm xmlns:a="http://schemas.openxmlformats.org/drawingml/2006/main">
            <a:off x="419100" y="1428750"/>
            <a:ext cx="2600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575" b="1" i="0" u="none" cap="none">
                <a:solidFill>
                  <a:srgbClr val="FFFFFF"/>
                </a:solidFill>
                <a:latin typeface="Arial"/>
                <a:ea typeface="Arial"/>
                <a:cs typeface="Arial"/>
              </a:rPr>
              <a:t>IDEA &amp; SOLUTION</a:t>
            </a:r>
            <a:endParaRPr/>
          </a:p>
        </p:txBody>
      </p:sp>
      <p:sp>
        <p:nvSpPr>
          <p:cNvPr id="229" name="Google Shape;229;p15">
            <a:extLst xmlns:a="http://schemas.openxmlformats.org/drawingml/2006/main">
              <a:ext uri="{FF2B5EF4-FFF2-40B4-BE49-F238E27FC236}">
                <a16:creationId xmlns:a16="http://schemas.microsoft.com/office/drawing/2014/main" id="{F767AD33-1CEB-42E7-9AE2-0558D7500ABD}"/>
              </a:ext>
            </a:extLst>
          </p:cNvPr>
          <p:cNvSpPr>
            <a:spLocks xmlns:a="http://schemas.openxmlformats.org/drawingml/2006/main" noGrp="1"/>
          </p:cNvSpPr>
          <p:nvPr/>
        </p:nvSpPr>
        <p:spPr>
          <a:xfrm xmlns:a="http://schemas.openxmlformats.org/drawingml/2006/main">
            <a:off x="333375" y="1819275"/>
            <a:ext cx="27717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1F497D"/>
                </a:solidFill>
                <a:latin typeface="Arial"/>
                <a:ea typeface="Arial"/>
                <a:cs typeface="Arial"/>
              </a:rPr>
              <a:t>Proposed method: discover deposit candidates from service wallet patterns, then trace the first receiving VASP.</a:t>
            </a:r>
          </a:p>
        </p:txBody>
      </p:sp>
      <p:sp>
        <p:nvSpPr>
          <p:cNvPr id="230" name="Google Shape;230;p15">
            <a:extLst xmlns:a="http://schemas.openxmlformats.org/drawingml/2006/main">
              <a:ext uri="{FF2B5EF4-FFF2-40B4-BE49-F238E27FC236}">
                <a16:creationId xmlns:a16="http://schemas.microsoft.com/office/drawing/2014/main" id="{4874CCE2-1618-49CB-A8DD-CCC7AAF4F965}"/>
              </a:ext>
            </a:extLst>
          </p:cNvPr>
          <p:cNvSpPr>
            <a:spLocks xmlns:a="http://schemas.openxmlformats.org/drawingml/2006/main" noGrp="1"/>
          </p:cNvSpPr>
          <p:nvPr/>
        </p:nvSpPr>
        <p:spPr>
          <a:xfrm xmlns:a="http://schemas.openxmlformats.org/drawingml/2006/main">
            <a:off x="333375" y="2952750"/>
            <a:ext cx="2771700" cy="4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Core tracing runs in the MVP.</a:t>
            </a: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New inference: research experiment.</a:t>
            </a:r>
          </a:p>
        </p:txBody>
      </p:sp>
      <p:sp>
        <p:nvSpPr>
          <p:cNvPr id="231" name="Google Shape;231;p15">
            <a:extLst xmlns:a="http://schemas.openxmlformats.org/drawingml/2006/main">
              <a:ext uri="{FF2B5EF4-FFF2-40B4-BE49-F238E27FC236}">
                <a16:creationId xmlns:a16="http://schemas.microsoft.com/office/drawing/2014/main" id="{353CEF8D-569D-4C73-89FE-34CFD7F3F0E8}"/>
              </a:ext>
            </a:extLst>
          </p:cNvPr>
          <p:cNvSpPr>
            <a:spLocks xmlns:a="http://schemas.openxmlformats.org/drawingml/2006/main" noGrp="1"/>
          </p:cNvSpPr>
          <p:nvPr/>
        </p:nvSpPr>
        <p:spPr>
          <a:xfrm xmlns:a="http://schemas.openxmlformats.org/drawingml/2006/main">
            <a:off x="333375" y="35052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2" name="Google Shape;232;p15">
            <a:extLst xmlns:a="http://schemas.openxmlformats.org/drawingml/2006/main">
              <a:ext uri="{FF2B5EF4-FFF2-40B4-BE49-F238E27FC236}">
                <a16:creationId xmlns:a16="http://schemas.microsoft.com/office/drawing/2014/main" id="{F1419EAB-8373-4E08-B9D7-3A19BD56BD3E}"/>
              </a:ext>
            </a:extLst>
          </p:cNvPr>
          <p:cNvSpPr>
            <a:spLocks xmlns:a="http://schemas.openxmlformats.org/drawingml/2006/main" noGrp="1"/>
          </p:cNvSpPr>
          <p:nvPr/>
        </p:nvSpPr>
        <p:spPr>
          <a:xfrm xmlns:a="http://schemas.openxmlformats.org/drawingml/2006/main">
            <a:off x="447675" y="35052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DEPOSIT DISCOVERY</a:t>
            </a:r>
          </a:p>
        </p:txBody>
      </p:sp>
      <p:sp>
        <p:nvSpPr>
          <p:cNvPr id="233" name="Google Shape;233;p15">
            <a:extLst xmlns:a="http://schemas.openxmlformats.org/drawingml/2006/main">
              <a:ext uri="{FF2B5EF4-FFF2-40B4-BE49-F238E27FC236}">
                <a16:creationId xmlns:a16="http://schemas.microsoft.com/office/drawing/2014/main" id="{9E5754E3-6938-4543-9982-FEB588EAFBA1}"/>
              </a:ext>
            </a:extLst>
          </p:cNvPr>
          <p:cNvSpPr>
            <a:spLocks xmlns:a="http://schemas.openxmlformats.org/drawingml/2006/main" noGrp="1"/>
          </p:cNvSpPr>
          <p:nvPr/>
        </p:nvSpPr>
        <p:spPr>
          <a:xfrm xmlns:a="http://schemas.openxmlformats.org/drawingml/2006/main">
            <a:off x="447675" y="37242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Match sweeps and service gas.</a:t>
            </a: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Keep roles as hypotheses.</a:t>
            </a:r>
          </a:p>
        </p:txBody>
      </p:sp>
      <p:sp>
        <p:nvSpPr>
          <p:cNvPr id="234" name="Google Shape;234;p15">
            <a:extLst xmlns:a="http://schemas.openxmlformats.org/drawingml/2006/main">
              <a:ext uri="{FF2B5EF4-FFF2-40B4-BE49-F238E27FC236}">
                <a16:creationId xmlns:a16="http://schemas.microsoft.com/office/drawing/2014/main" id="{3D896530-7E06-48F9-B9F2-52A2CF6FAECF}"/>
              </a:ext>
            </a:extLst>
          </p:cNvPr>
          <p:cNvSpPr>
            <a:spLocks xmlns:a="http://schemas.openxmlformats.org/drawingml/2006/main" noGrp="1"/>
          </p:cNvSpPr>
          <p:nvPr/>
        </p:nvSpPr>
        <p:spPr>
          <a:xfrm xmlns:a="http://schemas.openxmlformats.org/drawingml/2006/main">
            <a:off x="333375" y="4057650"/>
            <a:ext cx="38100" cy="4668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5" name="Google Shape;235;p15">
            <a:extLst xmlns:a="http://schemas.openxmlformats.org/drawingml/2006/main">
              <a:ext uri="{FF2B5EF4-FFF2-40B4-BE49-F238E27FC236}">
                <a16:creationId xmlns:a16="http://schemas.microsoft.com/office/drawing/2014/main" id="{15F34C71-D760-4E7C-9767-531D96EAA841}"/>
              </a:ext>
            </a:extLst>
          </p:cNvPr>
          <p:cNvSpPr>
            <a:spLocks xmlns:a="http://schemas.openxmlformats.org/drawingml/2006/main" noGrp="1"/>
          </p:cNvSpPr>
          <p:nvPr/>
        </p:nvSpPr>
        <p:spPr>
          <a:xfrm xmlns:a="http://schemas.openxmlformats.org/drawingml/2006/main">
            <a:off x="447675" y="40576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TWO EVIDENCE GRAPHS</a:t>
            </a:r>
          </a:p>
        </p:txBody>
      </p:sp>
      <p:sp>
        <p:nvSpPr>
          <p:cNvPr id="236" name="Google Shape;236;p15">
            <a:extLst xmlns:a="http://schemas.openxmlformats.org/drawingml/2006/main">
              <a:ext uri="{FF2B5EF4-FFF2-40B4-BE49-F238E27FC236}">
                <a16:creationId xmlns:a16="http://schemas.microsoft.com/office/drawing/2014/main" id="{F02E9476-7CD9-481E-8CD7-08536DA1F400}"/>
              </a:ext>
            </a:extLst>
          </p:cNvPr>
          <p:cNvSpPr>
            <a:spLocks xmlns:a="http://schemas.openxmlformats.org/drawingml/2006/main" noGrp="1"/>
          </p:cNvSpPr>
          <p:nvPr/>
        </p:nvSpPr>
        <p:spPr>
          <a:xfrm xmlns:a="http://schemas.openxmlformats.org/drawingml/2006/main">
            <a:off x="447675" y="42767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Transfers show movement.</a:t>
            </a: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Control claims need separate support.</a:t>
            </a:r>
          </a:p>
        </p:txBody>
      </p:sp>
      <p:sp>
        <p:nvSpPr>
          <p:cNvPr id="237" name="Google Shape;237;p15">
            <a:extLst xmlns:a="http://schemas.openxmlformats.org/drawingml/2006/main">
              <a:ext uri="{FF2B5EF4-FFF2-40B4-BE49-F238E27FC236}">
                <a16:creationId xmlns:a16="http://schemas.microsoft.com/office/drawing/2014/main" id="{96555804-BC87-414A-81F8-89B0F2C0B84C}"/>
              </a:ext>
            </a:extLst>
          </p:cNvPr>
          <p:cNvSpPr>
            <a:spLocks xmlns:a="http://schemas.openxmlformats.org/drawingml/2006/main" noGrp="1"/>
          </p:cNvSpPr>
          <p:nvPr/>
        </p:nvSpPr>
        <p:spPr>
          <a:xfrm xmlns:a="http://schemas.openxmlformats.org/drawingml/2006/main">
            <a:off x="333375" y="4610100"/>
            <a:ext cx="38100" cy="4668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8" name="Google Shape;238;p15">
            <a:extLst xmlns:a="http://schemas.openxmlformats.org/drawingml/2006/main">
              <a:ext uri="{FF2B5EF4-FFF2-40B4-BE49-F238E27FC236}">
                <a16:creationId xmlns:a16="http://schemas.microsoft.com/office/drawing/2014/main" id="{F8BFAED8-6858-433C-AE1A-274AB0CD2623}"/>
              </a:ext>
            </a:extLst>
          </p:cNvPr>
          <p:cNvSpPr>
            <a:spLocks xmlns:a="http://schemas.openxmlformats.org/drawingml/2006/main" noGrp="1"/>
          </p:cNvSpPr>
          <p:nvPr/>
        </p:nvSpPr>
        <p:spPr>
          <a:xfrm xmlns:a="http://schemas.openxmlformats.org/drawingml/2006/main">
            <a:off x="447675" y="46101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9A6C22"/>
                </a:solidFill>
                <a:latin typeface="Arial"/>
                <a:ea typeface="Arial"/>
                <a:cs typeface="Arial"/>
              </a:rPr>
              <a:t>SOURCE CHALLENGE</a:t>
            </a:r>
            <a:endParaRPr/>
          </a:p>
        </p:txBody>
      </p:sp>
      <p:sp>
        <p:nvSpPr>
          <p:cNvPr id="239" name="Google Shape;239;p15">
            <a:extLst xmlns:a="http://schemas.openxmlformats.org/drawingml/2006/main">
              <a:ext uri="{FF2B5EF4-FFF2-40B4-BE49-F238E27FC236}">
                <a16:creationId xmlns:a16="http://schemas.microsoft.com/office/drawing/2014/main" id="{D5D37059-2E19-49F6-9285-0E853E0E22AC}"/>
              </a:ext>
            </a:extLst>
          </p:cNvPr>
          <p:cNvSpPr>
            <a:spLocks xmlns:a="http://schemas.openxmlformats.org/drawingml/2006/main" noGrp="1"/>
          </p:cNvSpPr>
          <p:nvPr/>
        </p:nvSpPr>
        <p:spPr>
          <a:xfrm xmlns:a="http://schemas.openxmlformats.org/drawingml/2006/main">
            <a:off x="447675" y="48291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Remove a disputed source and</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recompute without losing history.</a:t>
            </a:r>
            <a:endParaRPr/>
          </a:p>
        </p:txBody>
      </p:sp>
      <p:sp>
        <p:nvSpPr>
          <p:cNvPr id="240" name="Google Shape;240;p15">
            <a:extLst xmlns:a="http://schemas.openxmlformats.org/drawingml/2006/main">
              <a:ext uri="{FF2B5EF4-FFF2-40B4-BE49-F238E27FC236}">
                <a16:creationId xmlns:a16="http://schemas.microsoft.com/office/drawing/2014/main" id="{6684294F-9B8F-4453-A6AE-FF78E38D09FA}"/>
              </a:ext>
            </a:extLst>
          </p:cNvPr>
          <p:cNvSpPr>
            <a:spLocks xmlns:a="http://schemas.openxmlformats.org/drawingml/2006/main" noGrp="1"/>
          </p:cNvSpPr>
          <p:nvPr/>
        </p:nvSpPr>
        <p:spPr>
          <a:xfrm xmlns:a="http://schemas.openxmlformats.org/drawingml/2006/main">
            <a:off x="333375" y="5162550"/>
            <a:ext cx="38100" cy="4668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5">
            <a:extLst xmlns:a="http://schemas.openxmlformats.org/drawingml/2006/main">
              <a:ext uri="{FF2B5EF4-FFF2-40B4-BE49-F238E27FC236}">
                <a16:creationId xmlns:a16="http://schemas.microsoft.com/office/drawing/2014/main" id="{C6F7389F-FE89-421F-A1C7-56DDCF12248D}"/>
              </a:ext>
            </a:extLst>
          </p:cNvPr>
          <p:cNvSpPr>
            <a:spLocks xmlns:a="http://schemas.openxmlformats.org/drawingml/2006/main" noGrp="1"/>
          </p:cNvSpPr>
          <p:nvPr/>
        </p:nvSpPr>
        <p:spPr>
          <a:xfrm xmlns:a="http://schemas.openxmlformats.org/drawingml/2006/main">
            <a:off x="447675" y="51625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BUDGETED ACQUISITION</a:t>
            </a:r>
            <a:endParaRPr/>
          </a:p>
        </p:txBody>
      </p:sp>
      <p:sp>
        <p:nvSpPr>
          <p:cNvPr id="242" name="Google Shape;242;p15">
            <a:extLst xmlns:a="http://schemas.openxmlformats.org/drawingml/2006/main">
              <a:ext uri="{FF2B5EF4-FFF2-40B4-BE49-F238E27FC236}">
                <a16:creationId xmlns:a16="http://schemas.microsoft.com/office/drawing/2014/main" id="{63CA5EDE-6549-4A01-833D-A07237091A3D}"/>
              </a:ext>
            </a:extLst>
          </p:cNvPr>
          <p:cNvSpPr>
            <a:spLocks xmlns:a="http://schemas.openxmlformats.org/drawingml/2006/main" noGrp="1"/>
          </p:cNvSpPr>
          <p:nvPr/>
        </p:nvSpPr>
        <p:spPr>
          <a:xfrm xmlns:a="http://schemas.openxmlformats.org/drawingml/2006/main">
            <a:off x="447675" y="53816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Prioritise nearer missing evidence.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Reserve API calls before dispatch.</a:t>
            </a:r>
            <a:endParaRPr/>
          </a:p>
        </p:txBody>
      </p:sp>
      <p:sp>
        <p:nvSpPr>
          <p:cNvPr id="243" name="Google Shape;243;p15">
            <a:extLst xmlns:a="http://schemas.openxmlformats.org/drawingml/2006/main">
              <a:ext uri="{FF2B5EF4-FFF2-40B4-BE49-F238E27FC236}">
                <a16:creationId xmlns:a16="http://schemas.microsoft.com/office/drawing/2014/main" id="{0350C181-7947-4A03-8202-9A6DAD9D720B}"/>
              </a:ext>
            </a:extLst>
          </p:cNvPr>
          <p:cNvSpPr>
            <a:spLocks xmlns:a="http://schemas.openxmlformats.org/drawingml/2006/main" noGrp="1"/>
          </p:cNvSpPr>
          <p:nvPr/>
        </p:nvSpPr>
        <p:spPr>
          <a:xfrm xmlns:a="http://schemas.openxmlformats.org/drawingml/2006/main">
            <a:off x="333375" y="57150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4" name="Google Shape;244;p15">
            <a:extLst xmlns:a="http://schemas.openxmlformats.org/drawingml/2006/main">
              <a:ext uri="{FF2B5EF4-FFF2-40B4-BE49-F238E27FC236}">
                <a16:creationId xmlns:a16="http://schemas.microsoft.com/office/drawing/2014/main" id="{E518E4E7-51E1-4705-B4FF-01B5D17BDFDB}"/>
              </a:ext>
            </a:extLst>
          </p:cNvPr>
          <p:cNvSpPr>
            <a:spLocks xmlns:a="http://schemas.openxmlformats.org/drawingml/2006/main" noGrp="1"/>
          </p:cNvSpPr>
          <p:nvPr/>
        </p:nvSpPr>
        <p:spPr>
          <a:xfrm xmlns:a="http://schemas.openxmlformats.org/drawingml/2006/main">
            <a:off x="447675" y="57150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REVIEWED FEEDBACK</a:t>
            </a:r>
            <a:endParaRPr/>
          </a:p>
        </p:txBody>
      </p:sp>
      <p:sp>
        <p:nvSpPr>
          <p:cNvPr id="245" name="Google Shape;245;p15">
            <a:extLst xmlns:a="http://schemas.openxmlformats.org/drawingml/2006/main">
              <a:ext uri="{FF2B5EF4-FFF2-40B4-BE49-F238E27FC236}">
                <a16:creationId xmlns:a16="http://schemas.microsoft.com/office/drawing/2014/main" id="{64723427-D21E-44C2-A55E-CF301A946802}"/>
              </a:ext>
            </a:extLst>
          </p:cNvPr>
          <p:cNvSpPr>
            <a:spLocks xmlns:a="http://schemas.openxmlformats.org/drawingml/2006/main" noGrp="1"/>
          </p:cNvSpPr>
          <p:nvPr/>
        </p:nvSpPr>
        <p:spPr>
          <a:xfrm xmlns:a="http://schemas.openxmlformats.org/drawingml/2006/main">
            <a:off x="447675" y="59340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Review an authenticated service</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reply before promoting its claim.</a:t>
            </a:r>
            <a:endParaRPr/>
          </a:p>
        </p:txBody>
      </p:sp>
      <p:cxnSp>
        <p:nvCxnSpPr>
          <p:cNvPr id="338" name="Google Shape;246;p15"/>
          <p:cNvCxnSpPr/>
          <p:nvPr/>
        </p:nvCxnSpPr>
        <p:spPr>
          <a:xfrm xmlns:a="http://schemas.openxmlformats.org/drawingml/2006/main">
            <a:off x="3228975" y="1381125"/>
            <a:ext cx="0" cy="486720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247" name="Google Shape;247;p15">
            <a:extLst xmlns:a="http://schemas.openxmlformats.org/drawingml/2006/main">
              <a:ext uri="{FF2B5EF4-FFF2-40B4-BE49-F238E27FC236}">
                <a16:creationId xmlns:a16="http://schemas.microsoft.com/office/drawing/2014/main" id="{2C6044F5-227D-4269-A5E6-A07DD8E61335}"/>
              </a:ext>
            </a:extLst>
          </p:cNvPr>
          <p:cNvSpPr>
            <a:spLocks xmlns:a="http://schemas.openxmlformats.org/drawingml/2006/main" noGrp="1"/>
          </p:cNvSpPr>
          <p:nvPr/>
        </p:nvSpPr>
        <p:spPr>
          <a:xfrm xmlns:a="http://schemas.openxmlformats.org/drawingml/2006/main">
            <a:off x="3381375" y="1381125"/>
            <a:ext cx="85059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8" name="Google Shape;248;p15">
            <a:extLst xmlns:a="http://schemas.openxmlformats.org/drawingml/2006/main">
              <a:ext uri="{FF2B5EF4-FFF2-40B4-BE49-F238E27FC236}">
                <a16:creationId xmlns:a16="http://schemas.microsoft.com/office/drawing/2014/main" id="{19A2E314-6C6D-4FD8-8090-A7EBCFA3213C}"/>
              </a:ext>
            </a:extLst>
          </p:cNvPr>
          <p:cNvSpPr>
            <a:spLocks xmlns:a="http://schemas.openxmlformats.org/drawingml/2006/main" noGrp="1"/>
          </p:cNvSpPr>
          <p:nvPr/>
        </p:nvSpPr>
        <p:spPr>
          <a:xfrm xmlns:a="http://schemas.openxmlformats.org/drawingml/2006/main">
            <a:off x="3467100" y="1428750"/>
            <a:ext cx="83343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425">
                <a:latin typeface="Arial"/>
                <a:ea typeface="Arial"/>
                <a:cs typeface="Arial"/>
              </a:defRPr>
            </a:pPr>
            <a:r>
              <a:rPr sz="1425" b="1" i="0" u="none" cap="none">
                <a:solidFill>
                  <a:srgbClr val="FFFFFF"/>
                </a:solidFill>
                <a:latin typeface="Arial"/>
                <a:ea typeface="Arial"/>
                <a:cs typeface="Arial"/>
              </a:rPr>
              <a:t>PROPOSED METHOD WITH EXISTING REVIEW WORKFLOW</a:t>
            </a:r>
          </a:p>
        </p:txBody>
      </p:sp>
      <p:sp>
        <p:nvSpPr>
          <p:cNvPr id="249" name="Google Shape;249;p15">
            <a:extLst xmlns:a="http://schemas.openxmlformats.org/drawingml/2006/main">
              <a:ext uri="{FF2B5EF4-FFF2-40B4-BE49-F238E27FC236}">
                <a16:creationId xmlns:a16="http://schemas.microsoft.com/office/drawing/2014/main" id="{76B54883-8468-4737-BD20-57800C9CE36F}"/>
              </a:ext>
            </a:extLst>
          </p:cNvPr>
          <p:cNvSpPr>
            <a:spLocks xmlns:a="http://schemas.openxmlformats.org/drawingml/2006/main" noGrp="1"/>
          </p:cNvSpPr>
          <p:nvPr/>
        </p:nvSpPr>
        <p:spPr>
          <a:xfrm xmlns:a="http://schemas.openxmlformats.org/drawingml/2006/main">
            <a:off x="3381375" y="1838325"/>
            <a:ext cx="16860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CASE INPUTS</a:t>
            </a:r>
            <a:endParaRPr/>
          </a:p>
        </p:txBody>
      </p:sp>
      <p:sp>
        <p:nvSpPr>
          <p:cNvPr id="250" name="Google Shape;250;p15">
            <a:extLst xmlns:a="http://schemas.openxmlformats.org/drawingml/2006/main">
              <a:ext uri="{FF2B5EF4-FFF2-40B4-BE49-F238E27FC236}">
                <a16:creationId xmlns:a16="http://schemas.microsoft.com/office/drawing/2014/main" id="{7CFA2828-1654-4C39-8D83-EA2DF15AC84D}"/>
              </a:ext>
            </a:extLst>
          </p:cNvPr>
          <p:cNvSpPr>
            <a:spLocks xmlns:a="http://schemas.openxmlformats.org/drawingml/2006/main" noGrp="1"/>
          </p:cNvSpPr>
          <p:nvPr/>
        </p:nvSpPr>
        <p:spPr>
          <a:xfrm xmlns:a="http://schemas.openxmlformats.org/drawingml/2006/main">
            <a:off x="5276850" y="1838325"/>
            <a:ext cx="66105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ACQUISITION AND EVIDENCE SNAPSHOT</a:t>
            </a:r>
            <a:endParaRPr/>
          </a:p>
        </p:txBody>
      </p:sp>
      <p:sp>
        <p:nvSpPr>
          <p:cNvPr id="251" name="Google Shape;251;p15">
            <a:extLst xmlns:a="http://schemas.openxmlformats.org/drawingml/2006/main">
              <a:ext uri="{FF2B5EF4-FFF2-40B4-BE49-F238E27FC236}">
                <a16:creationId xmlns:a16="http://schemas.microsoft.com/office/drawing/2014/main" id="{F219AB1D-D2BB-4AA5-A654-E3300F676E89}"/>
              </a:ext>
            </a:extLst>
          </p:cNvPr>
          <p:cNvSpPr>
            <a:spLocks xmlns:a="http://schemas.openxmlformats.org/drawingml/2006/main" noGrp="1"/>
          </p:cNvSpPr>
          <p:nvPr/>
        </p:nvSpPr>
        <p:spPr>
          <a:xfrm xmlns:a="http://schemas.openxmlformats.org/drawingml/2006/main">
            <a:off x="3381375" y="2152650"/>
            <a:ext cx="1686000" cy="952500"/>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44" name="Google Shape;252;p15"/>
          <p:cNvPicPr>
            <a:picLocks xmlns:a="http://schemas.openxmlformats.org/drawingml/2006/main" noChangeAspect="1"/>
          </p:cNvPicPr>
          <p:nvPr/>
        </p:nvPicPr>
        <p:blipFill rotWithShape="1">
          <a:blip xmlns:r="http://schemas.openxmlformats.org/officeDocument/2006/relationships" xmlns:a="http://schemas.openxmlformats.org/drawingml/2006/main" r:embed="R5dd3edcfde764a10">
            <a:alphaModFix/>
          </a:blip>
          <a:srcRect xmlns:a="http://schemas.openxmlformats.org/drawingml/2006/main" l="0" t="0" r="0" b="0"/>
          <a:stretch xmlns:a="http://schemas.openxmlformats.org/drawingml/2006/main"/>
        </p:blipFill>
        <p:spPr>
          <a:xfrm xmlns:a="http://schemas.openxmlformats.org/drawingml/2006/main">
            <a:off x="3486150" y="2257425"/>
            <a:ext cx="247650" cy="247650"/>
          </a:xfrm>
          <a:prstGeom xmlns:a="http://schemas.openxmlformats.org/drawingml/2006/main" prst="rect">
            <a:avLst/>
          </a:prstGeom>
          <a:ln xmlns:a="http://schemas.openxmlformats.org/drawingml/2006/main">
            <a:noFill/>
          </a:ln>
        </p:spPr>
      </p:pic>
      <p:sp>
        <p:nvSpPr>
          <p:cNvPr id="253" name="Google Shape;253;p15">
            <a:extLst xmlns:a="http://schemas.openxmlformats.org/drawingml/2006/main">
              <a:ext uri="{FF2B5EF4-FFF2-40B4-BE49-F238E27FC236}">
                <a16:creationId xmlns:a16="http://schemas.microsoft.com/office/drawing/2014/main" id="{4C40AA56-86EC-44FB-BF3A-9EE727AAD020}"/>
              </a:ext>
            </a:extLst>
          </p:cNvPr>
          <p:cNvSpPr>
            <a:spLocks xmlns:a="http://schemas.openxmlformats.org/drawingml/2006/main" noGrp="1"/>
          </p:cNvSpPr>
          <p:nvPr/>
        </p:nvSpPr>
        <p:spPr>
          <a:xfrm xmlns:a="http://schemas.openxmlformats.org/drawingml/2006/main">
            <a:off x="3829050" y="2276475"/>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1" i="0" u="none" cap="none">
                <a:solidFill>
                  <a:srgbClr val="1F497D"/>
                </a:solidFill>
                <a:latin typeface="Arial"/>
                <a:ea typeface="Arial"/>
                <a:cs typeface="Arial"/>
              </a:rPr>
              <a:t>CASE SCOPE</a:t>
            </a:r>
            <a:endParaRPr/>
          </a:p>
        </p:txBody>
      </p:sp>
      <p:sp>
        <p:nvSpPr>
          <p:cNvPr id="254" name="Google Shape;254;p15">
            <a:extLst xmlns:a="http://schemas.openxmlformats.org/drawingml/2006/main">
              <a:ext uri="{FF2B5EF4-FFF2-40B4-BE49-F238E27FC236}">
                <a16:creationId xmlns:a16="http://schemas.microsoft.com/office/drawing/2014/main" id="{FF0D6D08-3DB4-45D2-AC33-912317C57661}"/>
              </a:ext>
            </a:extLst>
          </p:cNvPr>
          <p:cNvSpPr>
            <a:spLocks xmlns:a="http://schemas.openxmlformats.org/drawingml/2006/main" noGrp="1"/>
          </p:cNvSpPr>
          <p:nvPr/>
        </p:nvSpPr>
        <p:spPr>
          <a:xfrm xmlns:a="http://schemas.openxmlformats.org/drawingml/2006/main">
            <a:off x="3476625" y="2600325"/>
            <a:ext cx="1514400" cy="4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Wallet + blockchain</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Time and asset window</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Case ID + query limits</a:t>
            </a:r>
            <a:endParaRPr/>
          </a:p>
        </p:txBody>
      </p:sp>
      <p:sp>
        <p:nvSpPr>
          <p:cNvPr id="255" name="Google Shape;255;p15">
            <a:extLst xmlns:a="http://schemas.openxmlformats.org/drawingml/2006/main">
              <a:ext uri="{FF2B5EF4-FFF2-40B4-BE49-F238E27FC236}">
                <a16:creationId xmlns:a16="http://schemas.microsoft.com/office/drawing/2014/main" id="{997D8357-D050-4B56-91D2-093DD8A7B865}"/>
              </a:ext>
            </a:extLst>
          </p:cNvPr>
          <p:cNvSpPr>
            <a:spLocks xmlns:a="http://schemas.openxmlformats.org/drawingml/2006/main" noGrp="1"/>
          </p:cNvSpPr>
          <p:nvPr/>
        </p:nvSpPr>
        <p:spPr>
          <a:xfrm xmlns:a="http://schemas.openxmlformats.org/drawingml/2006/main">
            <a:off x="52768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6" name="Google Shape;256;p15">
            <a:extLst xmlns:a="http://schemas.openxmlformats.org/drawingml/2006/main">
              <a:ext uri="{FF2B5EF4-FFF2-40B4-BE49-F238E27FC236}">
                <a16:creationId xmlns:a16="http://schemas.microsoft.com/office/drawing/2014/main" id="{10C6926C-63B4-4A88-9CB8-98BB5DA8EED4}"/>
              </a:ext>
            </a:extLst>
          </p:cNvPr>
          <p:cNvSpPr>
            <a:spLocks xmlns:a="http://schemas.openxmlformats.org/drawingml/2006/main" noGrp="1"/>
          </p:cNvSpPr>
          <p:nvPr/>
        </p:nvSpPr>
        <p:spPr>
          <a:xfrm xmlns:a="http://schemas.openxmlformats.org/drawingml/2006/main">
            <a:off x="52768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15">
            <a:extLst xmlns:a="http://schemas.openxmlformats.org/drawingml/2006/main">
              <a:ext uri="{FF2B5EF4-FFF2-40B4-BE49-F238E27FC236}">
                <a16:creationId xmlns:a16="http://schemas.microsoft.com/office/drawing/2014/main" id="{AACEE3FA-BAAE-469C-A877-4BF03C2484CD}"/>
              </a:ext>
            </a:extLst>
          </p:cNvPr>
          <p:cNvSpPr>
            <a:spLocks xmlns:a="http://schemas.openxmlformats.org/drawingml/2006/main" noGrp="1"/>
          </p:cNvSpPr>
          <p:nvPr/>
        </p:nvSpPr>
        <p:spPr>
          <a:xfrm xmlns:a="http://schemas.openxmlformats.org/drawingml/2006/main">
            <a:off x="53721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1  ACQUIRE</a:t>
            </a:r>
            <a:endParaRPr/>
          </a:p>
        </p:txBody>
      </p:sp>
      <p:sp>
        <p:nvSpPr>
          <p:cNvPr id="258" name="Google Shape;258;p15">
            <a:extLst xmlns:a="http://schemas.openxmlformats.org/drawingml/2006/main">
              <a:ext uri="{FF2B5EF4-FFF2-40B4-BE49-F238E27FC236}">
                <a16:creationId xmlns:a16="http://schemas.microsoft.com/office/drawing/2014/main" id="{AC393E88-9B72-40B2-816A-AA2B9EAE1CBB}"/>
              </a:ext>
            </a:extLst>
          </p:cNvPr>
          <p:cNvSpPr>
            <a:spLocks xmlns:a="http://schemas.openxmlformats.org/drawingml/2006/main" noGrp="1"/>
          </p:cNvSpPr>
          <p:nvPr/>
        </p:nvSpPr>
        <p:spPr>
          <a:xfrm xmlns:a="http://schemas.openxmlformats.org/drawingml/2006/main">
            <a:off x="53721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Bitcoin: Esplora / BlockCypher</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EVM: Etherscan V2</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TronGrid / Solana RPC</a:t>
            </a:r>
            <a:endParaRPr/>
          </a:p>
        </p:txBody>
      </p:sp>
      <p:sp>
        <p:nvSpPr>
          <p:cNvPr id="259" name="Google Shape;259;p15">
            <a:extLst xmlns:a="http://schemas.openxmlformats.org/drawingml/2006/main">
              <a:ext uri="{FF2B5EF4-FFF2-40B4-BE49-F238E27FC236}">
                <a16:creationId xmlns:a16="http://schemas.microsoft.com/office/drawing/2014/main" id="{A3431E70-EE04-46F3-B226-7DCB2413883B}"/>
              </a:ext>
            </a:extLst>
          </p:cNvPr>
          <p:cNvSpPr>
            <a:spLocks xmlns:a="http://schemas.openxmlformats.org/drawingml/2006/main" noGrp="1"/>
          </p:cNvSpPr>
          <p:nvPr/>
        </p:nvSpPr>
        <p:spPr>
          <a:xfrm xmlns:a="http://schemas.openxmlformats.org/drawingml/2006/main">
            <a:off x="754380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0" name="Google Shape;260;p15">
            <a:extLst xmlns:a="http://schemas.openxmlformats.org/drawingml/2006/main">
              <a:ext uri="{FF2B5EF4-FFF2-40B4-BE49-F238E27FC236}">
                <a16:creationId xmlns:a16="http://schemas.microsoft.com/office/drawing/2014/main" id="{465E9EEB-2154-4014-B3A1-05B547AF394C}"/>
              </a:ext>
            </a:extLst>
          </p:cNvPr>
          <p:cNvSpPr>
            <a:spLocks xmlns:a="http://schemas.openxmlformats.org/drawingml/2006/main" noGrp="1"/>
          </p:cNvSpPr>
          <p:nvPr/>
        </p:nvSpPr>
        <p:spPr>
          <a:xfrm xmlns:a="http://schemas.openxmlformats.org/drawingml/2006/main">
            <a:off x="754380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1" name="Google Shape;261;p15">
            <a:extLst xmlns:a="http://schemas.openxmlformats.org/drawingml/2006/main">
              <a:ext uri="{FF2B5EF4-FFF2-40B4-BE49-F238E27FC236}">
                <a16:creationId xmlns:a16="http://schemas.microsoft.com/office/drawing/2014/main" id="{BF03CFD0-A0C4-43CA-9FE9-063B6B597EDA}"/>
              </a:ext>
            </a:extLst>
          </p:cNvPr>
          <p:cNvSpPr>
            <a:spLocks xmlns:a="http://schemas.openxmlformats.org/drawingml/2006/main" noGrp="1"/>
          </p:cNvSpPr>
          <p:nvPr/>
        </p:nvSpPr>
        <p:spPr>
          <a:xfrm xmlns:a="http://schemas.openxmlformats.org/drawingml/2006/main">
            <a:off x="763905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2  VALIDATE &amp; ORDER</a:t>
            </a:r>
            <a:endParaRPr/>
          </a:p>
        </p:txBody>
      </p:sp>
      <p:sp>
        <p:nvSpPr>
          <p:cNvPr id="262" name="Google Shape;262;p15">
            <a:extLst xmlns:a="http://schemas.openxmlformats.org/drawingml/2006/main">
              <a:ext uri="{FF2B5EF4-FFF2-40B4-BE49-F238E27FC236}">
                <a16:creationId xmlns:a16="http://schemas.microsoft.com/office/drawing/2014/main" id="{28AA0ABD-BD72-4630-B47E-06FC9E259AE0}"/>
              </a:ext>
            </a:extLst>
          </p:cNvPr>
          <p:cNvSpPr>
            <a:spLocks xmlns:a="http://schemas.openxmlformats.org/drawingml/2006/main" noGrp="1"/>
          </p:cNvSpPr>
          <p:nvPr/>
        </p:nvSpPr>
        <p:spPr>
          <a:xfrm xmlns:a="http://schemas.openxmlformats.org/drawingml/2006/main">
            <a:off x="763905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Exact units + ledger order</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Bitcoin outpoint links</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Status / time / content hash</a:t>
            </a:r>
            <a:endParaRPr/>
          </a:p>
        </p:txBody>
      </p:sp>
      <p:sp>
        <p:nvSpPr>
          <p:cNvPr id="263" name="Google Shape;263;p15">
            <a:extLst xmlns:a="http://schemas.openxmlformats.org/drawingml/2006/main">
              <a:ext uri="{FF2B5EF4-FFF2-40B4-BE49-F238E27FC236}">
                <a16:creationId xmlns:a16="http://schemas.microsoft.com/office/drawing/2014/main" id="{2EE5D7AF-2623-4173-8AEB-5EACCBB6615B}"/>
              </a:ext>
            </a:extLst>
          </p:cNvPr>
          <p:cNvSpPr>
            <a:spLocks xmlns:a="http://schemas.openxmlformats.org/drawingml/2006/main" noGrp="1"/>
          </p:cNvSpPr>
          <p:nvPr/>
        </p:nvSpPr>
        <p:spPr>
          <a:xfrm xmlns:a="http://schemas.openxmlformats.org/drawingml/2006/main">
            <a:off x="98107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4" name="Google Shape;264;p15">
            <a:extLst xmlns:a="http://schemas.openxmlformats.org/drawingml/2006/main">
              <a:ext uri="{FF2B5EF4-FFF2-40B4-BE49-F238E27FC236}">
                <a16:creationId xmlns:a16="http://schemas.microsoft.com/office/drawing/2014/main" id="{57CF97F8-6B49-494D-98BB-C0638FB9B801}"/>
              </a:ext>
            </a:extLst>
          </p:cNvPr>
          <p:cNvSpPr>
            <a:spLocks xmlns:a="http://schemas.openxmlformats.org/drawingml/2006/main" noGrp="1"/>
          </p:cNvSpPr>
          <p:nvPr/>
        </p:nvSpPr>
        <p:spPr>
          <a:xfrm xmlns:a="http://schemas.openxmlformats.org/drawingml/2006/main">
            <a:off x="98107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5" name="Google Shape;265;p15">
            <a:extLst xmlns:a="http://schemas.openxmlformats.org/drawingml/2006/main">
              <a:ext uri="{FF2B5EF4-FFF2-40B4-BE49-F238E27FC236}">
                <a16:creationId xmlns:a16="http://schemas.microsoft.com/office/drawing/2014/main" id="{69160513-9EA4-4A15-B9EE-7677156F8999}"/>
              </a:ext>
            </a:extLst>
          </p:cNvPr>
          <p:cNvSpPr>
            <a:spLocks xmlns:a="http://schemas.openxmlformats.org/drawingml/2006/main" noGrp="1"/>
          </p:cNvSpPr>
          <p:nvPr/>
        </p:nvSpPr>
        <p:spPr>
          <a:xfrm xmlns:a="http://schemas.openxmlformats.org/drawingml/2006/main">
            <a:off x="99060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3  SERVICE ANCHORS</a:t>
            </a:r>
          </a:p>
        </p:txBody>
      </p:sp>
      <p:sp>
        <p:nvSpPr>
          <p:cNvPr id="266" name="Google Shape;266;p15">
            <a:extLst xmlns:a="http://schemas.openxmlformats.org/drawingml/2006/main">
              <a:ext uri="{FF2B5EF4-FFF2-40B4-BE49-F238E27FC236}">
                <a16:creationId xmlns:a16="http://schemas.microsoft.com/office/drawing/2014/main" id="{EEAF80AB-E5F3-43D0-8BBC-164B4C2A9F03}"/>
              </a:ext>
            </a:extLst>
          </p:cNvPr>
          <p:cNvSpPr>
            <a:spLocks xmlns:a="http://schemas.openxmlformats.org/drawingml/2006/main" noGrp="1"/>
          </p:cNvSpPr>
          <p:nvPr/>
        </p:nvSpPr>
        <p:spPr>
          <a:xfrm xmlns:a="http://schemas.openxmlformats.org/drawingml/2006/main">
            <a:off x="99060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Named hot / gas wallets</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Source + role + valid dates</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Missing identity = unknown</a:t>
            </a:r>
          </a:p>
        </p:txBody>
      </p:sp>
      <p:cxnSp>
        <p:nvCxnSpPr>
          <p:cNvPr id="359" name="Google Shape;267;p15"/>
          <p:cNvCxnSpPr>
            <a:stCxn xmlns:a="http://schemas.openxmlformats.org/drawingml/2006/main" id="251" idx="3"/>
            <a:endCxn xmlns:a="http://schemas.openxmlformats.org/drawingml/2006/main" id="255" idx="1"/>
          </p:cNvCxnSpPr>
          <p:nvPr/>
        </p:nvCxnSpPr>
        <p:spPr>
          <a:xfrm xmlns:a="http://schemas.openxmlformats.org/drawingml/2006/main">
            <a:off x="5067375" y="2628900"/>
            <a:ext cx="2094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0" name="Google Shape;268;p15"/>
          <p:cNvCxnSpPr>
            <a:stCxn xmlns:a="http://schemas.openxmlformats.org/drawingml/2006/main" id="255" idx="3"/>
            <a:endCxn xmlns:a="http://schemas.openxmlformats.org/drawingml/2006/main" id="259" idx="1"/>
          </p:cNvCxnSpPr>
          <p:nvPr/>
        </p:nvCxnSpPr>
        <p:spPr>
          <a:xfrm xmlns:a="http://schemas.openxmlformats.org/drawingml/2006/main">
            <a:off x="735345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1" name="Google Shape;269;p15"/>
          <p:cNvCxnSpPr>
            <a:stCxn xmlns:a="http://schemas.openxmlformats.org/drawingml/2006/main" id="259" idx="3"/>
            <a:endCxn xmlns:a="http://schemas.openxmlformats.org/drawingml/2006/main" id="263" idx="1"/>
          </p:cNvCxnSpPr>
          <p:nvPr/>
        </p:nvCxnSpPr>
        <p:spPr>
          <a:xfrm xmlns:a="http://schemas.openxmlformats.org/drawingml/2006/main">
            <a:off x="962040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270" name="Google Shape;270;p15">
            <a:extLst xmlns:a="http://schemas.openxmlformats.org/drawingml/2006/main">
              <a:ext uri="{FF2B5EF4-FFF2-40B4-BE49-F238E27FC236}">
                <a16:creationId xmlns:a16="http://schemas.microsoft.com/office/drawing/2014/main" id="{E1B56727-10C4-4E07-BE7B-246BD5C8837F}"/>
              </a:ext>
            </a:extLst>
          </p:cNvPr>
          <p:cNvSpPr>
            <a:spLocks xmlns:a="http://schemas.openxmlformats.org/drawingml/2006/main" noGrp="1"/>
          </p:cNvSpPr>
          <p:nvPr/>
        </p:nvSpPr>
        <p:spPr>
          <a:xfrm xmlns:a="http://schemas.openxmlformats.org/drawingml/2006/main">
            <a:off x="5286375" y="3162300"/>
            <a:ext cx="4181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0" i="0" u="none" cap="none">
                <a:solidFill>
                  <a:srgbClr val="526273"/>
                </a:solidFill>
                <a:latin typeface="Arial"/>
                <a:ea typeface="Arial"/>
                <a:cs typeface="Arial"/>
              </a:rPr>
              <a:t>Deposit inference: isolated experiment. Live integration is pending.</a:t>
            </a:r>
          </a:p>
        </p:txBody>
      </p:sp>
      <p:sp>
        <p:nvSpPr>
          <p:cNvPr id="271" name="Google Shape;271;p15">
            <a:extLst xmlns:a="http://schemas.openxmlformats.org/drawingml/2006/main">
              <a:ext uri="{FF2B5EF4-FFF2-40B4-BE49-F238E27FC236}">
                <a16:creationId xmlns:a16="http://schemas.microsoft.com/office/drawing/2014/main" id="{7449F89D-94D5-4C87-96C3-2D148DF06D4B}"/>
              </a:ext>
            </a:extLst>
          </p:cNvPr>
          <p:cNvSpPr>
            <a:spLocks xmlns:a="http://schemas.openxmlformats.org/drawingml/2006/main" noGrp="1"/>
          </p:cNvSpPr>
          <p:nvPr/>
        </p:nvSpPr>
        <p:spPr>
          <a:xfrm xmlns:a="http://schemas.openxmlformats.org/drawingml/2006/main">
            <a:off x="3381375" y="3324225"/>
            <a:ext cx="1686000" cy="238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2" name="Google Shape;272;p15">
            <a:extLst xmlns:a="http://schemas.openxmlformats.org/drawingml/2006/main">
              <a:ext uri="{FF2B5EF4-FFF2-40B4-BE49-F238E27FC236}">
                <a16:creationId xmlns:a16="http://schemas.microsoft.com/office/drawing/2014/main" id="{04C4CF43-D3D8-4FF2-8002-E55BF8618469}"/>
              </a:ext>
            </a:extLst>
          </p:cNvPr>
          <p:cNvSpPr>
            <a:spLocks xmlns:a="http://schemas.openxmlformats.org/drawingml/2006/main" noGrp="1"/>
          </p:cNvSpPr>
          <p:nvPr/>
        </p:nvSpPr>
        <p:spPr>
          <a:xfrm xmlns:a="http://schemas.openxmlformats.org/drawingml/2006/main">
            <a:off x="3467100" y="3371850"/>
            <a:ext cx="1514400" cy="1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1" i="0" u="none" cap="none">
                <a:solidFill>
                  <a:srgbClr val="FFFFFF"/>
                </a:solidFill>
                <a:latin typeface="Arial"/>
                <a:ea typeface="Arial"/>
                <a:cs typeface="Arial"/>
              </a:rPr>
              <a:t>CHAIN ADAPTERS</a:t>
            </a:r>
            <a:endParaRPr/>
          </a:p>
        </p:txBody>
      </p:sp>
      <p:sp>
        <p:nvSpPr>
          <p:cNvPr id="273" name="Google Shape;273;p15">
            <a:extLst xmlns:a="http://schemas.openxmlformats.org/drawingml/2006/main">
              <a:ext uri="{FF2B5EF4-FFF2-40B4-BE49-F238E27FC236}">
                <a16:creationId xmlns:a16="http://schemas.microsoft.com/office/drawing/2014/main" id="{04D88E7C-72E0-42BD-A45B-063608FDEC04}"/>
              </a:ext>
            </a:extLst>
          </p:cNvPr>
          <p:cNvSpPr>
            <a:spLocks xmlns:a="http://schemas.openxmlformats.org/drawingml/2006/main" noGrp="1"/>
          </p:cNvSpPr>
          <p:nvPr/>
        </p:nvSpPr>
        <p:spPr>
          <a:xfrm xmlns:a="http://schemas.openxmlformats.org/drawingml/2006/main">
            <a:off x="3476625" y="3705225"/>
            <a:ext cx="1514400" cy="74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Bitcoin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Ethereum / BNB Chain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Polygon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Tron / Solana</a:t>
            </a:r>
            <a:endParaRPr/>
          </a:p>
        </p:txBody>
      </p:sp>
      <p:sp>
        <p:nvSpPr>
          <p:cNvPr id="274" name="Google Shape;274;p15">
            <a:extLst xmlns:a="http://schemas.openxmlformats.org/drawingml/2006/main">
              <a:ext uri="{FF2B5EF4-FFF2-40B4-BE49-F238E27FC236}">
                <a16:creationId xmlns:a16="http://schemas.microsoft.com/office/drawing/2014/main" id="{BE34385A-5C49-4A4D-AFFF-24892CDABFDF}"/>
              </a:ext>
            </a:extLst>
          </p:cNvPr>
          <p:cNvSpPr>
            <a:spLocks xmlns:a="http://schemas.openxmlformats.org/drawingml/2006/main" noGrp="1"/>
          </p:cNvSpPr>
          <p:nvPr/>
        </p:nvSpPr>
        <p:spPr>
          <a:xfrm xmlns:a="http://schemas.openxmlformats.org/drawingml/2006/main">
            <a:off x="3476625" y="4648200"/>
            <a:ext cx="15144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Six adapters implemented.</a:t>
            </a: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Uneven live coverage.</a:t>
            </a: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Bitcoin sample checked.</a:t>
            </a:r>
          </a:p>
        </p:txBody>
      </p:sp>
      <p:sp>
        <p:nvSpPr>
          <p:cNvPr id="275" name="Google Shape;275;p15">
            <a:extLst xmlns:a="http://schemas.openxmlformats.org/drawingml/2006/main">
              <a:ext uri="{FF2B5EF4-FFF2-40B4-BE49-F238E27FC236}">
                <a16:creationId xmlns:a16="http://schemas.microsoft.com/office/drawing/2014/main" id="{5B4CF71B-827B-4C1F-BD69-03160768EBF9}"/>
              </a:ext>
            </a:extLst>
          </p:cNvPr>
          <p:cNvSpPr>
            <a:spLocks xmlns:a="http://schemas.openxmlformats.org/drawingml/2006/main" noGrp="1"/>
          </p:cNvSpPr>
          <p:nvPr/>
        </p:nvSpPr>
        <p:spPr>
          <a:xfrm xmlns:a="http://schemas.openxmlformats.org/drawingml/2006/main">
            <a:off x="5276850" y="3448050"/>
            <a:ext cx="4114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CUSTODY ATTRIBUTION ENGINE</a:t>
            </a:r>
            <a:endParaRPr/>
          </a:p>
        </p:txBody>
      </p:sp>
      <p:sp>
        <p:nvSpPr>
          <p:cNvPr id="276" name="Google Shape;276;p15">
            <a:extLst xmlns:a="http://schemas.openxmlformats.org/drawingml/2006/main">
              <a:ext uri="{FF2B5EF4-FFF2-40B4-BE49-F238E27FC236}">
                <a16:creationId xmlns:a16="http://schemas.microsoft.com/office/drawing/2014/main" id="{240C2F2C-F448-4ED3-AB60-24294F7C614F}"/>
              </a:ext>
            </a:extLst>
          </p:cNvPr>
          <p:cNvSpPr>
            <a:spLocks xmlns:a="http://schemas.openxmlformats.org/drawingml/2006/main" noGrp="1"/>
          </p:cNvSpPr>
          <p:nvPr/>
        </p:nvSpPr>
        <p:spPr>
          <a:xfrm xmlns:a="http://schemas.openxmlformats.org/drawingml/2006/main">
            <a:off x="98107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7" name="Google Shape;277;p15">
            <a:extLst xmlns:a="http://schemas.openxmlformats.org/drawingml/2006/main">
              <a:ext uri="{FF2B5EF4-FFF2-40B4-BE49-F238E27FC236}">
                <a16:creationId xmlns:a16="http://schemas.microsoft.com/office/drawing/2014/main" id="{0C05C804-3C0A-4A39-8CD7-DA8A30FD9190}"/>
              </a:ext>
            </a:extLst>
          </p:cNvPr>
          <p:cNvSpPr>
            <a:spLocks xmlns:a="http://schemas.openxmlformats.org/drawingml/2006/main" noGrp="1"/>
          </p:cNvSpPr>
          <p:nvPr/>
        </p:nvSpPr>
        <p:spPr>
          <a:xfrm xmlns:a="http://schemas.openxmlformats.org/drawingml/2006/main">
            <a:off x="9810750" y="3829050"/>
            <a:ext cx="2076600" cy="381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8" name="Google Shape;278;p15">
            <a:extLst xmlns:a="http://schemas.openxmlformats.org/drawingml/2006/main">
              <a:ext uri="{FF2B5EF4-FFF2-40B4-BE49-F238E27FC236}">
                <a16:creationId xmlns:a16="http://schemas.microsoft.com/office/drawing/2014/main" id="{BB9F438A-A42C-477A-8B5E-BC480C7E7592}"/>
              </a:ext>
            </a:extLst>
          </p:cNvPr>
          <p:cNvSpPr>
            <a:spLocks xmlns:a="http://schemas.openxmlformats.org/drawingml/2006/main" noGrp="1"/>
          </p:cNvSpPr>
          <p:nvPr/>
        </p:nvSpPr>
        <p:spPr>
          <a:xfrm xmlns:a="http://schemas.openxmlformats.org/drawingml/2006/main">
            <a:off x="99060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4  DISCOVER &amp; TRACE</a:t>
            </a:r>
          </a:p>
        </p:txBody>
      </p:sp>
      <p:sp>
        <p:nvSpPr>
          <p:cNvPr id="279" name="Google Shape;279;p15">
            <a:extLst xmlns:a="http://schemas.openxmlformats.org/drawingml/2006/main">
              <a:ext uri="{FF2B5EF4-FFF2-40B4-BE49-F238E27FC236}">
                <a16:creationId xmlns:a16="http://schemas.microsoft.com/office/drawing/2014/main" id="{F42EB489-6830-43E7-852F-6426FD4C4002}"/>
              </a:ext>
            </a:extLst>
          </p:cNvPr>
          <p:cNvSpPr>
            <a:spLocks xmlns:a="http://schemas.openxmlformats.org/drawingml/2006/main" noGrp="1"/>
          </p:cNvSpPr>
          <p:nvPr/>
        </p:nvSpPr>
        <p:spPr>
          <a:xfrm xmlns:a="http://schemas.openxmlformats.org/drawingml/2006/main">
            <a:off x="99060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Sweep / funding candidates</a:t>
            </a: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Time-respecting path search</a:t>
            </a: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Custody or unresolved stop</a:t>
            </a:r>
          </a:p>
        </p:txBody>
      </p:sp>
      <p:sp>
        <p:nvSpPr>
          <p:cNvPr id="280" name="Google Shape;280;p15">
            <a:extLst xmlns:a="http://schemas.openxmlformats.org/drawingml/2006/main">
              <a:ext uri="{FF2B5EF4-FFF2-40B4-BE49-F238E27FC236}">
                <a16:creationId xmlns:a16="http://schemas.microsoft.com/office/drawing/2014/main" id="{B86D0A0F-0D0F-4761-A026-0F01DA6B4897}"/>
              </a:ext>
            </a:extLst>
          </p:cNvPr>
          <p:cNvSpPr>
            <a:spLocks xmlns:a="http://schemas.openxmlformats.org/drawingml/2006/main" noGrp="1"/>
          </p:cNvSpPr>
          <p:nvPr/>
        </p:nvSpPr>
        <p:spPr>
          <a:xfrm xmlns:a="http://schemas.openxmlformats.org/drawingml/2006/main">
            <a:off x="754380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1" name="Google Shape;281;p15">
            <a:extLst xmlns:a="http://schemas.openxmlformats.org/drawingml/2006/main">
              <a:ext uri="{FF2B5EF4-FFF2-40B4-BE49-F238E27FC236}">
                <a16:creationId xmlns:a16="http://schemas.microsoft.com/office/drawing/2014/main" id="{C4866AB3-D81A-4A1F-BF80-CBB8C4FB26F0}"/>
              </a:ext>
            </a:extLst>
          </p:cNvPr>
          <p:cNvSpPr>
            <a:spLocks xmlns:a="http://schemas.openxmlformats.org/drawingml/2006/main" noGrp="1"/>
          </p:cNvSpPr>
          <p:nvPr/>
        </p:nvSpPr>
        <p:spPr>
          <a:xfrm xmlns:a="http://schemas.openxmlformats.org/drawingml/2006/main">
            <a:off x="7543800" y="3829050"/>
            <a:ext cx="2076600" cy="381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2" name="Google Shape;282;p15">
            <a:extLst xmlns:a="http://schemas.openxmlformats.org/drawingml/2006/main">
              <a:ext uri="{FF2B5EF4-FFF2-40B4-BE49-F238E27FC236}">
                <a16:creationId xmlns:a16="http://schemas.microsoft.com/office/drawing/2014/main" id="{058298EC-ABAA-4A9D-9FFE-B3E7E0668C83}"/>
              </a:ext>
            </a:extLst>
          </p:cNvPr>
          <p:cNvSpPr>
            <a:spLocks xmlns:a="http://schemas.openxmlformats.org/drawingml/2006/main" noGrp="1"/>
          </p:cNvSpPr>
          <p:nvPr/>
        </p:nvSpPr>
        <p:spPr>
          <a:xfrm xmlns:a="http://schemas.openxmlformats.org/drawingml/2006/main">
            <a:off x="763905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5  CHECK EVIDENCE</a:t>
            </a:r>
            <a:endParaRPr/>
          </a:p>
        </p:txBody>
      </p:sp>
      <p:sp>
        <p:nvSpPr>
          <p:cNvPr id="283" name="Google Shape;283;p15">
            <a:extLst xmlns:a="http://schemas.openxmlformats.org/drawingml/2006/main">
              <a:ext uri="{FF2B5EF4-FFF2-40B4-BE49-F238E27FC236}">
                <a16:creationId xmlns:a16="http://schemas.microsoft.com/office/drawing/2014/main" id="{36751966-99E0-4B4B-872D-9433D686918B}"/>
              </a:ext>
            </a:extLst>
          </p:cNvPr>
          <p:cNvSpPr>
            <a:spLocks xmlns:a="http://schemas.openxmlformats.org/drawingml/2006/main" noGrp="1"/>
          </p:cNvSpPr>
          <p:nvPr/>
        </p:nvSpPr>
        <p:spPr>
          <a:xfrm xmlns:a="http://schemas.openxmlformats.org/drawingml/2006/main">
            <a:off x="763905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Challenge source or link</a:t>
            </a: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Recompute scoped paths</a:t>
            </a: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Grades now; calibrate later</a:t>
            </a:r>
          </a:p>
        </p:txBody>
      </p:sp>
      <p:sp>
        <p:nvSpPr>
          <p:cNvPr id="284" name="Google Shape;284;p15">
            <a:extLst xmlns:a="http://schemas.openxmlformats.org/drawingml/2006/main">
              <a:ext uri="{FF2B5EF4-FFF2-40B4-BE49-F238E27FC236}">
                <a16:creationId xmlns:a16="http://schemas.microsoft.com/office/drawing/2014/main" id="{4967267F-819C-4B9D-A4F6-95743783913E}"/>
              </a:ext>
            </a:extLst>
          </p:cNvPr>
          <p:cNvSpPr>
            <a:spLocks xmlns:a="http://schemas.openxmlformats.org/drawingml/2006/main" noGrp="1"/>
          </p:cNvSpPr>
          <p:nvPr/>
        </p:nvSpPr>
        <p:spPr>
          <a:xfrm xmlns:a="http://schemas.openxmlformats.org/drawingml/2006/main">
            <a:off x="52768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5" name="Google Shape;285;p15">
            <a:extLst xmlns:a="http://schemas.openxmlformats.org/drawingml/2006/main">
              <a:ext uri="{FF2B5EF4-FFF2-40B4-BE49-F238E27FC236}">
                <a16:creationId xmlns:a16="http://schemas.microsoft.com/office/drawing/2014/main" id="{B0965AFB-F60B-4802-AED0-60864D704E0C}"/>
              </a:ext>
            </a:extLst>
          </p:cNvPr>
          <p:cNvSpPr>
            <a:spLocks xmlns:a="http://schemas.openxmlformats.org/drawingml/2006/main" noGrp="1"/>
          </p:cNvSpPr>
          <p:nvPr/>
        </p:nvSpPr>
        <p:spPr>
          <a:xfrm xmlns:a="http://schemas.openxmlformats.org/drawingml/2006/main">
            <a:off x="5276850" y="3829050"/>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6" name="Google Shape;286;p15">
            <a:extLst xmlns:a="http://schemas.openxmlformats.org/drawingml/2006/main">
              <a:ext uri="{FF2B5EF4-FFF2-40B4-BE49-F238E27FC236}">
                <a16:creationId xmlns:a16="http://schemas.microsoft.com/office/drawing/2014/main" id="{68E789C2-7A8F-450C-BB1F-53BCEB8A2D35}"/>
              </a:ext>
            </a:extLst>
          </p:cNvPr>
          <p:cNvSpPr>
            <a:spLocks xmlns:a="http://schemas.openxmlformats.org/drawingml/2006/main" noGrp="1"/>
          </p:cNvSpPr>
          <p:nvPr/>
        </p:nvSpPr>
        <p:spPr>
          <a:xfrm xmlns:a="http://schemas.openxmlformats.org/drawingml/2006/main">
            <a:off x="53721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6  RETURN RESULTS</a:t>
            </a:r>
            <a:endParaRPr/>
          </a:p>
        </p:txBody>
      </p:sp>
      <p:sp>
        <p:nvSpPr>
          <p:cNvPr id="287" name="Google Shape;287;p15">
            <a:extLst xmlns:a="http://schemas.openxmlformats.org/drawingml/2006/main">
              <a:ext uri="{FF2B5EF4-FFF2-40B4-BE49-F238E27FC236}">
                <a16:creationId xmlns:a16="http://schemas.microsoft.com/office/drawing/2014/main" id="{E246EBED-DEE3-43DE-AA29-5EF352BBC6F5}"/>
              </a:ext>
            </a:extLst>
          </p:cNvPr>
          <p:cNvSpPr>
            <a:spLocks xmlns:a="http://schemas.openxmlformats.org/drawingml/2006/main" noGrp="1"/>
          </p:cNvSpPr>
          <p:nvPr/>
        </p:nvSpPr>
        <p:spPr>
          <a:xfrm xmlns:a="http://schemas.openxmlformats.org/drawingml/2006/main">
            <a:off x="53721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Service + deposit candidate</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Evidence, conflicts and gaps</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Next bounded query</a:t>
            </a:r>
          </a:p>
        </p:txBody>
      </p:sp>
      <p:cxnSp>
        <p:nvCxnSpPr>
          <p:cNvPr id="380" name="Google Shape;288;p15"/>
          <p:cNvCxnSpPr>
            <a:stCxn xmlns:a="http://schemas.openxmlformats.org/drawingml/2006/main" id="263" idx="2"/>
            <a:endCxn xmlns:a="http://schemas.openxmlformats.org/drawingml/2006/main" id="276" idx="0"/>
          </p:cNvCxnSpPr>
          <p:nvPr/>
        </p:nvCxnSpPr>
        <p:spPr>
          <a:xfrm xmlns:a="http://schemas.openxmlformats.org/drawingml/2006/main">
            <a:off x="10849050" y="3105150"/>
            <a:ext cx="0" cy="7239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81" name="Google Shape;289;p15"/>
          <p:cNvCxnSpPr>
            <a:stCxn xmlns:a="http://schemas.openxmlformats.org/drawingml/2006/main" id="276" idx="1"/>
            <a:endCxn xmlns:a="http://schemas.openxmlformats.org/drawingml/2006/main" id="280" idx="3"/>
          </p:cNvCxnSpPr>
          <p:nvPr/>
        </p:nvCxnSpPr>
        <p:spPr>
          <a:xfrm xmlns:a="http://schemas.openxmlformats.org/drawingml/2006/main" rot="10800000">
            <a:off x="962025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cxnSp>
        <p:nvCxnSpPr>
          <p:cNvPr id="382" name="Google Shape;290;p15"/>
          <p:cNvCxnSpPr>
            <a:stCxn xmlns:a="http://schemas.openxmlformats.org/drawingml/2006/main" id="280" idx="1"/>
            <a:endCxn xmlns:a="http://schemas.openxmlformats.org/drawingml/2006/main" id="284" idx="3"/>
          </p:cNvCxnSpPr>
          <p:nvPr/>
        </p:nvCxnSpPr>
        <p:spPr>
          <a:xfrm xmlns:a="http://schemas.openxmlformats.org/drawingml/2006/main" rot="10800000">
            <a:off x="735330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sp>
        <p:nvSpPr>
          <p:cNvPr id="291" name="Google Shape;291;p15">
            <a:extLst xmlns:a="http://schemas.openxmlformats.org/drawingml/2006/main">
              <a:ext uri="{FF2B5EF4-FFF2-40B4-BE49-F238E27FC236}">
                <a16:creationId xmlns:a16="http://schemas.microsoft.com/office/drawing/2014/main" id="{CBA9B063-D151-485B-A51B-BC59FFF7BD24}"/>
              </a:ext>
            </a:extLst>
          </p:cNvPr>
          <p:cNvSpPr>
            <a:spLocks xmlns:a="http://schemas.openxmlformats.org/drawingml/2006/main" noGrp="1"/>
          </p:cNvSpPr>
          <p:nvPr/>
        </p:nvSpPr>
        <p:spPr>
          <a:xfrm xmlns:a="http://schemas.openxmlformats.org/drawingml/2006/main">
            <a:off x="7600950" y="5191125"/>
            <a:ext cx="4286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HUMAN REVIEW, EXPORT AND FEEDBACK</a:t>
            </a:r>
            <a:endParaRPr/>
          </a:p>
        </p:txBody>
      </p:sp>
      <p:sp>
        <p:nvSpPr>
          <p:cNvPr id="292" name="Google Shape;292;p15">
            <a:extLst xmlns:a="http://schemas.openxmlformats.org/drawingml/2006/main">
              <a:ext uri="{FF2B5EF4-FFF2-40B4-BE49-F238E27FC236}">
                <a16:creationId xmlns:a16="http://schemas.microsoft.com/office/drawing/2014/main" id="{5577EDF7-7795-4FAB-87F8-DC4DA95CA220}"/>
              </a:ext>
            </a:extLst>
          </p:cNvPr>
          <p:cNvSpPr>
            <a:spLocks xmlns:a="http://schemas.openxmlformats.org/drawingml/2006/main" noGrp="1"/>
          </p:cNvSpPr>
          <p:nvPr/>
        </p:nvSpPr>
        <p:spPr>
          <a:xfrm xmlns:a="http://schemas.openxmlformats.org/drawingml/2006/main">
            <a:off x="52768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3" name="Google Shape;293;p15">
            <a:extLst xmlns:a="http://schemas.openxmlformats.org/drawingml/2006/main">
              <a:ext uri="{FF2B5EF4-FFF2-40B4-BE49-F238E27FC236}">
                <a16:creationId xmlns:a16="http://schemas.microsoft.com/office/drawing/2014/main" id="{1A912C7B-8E88-468F-9A82-B02D1FC667AF}"/>
              </a:ext>
            </a:extLst>
          </p:cNvPr>
          <p:cNvSpPr>
            <a:spLocks xmlns:a="http://schemas.openxmlformats.org/drawingml/2006/main" noGrp="1"/>
          </p:cNvSpPr>
          <p:nvPr/>
        </p:nvSpPr>
        <p:spPr>
          <a:xfrm xmlns:a="http://schemas.openxmlformats.org/drawingml/2006/main">
            <a:off x="52768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15">
            <a:extLst xmlns:a="http://schemas.openxmlformats.org/drawingml/2006/main">
              <a:ext uri="{FF2B5EF4-FFF2-40B4-BE49-F238E27FC236}">
                <a16:creationId xmlns:a16="http://schemas.microsoft.com/office/drawing/2014/main" id="{B4A92F1F-8C89-4B02-8ABE-4B9E7FA665C8}"/>
              </a:ext>
            </a:extLst>
          </p:cNvPr>
          <p:cNvSpPr>
            <a:spLocks xmlns:a="http://schemas.openxmlformats.org/drawingml/2006/main" noGrp="1"/>
          </p:cNvSpPr>
          <p:nvPr/>
        </p:nvSpPr>
        <p:spPr>
          <a:xfrm xmlns:a="http://schemas.openxmlformats.org/drawingml/2006/main">
            <a:off x="53721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7  REVIEW ACTION</a:t>
            </a:r>
            <a:endParaRPr/>
          </a:p>
        </p:txBody>
      </p:sp>
      <p:sp>
        <p:nvSpPr>
          <p:cNvPr id="295" name="Google Shape;295;p15">
            <a:extLst xmlns:a="http://schemas.openxmlformats.org/drawingml/2006/main">
              <a:ext uri="{FF2B5EF4-FFF2-40B4-BE49-F238E27FC236}">
                <a16:creationId xmlns:a16="http://schemas.microsoft.com/office/drawing/2014/main" id="{EAB34D0D-FA4F-4889-BAEF-31992E7FEDF4}"/>
              </a:ext>
            </a:extLst>
          </p:cNvPr>
          <p:cNvSpPr>
            <a:spLocks xmlns:a="http://schemas.openxmlformats.org/drawingml/2006/main" noGrp="1"/>
          </p:cNvSpPr>
          <p:nvPr/>
        </p:nvSpPr>
        <p:spPr>
          <a:xfrm xmlns:a="http://schemas.openxmlformats.org/drawingml/2006/main">
            <a:off x="53721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Verify recipient + request</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Independent review</a:t>
            </a:r>
            <a:endParaRPr/>
          </a:p>
        </p:txBody>
      </p:sp>
      <p:sp>
        <p:nvSpPr>
          <p:cNvPr id="296" name="Google Shape;296;p15">
            <a:extLst xmlns:a="http://schemas.openxmlformats.org/drawingml/2006/main">
              <a:ext uri="{FF2B5EF4-FFF2-40B4-BE49-F238E27FC236}">
                <a16:creationId xmlns:a16="http://schemas.microsoft.com/office/drawing/2014/main" id="{99F148AE-EAED-49E6-9AE9-8CADC36D2BC2}"/>
              </a:ext>
            </a:extLst>
          </p:cNvPr>
          <p:cNvSpPr>
            <a:spLocks xmlns:a="http://schemas.openxmlformats.org/drawingml/2006/main" noGrp="1"/>
          </p:cNvSpPr>
          <p:nvPr/>
        </p:nvSpPr>
        <p:spPr>
          <a:xfrm xmlns:a="http://schemas.openxmlformats.org/drawingml/2006/main">
            <a:off x="754380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15">
            <a:extLst xmlns:a="http://schemas.openxmlformats.org/drawingml/2006/main">
              <a:ext uri="{FF2B5EF4-FFF2-40B4-BE49-F238E27FC236}">
                <a16:creationId xmlns:a16="http://schemas.microsoft.com/office/drawing/2014/main" id="{F3628ED2-2E66-4449-95AE-E58D0B74D337}"/>
              </a:ext>
            </a:extLst>
          </p:cNvPr>
          <p:cNvSpPr>
            <a:spLocks xmlns:a="http://schemas.openxmlformats.org/drawingml/2006/main" noGrp="1"/>
          </p:cNvSpPr>
          <p:nvPr/>
        </p:nvSpPr>
        <p:spPr>
          <a:xfrm xmlns:a="http://schemas.openxmlformats.org/drawingml/2006/main">
            <a:off x="754380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8" name="Google Shape;298;p15">
            <a:extLst xmlns:a="http://schemas.openxmlformats.org/drawingml/2006/main">
              <a:ext uri="{FF2B5EF4-FFF2-40B4-BE49-F238E27FC236}">
                <a16:creationId xmlns:a16="http://schemas.microsoft.com/office/drawing/2014/main" id="{C5610D0A-3C5C-4AC8-AD0D-6A1BC7A6C95A}"/>
              </a:ext>
            </a:extLst>
          </p:cNvPr>
          <p:cNvSpPr>
            <a:spLocks xmlns:a="http://schemas.openxmlformats.org/drawingml/2006/main" noGrp="1"/>
          </p:cNvSpPr>
          <p:nvPr/>
        </p:nvSpPr>
        <p:spPr>
          <a:xfrm xmlns:a="http://schemas.openxmlformats.org/drawingml/2006/main">
            <a:off x="763905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8  EXPORT &amp; VERIFY</a:t>
            </a:r>
            <a:endParaRPr/>
          </a:p>
        </p:txBody>
      </p:sp>
      <p:sp>
        <p:nvSpPr>
          <p:cNvPr id="299" name="Google Shape;299;p15">
            <a:extLst xmlns:a="http://schemas.openxmlformats.org/drawingml/2006/main">
              <a:ext uri="{FF2B5EF4-FFF2-40B4-BE49-F238E27FC236}">
                <a16:creationId xmlns:a16="http://schemas.microsoft.com/office/drawing/2014/main" id="{E6E2C4EE-1328-4F5F-B095-661A53839D08}"/>
              </a:ext>
            </a:extLst>
          </p:cNvPr>
          <p:cNvSpPr>
            <a:spLocks xmlns:a="http://schemas.openxmlformats.org/drawingml/2006/main" noGrp="1"/>
          </p:cNvSpPr>
          <p:nvPr/>
        </p:nvSpPr>
        <p:spPr>
          <a:xfrm xmlns:a="http://schemas.openxmlformats.org/drawingml/2006/main">
            <a:off x="763905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PDF + signed ZIP</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Request JSON: NOT_SENT</a:t>
            </a:r>
            <a:endParaRPr/>
          </a:p>
        </p:txBody>
      </p:sp>
      <p:sp>
        <p:nvSpPr>
          <p:cNvPr id="300" name="Google Shape;300;p15">
            <a:extLst xmlns:a="http://schemas.openxmlformats.org/drawingml/2006/main">
              <a:ext uri="{FF2B5EF4-FFF2-40B4-BE49-F238E27FC236}">
                <a16:creationId xmlns:a16="http://schemas.microsoft.com/office/drawing/2014/main" id="{BCD245D4-DF1F-4B0F-AD4C-2EEE54418635}"/>
              </a:ext>
            </a:extLst>
          </p:cNvPr>
          <p:cNvSpPr>
            <a:spLocks xmlns:a="http://schemas.openxmlformats.org/drawingml/2006/main" noGrp="1"/>
          </p:cNvSpPr>
          <p:nvPr/>
        </p:nvSpPr>
        <p:spPr>
          <a:xfrm xmlns:a="http://schemas.openxmlformats.org/drawingml/2006/main">
            <a:off x="98107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5">
            <a:extLst xmlns:a="http://schemas.openxmlformats.org/drawingml/2006/main">
              <a:ext uri="{FF2B5EF4-FFF2-40B4-BE49-F238E27FC236}">
                <a16:creationId xmlns:a16="http://schemas.microsoft.com/office/drawing/2014/main" id="{38E498FD-5AC1-4814-93E4-F80C36F3C0CD}"/>
              </a:ext>
            </a:extLst>
          </p:cNvPr>
          <p:cNvSpPr>
            <a:spLocks xmlns:a="http://schemas.openxmlformats.org/drawingml/2006/main" noGrp="1"/>
          </p:cNvSpPr>
          <p:nvPr/>
        </p:nvSpPr>
        <p:spPr>
          <a:xfrm xmlns:a="http://schemas.openxmlformats.org/drawingml/2006/main">
            <a:off x="98107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2" name="Google Shape;302;p15">
            <a:extLst xmlns:a="http://schemas.openxmlformats.org/drawingml/2006/main">
              <a:ext uri="{FF2B5EF4-FFF2-40B4-BE49-F238E27FC236}">
                <a16:creationId xmlns:a16="http://schemas.microsoft.com/office/drawing/2014/main" id="{80947E44-CF74-4BB8-93A8-FFE74607E890}"/>
              </a:ext>
            </a:extLst>
          </p:cNvPr>
          <p:cNvSpPr>
            <a:spLocks xmlns:a="http://schemas.openxmlformats.org/drawingml/2006/main" noGrp="1"/>
          </p:cNvSpPr>
          <p:nvPr/>
        </p:nvSpPr>
        <p:spPr>
          <a:xfrm xmlns:a="http://schemas.openxmlformats.org/drawingml/2006/main">
            <a:off x="99060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9  REVIEW FEEDBACK</a:t>
            </a:r>
            <a:endParaRPr/>
          </a:p>
        </p:txBody>
      </p:sp>
      <p:sp>
        <p:nvSpPr>
          <p:cNvPr id="303" name="Google Shape;303;p15">
            <a:extLst xmlns:a="http://schemas.openxmlformats.org/drawingml/2006/main">
              <a:ext uri="{FF2B5EF4-FFF2-40B4-BE49-F238E27FC236}">
                <a16:creationId xmlns:a16="http://schemas.microsoft.com/office/drawing/2014/main" id="{0A9FA61D-038A-4EE1-8D35-A8D317A2DFFA}"/>
              </a:ext>
            </a:extLst>
          </p:cNvPr>
          <p:cNvSpPr>
            <a:spLocks xmlns:a="http://schemas.openxmlformats.org/drawingml/2006/main" noGrp="1"/>
          </p:cNvSpPr>
          <p:nvPr/>
        </p:nvSpPr>
        <p:spPr>
          <a:xfrm xmlns:a="http://schemas.openxmlformats.org/drawingml/2006/main">
            <a:off x="99060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Import scoped signed reply</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Review before using its labels</a:t>
            </a:r>
            <a:endParaRPr/>
          </a:p>
        </p:txBody>
      </p:sp>
      <p:cxnSp>
        <p:nvCxnSpPr>
          <p:cNvPr id="396" name="Google Shape;304;p15"/>
          <p:cNvCxnSpPr>
            <a:stCxn xmlns:a="http://schemas.openxmlformats.org/drawingml/2006/main" id="284" idx="2"/>
            <a:endCxn xmlns:a="http://schemas.openxmlformats.org/drawingml/2006/main" id="292" idx="0"/>
          </p:cNvCxnSpPr>
          <p:nvPr/>
        </p:nvCxnSpPr>
        <p:spPr>
          <a:xfrm xmlns:a="http://schemas.openxmlformats.org/drawingml/2006/main">
            <a:off x="6315150" y="4924350"/>
            <a:ext cx="0" cy="62880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7" name="Google Shape;305;p15"/>
          <p:cNvCxnSpPr>
            <a:stCxn xmlns:a="http://schemas.openxmlformats.org/drawingml/2006/main" id="292" idx="3"/>
            <a:endCxn xmlns:a="http://schemas.openxmlformats.org/drawingml/2006/main" id="296" idx="1"/>
          </p:cNvCxnSpPr>
          <p:nvPr/>
        </p:nvCxnSpPr>
        <p:spPr>
          <a:xfrm xmlns:a="http://schemas.openxmlformats.org/drawingml/2006/main">
            <a:off x="735345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8" name="Google Shape;306;p15"/>
          <p:cNvCxnSpPr>
            <a:stCxn xmlns:a="http://schemas.openxmlformats.org/drawingml/2006/main" id="296" idx="3"/>
            <a:endCxn xmlns:a="http://schemas.openxmlformats.org/drawingml/2006/main" id="300" idx="1"/>
          </p:cNvCxnSpPr>
          <p:nvPr/>
        </p:nvCxnSpPr>
        <p:spPr>
          <a:xfrm xmlns:a="http://schemas.openxmlformats.org/drawingml/2006/main">
            <a:off x="962040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sp>
        <p:nvSpPr>
          <p:cNvPr id="307" name="Google Shape;307;p15">
            <a:extLst xmlns:a="http://schemas.openxmlformats.org/drawingml/2006/main">
              <a:ext uri="{FF2B5EF4-FFF2-40B4-BE49-F238E27FC236}">
                <a16:creationId xmlns:a16="http://schemas.microsoft.com/office/drawing/2014/main" id="{EBB932FC-D9DF-409E-9657-6FBD2C387E65}"/>
              </a:ext>
            </a:extLst>
          </p:cNvPr>
          <p:cNvSpPr>
            <a:spLocks xmlns:a="http://schemas.openxmlformats.org/drawingml/2006/main" noGrp="1"/>
          </p:cNvSpPr>
          <p:nvPr/>
        </p:nvSpPr>
        <p:spPr>
          <a:xfrm xmlns:a="http://schemas.openxmlformats.org/drawingml/2006/main">
            <a:off x="3381375" y="5391150"/>
            <a:ext cx="16860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15">
            <a:extLst xmlns:a="http://schemas.openxmlformats.org/drawingml/2006/main">
              <a:ext uri="{FF2B5EF4-FFF2-40B4-BE49-F238E27FC236}">
                <a16:creationId xmlns:a16="http://schemas.microsoft.com/office/drawing/2014/main" id="{77F54129-7C93-45DF-B09B-B2DB34E2E5CC}"/>
              </a:ext>
            </a:extLst>
          </p:cNvPr>
          <p:cNvSpPr>
            <a:spLocks xmlns:a="http://schemas.openxmlformats.org/drawingml/2006/main" noGrp="1"/>
          </p:cNvSpPr>
          <p:nvPr/>
        </p:nvSpPr>
        <p:spPr>
          <a:xfrm xmlns:a="http://schemas.openxmlformats.org/drawingml/2006/main">
            <a:off x="3467100" y="5438775"/>
            <a:ext cx="15144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13" b="1" i="0" u="none" cap="none">
                <a:solidFill>
                  <a:srgbClr val="FFFFFF"/>
                </a:solidFill>
                <a:latin typeface="Arial"/>
                <a:ea typeface="Arial"/>
                <a:cs typeface="Arial"/>
              </a:rPr>
              <a:t>CASE STORAGE</a:t>
            </a:r>
            <a:endParaRPr/>
          </a:p>
        </p:txBody>
      </p:sp>
      <p:sp>
        <p:nvSpPr>
          <p:cNvPr id="309" name="Google Shape;309;p15">
            <a:extLst xmlns:a="http://schemas.openxmlformats.org/drawingml/2006/main">
              <a:ext uri="{FF2B5EF4-FFF2-40B4-BE49-F238E27FC236}">
                <a16:creationId xmlns:a16="http://schemas.microsoft.com/office/drawing/2014/main" id="{075F4E45-4C32-4286-BB77-11191384C441}"/>
              </a:ext>
            </a:extLst>
          </p:cNvPr>
          <p:cNvSpPr>
            <a:spLocks xmlns:a="http://schemas.openxmlformats.org/drawingml/2006/main" noGrp="1"/>
          </p:cNvSpPr>
          <p:nvPr/>
        </p:nvSpPr>
        <p:spPr>
          <a:xfrm xmlns:a="http://schemas.openxmlformats.org/drawingml/2006/main">
            <a:off x="3457575" y="5705475"/>
            <a:ext cx="1552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SQLite WAL / SQLAlchemy</a:t>
            </a:r>
            <a:endParaRP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Evidence hashes + audit log</a:t>
            </a:r>
            <a:endParaRPr/>
          </a:p>
        </p:txBody>
      </p:sp>
      <p:sp>
        <p:nvSpPr>
          <p:cNvPr id="310" name="Google Shape;310;p15">
            <a:extLst xmlns:a="http://schemas.openxmlformats.org/drawingml/2006/main">
              <a:ext uri="{FF2B5EF4-FFF2-40B4-BE49-F238E27FC236}">
                <a16:creationId xmlns:a16="http://schemas.microsoft.com/office/drawing/2014/main" id="{53D0C8F5-8D14-4FFF-BA2E-A3F880480263}"/>
              </a:ext>
            </a:extLst>
          </p:cNvPr>
          <p:cNvSpPr>
            <a:spLocks xmlns:a="http://schemas.openxmlformats.org/drawingml/2006/main" noGrp="1"/>
          </p:cNvSpPr>
          <p:nvPr/>
        </p:nvSpPr>
        <p:spPr>
          <a:xfrm xmlns:a="http://schemas.openxmlformats.org/drawingml/2006/main">
            <a:off x="7543800" y="5400675"/>
            <a:ext cx="4343400" cy="1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526273"/>
                </a:solidFill>
                <a:latin typeface="Arial"/>
                <a:ea typeface="Arial"/>
                <a:cs typeface="Arial"/>
              </a:rPr>
              <a:t>Official SAHYOG access pending. Request export does not send a notice.</a:t>
            </a:r>
            <a:endParaRPr/>
          </a:p>
        </p:txBody>
      </p:sp>
      <p:sp>
        <p:nvSpPr>
          <p:cNvPr id="311" name="Google Shape;311;p15">
            <a:extLst xmlns:a="http://schemas.openxmlformats.org/drawingml/2006/main">
              <a:ext uri="{FF2B5EF4-FFF2-40B4-BE49-F238E27FC236}">
                <a16:creationId xmlns:a16="http://schemas.microsoft.com/office/drawing/2014/main" id="{465F4116-38A3-4BFB-8EEA-8414E7C310EC}"/>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12" name="Google Shape;312;p15">
            <a:extLst xmlns:a="http://schemas.openxmlformats.org/drawingml/2006/main">
              <a:ext uri="{FF2B5EF4-FFF2-40B4-BE49-F238E27FC236}">
                <a16:creationId xmlns:a16="http://schemas.microsoft.com/office/drawing/2014/main" id="{4654067C-FA7C-461D-BAB4-B4A99E8190F7}"/>
              </a:ext>
            </a:extLst>
          </p:cNvPr>
          <p:cNvSpPr>
            <a:spLocks xmlns:a="http://schemas.openxmlformats.org/drawingml/2006/main" noGrp="1"/>
          </p:cNvSpPr>
          <p:nvPr/>
        </p:nvSpPr>
        <p:spPr>
          <a:xfrm xmlns:a="http://schemas.openxmlformats.org/drawingml/2006/main">
            <a:off x="182998" y="0"/>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3000" b="1">
                <a:solidFill>
                  <a:srgbClr val="173A61"/>
                </a:solidFill>
                <a:latin typeface="Times New Roman"/>
                <a:ea typeface="Times New Roman"/>
                <a:cs typeface="Times New Roman"/>
              </a:defRPr>
            </a:pPr>
            <a:r>
              <a:rPr sz="3000" b="1">
                <a:solidFill>
                  <a:srgbClr val="173A61"/>
                </a:solidFill>
                <a:latin typeface="Times New Roman"/>
                <a:ea typeface="Times New Roman"/>
                <a:cs typeface="Times New Roman"/>
              </a:rPr>
              <a:t>TRACESETU</a:t>
            </a:r>
            <a:endParaRPr sz="4400">
              <a:solidFill>
                <a:srgbClr val="000000"/>
              </a:solidFill>
              <a:latin typeface="Oswald"/>
              <a:ea typeface="Oswald"/>
              <a:cs typeface="Oswald"/>
            </a:endParaRPr>
          </a:p>
        </p:txBody>
      </p:sp>
      <p:sp>
        <p:nvSpPr>
          <p:cNvPr id="313" name="Google Shape;313;p15">
            <a:extLst xmlns:a="http://schemas.openxmlformats.org/drawingml/2006/main">
              <a:ext uri="{FF2B5EF4-FFF2-40B4-BE49-F238E27FC236}">
                <a16:creationId xmlns:a16="http://schemas.microsoft.com/office/drawing/2014/main" id="{710A31F7-903D-4581-9E49-5AE59913820E}"/>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2598689-54C9-18A7-3A19-ED76AA08988F}" type="slidenum">
              <a:rPr sz="1200" b="1">
                <a:solidFill>
                  <a:srgbClr val="FFFFFF"/>
                </a:solidFill>
                <a:latin typeface="Oswald"/>
                <a:ea typeface="Oswald"/>
                <a:cs typeface="Oswald"/>
              </a:rPr>
              <a:t>2</a:t>
            </a:fld>
            <a:endParaRPr sz="1200" b="1">
              <a:solidFill>
                <a:srgbClr val="FFFFFF"/>
              </a:solidFill>
              <a:latin typeface="Oswald"/>
              <a:ea typeface="Oswald"/>
              <a:cs typeface="Oswald"/>
            </a:endParaRPr>
          </a:p>
        </p:txBody>
      </p:sp>
      <p:sp>
        <p:nvSpPr>
          <p:cNvPr id="314" name="Google Shape;314;p15">
            <a:extLst xmlns:a="http://schemas.openxmlformats.org/drawingml/2006/main">
              <a:ext uri="{FF2B5EF4-FFF2-40B4-BE49-F238E27FC236}">
                <a16:creationId xmlns:a16="http://schemas.microsoft.com/office/drawing/2014/main" id="{8F8BA36E-BB1B-466A-9128-F14DAA6C5EDC}"/>
              </a:ext>
            </a:extLst>
          </p:cNvPr>
          <p:cNvSpPr>
            <a:spLocks xmlns:a="http://schemas.openxmlformats.org/drawingml/2006/main" noGrp="1"/>
          </p:cNvSpPr>
          <p:nvPr/>
        </p:nvSpPr>
        <p:spPr>
          <a:xfrm xmlns:a="http://schemas.openxmlformats.org/drawingml/2006/main">
            <a:off x="4648200" y="6356353"/>
            <a:ext cx="32040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1200">
                <a:solidFill>
                  <a:srgbClr val="FFFFFF"/>
                </a:solidFill>
                <a:latin typeface="Oswald"/>
                <a:ea typeface="Oswald"/>
                <a:cs typeface="Oswald"/>
              </a:rPr>
              <a:t>@SIH Idea submission- Template</a:t>
            </a:r>
            <a:endParaRPr sz="1200">
              <a:solidFill>
                <a:srgbClr val="FFFFFF"/>
              </a:solidFill>
              <a:latin typeface="Oswald"/>
              <a:ea typeface="Oswald"/>
              <a:cs typeface="Oswald"/>
            </a:endParaRPr>
          </a:p>
        </p:txBody>
      </p:sp>
      <p:sp>
        <p:nvSpPr>
          <p:cNvPr id="315" name="Google Shape;315;p15">
            <a:extLst xmlns:a="http://schemas.openxmlformats.org/drawingml/2006/main">
              <a:ext uri="{FF2B5EF4-FFF2-40B4-BE49-F238E27FC236}">
                <a16:creationId xmlns:a16="http://schemas.microsoft.com/office/drawing/2014/main" id="{165AD05A-CE6B-4A26-9ADB-F0BC0BF48486}"/>
              </a:ext>
            </a:extLst>
          </p:cNvPr>
          <p:cNvSpPr>
            <a:spLocks xmlns:a="http://schemas.openxmlformats.org/drawingml/2006/main" noGrp="1"/>
          </p:cNvSpPr>
          <p:nvPr/>
        </p:nvSpPr>
        <p:spPr>
          <a:xfrm xmlns:a="http://schemas.openxmlformats.org/drawingml/2006/main">
            <a:off x="329773" y="252246"/>
            <a:ext cx="1251900" cy="807300"/>
          </a:xfrm>
          <a:prstGeom xmlns:a="http://schemas.openxmlformats.org/drawingml/2006/main" prst="ellipse">
            <a:avLst/>
          </a:prstGeom>
          <a:solidFill xmlns:a="http://schemas.openxmlformats.org/drawingml/2006/main">
            <a:srgbClr val="FFFFFF"/>
          </a:solidFill>
          <a:ln xmlns:a="http://schemas.openxmlformats.org/drawingml/2006/main" w="25400" cmpd="sng">
            <a:solidFill>
              <a:srgbClr val="8064A2"/>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rgbClr val="000000"/>
                </a:solidFill>
                <a:latin typeface="Arial"/>
                <a:ea typeface="Arial"/>
                <a:cs typeface="Arial"/>
              </a:rPr>
              <a:t>ANANTHA</a:t>
            </a:r>
            <a:endParaRPr sz="1800" b="0" i="0" u="none" cap="none">
              <a:solidFill>
                <a:srgbClr val="000000"/>
              </a:solidFill>
              <a:latin typeface="Calibri"/>
              <a:ea typeface="Calibri"/>
              <a:cs typeface="Calibri"/>
            </a:endParaRPr>
          </a:p>
        </p:txBody>
      </p:sp>
      <p:pic>
        <p:nvPicPr>
          <p:cNvPr id="408" name=""/>
          <p:cNvPicPr>
            <a:picLocks xmlns:a="http://schemas.openxmlformats.org/drawingml/2006/main" noChangeAspect="1"/>
          </p:cNvPicPr>
          <p:nvPr/>
        </p:nvPicPr>
        <p:blipFill>
          <a:blip xmlns:r="http://schemas.openxmlformats.org/officeDocument/2006/relationships" xmlns:a="http://schemas.openxmlformats.org/drawingml/2006/main" r:embed="R133c555c7e904664"/>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75450466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2" name="Google Shape;322;p16">
            <a:extLst xmlns:a="http://schemas.openxmlformats.org/drawingml/2006/main">
              <a:ext uri="{FF2B5EF4-FFF2-40B4-BE49-F238E27FC236}">
                <a16:creationId xmlns:a16="http://schemas.microsoft.com/office/drawing/2014/main" id="{311ADEBB-89ED-41AD-AA5B-11B5F17DF1C9}"/>
              </a:ext>
            </a:extLst>
          </p:cNvPr>
          <p:cNvSpPr>
            <a:spLocks xmlns:a="http://schemas.openxmlformats.org/drawingml/2006/main" noGrp="1"/>
          </p:cNvSpPr>
          <p:nvPr/>
        </p:nvSpPr>
        <p:spPr>
          <a:xfrm xmlns:a="http://schemas.openxmlformats.org/drawingml/2006/main">
            <a:off x="371475" y="1371600"/>
            <a:ext cx="32385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Method workflow</a:t>
            </a:r>
          </a:p>
        </p:txBody>
      </p:sp>
      <p:sp>
        <p:nvSpPr>
          <p:cNvPr id="323" name="Google Shape;323;p16">
            <a:extLst xmlns:a="http://schemas.openxmlformats.org/drawingml/2006/main">
              <a:ext uri="{FF2B5EF4-FFF2-40B4-BE49-F238E27FC236}">
                <a16:creationId xmlns:a16="http://schemas.microsoft.com/office/drawing/2014/main" id="{57610EF3-3BAB-4FF2-8FD8-B17E2FD1ABF8}"/>
              </a:ext>
            </a:extLst>
          </p:cNvPr>
          <p:cNvSpPr>
            <a:spLocks xmlns:a="http://schemas.openxmlformats.org/drawingml/2006/main" noGrp="1"/>
          </p:cNvSpPr>
          <p:nvPr/>
        </p:nvSpPr>
        <p:spPr>
          <a:xfrm xmlns:a="http://schemas.openxmlformats.org/drawingml/2006/main">
            <a:off x="4010025" y="1371600"/>
            <a:ext cx="4152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75" b="1" i="0" u="none" cap="none">
                <a:solidFill>
                  <a:srgbClr val="1F497D"/>
                </a:solidFill>
                <a:latin typeface="Arial"/>
                <a:ea typeface="Arial"/>
                <a:cs typeface="Arial"/>
              </a:rPr>
              <a:t>Proposed methods</a:t>
            </a:r>
          </a:p>
        </p:txBody>
      </p:sp>
      <p:sp>
        <p:nvSpPr>
          <p:cNvPr id="324" name="Google Shape;324;p16">
            <a:extLst xmlns:a="http://schemas.openxmlformats.org/drawingml/2006/main">
              <a:ext uri="{FF2B5EF4-FFF2-40B4-BE49-F238E27FC236}">
                <a16:creationId xmlns:a16="http://schemas.microsoft.com/office/drawing/2014/main" id="{3D60AE36-E570-4A25-B191-9745633226A8}"/>
              </a:ext>
            </a:extLst>
          </p:cNvPr>
          <p:cNvSpPr>
            <a:spLocks xmlns:a="http://schemas.openxmlformats.org/drawingml/2006/main" noGrp="1"/>
          </p:cNvSpPr>
          <p:nvPr/>
        </p:nvSpPr>
        <p:spPr>
          <a:xfrm xmlns:a="http://schemas.openxmlformats.org/drawingml/2006/main">
            <a:off x="8174125" y="1357413"/>
            <a:ext cx="3219600" cy="29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Technology stack</a:t>
            </a:r>
            <a:endParaRPr/>
          </a:p>
        </p:txBody>
      </p:sp>
      <p:sp>
        <p:nvSpPr>
          <p:cNvPr id="325" name="Google Shape;325;p16">
            <a:extLst xmlns:a="http://schemas.openxmlformats.org/drawingml/2006/main">
              <a:ext uri="{FF2B5EF4-FFF2-40B4-BE49-F238E27FC236}">
                <a16:creationId xmlns:a16="http://schemas.microsoft.com/office/drawing/2014/main" id="{7E2DD7FD-4E18-4F06-87CE-563D204DDEE5}"/>
              </a:ext>
            </a:extLst>
          </p:cNvPr>
          <p:cNvSpPr>
            <a:spLocks xmlns:a="http://schemas.openxmlformats.org/drawingml/2006/main" noGrp="1"/>
          </p:cNvSpPr>
          <p:nvPr/>
        </p:nvSpPr>
        <p:spPr>
          <a:xfrm xmlns:a="http://schemas.openxmlformats.org/drawingml/2006/main">
            <a:off x="590550" y="1866900"/>
            <a:ext cx="2819400" cy="409575"/>
          </a:xfrm>
          <a:prstGeom xmlns:a="http://schemas.openxmlformats.org/drawingml/2006/main" prst="roundRect">
            <a:avLst>
              <a:gd name="adj" fmla="val 18605"/>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6" name="Google Shape;326;p16">
            <a:extLst xmlns:a="http://schemas.openxmlformats.org/drawingml/2006/main">
              <a:ext uri="{FF2B5EF4-FFF2-40B4-BE49-F238E27FC236}">
                <a16:creationId xmlns:a16="http://schemas.microsoft.com/office/drawing/2014/main" id="{E419BB5E-4119-414F-84AF-41E84C7E7AD4}"/>
              </a:ext>
            </a:extLst>
          </p:cNvPr>
          <p:cNvSpPr>
            <a:spLocks xmlns:a="http://schemas.openxmlformats.org/drawingml/2006/main" noGrp="1"/>
          </p:cNvSpPr>
          <p:nvPr/>
        </p:nvSpPr>
        <p:spPr>
          <a:xfrm xmlns:a="http://schemas.openxmlformats.org/drawingml/2006/main">
            <a:off x="676275" y="1933575"/>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Wallet + asset + cutoff time</a:t>
            </a:r>
          </a:p>
        </p:txBody>
      </p:sp>
      <p:sp>
        <p:nvSpPr>
          <p:cNvPr id="327" name="Google Shape;327;p16">
            <a:extLst xmlns:a="http://schemas.openxmlformats.org/drawingml/2006/main">
              <a:ext uri="{FF2B5EF4-FFF2-40B4-BE49-F238E27FC236}">
                <a16:creationId xmlns:a16="http://schemas.microsoft.com/office/drawing/2014/main" id="{561CD5B1-5D40-407D-8AAE-8352E1A1E781}"/>
              </a:ext>
            </a:extLst>
          </p:cNvPr>
          <p:cNvSpPr>
            <a:spLocks xmlns:a="http://schemas.openxmlformats.org/drawingml/2006/main" noGrp="1"/>
          </p:cNvSpPr>
          <p:nvPr/>
        </p:nvSpPr>
        <p:spPr>
          <a:xfrm xmlns:a="http://schemas.openxmlformats.org/drawingml/2006/main">
            <a:off x="590550" y="2581275"/>
            <a:ext cx="2819400" cy="409575"/>
          </a:xfrm>
          <a:prstGeom xmlns:a="http://schemas.openxmlformats.org/drawingml/2006/main" prst="roundRect">
            <a:avLst>
              <a:gd name="adj" fmla="val 18605"/>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8" name="Google Shape;328;p16">
            <a:extLst xmlns:a="http://schemas.openxmlformats.org/drawingml/2006/main">
              <a:ext uri="{FF2B5EF4-FFF2-40B4-BE49-F238E27FC236}">
                <a16:creationId xmlns:a16="http://schemas.microsoft.com/office/drawing/2014/main" id="{9C055E41-4D6A-4D6A-A424-36A5E28BDAC7}"/>
              </a:ext>
            </a:extLst>
          </p:cNvPr>
          <p:cNvSpPr>
            <a:spLocks xmlns:a="http://schemas.openxmlformats.org/drawingml/2006/main" noGrp="1"/>
          </p:cNvSpPr>
          <p:nvPr/>
        </p:nvSpPr>
        <p:spPr>
          <a:xfrm xmlns:a="http://schemas.openxmlformats.org/drawingml/2006/main">
            <a:off x="676275" y="2647950"/>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Acquire events + service anchors</a:t>
            </a:r>
          </a:p>
        </p:txBody>
      </p:sp>
      <p:cxnSp>
        <p:nvCxnSpPr>
          <p:cNvPr id="477" name="Google Shape;329;p16"/>
          <p:cNvCxnSpPr>
            <a:stCxn xmlns:a="http://schemas.openxmlformats.org/drawingml/2006/main" id="325" idx="2"/>
            <a:endCxn xmlns:a="http://schemas.openxmlformats.org/drawingml/2006/main" id="327" idx="0"/>
          </p:cNvCxnSpPr>
          <p:nvPr/>
        </p:nvCxnSpPr>
        <p:spPr>
          <a:xfrm xmlns:a="http://schemas.openxmlformats.org/drawingml/2006/main">
            <a:off x="2000250" y="2276475"/>
            <a:ext cx="0" cy="3048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30" name="Google Shape;330;p16">
            <a:extLst xmlns:a="http://schemas.openxmlformats.org/drawingml/2006/main">
              <a:ext uri="{FF2B5EF4-FFF2-40B4-BE49-F238E27FC236}">
                <a16:creationId xmlns:a16="http://schemas.microsoft.com/office/drawing/2014/main" id="{BEE9796E-4D29-4AA7-BC52-A850D4A4DD17}"/>
              </a:ext>
            </a:extLst>
          </p:cNvPr>
          <p:cNvSpPr>
            <a:spLocks xmlns:a="http://schemas.openxmlformats.org/drawingml/2006/main" noGrp="1"/>
          </p:cNvSpPr>
          <p:nvPr/>
        </p:nvSpPr>
        <p:spPr>
          <a:xfrm xmlns:a="http://schemas.openxmlformats.org/drawingml/2006/main">
            <a:off x="323850" y="3429000"/>
            <a:ext cx="1000125" cy="552450"/>
          </a:xfrm>
          <a:prstGeom xmlns:a="http://schemas.openxmlformats.org/drawingml/2006/main" prst="roundRect">
            <a:avLst>
              <a:gd name="adj" fmla="val 13793"/>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1" name="Google Shape;331;p16">
            <a:extLst xmlns:a="http://schemas.openxmlformats.org/drawingml/2006/main">
              <a:ext uri="{FF2B5EF4-FFF2-40B4-BE49-F238E27FC236}">
                <a16:creationId xmlns:a16="http://schemas.microsoft.com/office/drawing/2014/main" id="{52E597AD-69A4-4C41-B747-B5F56617ECAE}"/>
              </a:ext>
            </a:extLst>
          </p:cNvPr>
          <p:cNvSpPr>
            <a:spLocks xmlns:a="http://schemas.openxmlformats.org/drawingml/2006/main" noGrp="1"/>
          </p:cNvSpPr>
          <p:nvPr/>
        </p:nvSpPr>
        <p:spPr>
          <a:xfrm xmlns:a="http://schemas.openxmlformats.org/drawingml/2006/main">
            <a:off x="40957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Transfer</a:t>
            </a: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graph</a:t>
            </a:r>
          </a:p>
        </p:txBody>
      </p:sp>
      <p:sp>
        <p:nvSpPr>
          <p:cNvPr id="332" name="Google Shape;332;p16">
            <a:extLst xmlns:a="http://schemas.openxmlformats.org/drawingml/2006/main">
              <a:ext uri="{FF2B5EF4-FFF2-40B4-BE49-F238E27FC236}">
                <a16:creationId xmlns:a16="http://schemas.microsoft.com/office/drawing/2014/main" id="{A3067DE5-5642-47B8-82A4-6BB755E38FBA}"/>
              </a:ext>
            </a:extLst>
          </p:cNvPr>
          <p:cNvSpPr>
            <a:spLocks xmlns:a="http://schemas.openxmlformats.org/drawingml/2006/main" noGrp="1"/>
          </p:cNvSpPr>
          <p:nvPr/>
        </p:nvSpPr>
        <p:spPr>
          <a:xfrm xmlns:a="http://schemas.openxmlformats.org/drawingml/2006/main">
            <a:off x="1495425" y="3429000"/>
            <a:ext cx="1000125" cy="552450"/>
          </a:xfrm>
          <a:prstGeom xmlns:a="http://schemas.openxmlformats.org/drawingml/2006/main" prst="roundRect">
            <a:avLst>
              <a:gd name="adj" fmla="val 13793"/>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3" name="Google Shape;333;p16">
            <a:extLst xmlns:a="http://schemas.openxmlformats.org/drawingml/2006/main">
              <a:ext uri="{FF2B5EF4-FFF2-40B4-BE49-F238E27FC236}">
                <a16:creationId xmlns:a16="http://schemas.microsoft.com/office/drawing/2014/main" id="{C552A407-9123-4BD4-868C-CAC2A1E4EFDD}"/>
              </a:ext>
            </a:extLst>
          </p:cNvPr>
          <p:cNvSpPr>
            <a:spLocks xmlns:a="http://schemas.openxmlformats.org/drawingml/2006/main" noGrp="1"/>
          </p:cNvSpPr>
          <p:nvPr/>
        </p:nvSpPr>
        <p:spPr>
          <a:xfrm xmlns:a="http://schemas.openxmlformats.org/drawingml/2006/main">
            <a:off x="1581150"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Service</a:t>
            </a: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links</a:t>
            </a:r>
          </a:p>
        </p:txBody>
      </p:sp>
      <p:sp>
        <p:nvSpPr>
          <p:cNvPr id="334" name="Google Shape;334;p16">
            <a:extLst xmlns:a="http://schemas.openxmlformats.org/drawingml/2006/main">
              <a:ext uri="{FF2B5EF4-FFF2-40B4-BE49-F238E27FC236}">
                <a16:creationId xmlns:a16="http://schemas.microsoft.com/office/drawing/2014/main" id="{2F5F29D5-39DE-4E7D-97BF-5807787391B8}"/>
              </a:ext>
            </a:extLst>
          </p:cNvPr>
          <p:cNvSpPr>
            <a:spLocks xmlns:a="http://schemas.openxmlformats.org/drawingml/2006/main" noGrp="1"/>
          </p:cNvSpPr>
          <p:nvPr/>
        </p:nvSpPr>
        <p:spPr>
          <a:xfrm xmlns:a="http://schemas.openxmlformats.org/drawingml/2006/main">
            <a:off x="2667000" y="3429000"/>
            <a:ext cx="1000125" cy="552450"/>
          </a:xfrm>
          <a:prstGeom xmlns:a="http://schemas.openxmlformats.org/drawingml/2006/main" prst="roundRect">
            <a:avLst>
              <a:gd name="adj" fmla="val 13793"/>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5" name="Google Shape;335;p16">
            <a:extLst xmlns:a="http://schemas.openxmlformats.org/drawingml/2006/main">
              <a:ext uri="{FF2B5EF4-FFF2-40B4-BE49-F238E27FC236}">
                <a16:creationId xmlns:a16="http://schemas.microsoft.com/office/drawing/2014/main" id="{AA19449C-D170-4976-80F2-3193F5B12700}"/>
              </a:ext>
            </a:extLst>
          </p:cNvPr>
          <p:cNvSpPr>
            <a:spLocks xmlns:a="http://schemas.openxmlformats.org/drawingml/2006/main" noGrp="1"/>
          </p:cNvSpPr>
          <p:nvPr/>
        </p:nvSpPr>
        <p:spPr>
          <a:xfrm xmlns:a="http://schemas.openxmlformats.org/drawingml/2006/main">
            <a:off x="275272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Proofs /</a:t>
            </a: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gaps</a:t>
            </a:r>
          </a:p>
        </p:txBody>
      </p:sp>
      <p:cxnSp>
        <p:nvCxnSpPr>
          <p:cNvPr id="484" name="Google Shape;336;p16"/>
          <p:cNvCxnSpPr>
            <a:stCxn xmlns:a="http://schemas.openxmlformats.org/drawingml/2006/main" id="327" idx="2"/>
            <a:endCxn xmlns:a="http://schemas.openxmlformats.org/drawingml/2006/main" id="330" idx="0"/>
          </p:cNvCxnSpPr>
          <p:nvPr/>
        </p:nvCxnSpPr>
        <p:spPr>
          <a:xfrm xmlns:a="http://schemas.openxmlformats.org/drawingml/2006/main" rot="5400000">
            <a:off x="1192950" y="2621850"/>
            <a:ext cx="4383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85" name="Google Shape;337;p16"/>
          <p:cNvCxnSpPr>
            <a:stCxn xmlns:a="http://schemas.openxmlformats.org/drawingml/2006/main" id="327" idx="2"/>
            <a:endCxn xmlns:a="http://schemas.openxmlformats.org/drawingml/2006/main" id="332" idx="0"/>
          </p:cNvCxnSpPr>
          <p:nvPr/>
        </p:nvCxnSpPr>
        <p:spPr>
          <a:xfrm xmlns:a="http://schemas.openxmlformats.org/drawingml/2006/main" rot="5400000">
            <a:off x="1778700" y="3207600"/>
            <a:ext cx="438300" cy="4800"/>
          </a:xfrm>
          <a:prstGeom xmlns:a="http://schemas.openxmlformats.org/drawingml/2006/main" prst="bentConnector4">
            <a:avLst>
              <a:gd name="adj1" fmla="val 0"/>
              <a:gd name="adj2" fmla="val -21"/>
            </a:avLst>
          </a:prstGeom>
          <a:ln xmlns:a="http://schemas.openxmlformats.org/drawingml/2006/main" w="19050" cap="flat">
            <a:solidFill>
              <a:srgbClr val="4BACC6"/>
            </a:solidFill>
            <a:prstDash val="solid"/>
            <a:round/>
            <a:headEnd type="none" w="sm" len="sm"/>
            <a:tailEnd type="triangle" w="sm" len="sm"/>
          </a:ln>
        </p:spPr>
      </p:cxnSp>
      <p:cxnSp>
        <p:nvCxnSpPr>
          <p:cNvPr id="486" name="Google Shape;338;p16"/>
          <p:cNvCxnSpPr>
            <a:stCxn xmlns:a="http://schemas.openxmlformats.org/drawingml/2006/main" id="327" idx="2"/>
            <a:endCxn xmlns:a="http://schemas.openxmlformats.org/drawingml/2006/main" id="334" idx="0"/>
          </p:cNvCxnSpPr>
          <p:nvPr/>
        </p:nvCxnSpPr>
        <p:spPr>
          <a:xfrm xmlns:a="http://schemas.openxmlformats.org/drawingml/2006/main" rot="-5400000" flipH="1">
            <a:off x="2364450" y="2626650"/>
            <a:ext cx="4383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39" name="Google Shape;339;p16">
            <a:extLst xmlns:a="http://schemas.openxmlformats.org/drawingml/2006/main">
              <a:ext uri="{FF2B5EF4-FFF2-40B4-BE49-F238E27FC236}">
                <a16:creationId xmlns:a16="http://schemas.microsoft.com/office/drawing/2014/main" id="{82122765-61F3-495D-AF7B-A5163845A959}"/>
              </a:ext>
            </a:extLst>
          </p:cNvPr>
          <p:cNvSpPr>
            <a:spLocks xmlns:a="http://schemas.openxmlformats.org/drawingml/2006/main" noGrp="1"/>
          </p:cNvSpPr>
          <p:nvPr/>
        </p:nvSpPr>
        <p:spPr>
          <a:xfrm xmlns:a="http://schemas.openxmlformats.org/drawingml/2006/main">
            <a:off x="466725" y="4410075"/>
            <a:ext cx="3067050" cy="457200"/>
          </a:xfrm>
          <a:prstGeom xmlns:a="http://schemas.openxmlformats.org/drawingml/2006/main" prst="roundRect">
            <a:avLst>
              <a:gd name="adj" fmla="val 16667"/>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16">
            <a:extLst xmlns:a="http://schemas.openxmlformats.org/drawingml/2006/main">
              <a:ext uri="{FF2B5EF4-FFF2-40B4-BE49-F238E27FC236}">
                <a16:creationId xmlns:a16="http://schemas.microsoft.com/office/drawing/2014/main" id="{A734AE50-3185-45F8-B122-7905D34E31BF}"/>
              </a:ext>
            </a:extLst>
          </p:cNvPr>
          <p:cNvSpPr>
            <a:spLocks xmlns:a="http://schemas.openxmlformats.org/drawingml/2006/main" noGrp="1"/>
          </p:cNvSpPr>
          <p:nvPr/>
        </p:nvSpPr>
        <p:spPr>
          <a:xfrm xmlns:a="http://schemas.openxmlformats.org/drawingml/2006/main">
            <a:off x="552450" y="4476750"/>
            <a:ext cx="2895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Time-respecting first-custody search</a:t>
            </a:r>
          </a:p>
        </p:txBody>
      </p:sp>
      <p:cxnSp>
        <p:nvCxnSpPr>
          <p:cNvPr id="489" name="Google Shape;341;p16"/>
          <p:cNvCxnSpPr>
            <a:stCxn xmlns:a="http://schemas.openxmlformats.org/drawingml/2006/main" id="330" idx="2"/>
            <a:endCxn xmlns:a="http://schemas.openxmlformats.org/drawingml/2006/main" id="339" idx="0"/>
          </p:cNvCxnSpPr>
          <p:nvPr/>
        </p:nvCxnSpPr>
        <p:spPr>
          <a:xfrm xmlns:a="http://schemas.openxmlformats.org/drawingml/2006/main" rot="-5400000" flipH="1">
            <a:off x="1197713" y="3607650"/>
            <a:ext cx="4287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90" name="Google Shape;342;p16"/>
          <p:cNvCxnSpPr>
            <a:stCxn xmlns:a="http://schemas.openxmlformats.org/drawingml/2006/main" id="332" idx="2"/>
            <a:endCxn xmlns:a="http://schemas.openxmlformats.org/drawingml/2006/main" id="339" idx="0"/>
          </p:cNvCxnSpPr>
          <p:nvPr/>
        </p:nvCxnSpPr>
        <p:spPr>
          <a:xfrm xmlns:a="http://schemas.openxmlformats.org/drawingml/2006/main" rot="-5400000" flipH="1">
            <a:off x="1783538" y="4193400"/>
            <a:ext cx="428700" cy="4800"/>
          </a:xfrm>
          <a:prstGeom xmlns:a="http://schemas.openxmlformats.org/drawingml/2006/main" prst="bentConnector4">
            <a:avLst>
              <a:gd name="adj1" fmla="val 0"/>
              <a:gd name="adj2" fmla="val 10"/>
            </a:avLst>
          </a:prstGeom>
          <a:ln xmlns:a="http://schemas.openxmlformats.org/drawingml/2006/main" w="19050" cap="flat">
            <a:solidFill>
              <a:srgbClr val="4BACC6"/>
            </a:solidFill>
            <a:prstDash val="solid"/>
            <a:round/>
            <a:headEnd type="none" w="sm" len="sm"/>
            <a:tailEnd type="triangle" w="sm" len="sm"/>
          </a:ln>
        </p:spPr>
      </p:cxnSp>
      <p:cxnSp>
        <p:nvCxnSpPr>
          <p:cNvPr id="491" name="Google Shape;343;p16"/>
          <p:cNvCxnSpPr>
            <a:stCxn xmlns:a="http://schemas.openxmlformats.org/drawingml/2006/main" id="334" idx="2"/>
            <a:endCxn xmlns:a="http://schemas.openxmlformats.org/drawingml/2006/main" id="339" idx="0"/>
          </p:cNvCxnSpPr>
          <p:nvPr/>
        </p:nvCxnSpPr>
        <p:spPr>
          <a:xfrm xmlns:a="http://schemas.openxmlformats.org/drawingml/2006/main" rot="5400000">
            <a:off x="2369363" y="3612450"/>
            <a:ext cx="4287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44" name="Google Shape;344;p16">
            <a:extLst xmlns:a="http://schemas.openxmlformats.org/drawingml/2006/main">
              <a:ext uri="{FF2B5EF4-FFF2-40B4-BE49-F238E27FC236}">
                <a16:creationId xmlns:a16="http://schemas.microsoft.com/office/drawing/2014/main" id="{2587F797-7FBB-4F1B-ADDB-4A01925BA5BB}"/>
              </a:ext>
            </a:extLst>
          </p:cNvPr>
          <p:cNvSpPr>
            <a:spLocks xmlns:a="http://schemas.openxmlformats.org/drawingml/2006/main" noGrp="1"/>
          </p:cNvSpPr>
          <p:nvPr/>
        </p:nvSpPr>
        <p:spPr>
          <a:xfrm xmlns:a="http://schemas.openxmlformats.org/drawingml/2006/main">
            <a:off x="466725" y="5238750"/>
            <a:ext cx="3067050" cy="419100"/>
          </a:xfrm>
          <a:prstGeom xmlns:a="http://schemas.openxmlformats.org/drawingml/2006/main" prst="roundRect">
            <a:avLst>
              <a:gd name="adj" fmla="val 18182"/>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16">
            <a:extLst xmlns:a="http://schemas.openxmlformats.org/drawingml/2006/main">
              <a:ext uri="{FF2B5EF4-FFF2-40B4-BE49-F238E27FC236}">
                <a16:creationId xmlns:a16="http://schemas.microsoft.com/office/drawing/2014/main" id="{CBAED287-768C-4B3D-9A04-017B9616783B}"/>
              </a:ext>
            </a:extLst>
          </p:cNvPr>
          <p:cNvSpPr>
            <a:spLocks xmlns:a="http://schemas.openxmlformats.org/drawingml/2006/main" noGrp="1"/>
          </p:cNvSpPr>
          <p:nvPr/>
        </p:nvSpPr>
        <p:spPr>
          <a:xfrm xmlns:a="http://schemas.openxmlformats.org/drawingml/2006/main">
            <a:off x="552450" y="5305425"/>
            <a:ext cx="2895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Service + deposit role + evidence</a:t>
            </a:r>
          </a:p>
        </p:txBody>
      </p:sp>
      <p:cxnSp>
        <p:nvCxnSpPr>
          <p:cNvPr id="494" name="Google Shape;346;p16"/>
          <p:cNvCxnSpPr>
            <a:stCxn xmlns:a="http://schemas.openxmlformats.org/drawingml/2006/main" id="339" idx="2"/>
            <a:endCxn xmlns:a="http://schemas.openxmlformats.org/drawingml/2006/main" id="344" idx="0"/>
          </p:cNvCxnSpPr>
          <p:nvPr/>
        </p:nvCxnSpPr>
        <p:spPr>
          <a:xfrm xmlns:a="http://schemas.openxmlformats.org/drawingml/2006/main">
            <a:off x="2000250" y="4867275"/>
            <a:ext cx="0" cy="3714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47" name="Google Shape;347;p16">
            <a:extLst xmlns:a="http://schemas.openxmlformats.org/drawingml/2006/main">
              <a:ext uri="{FF2B5EF4-FFF2-40B4-BE49-F238E27FC236}">
                <a16:creationId xmlns:a16="http://schemas.microsoft.com/office/drawing/2014/main" id="{DD62424A-60AA-4295-B3A0-1BEB26E983D5}"/>
              </a:ext>
            </a:extLst>
          </p:cNvPr>
          <p:cNvSpPr>
            <a:spLocks xmlns:a="http://schemas.openxmlformats.org/drawingml/2006/main" noGrp="1"/>
          </p:cNvSpPr>
          <p:nvPr/>
        </p:nvSpPr>
        <p:spPr>
          <a:xfrm xmlns:a="http://schemas.openxmlformats.org/drawingml/2006/main">
            <a:off x="4010025" y="1857375"/>
            <a:ext cx="304800" cy="304800"/>
          </a:xfrm>
          <a:prstGeom xmlns:a="http://schemas.openxmlformats.org/drawingml/2006/main" prst="roundRect">
            <a:avLst>
              <a:gd name="adj" fmla="val 25000"/>
            </a:avLst>
          </a:prstGeom>
          <a:solidFill xmlns:a="http://schemas.openxmlformats.org/drawingml/2006/main">
            <a:srgbClr val="C0504D"/>
          </a:solidFill>
          <a:ln xmlns:a="http://schemas.openxmlformats.org/drawingml/2006/main" w="9525" cmpd="sng">
            <a:solidFill>
              <a:srgbClr val="C050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8" name="Google Shape;348;p16">
            <a:extLst xmlns:a="http://schemas.openxmlformats.org/drawingml/2006/main">
              <a:ext uri="{FF2B5EF4-FFF2-40B4-BE49-F238E27FC236}">
                <a16:creationId xmlns:a16="http://schemas.microsoft.com/office/drawing/2014/main" id="{F884A16F-7151-4FC5-94FA-6C5FC24E3150}"/>
              </a:ext>
            </a:extLst>
          </p:cNvPr>
          <p:cNvSpPr>
            <a:spLocks xmlns:a="http://schemas.openxmlformats.org/drawingml/2006/main" noGrp="1"/>
          </p:cNvSpPr>
          <p:nvPr/>
        </p:nvSpPr>
        <p:spPr>
          <a:xfrm xmlns:a="http://schemas.openxmlformats.org/drawingml/2006/main">
            <a:off x="4057650" y="19050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1</a:t>
            </a:r>
            <a:endParaRPr/>
          </a:p>
        </p:txBody>
      </p:sp>
      <p:sp>
        <p:nvSpPr>
          <p:cNvPr id="349" name="Google Shape;349;p16">
            <a:extLst xmlns:a="http://schemas.openxmlformats.org/drawingml/2006/main">
              <a:ext uri="{FF2B5EF4-FFF2-40B4-BE49-F238E27FC236}">
                <a16:creationId xmlns:a16="http://schemas.microsoft.com/office/drawing/2014/main" id="{2E196BC4-976A-4AC0-AFB7-53C2C7D156A1}"/>
              </a:ext>
            </a:extLst>
          </p:cNvPr>
          <p:cNvSpPr>
            <a:spLocks xmlns:a="http://schemas.openxmlformats.org/drawingml/2006/main" noGrp="1"/>
          </p:cNvSpPr>
          <p:nvPr/>
        </p:nvSpPr>
        <p:spPr>
          <a:xfrm xmlns:a="http://schemas.openxmlformats.org/drawingml/2006/main">
            <a:off x="4457700" y="18288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Separate movement and control</a:t>
            </a:r>
          </a:p>
        </p:txBody>
      </p:sp>
      <p:sp>
        <p:nvSpPr>
          <p:cNvPr id="350" name="Google Shape;350;p16">
            <a:extLst xmlns:a="http://schemas.openxmlformats.org/drawingml/2006/main">
              <a:ext uri="{FF2B5EF4-FFF2-40B4-BE49-F238E27FC236}">
                <a16:creationId xmlns:a16="http://schemas.microsoft.com/office/drawing/2014/main" id="{82C9CFCD-4B46-4BED-AB70-D7BE107A7BA0}"/>
              </a:ext>
            </a:extLst>
          </p:cNvPr>
          <p:cNvSpPr>
            <a:spLocks xmlns:a="http://schemas.openxmlformats.org/drawingml/2006/main" noGrp="1"/>
          </p:cNvSpPr>
          <p:nvPr/>
        </p:nvSpPr>
        <p:spPr>
          <a:xfrm xmlns:a="http://schemas.openxmlformats.org/drawingml/2006/main">
            <a:off x="4457700" y="20859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Ledger events define the transfer graph.</a:t>
            </a: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Service links retain sources and conditions.</a:t>
            </a:r>
          </a:p>
        </p:txBody>
      </p:sp>
      <p:sp>
        <p:nvSpPr>
          <p:cNvPr id="351" name="Google Shape;351;p16">
            <a:extLst xmlns:a="http://schemas.openxmlformats.org/drawingml/2006/main">
              <a:ext uri="{FF2B5EF4-FFF2-40B4-BE49-F238E27FC236}">
                <a16:creationId xmlns:a16="http://schemas.microsoft.com/office/drawing/2014/main" id="{976C8CDF-98EE-45A8-8107-CA3C999D1556}"/>
              </a:ext>
            </a:extLst>
          </p:cNvPr>
          <p:cNvSpPr>
            <a:spLocks xmlns:a="http://schemas.openxmlformats.org/drawingml/2006/main" noGrp="1"/>
          </p:cNvSpPr>
          <p:nvPr/>
        </p:nvSpPr>
        <p:spPr>
          <a:xfrm xmlns:a="http://schemas.openxmlformats.org/drawingml/2006/main">
            <a:off x="4010025" y="2514600"/>
            <a:ext cx="304800" cy="304800"/>
          </a:xfrm>
          <a:prstGeom xmlns:a="http://schemas.openxmlformats.org/drawingml/2006/main" prst="roundRect">
            <a:avLst>
              <a:gd name="adj" fmla="val 25000"/>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2" name="Google Shape;352;p16">
            <a:extLst xmlns:a="http://schemas.openxmlformats.org/drawingml/2006/main">
              <a:ext uri="{FF2B5EF4-FFF2-40B4-BE49-F238E27FC236}">
                <a16:creationId xmlns:a16="http://schemas.microsoft.com/office/drawing/2014/main" id="{31940C77-C088-48E4-B3DC-FDA9C1C47D2B}"/>
              </a:ext>
            </a:extLst>
          </p:cNvPr>
          <p:cNvSpPr>
            <a:spLocks xmlns:a="http://schemas.openxmlformats.org/drawingml/2006/main" noGrp="1"/>
          </p:cNvSpPr>
          <p:nvPr/>
        </p:nvSpPr>
        <p:spPr>
          <a:xfrm xmlns:a="http://schemas.openxmlformats.org/drawingml/2006/main">
            <a:off x="4057650" y="25622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2</a:t>
            </a:r>
            <a:endParaRPr/>
          </a:p>
        </p:txBody>
      </p:sp>
      <p:sp>
        <p:nvSpPr>
          <p:cNvPr id="353" name="Google Shape;353;p16">
            <a:extLst xmlns:a="http://schemas.openxmlformats.org/drawingml/2006/main">
              <a:ext uri="{FF2B5EF4-FFF2-40B4-BE49-F238E27FC236}">
                <a16:creationId xmlns:a16="http://schemas.microsoft.com/office/drawing/2014/main" id="{A8E45F1A-61CD-4166-9623-AAD903C3F9BE}"/>
              </a:ext>
            </a:extLst>
          </p:cNvPr>
          <p:cNvSpPr>
            <a:spLocks xmlns:a="http://schemas.openxmlformats.org/drawingml/2006/main" noGrp="1"/>
          </p:cNvSpPr>
          <p:nvPr/>
        </p:nvSpPr>
        <p:spPr>
          <a:xfrm xmlns:a="http://schemas.openxmlformats.org/drawingml/2006/main">
            <a:off x="4457700" y="24860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EVM deposit candidates [1, 2]</a:t>
            </a:r>
          </a:p>
        </p:txBody>
      </p:sp>
      <p:sp>
        <p:nvSpPr>
          <p:cNvPr id="354" name="Google Shape;354;p16">
            <a:extLst xmlns:a="http://schemas.openxmlformats.org/drawingml/2006/main">
              <a:ext uri="{FF2B5EF4-FFF2-40B4-BE49-F238E27FC236}">
                <a16:creationId xmlns:a16="http://schemas.microsoft.com/office/drawing/2014/main" id="{D3A0F70C-7EC8-4A4B-A877-9AA4462A451E}"/>
              </a:ext>
            </a:extLst>
          </p:cNvPr>
          <p:cNvSpPr>
            <a:spLocks xmlns:a="http://schemas.openxmlformats.org/drawingml/2006/main" noGrp="1"/>
          </p:cNvSpPr>
          <p:nvPr/>
        </p:nvSpPr>
        <p:spPr>
          <a:xfrm xmlns:a="http://schemas.openxmlformats.org/drawingml/2006/main">
            <a:off x="4457700" y="27432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Repeated sweeps to a named hot wallet.</a:t>
            </a: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Service gas funding adds corroboration.</a:t>
            </a:r>
          </a:p>
        </p:txBody>
      </p:sp>
      <p:sp>
        <p:nvSpPr>
          <p:cNvPr id="355" name="Google Shape;355;p16">
            <a:extLst xmlns:a="http://schemas.openxmlformats.org/drawingml/2006/main">
              <a:ext uri="{FF2B5EF4-FFF2-40B4-BE49-F238E27FC236}">
                <a16:creationId xmlns:a16="http://schemas.microsoft.com/office/drawing/2014/main" id="{BC16882C-787C-4BBB-957B-5B12601663DE}"/>
              </a:ext>
            </a:extLst>
          </p:cNvPr>
          <p:cNvSpPr>
            <a:spLocks xmlns:a="http://schemas.openxmlformats.org/drawingml/2006/main" noGrp="1"/>
          </p:cNvSpPr>
          <p:nvPr/>
        </p:nvSpPr>
        <p:spPr>
          <a:xfrm xmlns:a="http://schemas.openxmlformats.org/drawingml/2006/main">
            <a:off x="4010025" y="3171825"/>
            <a:ext cx="304800" cy="304800"/>
          </a:xfrm>
          <a:prstGeom xmlns:a="http://schemas.openxmlformats.org/drawingml/2006/main" prst="roundRect">
            <a:avLst>
              <a:gd name="adj" fmla="val 25000"/>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6" name="Google Shape;356;p16">
            <a:extLst xmlns:a="http://schemas.openxmlformats.org/drawingml/2006/main">
              <a:ext uri="{FF2B5EF4-FFF2-40B4-BE49-F238E27FC236}">
                <a16:creationId xmlns:a16="http://schemas.microsoft.com/office/drawing/2014/main" id="{ED3ABC87-5DFC-4520-9471-D3147D6CE8A3}"/>
              </a:ext>
            </a:extLst>
          </p:cNvPr>
          <p:cNvSpPr>
            <a:spLocks xmlns:a="http://schemas.openxmlformats.org/drawingml/2006/main" noGrp="1"/>
          </p:cNvSpPr>
          <p:nvPr/>
        </p:nvSpPr>
        <p:spPr>
          <a:xfrm xmlns:a="http://schemas.openxmlformats.org/drawingml/2006/main">
            <a:off x="4057650" y="321945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3</a:t>
            </a:r>
            <a:endParaRPr/>
          </a:p>
        </p:txBody>
      </p:sp>
      <p:sp>
        <p:nvSpPr>
          <p:cNvPr id="357" name="Google Shape;357;p16">
            <a:extLst xmlns:a="http://schemas.openxmlformats.org/drawingml/2006/main">
              <a:ext uri="{FF2B5EF4-FFF2-40B4-BE49-F238E27FC236}">
                <a16:creationId xmlns:a16="http://schemas.microsoft.com/office/drawing/2014/main" id="{4A5322EC-A2D8-4454-B986-2FB785D4DD0C}"/>
              </a:ext>
            </a:extLst>
          </p:cNvPr>
          <p:cNvSpPr>
            <a:spLocks xmlns:a="http://schemas.openxmlformats.org/drawingml/2006/main" noGrp="1"/>
          </p:cNvSpPr>
          <p:nvPr/>
        </p:nvSpPr>
        <p:spPr>
          <a:xfrm xmlns:a="http://schemas.openxmlformats.org/drawingml/2006/main">
            <a:off x="4457700" y="314325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Bitcoin hypotheses [3, 6]</a:t>
            </a:r>
          </a:p>
        </p:txBody>
      </p:sp>
      <p:sp>
        <p:nvSpPr>
          <p:cNvPr id="358" name="Google Shape;358;p16">
            <a:extLst xmlns:a="http://schemas.openxmlformats.org/drawingml/2006/main">
              <a:ext uri="{FF2B5EF4-FFF2-40B4-BE49-F238E27FC236}">
                <a16:creationId xmlns:a16="http://schemas.microsoft.com/office/drawing/2014/main" id="{D8C85B60-D68D-4137-8DCC-4D647DE550B6}"/>
              </a:ext>
            </a:extLst>
          </p:cNvPr>
          <p:cNvSpPr>
            <a:spLocks xmlns:a="http://schemas.openxmlformats.org/drawingml/2006/main" noGrp="1"/>
          </p:cNvSpPr>
          <p:nvPr/>
        </p:nvSpPr>
        <p:spPr>
          <a:xfrm xmlns:a="http://schemas.openxmlformats.org/drawingml/2006/main">
            <a:off x="4457700" y="340042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Co-spend and unique peel continuation.</a:t>
            </a: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Hold ambiguous change / shared spends.</a:t>
            </a:r>
          </a:p>
        </p:txBody>
      </p:sp>
      <p:sp>
        <p:nvSpPr>
          <p:cNvPr id="359" name="Google Shape;359;p16">
            <a:extLst xmlns:a="http://schemas.openxmlformats.org/drawingml/2006/main">
              <a:ext uri="{FF2B5EF4-FFF2-40B4-BE49-F238E27FC236}">
                <a16:creationId xmlns:a16="http://schemas.microsoft.com/office/drawing/2014/main" id="{8727CD02-5DF2-4561-A8E2-FDC5956E6C6C}"/>
              </a:ext>
            </a:extLst>
          </p:cNvPr>
          <p:cNvSpPr>
            <a:spLocks xmlns:a="http://schemas.openxmlformats.org/drawingml/2006/main" noGrp="1"/>
          </p:cNvSpPr>
          <p:nvPr/>
        </p:nvSpPr>
        <p:spPr>
          <a:xfrm xmlns:a="http://schemas.openxmlformats.org/drawingml/2006/main">
            <a:off x="4010025" y="3829050"/>
            <a:ext cx="304800" cy="304800"/>
          </a:xfrm>
          <a:prstGeom xmlns:a="http://schemas.openxmlformats.org/drawingml/2006/main" prst="roundRect">
            <a:avLst>
              <a:gd name="adj" fmla="val 25000"/>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0" name="Google Shape;360;p16">
            <a:extLst xmlns:a="http://schemas.openxmlformats.org/drawingml/2006/main">
              <a:ext uri="{FF2B5EF4-FFF2-40B4-BE49-F238E27FC236}">
                <a16:creationId xmlns:a16="http://schemas.microsoft.com/office/drawing/2014/main" id="{E4AB2C30-D918-4875-8CAA-ABA04CAFA36E}"/>
              </a:ext>
            </a:extLst>
          </p:cNvPr>
          <p:cNvSpPr>
            <a:spLocks xmlns:a="http://schemas.openxmlformats.org/drawingml/2006/main" noGrp="1"/>
          </p:cNvSpPr>
          <p:nvPr/>
        </p:nvSpPr>
        <p:spPr>
          <a:xfrm xmlns:a="http://schemas.openxmlformats.org/drawingml/2006/main">
            <a:off x="4057650" y="387667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4</a:t>
            </a:r>
            <a:endParaRPr/>
          </a:p>
        </p:txBody>
      </p:sp>
      <p:sp>
        <p:nvSpPr>
          <p:cNvPr id="361" name="Google Shape;361;p16">
            <a:extLst xmlns:a="http://schemas.openxmlformats.org/drawingml/2006/main">
              <a:ext uri="{FF2B5EF4-FFF2-40B4-BE49-F238E27FC236}">
                <a16:creationId xmlns:a16="http://schemas.microsoft.com/office/drawing/2014/main" id="{480F1E62-79ED-4527-B2FE-3659D24D33D3}"/>
              </a:ext>
            </a:extLst>
          </p:cNvPr>
          <p:cNvSpPr>
            <a:spLocks xmlns:a="http://schemas.openxmlformats.org/drawingml/2006/main" noGrp="1"/>
          </p:cNvSpPr>
          <p:nvPr/>
        </p:nvSpPr>
        <p:spPr>
          <a:xfrm xmlns:a="http://schemas.openxmlformats.org/drawingml/2006/main">
            <a:off x="4457700" y="380047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Temporal first-custody search [4]</a:t>
            </a:r>
          </a:p>
        </p:txBody>
      </p:sp>
      <p:sp>
        <p:nvSpPr>
          <p:cNvPr id="362" name="Google Shape;362;p16">
            <a:extLst xmlns:a="http://schemas.openxmlformats.org/drawingml/2006/main">
              <a:ext uri="{FF2B5EF4-FFF2-40B4-BE49-F238E27FC236}">
                <a16:creationId xmlns:a16="http://schemas.microsoft.com/office/drawing/2014/main" id="{34576E30-E71A-4679-908C-318872A8AFEF}"/>
              </a:ext>
            </a:extLst>
          </p:cNvPr>
          <p:cNvSpPr>
            <a:spLocks xmlns:a="http://schemas.openxmlformats.org/drawingml/2006/main" noGrp="1"/>
          </p:cNvSpPr>
          <p:nvPr/>
        </p:nvSpPr>
        <p:spPr>
          <a:xfrm xmlns:a="http://schemas.openxmlformats.org/drawingml/2006/main">
            <a:off x="4457700" y="405765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Minimise transfer steps in ledger order.</a:t>
            </a: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Stop at custody; retain nearer unknowns.</a:t>
            </a:r>
          </a:p>
        </p:txBody>
      </p:sp>
      <p:sp>
        <p:nvSpPr>
          <p:cNvPr id="363" name="Google Shape;363;p16">
            <a:extLst xmlns:a="http://schemas.openxmlformats.org/drawingml/2006/main">
              <a:ext uri="{FF2B5EF4-FFF2-40B4-BE49-F238E27FC236}">
                <a16:creationId xmlns:a16="http://schemas.microsoft.com/office/drawing/2014/main" id="{0838A14F-754F-4C1E-98AE-C5FEB90B6A61}"/>
              </a:ext>
            </a:extLst>
          </p:cNvPr>
          <p:cNvSpPr>
            <a:spLocks xmlns:a="http://schemas.openxmlformats.org/drawingml/2006/main" noGrp="1"/>
          </p:cNvSpPr>
          <p:nvPr/>
        </p:nvSpPr>
        <p:spPr>
          <a:xfrm xmlns:a="http://schemas.openxmlformats.org/drawingml/2006/main">
            <a:off x="4010025" y="4486275"/>
            <a:ext cx="304800" cy="304800"/>
          </a:xfrm>
          <a:prstGeom xmlns:a="http://schemas.openxmlformats.org/drawingml/2006/main" prst="roundRect">
            <a:avLst>
              <a:gd name="adj" fmla="val 25000"/>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16">
            <a:extLst xmlns:a="http://schemas.openxmlformats.org/drawingml/2006/main">
              <a:ext uri="{FF2B5EF4-FFF2-40B4-BE49-F238E27FC236}">
                <a16:creationId xmlns:a16="http://schemas.microsoft.com/office/drawing/2014/main" id="{B6713E4B-0620-4B88-8948-017573319D04}"/>
              </a:ext>
            </a:extLst>
          </p:cNvPr>
          <p:cNvSpPr>
            <a:spLocks xmlns:a="http://schemas.openxmlformats.org/drawingml/2006/main" noGrp="1"/>
          </p:cNvSpPr>
          <p:nvPr/>
        </p:nvSpPr>
        <p:spPr>
          <a:xfrm xmlns:a="http://schemas.openxmlformats.org/drawingml/2006/main">
            <a:off x="4057650" y="45339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5</a:t>
            </a:r>
            <a:endParaRPr/>
          </a:p>
        </p:txBody>
      </p:sp>
      <p:sp>
        <p:nvSpPr>
          <p:cNvPr id="365" name="Google Shape;365;p16">
            <a:extLst xmlns:a="http://schemas.openxmlformats.org/drawingml/2006/main">
              <a:ext uri="{FF2B5EF4-FFF2-40B4-BE49-F238E27FC236}">
                <a16:creationId xmlns:a16="http://schemas.microsoft.com/office/drawing/2014/main" id="{3935DB5C-5CDE-4C6C-A0A6-C279ADE7D9F7}"/>
              </a:ext>
            </a:extLst>
          </p:cNvPr>
          <p:cNvSpPr>
            <a:spLocks xmlns:a="http://schemas.openxmlformats.org/drawingml/2006/main" noGrp="1"/>
          </p:cNvSpPr>
          <p:nvPr/>
        </p:nvSpPr>
        <p:spPr>
          <a:xfrm xmlns:a="http://schemas.openxmlformats.org/drawingml/2006/main">
            <a:off x="4457700" y="44577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Confidence needs validation [5]</a:t>
            </a:r>
          </a:p>
        </p:txBody>
      </p:sp>
      <p:sp>
        <p:nvSpPr>
          <p:cNvPr id="366" name="Google Shape;366;p16">
            <a:extLst xmlns:a="http://schemas.openxmlformats.org/drawingml/2006/main">
              <a:ext uri="{FF2B5EF4-FFF2-40B4-BE49-F238E27FC236}">
                <a16:creationId xmlns:a16="http://schemas.microsoft.com/office/drawing/2014/main" id="{F8AEF1A3-D7D9-4E48-B79D-E07114846B02}"/>
              </a:ext>
            </a:extLst>
          </p:cNvPr>
          <p:cNvSpPr>
            <a:spLocks xmlns:a="http://schemas.openxmlformats.org/drawingml/2006/main" noGrp="1"/>
          </p:cNvSpPr>
          <p:nvPr/>
        </p:nvSpPr>
        <p:spPr>
          <a:xfrm xmlns:a="http://schemas.openxmlformats.org/drawingml/2006/main">
            <a:off x="4457700" y="47148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Evidence grades now; no invented percent.</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Calibrate only on independent cases.</a:t>
            </a:r>
          </a:p>
        </p:txBody>
      </p:sp>
      <p:sp>
        <p:nvSpPr>
          <p:cNvPr id="367" name="Google Shape;367;p16">
            <a:extLst xmlns:a="http://schemas.openxmlformats.org/drawingml/2006/main">
              <a:ext uri="{FF2B5EF4-FFF2-40B4-BE49-F238E27FC236}">
                <a16:creationId xmlns:a16="http://schemas.microsoft.com/office/drawing/2014/main" id="{CB5F609C-A072-4172-8C99-138B3A6656ED}"/>
              </a:ext>
            </a:extLst>
          </p:cNvPr>
          <p:cNvSpPr>
            <a:spLocks xmlns:a="http://schemas.openxmlformats.org/drawingml/2006/main" noGrp="1"/>
          </p:cNvSpPr>
          <p:nvPr/>
        </p:nvSpPr>
        <p:spPr>
          <a:xfrm xmlns:a="http://schemas.openxmlformats.org/drawingml/2006/main">
            <a:off x="4010025" y="5143500"/>
            <a:ext cx="304800" cy="304800"/>
          </a:xfrm>
          <a:prstGeom xmlns:a="http://schemas.openxmlformats.org/drawingml/2006/main" prst="roundRect">
            <a:avLst>
              <a:gd name="adj" fmla="val 25000"/>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8" name="Google Shape;368;p16">
            <a:extLst xmlns:a="http://schemas.openxmlformats.org/drawingml/2006/main">
              <a:ext uri="{FF2B5EF4-FFF2-40B4-BE49-F238E27FC236}">
                <a16:creationId xmlns:a16="http://schemas.microsoft.com/office/drawing/2014/main" id="{BDF4A3DF-BBFD-4F80-99B5-5E66580B44C8}"/>
              </a:ext>
            </a:extLst>
          </p:cNvPr>
          <p:cNvSpPr>
            <a:spLocks xmlns:a="http://schemas.openxmlformats.org/drawingml/2006/main" noGrp="1"/>
          </p:cNvSpPr>
          <p:nvPr/>
        </p:nvSpPr>
        <p:spPr>
          <a:xfrm xmlns:a="http://schemas.openxmlformats.org/drawingml/2006/main">
            <a:off x="4057650" y="51911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6</a:t>
            </a:r>
            <a:endParaRPr/>
          </a:p>
        </p:txBody>
      </p:sp>
      <p:sp>
        <p:nvSpPr>
          <p:cNvPr id="369" name="Google Shape;369;p16">
            <a:extLst xmlns:a="http://schemas.openxmlformats.org/drawingml/2006/main">
              <a:ext uri="{FF2B5EF4-FFF2-40B4-BE49-F238E27FC236}">
                <a16:creationId xmlns:a16="http://schemas.microsoft.com/office/drawing/2014/main" id="{1BD29940-92DC-4F7F-969B-A3CE350DF5B5}"/>
              </a:ext>
            </a:extLst>
          </p:cNvPr>
          <p:cNvSpPr>
            <a:spLocks xmlns:a="http://schemas.openxmlformats.org/drawingml/2006/main" noGrp="1"/>
          </p:cNvSpPr>
          <p:nvPr/>
        </p:nvSpPr>
        <p:spPr>
          <a:xfrm xmlns:a="http://schemas.openxmlformats.org/drawingml/2006/main">
            <a:off x="4457700" y="51149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Cross-chain evidence [7]</a:t>
            </a:r>
          </a:p>
        </p:txBody>
      </p:sp>
      <p:sp>
        <p:nvSpPr>
          <p:cNvPr id="370" name="Google Shape;370;p16">
            <a:extLst xmlns:a="http://schemas.openxmlformats.org/drawingml/2006/main">
              <a:ext uri="{FF2B5EF4-FFF2-40B4-BE49-F238E27FC236}">
                <a16:creationId xmlns:a16="http://schemas.microsoft.com/office/drawing/2014/main" id="{AC649FC1-6C12-419B-990E-BD8AF6839D32}"/>
              </a:ext>
            </a:extLst>
          </p:cNvPr>
          <p:cNvSpPr>
            <a:spLocks xmlns:a="http://schemas.openxmlformats.org/drawingml/2006/main" noGrp="1"/>
          </p:cNvSpPr>
          <p:nvPr/>
        </p:nvSpPr>
        <p:spPr>
          <a:xfrm xmlns:a="http://schemas.openxmlformats.org/drawingml/2006/main">
            <a:off x="4457700" y="53721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Match protocol or service evidence.</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Uncertain bridge and mixer links stop.</a:t>
            </a:r>
          </a:p>
        </p:txBody>
      </p:sp>
      <p:sp>
        <p:nvSpPr>
          <p:cNvPr id="371" name="Google Shape;371;p16">
            <a:extLst xmlns:a="http://schemas.openxmlformats.org/drawingml/2006/main">
              <a:ext uri="{FF2B5EF4-FFF2-40B4-BE49-F238E27FC236}">
                <a16:creationId xmlns:a16="http://schemas.microsoft.com/office/drawing/2014/main" id="{52844494-BC6B-4493-95A3-B77288E98BC2}"/>
              </a:ext>
            </a:extLst>
          </p:cNvPr>
          <p:cNvSpPr>
            <a:spLocks xmlns:a="http://schemas.openxmlformats.org/drawingml/2006/main" noGrp="1"/>
          </p:cNvSpPr>
          <p:nvPr/>
        </p:nvSpPr>
        <p:spPr>
          <a:xfrm xmlns:a="http://schemas.openxmlformats.org/drawingml/2006/main">
            <a:off x="371475" y="5905500"/>
            <a:ext cx="11420475" cy="333375"/>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2" name="Google Shape;372;p16">
            <a:extLst xmlns:a="http://schemas.openxmlformats.org/drawingml/2006/main">
              <a:ext uri="{FF2B5EF4-FFF2-40B4-BE49-F238E27FC236}">
                <a16:creationId xmlns:a16="http://schemas.microsoft.com/office/drawing/2014/main" id="{0273E256-C3DD-48A9-9D97-73C56EA3946E}"/>
              </a:ext>
            </a:extLst>
          </p:cNvPr>
          <p:cNvSpPr>
            <a:spLocks xmlns:a="http://schemas.openxmlformats.org/drawingml/2006/main" noGrp="1"/>
          </p:cNvSpPr>
          <p:nvPr/>
        </p:nvSpPr>
        <p:spPr>
          <a:xfrm xmlns:a="http://schemas.openxmlformats.org/drawingml/2006/main">
            <a:off x="476250" y="5981700"/>
            <a:ext cx="51911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1" i="0" u="none" cap="none">
                <a:solidFill>
                  <a:srgbClr val="1F497D"/>
                </a:solidFill>
                <a:latin typeface="Arial"/>
                <a:ea typeface="Arial"/>
                <a:cs typeface="Arial"/>
                <a:hlinkClick xmlns:ns0="http://schemas.openxmlformats.org/officeDocument/2006/relationships" ns0:id="rIdMethod20260929local"/>
              </a:rPr>
              <a:t>LOCAL MVP:  http://127.0.0.1:8787</a:t>
            </a:r>
          </a:p>
        </p:txBody>
      </p:sp>
      <p:cxnSp>
        <p:nvCxnSpPr>
          <p:cNvPr id="521" name="Google Shape;373;p16"/>
          <p:cNvCxnSpPr/>
          <p:nvPr/>
        </p:nvCxnSpPr>
        <p:spPr>
          <a:xfrm xmlns:a="http://schemas.openxmlformats.org/drawingml/2006/main">
            <a:off x="2543175" y="6153150"/>
            <a:ext cx="8048625" cy="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375" name="Google Shape;375;p16">
            <a:extLst xmlns:a="http://schemas.openxmlformats.org/drawingml/2006/main">
              <a:ext uri="{FF2B5EF4-FFF2-40B4-BE49-F238E27FC236}">
                <a16:creationId xmlns:a16="http://schemas.microsoft.com/office/drawing/2014/main" id="{77B55B52-314A-4AEC-B308-AA72BE520CEF}"/>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76" name="Google Shape;376;p16">
            <a:extLst xmlns:a="http://schemas.openxmlformats.org/drawingml/2006/main">
              <a:ext uri="{FF2B5EF4-FFF2-40B4-BE49-F238E27FC236}">
                <a16:creationId xmlns:a16="http://schemas.microsoft.com/office/drawing/2014/main" id="{D630C644-B35D-452D-8F86-6D433DA9767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TECHNICAL APPROACH</a:t>
            </a:r>
            <a:endParaRPr/>
          </a:p>
        </p:txBody>
      </p:sp>
      <p:sp>
        <p:nvSpPr>
          <p:cNvPr id="377" name="Google Shape;377;p16">
            <a:extLst xmlns:a="http://schemas.openxmlformats.org/drawingml/2006/main">
              <a:ext uri="{FF2B5EF4-FFF2-40B4-BE49-F238E27FC236}">
                <a16:creationId xmlns:a16="http://schemas.microsoft.com/office/drawing/2014/main" id="{1C3F3472-8E5A-4E50-837A-C00ED386A9F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202359C0-8A7A-196E-DD58-8E6569619F09}" type="slidenum">
              <a:rPr b="1">
                <a:solidFill>
                  <a:schemeClr val="lt1"/>
                </a:solidFill>
              </a:rPr>
              <a:t>3</a:t>
            </a:fld>
            <a:endParaRPr b="1">
              <a:solidFill>
                <a:schemeClr val="lt1"/>
              </a:solidFill>
            </a:endParaRPr>
          </a:p>
        </p:txBody>
      </p:sp>
      <p:sp>
        <p:nvSpPr>
          <p:cNvPr id="378" name="Google Shape;378;p16">
            <a:extLst xmlns:a="http://schemas.openxmlformats.org/drawingml/2006/main">
              <a:ext uri="{FF2B5EF4-FFF2-40B4-BE49-F238E27FC236}">
                <a16:creationId xmlns:a16="http://schemas.microsoft.com/office/drawing/2014/main" id="{46657B01-9D44-4F90-A1EF-AD2140B4DC1C}"/>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a:solidFill>
                  <a:schemeClr val="lt1"/>
                </a:solidFill>
              </a:rPr>
              <a:t>@SIH Idea submission- Template</a:t>
            </a:r>
            <a:endParaRPr>
              <a:solidFill>
                <a:schemeClr val="lt1"/>
              </a:solidFill>
            </a:endParaRPr>
          </a:p>
        </p:txBody>
      </p:sp>
      <p:sp>
        <p:nvSpPr>
          <p:cNvPr id="379" name="Google Shape;379;p16">
            <a:extLst xmlns:a="http://schemas.openxmlformats.org/drawingml/2006/main">
              <a:ext uri="{FF2B5EF4-FFF2-40B4-BE49-F238E27FC236}">
                <a16:creationId xmlns:a16="http://schemas.microsoft.com/office/drawing/2014/main" id="{72CC1593-C33D-4BB9-9F21-7F9A9D10149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pic>
        <p:nvPicPr>
          <p:cNvPr id="527" name="Google Shape;380;p16"/>
          <p:cNvPicPr>
            <a:picLocks xmlns:a="http://schemas.openxmlformats.org/drawingml/2006/main" noChangeAspect="1"/>
          </p:cNvPicPr>
          <p:nvPr/>
        </p:nvPicPr>
        <p:blipFill rotWithShape="1">
          <a:blip xmlns:r="http://schemas.openxmlformats.org/officeDocument/2006/relationships" xmlns:a="http://schemas.openxmlformats.org/drawingml/2006/main" r:embed="R9e83e2bb354741e2">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381" name="Google Shape;381;p16">
            <a:extLst xmlns:a="http://schemas.openxmlformats.org/drawingml/2006/main">
              <a:ext uri="{FF2B5EF4-FFF2-40B4-BE49-F238E27FC236}">
                <a16:creationId xmlns:a16="http://schemas.microsoft.com/office/drawing/2014/main" id="{634DC680-F337-4DBA-BC0B-DA29587D323A}"/>
              </a:ext>
            </a:extLst>
          </p:cNvPr>
          <p:cNvSpPr>
            <a:spLocks xmlns:a="http://schemas.openxmlformats.org/drawingml/2006/main" noGrp="1"/>
          </p:cNvSpPr>
          <p:nvPr/>
        </p:nvSpPr>
        <p:spPr>
          <a:xfrm xmlns:a="http://schemas.openxmlformats.org/drawingml/2006/main">
            <a:off x="7549526" y="1766925"/>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INTERFACE &amp; GRAPH</a:t>
            </a:r>
            <a:endParaRPr sz="1086"/>
          </a:p>
        </p:txBody>
      </p:sp>
      <p:cxnSp>
        <p:nvCxnSpPr>
          <p:cNvPr id="529" name="Google Shape;382;p16"/>
          <p:cNvCxnSpPr/>
          <p:nvPr/>
        </p:nvCxnSpPr>
        <p:spPr>
          <a:xfrm xmlns:a="http://schemas.openxmlformats.org/drawingml/2006/main">
            <a:off x="7549526" y="191465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30" name="Google Shape;383;p16"/>
          <p:cNvPicPr>
            <a:picLocks xmlns:a="http://schemas.openxmlformats.org/drawingml/2006/main" noChangeAspect="1"/>
          </p:cNvPicPr>
          <p:nvPr/>
        </p:nvPicPr>
        <p:blipFill rotWithShape="1">
          <a:blip xmlns:r="http://schemas.openxmlformats.org/officeDocument/2006/relationships" xmlns:a="http://schemas.openxmlformats.org/drawingml/2006/main" r:embed="R954505b05513495c">
            <a:alphaModFix/>
          </a:blip>
          <a:srcRect xmlns:a="http://schemas.openxmlformats.org/drawingml/2006/main" l="0" t="0" r="0" b="0"/>
          <a:stretch xmlns:a="http://schemas.openxmlformats.org/drawingml/2006/main"/>
        </p:blipFill>
        <p:spPr>
          <a:xfrm xmlns:a="http://schemas.openxmlformats.org/drawingml/2006/main">
            <a:off x="7630777" y="1951586"/>
            <a:ext cx="709098" cy="265912"/>
          </a:xfrm>
          <a:prstGeom xmlns:a="http://schemas.openxmlformats.org/drawingml/2006/main" prst="rect">
            <a:avLst/>
          </a:prstGeom>
          <a:ln xmlns:a="http://schemas.openxmlformats.org/drawingml/2006/main">
            <a:noFill/>
          </a:ln>
        </p:spPr>
      </p:pic>
      <p:sp>
        <p:nvSpPr>
          <p:cNvPr id="384" name="Google Shape;384;p16">
            <a:extLst xmlns:a="http://schemas.openxmlformats.org/drawingml/2006/main">
              <a:ext uri="{FF2B5EF4-FFF2-40B4-BE49-F238E27FC236}">
                <a16:creationId xmlns:a16="http://schemas.microsoft.com/office/drawing/2014/main" id="{34563B64-BC25-4924-AE03-F19F8F37588E}"/>
              </a:ext>
            </a:extLst>
          </p:cNvPr>
          <p:cNvSpPr>
            <a:spLocks xmlns:a="http://schemas.openxmlformats.org/drawingml/2006/main" noGrp="1"/>
          </p:cNvSpPr>
          <p:nvPr/>
        </p:nvSpPr>
        <p:spPr>
          <a:xfrm xmlns:a="http://schemas.openxmlformats.org/drawingml/2006/main">
            <a:off x="752736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React</a:t>
            </a:r>
            <a:endParaRPr sz="1086"/>
          </a:p>
        </p:txBody>
      </p:sp>
      <p:pic>
        <p:nvPicPr>
          <p:cNvPr id="532" name="Google Shape;385;p16"/>
          <p:cNvPicPr>
            <a:picLocks xmlns:a="http://schemas.openxmlformats.org/drawingml/2006/main" noChangeAspect="1"/>
          </p:cNvPicPr>
          <p:nvPr/>
        </p:nvPicPr>
        <p:blipFill rotWithShape="1">
          <a:blip xmlns:r="http://schemas.openxmlformats.org/officeDocument/2006/relationships" xmlns:a="http://schemas.openxmlformats.org/drawingml/2006/main" r:embed="Ra575cc4c4c7a464c">
            <a:alphaModFix/>
          </a:blip>
          <a:srcRect xmlns:a="http://schemas.openxmlformats.org/drawingml/2006/main" l="0" t="0" r="0" b="0"/>
          <a:stretch xmlns:a="http://schemas.openxmlformats.org/drawingml/2006/main"/>
        </p:blipFill>
        <p:spPr>
          <a:xfrm xmlns:a="http://schemas.openxmlformats.org/drawingml/2006/main">
            <a:off x="8546699" y="1951586"/>
            <a:ext cx="709098" cy="265912"/>
          </a:xfrm>
          <a:prstGeom xmlns:a="http://schemas.openxmlformats.org/drawingml/2006/main" prst="rect">
            <a:avLst/>
          </a:prstGeom>
          <a:ln xmlns:a="http://schemas.openxmlformats.org/drawingml/2006/main">
            <a:noFill/>
          </a:ln>
        </p:spPr>
      </p:pic>
      <p:sp>
        <p:nvSpPr>
          <p:cNvPr id="386" name="Google Shape;386;p16">
            <a:extLst xmlns:a="http://schemas.openxmlformats.org/drawingml/2006/main">
              <a:ext uri="{FF2B5EF4-FFF2-40B4-BE49-F238E27FC236}">
                <a16:creationId xmlns:a16="http://schemas.microsoft.com/office/drawing/2014/main" id="{4835B195-C37A-4E43-9D29-53A62CDB03B4}"/>
              </a:ext>
            </a:extLst>
          </p:cNvPr>
          <p:cNvSpPr>
            <a:spLocks xmlns:a="http://schemas.openxmlformats.org/drawingml/2006/main" noGrp="1"/>
          </p:cNvSpPr>
          <p:nvPr/>
        </p:nvSpPr>
        <p:spPr>
          <a:xfrm xmlns:a="http://schemas.openxmlformats.org/drawingml/2006/main">
            <a:off x="8443289"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TypeScript</a:t>
            </a:r>
            <a:endParaRPr sz="1086"/>
          </a:p>
        </p:txBody>
      </p:sp>
      <p:pic>
        <p:nvPicPr>
          <p:cNvPr id="534" name="Google Shape;387;p16"/>
          <p:cNvPicPr>
            <a:picLocks xmlns:a="http://schemas.openxmlformats.org/drawingml/2006/main" noChangeAspect="1"/>
          </p:cNvPicPr>
          <p:nvPr/>
        </p:nvPicPr>
        <p:blipFill rotWithShape="1">
          <a:blip xmlns:r="http://schemas.openxmlformats.org/officeDocument/2006/relationships" xmlns:a="http://schemas.openxmlformats.org/drawingml/2006/main" r:embed="Ra6adab2d5d434a06">
            <a:alphaModFix/>
          </a:blip>
          <a:srcRect xmlns:a="http://schemas.openxmlformats.org/drawingml/2006/main" l="0" t="0" r="0" b="0"/>
          <a:stretch xmlns:a="http://schemas.openxmlformats.org/drawingml/2006/main"/>
        </p:blipFill>
        <p:spPr>
          <a:xfrm xmlns:a="http://schemas.openxmlformats.org/drawingml/2006/main">
            <a:off x="9462622" y="1951586"/>
            <a:ext cx="709098" cy="265912"/>
          </a:xfrm>
          <a:prstGeom xmlns:a="http://schemas.openxmlformats.org/drawingml/2006/main" prst="rect">
            <a:avLst/>
          </a:prstGeom>
          <a:ln xmlns:a="http://schemas.openxmlformats.org/drawingml/2006/main">
            <a:noFill/>
          </a:ln>
        </p:spPr>
      </p:pic>
      <p:sp>
        <p:nvSpPr>
          <p:cNvPr id="388" name="Google Shape;388;p16">
            <a:extLst xmlns:a="http://schemas.openxmlformats.org/drawingml/2006/main">
              <a:ext uri="{FF2B5EF4-FFF2-40B4-BE49-F238E27FC236}">
                <a16:creationId xmlns:a16="http://schemas.microsoft.com/office/drawing/2014/main" id="{1C8E7D1C-9F05-4A22-AE47-16A7478C32ED}"/>
              </a:ext>
            </a:extLst>
          </p:cNvPr>
          <p:cNvSpPr>
            <a:spLocks xmlns:a="http://schemas.openxmlformats.org/drawingml/2006/main" noGrp="1"/>
          </p:cNvSpPr>
          <p:nvPr/>
        </p:nvSpPr>
        <p:spPr>
          <a:xfrm xmlns:a="http://schemas.openxmlformats.org/drawingml/2006/main">
            <a:off x="9359211"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Vite</a:t>
            </a:r>
            <a:endParaRPr sz="1086"/>
          </a:p>
        </p:txBody>
      </p:sp>
      <p:pic>
        <p:nvPicPr>
          <p:cNvPr id="536" name="Google Shape;389;p16"/>
          <p:cNvPicPr>
            <a:picLocks xmlns:a="http://schemas.openxmlformats.org/drawingml/2006/main" noChangeAspect="1"/>
          </p:cNvPicPr>
          <p:nvPr/>
        </p:nvPicPr>
        <p:blipFill rotWithShape="1">
          <a:blip xmlns:r="http://schemas.openxmlformats.org/officeDocument/2006/relationships" xmlns:a="http://schemas.openxmlformats.org/drawingml/2006/main" r:embed="R7055f859015e450e">
            <a:alphaModFix/>
          </a:blip>
          <a:srcRect xmlns:a="http://schemas.openxmlformats.org/drawingml/2006/main" l="0" t="0" r="0" b="0"/>
          <a:stretch xmlns:a="http://schemas.openxmlformats.org/drawingml/2006/main"/>
        </p:blipFill>
        <p:spPr>
          <a:xfrm xmlns:a="http://schemas.openxmlformats.org/drawingml/2006/main">
            <a:off x="10378544" y="1951586"/>
            <a:ext cx="709098" cy="265912"/>
          </a:xfrm>
          <a:prstGeom xmlns:a="http://schemas.openxmlformats.org/drawingml/2006/main" prst="rect">
            <a:avLst/>
          </a:prstGeom>
          <a:ln xmlns:a="http://schemas.openxmlformats.org/drawingml/2006/main">
            <a:noFill/>
          </a:ln>
        </p:spPr>
      </p:pic>
      <p:sp>
        <p:nvSpPr>
          <p:cNvPr id="390" name="Google Shape;390;p16">
            <a:extLst xmlns:a="http://schemas.openxmlformats.org/drawingml/2006/main">
              <a:ext uri="{FF2B5EF4-FFF2-40B4-BE49-F238E27FC236}">
                <a16:creationId xmlns:a16="http://schemas.microsoft.com/office/drawing/2014/main" id="{AA18A4A5-F07A-431E-BE85-A2CA124A8937}"/>
              </a:ext>
            </a:extLst>
          </p:cNvPr>
          <p:cNvSpPr>
            <a:spLocks xmlns:a="http://schemas.openxmlformats.org/drawingml/2006/main" noGrp="1"/>
          </p:cNvSpPr>
          <p:nvPr/>
        </p:nvSpPr>
        <p:spPr>
          <a:xfrm xmlns:a="http://schemas.openxmlformats.org/drawingml/2006/main">
            <a:off x="10275134"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Cytoscape.js</a:t>
            </a:r>
            <a:endParaRPr sz="1086"/>
          </a:p>
        </p:txBody>
      </p:sp>
      <p:pic>
        <p:nvPicPr>
          <p:cNvPr id="538" name="Google Shape;391;p16"/>
          <p:cNvPicPr>
            <a:picLocks xmlns:a="http://schemas.openxmlformats.org/drawingml/2006/main" noChangeAspect="1"/>
          </p:cNvPicPr>
          <p:nvPr/>
        </p:nvPicPr>
        <p:blipFill rotWithShape="1">
          <a:blip xmlns:r="http://schemas.openxmlformats.org/officeDocument/2006/relationships" xmlns:a="http://schemas.openxmlformats.org/drawingml/2006/main" r:embed="R2d1833bfd0de4ce1">
            <a:alphaModFix/>
          </a:blip>
          <a:srcRect xmlns:a="http://schemas.openxmlformats.org/drawingml/2006/main" l="0" t="0" r="0" b="0"/>
          <a:stretch xmlns:a="http://schemas.openxmlformats.org/drawingml/2006/main"/>
        </p:blipFill>
        <p:spPr>
          <a:xfrm xmlns:a="http://schemas.openxmlformats.org/drawingml/2006/main">
            <a:off x="11294467" y="1951586"/>
            <a:ext cx="709098" cy="265912"/>
          </a:xfrm>
          <a:prstGeom xmlns:a="http://schemas.openxmlformats.org/drawingml/2006/main" prst="rect">
            <a:avLst/>
          </a:prstGeom>
          <a:ln xmlns:a="http://schemas.openxmlformats.org/drawingml/2006/main">
            <a:noFill/>
          </a:ln>
        </p:spPr>
      </p:pic>
      <p:sp>
        <p:nvSpPr>
          <p:cNvPr id="392" name="Google Shape;392;p16">
            <a:extLst xmlns:a="http://schemas.openxmlformats.org/drawingml/2006/main">
              <a:ext uri="{FF2B5EF4-FFF2-40B4-BE49-F238E27FC236}">
                <a16:creationId xmlns:a16="http://schemas.microsoft.com/office/drawing/2014/main" id="{34A4021B-A26A-479F-92AA-79FF40202FE9}"/>
              </a:ext>
            </a:extLst>
          </p:cNvPr>
          <p:cNvSpPr>
            <a:spLocks xmlns:a="http://schemas.openxmlformats.org/drawingml/2006/main" noGrp="1"/>
          </p:cNvSpPr>
          <p:nvPr/>
        </p:nvSpPr>
        <p:spPr>
          <a:xfrm xmlns:a="http://schemas.openxmlformats.org/drawingml/2006/main">
            <a:off x="1119105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Lucide</a:t>
            </a:r>
            <a:endParaRPr sz="1086"/>
          </a:p>
        </p:txBody>
      </p:sp>
      <p:sp>
        <p:nvSpPr>
          <p:cNvPr id="393" name="Google Shape;393;p16">
            <a:extLst xmlns:a="http://schemas.openxmlformats.org/drawingml/2006/main">
              <a:ext uri="{FF2B5EF4-FFF2-40B4-BE49-F238E27FC236}">
                <a16:creationId xmlns:a16="http://schemas.microsoft.com/office/drawing/2014/main" id="{A03C7E23-28CE-4242-AC12-4C2F238CA4A6}"/>
              </a:ext>
            </a:extLst>
          </p:cNvPr>
          <p:cNvSpPr>
            <a:spLocks xmlns:a="http://schemas.openxmlformats.org/drawingml/2006/main" noGrp="1"/>
          </p:cNvSpPr>
          <p:nvPr/>
        </p:nvSpPr>
        <p:spPr>
          <a:xfrm xmlns:a="http://schemas.openxmlformats.org/drawingml/2006/main">
            <a:off x="7549526" y="2416932"/>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API &amp; VALIDATION</a:t>
            </a:r>
            <a:endParaRPr sz="1086"/>
          </a:p>
        </p:txBody>
      </p:sp>
      <p:cxnSp>
        <p:nvCxnSpPr>
          <p:cNvPr id="541" name="Google Shape;394;p16"/>
          <p:cNvCxnSpPr/>
          <p:nvPr/>
        </p:nvCxnSpPr>
        <p:spPr>
          <a:xfrm xmlns:a="http://schemas.openxmlformats.org/drawingml/2006/main">
            <a:off x="7549526" y="2564661"/>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42" name="Google Shape;395;p16"/>
          <p:cNvPicPr>
            <a:picLocks xmlns:a="http://schemas.openxmlformats.org/drawingml/2006/main" noChangeAspect="1"/>
          </p:cNvPicPr>
          <p:nvPr/>
        </p:nvPicPr>
        <p:blipFill rotWithShape="1">
          <a:blip xmlns:r="http://schemas.openxmlformats.org/officeDocument/2006/relationships" xmlns:a="http://schemas.openxmlformats.org/drawingml/2006/main" r:embed="R9c4a144289624da0">
            <a:alphaModFix/>
          </a:blip>
          <a:srcRect xmlns:a="http://schemas.openxmlformats.org/drawingml/2006/main" l="0" t="0" r="0" b="0"/>
          <a:stretch xmlns:a="http://schemas.openxmlformats.org/drawingml/2006/main"/>
        </p:blipFill>
        <p:spPr>
          <a:xfrm xmlns:a="http://schemas.openxmlformats.org/drawingml/2006/main">
            <a:off x="7630777" y="2601593"/>
            <a:ext cx="709098" cy="265912"/>
          </a:xfrm>
          <a:prstGeom xmlns:a="http://schemas.openxmlformats.org/drawingml/2006/main" prst="rect">
            <a:avLst/>
          </a:prstGeom>
          <a:ln xmlns:a="http://schemas.openxmlformats.org/drawingml/2006/main">
            <a:noFill/>
          </a:ln>
        </p:spPr>
      </p:pic>
      <p:sp>
        <p:nvSpPr>
          <p:cNvPr id="396" name="Google Shape;396;p16">
            <a:extLst xmlns:a="http://schemas.openxmlformats.org/drawingml/2006/main">
              <a:ext uri="{FF2B5EF4-FFF2-40B4-BE49-F238E27FC236}">
                <a16:creationId xmlns:a16="http://schemas.microsoft.com/office/drawing/2014/main" id="{F349EE94-07FC-453C-A965-95F5439D09F0}"/>
              </a:ext>
            </a:extLst>
          </p:cNvPr>
          <p:cNvSpPr>
            <a:spLocks xmlns:a="http://schemas.openxmlformats.org/drawingml/2006/main" noGrp="1"/>
          </p:cNvSpPr>
          <p:nvPr/>
        </p:nvSpPr>
        <p:spPr>
          <a:xfrm xmlns:a="http://schemas.openxmlformats.org/drawingml/2006/main">
            <a:off x="752736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Python</a:t>
            </a:r>
            <a:endParaRPr sz="1086"/>
          </a:p>
        </p:txBody>
      </p:sp>
      <p:pic>
        <p:nvPicPr>
          <p:cNvPr id="544" name="Google Shape;397;p16"/>
          <p:cNvPicPr>
            <a:picLocks xmlns:a="http://schemas.openxmlformats.org/drawingml/2006/main" noChangeAspect="1"/>
          </p:cNvPicPr>
          <p:nvPr/>
        </p:nvPicPr>
        <p:blipFill rotWithShape="1">
          <a:blip xmlns:r="http://schemas.openxmlformats.org/officeDocument/2006/relationships" xmlns:a="http://schemas.openxmlformats.org/drawingml/2006/main" r:embed="R5c74bc9586664cb9">
            <a:alphaModFix/>
          </a:blip>
          <a:srcRect xmlns:a="http://schemas.openxmlformats.org/drawingml/2006/main" l="0" t="0" r="0" b="0"/>
          <a:stretch xmlns:a="http://schemas.openxmlformats.org/drawingml/2006/main"/>
        </p:blipFill>
        <p:spPr>
          <a:xfrm xmlns:a="http://schemas.openxmlformats.org/drawingml/2006/main">
            <a:off x="8546699" y="2601593"/>
            <a:ext cx="709098" cy="265912"/>
          </a:xfrm>
          <a:prstGeom xmlns:a="http://schemas.openxmlformats.org/drawingml/2006/main" prst="rect">
            <a:avLst/>
          </a:prstGeom>
          <a:ln xmlns:a="http://schemas.openxmlformats.org/drawingml/2006/main">
            <a:noFill/>
          </a:ln>
        </p:spPr>
      </p:pic>
      <p:sp>
        <p:nvSpPr>
          <p:cNvPr id="398" name="Google Shape;398;p16">
            <a:extLst xmlns:a="http://schemas.openxmlformats.org/drawingml/2006/main">
              <a:ext uri="{FF2B5EF4-FFF2-40B4-BE49-F238E27FC236}">
                <a16:creationId xmlns:a16="http://schemas.microsoft.com/office/drawing/2014/main" id="{7CBE88AF-9C7B-4999-B0D5-05920DC6A8D9}"/>
              </a:ext>
            </a:extLst>
          </p:cNvPr>
          <p:cNvSpPr>
            <a:spLocks xmlns:a="http://schemas.openxmlformats.org/drawingml/2006/main" noGrp="1"/>
          </p:cNvSpPr>
          <p:nvPr/>
        </p:nvSpPr>
        <p:spPr>
          <a:xfrm xmlns:a="http://schemas.openxmlformats.org/drawingml/2006/main">
            <a:off x="8443289"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FastAPI</a:t>
            </a:r>
            <a:endParaRPr sz="1086"/>
          </a:p>
        </p:txBody>
      </p:sp>
      <p:pic>
        <p:nvPicPr>
          <p:cNvPr id="546" name="Google Shape;399;p16"/>
          <p:cNvPicPr>
            <a:picLocks xmlns:a="http://schemas.openxmlformats.org/drawingml/2006/main" noChangeAspect="1"/>
          </p:cNvPicPr>
          <p:nvPr/>
        </p:nvPicPr>
        <p:blipFill rotWithShape="1">
          <a:blip xmlns:r="http://schemas.openxmlformats.org/officeDocument/2006/relationships" xmlns:a="http://schemas.openxmlformats.org/drawingml/2006/main" r:embed="Rc8fb7efcf8b54e03">
            <a:alphaModFix/>
          </a:blip>
          <a:srcRect xmlns:a="http://schemas.openxmlformats.org/drawingml/2006/main" l="0" t="0" r="0" b="0"/>
          <a:stretch xmlns:a="http://schemas.openxmlformats.org/drawingml/2006/main"/>
        </p:blipFill>
        <p:spPr>
          <a:xfrm xmlns:a="http://schemas.openxmlformats.org/drawingml/2006/main">
            <a:off x="9462622" y="2601593"/>
            <a:ext cx="709098" cy="265912"/>
          </a:xfrm>
          <a:prstGeom xmlns:a="http://schemas.openxmlformats.org/drawingml/2006/main" prst="rect">
            <a:avLst/>
          </a:prstGeom>
          <a:ln xmlns:a="http://schemas.openxmlformats.org/drawingml/2006/main">
            <a:noFill/>
          </a:ln>
        </p:spPr>
      </p:pic>
      <p:sp>
        <p:nvSpPr>
          <p:cNvPr id="400" name="Google Shape;400;p16">
            <a:extLst xmlns:a="http://schemas.openxmlformats.org/drawingml/2006/main">
              <a:ext uri="{FF2B5EF4-FFF2-40B4-BE49-F238E27FC236}">
                <a16:creationId xmlns:a16="http://schemas.microsoft.com/office/drawing/2014/main" id="{C72DB0DE-7E08-4ACD-9336-7E9086348AE0}"/>
              </a:ext>
            </a:extLst>
          </p:cNvPr>
          <p:cNvSpPr>
            <a:spLocks xmlns:a="http://schemas.openxmlformats.org/drawingml/2006/main" noGrp="1"/>
          </p:cNvSpPr>
          <p:nvPr/>
        </p:nvSpPr>
        <p:spPr>
          <a:xfrm xmlns:a="http://schemas.openxmlformats.org/drawingml/2006/main">
            <a:off x="9359211"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Uvicorn</a:t>
            </a:r>
            <a:endParaRPr sz="1086"/>
          </a:p>
        </p:txBody>
      </p:sp>
      <p:pic>
        <p:nvPicPr>
          <p:cNvPr id="548" name="Google Shape;401;p16"/>
          <p:cNvPicPr>
            <a:picLocks xmlns:a="http://schemas.openxmlformats.org/drawingml/2006/main" noChangeAspect="1"/>
          </p:cNvPicPr>
          <p:nvPr/>
        </p:nvPicPr>
        <p:blipFill rotWithShape="1">
          <a:blip xmlns:r="http://schemas.openxmlformats.org/officeDocument/2006/relationships" xmlns:a="http://schemas.openxmlformats.org/drawingml/2006/main" r:embed="R722d0258675e48ce">
            <a:alphaModFix/>
          </a:blip>
          <a:srcRect xmlns:a="http://schemas.openxmlformats.org/drawingml/2006/main" l="0" t="0" r="0" b="0"/>
          <a:stretch xmlns:a="http://schemas.openxmlformats.org/drawingml/2006/main"/>
        </p:blipFill>
        <p:spPr>
          <a:xfrm xmlns:a="http://schemas.openxmlformats.org/drawingml/2006/main">
            <a:off x="10378544" y="2601593"/>
            <a:ext cx="709098" cy="265912"/>
          </a:xfrm>
          <a:prstGeom xmlns:a="http://schemas.openxmlformats.org/drawingml/2006/main" prst="rect">
            <a:avLst/>
          </a:prstGeom>
          <a:ln xmlns:a="http://schemas.openxmlformats.org/drawingml/2006/main">
            <a:noFill/>
          </a:ln>
        </p:spPr>
      </p:pic>
      <p:sp>
        <p:nvSpPr>
          <p:cNvPr id="402" name="Google Shape;402;p16">
            <a:extLst xmlns:a="http://schemas.openxmlformats.org/drawingml/2006/main">
              <a:ext uri="{FF2B5EF4-FFF2-40B4-BE49-F238E27FC236}">
                <a16:creationId xmlns:a16="http://schemas.microsoft.com/office/drawing/2014/main" id="{51766B4C-FE11-474A-B85C-5BF473EE9A78}"/>
              </a:ext>
            </a:extLst>
          </p:cNvPr>
          <p:cNvSpPr>
            <a:spLocks xmlns:a="http://schemas.openxmlformats.org/drawingml/2006/main" noGrp="1"/>
          </p:cNvSpPr>
          <p:nvPr/>
        </p:nvSpPr>
        <p:spPr>
          <a:xfrm xmlns:a="http://schemas.openxmlformats.org/drawingml/2006/main">
            <a:off x="10275134"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Pydantic</a:t>
            </a:r>
            <a:endParaRPr sz="1086"/>
          </a:p>
        </p:txBody>
      </p:sp>
      <p:pic>
        <p:nvPicPr>
          <p:cNvPr id="550" name="Google Shape;403;p16"/>
          <p:cNvPicPr>
            <a:picLocks xmlns:a="http://schemas.openxmlformats.org/drawingml/2006/main" noChangeAspect="1"/>
          </p:cNvPicPr>
          <p:nvPr/>
        </p:nvPicPr>
        <p:blipFill rotWithShape="1">
          <a:blip xmlns:r="http://schemas.openxmlformats.org/officeDocument/2006/relationships" xmlns:a="http://schemas.openxmlformats.org/drawingml/2006/main" r:embed="Rd7155d66dcda4e13">
            <a:alphaModFix/>
          </a:blip>
          <a:srcRect xmlns:a="http://schemas.openxmlformats.org/drawingml/2006/main" l="0" t="0" r="0" b="0"/>
          <a:stretch xmlns:a="http://schemas.openxmlformats.org/drawingml/2006/main"/>
        </p:blipFill>
        <p:spPr>
          <a:xfrm xmlns:a="http://schemas.openxmlformats.org/drawingml/2006/main">
            <a:off x="11294467" y="2601593"/>
            <a:ext cx="709098" cy="265912"/>
          </a:xfrm>
          <a:prstGeom xmlns:a="http://schemas.openxmlformats.org/drawingml/2006/main" prst="rect">
            <a:avLst/>
          </a:prstGeom>
          <a:ln xmlns:a="http://schemas.openxmlformats.org/drawingml/2006/main">
            <a:noFill/>
          </a:ln>
        </p:spPr>
      </p:pic>
      <p:sp>
        <p:nvSpPr>
          <p:cNvPr id="404" name="Google Shape;404;p16">
            <a:extLst xmlns:a="http://schemas.openxmlformats.org/drawingml/2006/main">
              <a:ext uri="{FF2B5EF4-FFF2-40B4-BE49-F238E27FC236}">
                <a16:creationId xmlns:a16="http://schemas.microsoft.com/office/drawing/2014/main" id="{F1A5F5EA-9970-4AB2-B064-A375ACC8E94A}"/>
              </a:ext>
            </a:extLst>
          </p:cNvPr>
          <p:cNvSpPr>
            <a:spLocks xmlns:a="http://schemas.openxmlformats.org/drawingml/2006/main" noGrp="1"/>
          </p:cNvSpPr>
          <p:nvPr/>
        </p:nvSpPr>
        <p:spPr>
          <a:xfrm xmlns:a="http://schemas.openxmlformats.org/drawingml/2006/main">
            <a:off x="1119105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HTTPX</a:t>
            </a:r>
            <a:endParaRPr sz="1086"/>
          </a:p>
        </p:txBody>
      </p:sp>
      <p:sp>
        <p:nvSpPr>
          <p:cNvPr id="405" name="Google Shape;405;p16">
            <a:extLst xmlns:a="http://schemas.openxmlformats.org/drawingml/2006/main">
              <a:ext uri="{FF2B5EF4-FFF2-40B4-BE49-F238E27FC236}">
                <a16:creationId xmlns:a16="http://schemas.microsoft.com/office/drawing/2014/main" id="{E9804D07-34FD-46B1-AECC-2FD7069C717B}"/>
              </a:ext>
            </a:extLst>
          </p:cNvPr>
          <p:cNvSpPr>
            <a:spLocks xmlns:a="http://schemas.openxmlformats.org/drawingml/2006/main" noGrp="1"/>
          </p:cNvSpPr>
          <p:nvPr/>
        </p:nvSpPr>
        <p:spPr>
          <a:xfrm xmlns:a="http://schemas.openxmlformats.org/drawingml/2006/main">
            <a:off x="7549526" y="3066939"/>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STORAGE &amp; EVIDENCE</a:t>
            </a:r>
            <a:endParaRPr sz="1086"/>
          </a:p>
        </p:txBody>
      </p:sp>
      <p:cxnSp>
        <p:nvCxnSpPr>
          <p:cNvPr id="553" name="Google Shape;406;p16"/>
          <p:cNvCxnSpPr/>
          <p:nvPr/>
        </p:nvCxnSpPr>
        <p:spPr>
          <a:xfrm xmlns:a="http://schemas.openxmlformats.org/drawingml/2006/main">
            <a:off x="7549526" y="3214668"/>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54" name="Google Shape;407;p16"/>
          <p:cNvPicPr>
            <a:picLocks xmlns:a="http://schemas.openxmlformats.org/drawingml/2006/main" noChangeAspect="1"/>
          </p:cNvPicPr>
          <p:nvPr/>
        </p:nvPicPr>
        <p:blipFill rotWithShape="1">
          <a:blip xmlns:r="http://schemas.openxmlformats.org/officeDocument/2006/relationships" xmlns:a="http://schemas.openxmlformats.org/drawingml/2006/main" r:embed="R2e5e0ce53fab414a">
            <a:alphaModFix/>
          </a:blip>
          <a:srcRect xmlns:a="http://schemas.openxmlformats.org/drawingml/2006/main" l="0" t="0" r="0" b="0"/>
          <a:stretch xmlns:a="http://schemas.openxmlformats.org/drawingml/2006/main"/>
        </p:blipFill>
        <p:spPr>
          <a:xfrm xmlns:a="http://schemas.openxmlformats.org/drawingml/2006/main">
            <a:off x="7630777" y="3251600"/>
            <a:ext cx="709098" cy="265912"/>
          </a:xfrm>
          <a:prstGeom xmlns:a="http://schemas.openxmlformats.org/drawingml/2006/main" prst="rect">
            <a:avLst/>
          </a:prstGeom>
          <a:ln xmlns:a="http://schemas.openxmlformats.org/drawingml/2006/main">
            <a:noFill/>
          </a:ln>
        </p:spPr>
      </p:pic>
      <p:sp>
        <p:nvSpPr>
          <p:cNvPr id="408" name="Google Shape;408;p16">
            <a:extLst xmlns:a="http://schemas.openxmlformats.org/drawingml/2006/main">
              <a:ext uri="{FF2B5EF4-FFF2-40B4-BE49-F238E27FC236}">
                <a16:creationId xmlns:a16="http://schemas.microsoft.com/office/drawing/2014/main" id="{DD05CC7C-E3C0-4077-BEBB-D257B26686DC}"/>
              </a:ext>
            </a:extLst>
          </p:cNvPr>
          <p:cNvSpPr>
            <a:spLocks xmlns:a="http://schemas.openxmlformats.org/drawingml/2006/main" noGrp="1"/>
          </p:cNvSpPr>
          <p:nvPr/>
        </p:nvSpPr>
        <p:spPr>
          <a:xfrm xmlns:a="http://schemas.openxmlformats.org/drawingml/2006/main">
            <a:off x="752736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SQLite WAL</a:t>
            </a:r>
            <a:endParaRPr sz="1086"/>
          </a:p>
        </p:txBody>
      </p:sp>
      <p:pic>
        <p:nvPicPr>
          <p:cNvPr id="556" name="Google Shape;409;p16"/>
          <p:cNvPicPr>
            <a:picLocks xmlns:a="http://schemas.openxmlformats.org/drawingml/2006/main" noChangeAspect="1"/>
          </p:cNvPicPr>
          <p:nvPr/>
        </p:nvPicPr>
        <p:blipFill rotWithShape="1">
          <a:blip xmlns:r="http://schemas.openxmlformats.org/officeDocument/2006/relationships" xmlns:a="http://schemas.openxmlformats.org/drawingml/2006/main" r:embed="R64109f7e7e9047e9">
            <a:alphaModFix/>
          </a:blip>
          <a:srcRect xmlns:a="http://schemas.openxmlformats.org/drawingml/2006/main" l="0" t="0" r="0" b="0"/>
          <a:stretch xmlns:a="http://schemas.openxmlformats.org/drawingml/2006/main"/>
        </p:blipFill>
        <p:spPr>
          <a:xfrm xmlns:a="http://schemas.openxmlformats.org/drawingml/2006/main">
            <a:off x="8546699" y="3251600"/>
            <a:ext cx="709098" cy="265912"/>
          </a:xfrm>
          <a:prstGeom xmlns:a="http://schemas.openxmlformats.org/drawingml/2006/main" prst="rect">
            <a:avLst/>
          </a:prstGeom>
          <a:ln xmlns:a="http://schemas.openxmlformats.org/drawingml/2006/main">
            <a:noFill/>
          </a:ln>
        </p:spPr>
      </p:pic>
      <p:sp>
        <p:nvSpPr>
          <p:cNvPr id="410" name="Google Shape;410;p16">
            <a:extLst xmlns:a="http://schemas.openxmlformats.org/drawingml/2006/main">
              <a:ext uri="{FF2B5EF4-FFF2-40B4-BE49-F238E27FC236}">
                <a16:creationId xmlns:a16="http://schemas.microsoft.com/office/drawing/2014/main" id="{70509406-BF60-4C2F-BD49-8D603F2DCB9A}"/>
              </a:ext>
            </a:extLst>
          </p:cNvPr>
          <p:cNvSpPr>
            <a:spLocks xmlns:a="http://schemas.openxmlformats.org/drawingml/2006/main" noGrp="1"/>
          </p:cNvSpPr>
          <p:nvPr/>
        </p:nvSpPr>
        <p:spPr>
          <a:xfrm xmlns:a="http://schemas.openxmlformats.org/drawingml/2006/main">
            <a:off x="8443289"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SQLAlchemy</a:t>
            </a:r>
            <a:endParaRPr sz="1086"/>
          </a:p>
        </p:txBody>
      </p:sp>
      <p:pic>
        <p:nvPicPr>
          <p:cNvPr id="558" name="Google Shape;411;p16"/>
          <p:cNvPicPr>
            <a:picLocks xmlns:a="http://schemas.openxmlformats.org/drawingml/2006/main" noChangeAspect="1"/>
          </p:cNvPicPr>
          <p:nvPr/>
        </p:nvPicPr>
        <p:blipFill rotWithShape="1">
          <a:blip xmlns:r="http://schemas.openxmlformats.org/officeDocument/2006/relationships" xmlns:a="http://schemas.openxmlformats.org/drawingml/2006/main" r:embed="R1a128d41fd354cdb">
            <a:alphaModFix/>
          </a:blip>
          <a:srcRect xmlns:a="http://schemas.openxmlformats.org/drawingml/2006/main" l="0" t="0" r="0" b="0"/>
          <a:stretch xmlns:a="http://schemas.openxmlformats.org/drawingml/2006/main"/>
        </p:blipFill>
        <p:spPr>
          <a:xfrm xmlns:a="http://schemas.openxmlformats.org/drawingml/2006/main">
            <a:off x="9462622" y="3251600"/>
            <a:ext cx="709098" cy="265912"/>
          </a:xfrm>
          <a:prstGeom xmlns:a="http://schemas.openxmlformats.org/drawingml/2006/main" prst="rect">
            <a:avLst/>
          </a:prstGeom>
          <a:ln xmlns:a="http://schemas.openxmlformats.org/drawingml/2006/main">
            <a:noFill/>
          </a:ln>
        </p:spPr>
      </p:pic>
      <p:sp>
        <p:nvSpPr>
          <p:cNvPr id="412" name="Google Shape;412;p16">
            <a:extLst xmlns:a="http://schemas.openxmlformats.org/drawingml/2006/main">
              <a:ext uri="{FF2B5EF4-FFF2-40B4-BE49-F238E27FC236}">
                <a16:creationId xmlns:a16="http://schemas.microsoft.com/office/drawing/2014/main" id="{52E36D32-1813-472B-8E4E-EACA645E0B31}"/>
              </a:ext>
            </a:extLst>
          </p:cNvPr>
          <p:cNvSpPr>
            <a:spLocks xmlns:a="http://schemas.openxmlformats.org/drawingml/2006/main" noGrp="1"/>
          </p:cNvSpPr>
          <p:nvPr/>
        </p:nvSpPr>
        <p:spPr>
          <a:xfrm xmlns:a="http://schemas.openxmlformats.org/drawingml/2006/main">
            <a:off x="9359211"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ReportLab</a:t>
            </a:r>
            <a:endParaRPr sz="1086"/>
          </a:p>
        </p:txBody>
      </p:sp>
      <p:pic>
        <p:nvPicPr>
          <p:cNvPr id="560" name="Google Shape;413;p16"/>
          <p:cNvPicPr>
            <a:picLocks xmlns:a="http://schemas.openxmlformats.org/drawingml/2006/main" noChangeAspect="1"/>
          </p:cNvPicPr>
          <p:nvPr/>
        </p:nvPicPr>
        <p:blipFill rotWithShape="1">
          <a:blip xmlns:r="http://schemas.openxmlformats.org/officeDocument/2006/relationships" xmlns:a="http://schemas.openxmlformats.org/drawingml/2006/main" r:embed="Re2a70b2a0b284025">
            <a:alphaModFix/>
          </a:blip>
          <a:srcRect xmlns:a="http://schemas.openxmlformats.org/drawingml/2006/main" l="0" t="0" r="0" b="0"/>
          <a:stretch xmlns:a="http://schemas.openxmlformats.org/drawingml/2006/main"/>
        </p:blipFill>
        <p:spPr>
          <a:xfrm xmlns:a="http://schemas.openxmlformats.org/drawingml/2006/main">
            <a:off x="10570593" y="3273759"/>
            <a:ext cx="236366" cy="236366"/>
          </a:xfrm>
          <a:prstGeom xmlns:a="http://schemas.openxmlformats.org/drawingml/2006/main" prst="rect">
            <a:avLst/>
          </a:prstGeom>
          <a:ln xmlns:a="http://schemas.openxmlformats.org/drawingml/2006/main">
            <a:noFill/>
          </a:ln>
        </p:spPr>
      </p:pic>
      <p:sp>
        <p:nvSpPr>
          <p:cNvPr id="414" name="Google Shape;414;p16">
            <a:extLst xmlns:a="http://schemas.openxmlformats.org/drawingml/2006/main">
              <a:ext uri="{FF2B5EF4-FFF2-40B4-BE49-F238E27FC236}">
                <a16:creationId xmlns:a16="http://schemas.microsoft.com/office/drawing/2014/main" id="{E75989D1-36ED-49C8-BFCB-875B8DBFCACA}"/>
              </a:ext>
            </a:extLst>
          </p:cNvPr>
          <p:cNvSpPr>
            <a:spLocks xmlns:a="http://schemas.openxmlformats.org/drawingml/2006/main" noGrp="1"/>
          </p:cNvSpPr>
          <p:nvPr/>
        </p:nvSpPr>
        <p:spPr>
          <a:xfrm xmlns:a="http://schemas.openxmlformats.org/drawingml/2006/main">
            <a:off x="10275134"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cryptography</a:t>
            </a:r>
            <a:endParaRPr sz="1086"/>
          </a:p>
        </p:txBody>
      </p:sp>
      <p:pic>
        <p:nvPicPr>
          <p:cNvPr id="562" name="Google Shape;415;p16"/>
          <p:cNvPicPr>
            <a:picLocks xmlns:a="http://schemas.openxmlformats.org/drawingml/2006/main" noChangeAspect="1"/>
          </p:cNvPicPr>
          <p:nvPr/>
        </p:nvPicPr>
        <p:blipFill rotWithShape="1">
          <a:blip xmlns:r="http://schemas.openxmlformats.org/officeDocument/2006/relationships" xmlns:a="http://schemas.openxmlformats.org/drawingml/2006/main" r:embed="R4b046798b732417e">
            <a:alphaModFix/>
          </a:blip>
          <a:srcRect xmlns:a="http://schemas.openxmlformats.org/drawingml/2006/main" l="0" t="0" r="0" b="0"/>
          <a:stretch xmlns:a="http://schemas.openxmlformats.org/drawingml/2006/main"/>
        </p:blipFill>
        <p:spPr>
          <a:xfrm xmlns:a="http://schemas.openxmlformats.org/drawingml/2006/main">
            <a:off x="11294467" y="3251600"/>
            <a:ext cx="709098" cy="265912"/>
          </a:xfrm>
          <a:prstGeom xmlns:a="http://schemas.openxmlformats.org/drawingml/2006/main" prst="rect">
            <a:avLst/>
          </a:prstGeom>
          <a:ln xmlns:a="http://schemas.openxmlformats.org/drawingml/2006/main">
            <a:noFill/>
          </a:ln>
        </p:spPr>
      </p:pic>
      <p:sp>
        <p:nvSpPr>
          <p:cNvPr id="416" name="Google Shape;416;p16">
            <a:extLst xmlns:a="http://schemas.openxmlformats.org/drawingml/2006/main">
              <a:ext uri="{FF2B5EF4-FFF2-40B4-BE49-F238E27FC236}">
                <a16:creationId xmlns:a16="http://schemas.microsoft.com/office/drawing/2014/main" id="{6B4B9183-E2E7-47E1-83BB-0D0AFBAE7D9C}"/>
              </a:ext>
            </a:extLst>
          </p:cNvPr>
          <p:cNvSpPr>
            <a:spLocks xmlns:a="http://schemas.openxmlformats.org/drawingml/2006/main" noGrp="1"/>
          </p:cNvSpPr>
          <p:nvPr/>
        </p:nvSpPr>
        <p:spPr>
          <a:xfrm xmlns:a="http://schemas.openxmlformats.org/drawingml/2006/main">
            <a:off x="1119105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Ethereum tools</a:t>
            </a:r>
            <a:endParaRPr sz="1086"/>
          </a:p>
        </p:txBody>
      </p:sp>
      <p:sp>
        <p:nvSpPr>
          <p:cNvPr id="417" name="Google Shape;417;p16">
            <a:extLst xmlns:a="http://schemas.openxmlformats.org/drawingml/2006/main">
              <a:ext uri="{FF2B5EF4-FFF2-40B4-BE49-F238E27FC236}">
                <a16:creationId xmlns:a16="http://schemas.microsoft.com/office/drawing/2014/main" id="{5103CA91-721A-47BB-BA3D-A451772A898E}"/>
              </a:ext>
            </a:extLst>
          </p:cNvPr>
          <p:cNvSpPr>
            <a:spLocks xmlns:a="http://schemas.openxmlformats.org/drawingml/2006/main" noGrp="1"/>
          </p:cNvSpPr>
          <p:nvPr/>
        </p:nvSpPr>
        <p:spPr>
          <a:xfrm xmlns:a="http://schemas.openxmlformats.org/drawingml/2006/main">
            <a:off x="7549526" y="3716946"/>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TESTING &amp; BUILD</a:t>
            </a:r>
            <a:endParaRPr sz="1086"/>
          </a:p>
        </p:txBody>
      </p:sp>
      <p:cxnSp>
        <p:nvCxnSpPr>
          <p:cNvPr id="565" name="Google Shape;418;p16"/>
          <p:cNvCxnSpPr/>
          <p:nvPr/>
        </p:nvCxnSpPr>
        <p:spPr>
          <a:xfrm xmlns:a="http://schemas.openxmlformats.org/drawingml/2006/main">
            <a:off x="7549526" y="3864675"/>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66" name="Google Shape;419;p16"/>
          <p:cNvPicPr>
            <a:picLocks xmlns:a="http://schemas.openxmlformats.org/drawingml/2006/main" noChangeAspect="1"/>
          </p:cNvPicPr>
          <p:nvPr/>
        </p:nvPicPr>
        <p:blipFill rotWithShape="1">
          <a:blip xmlns:r="http://schemas.openxmlformats.org/officeDocument/2006/relationships" xmlns:a="http://schemas.openxmlformats.org/drawingml/2006/main" r:embed="R90b1d8c3a4504d75">
            <a:alphaModFix/>
          </a:blip>
          <a:srcRect xmlns:a="http://schemas.openxmlformats.org/drawingml/2006/main" l="0" t="0" r="0" b="0"/>
          <a:stretch xmlns:a="http://schemas.openxmlformats.org/drawingml/2006/main"/>
        </p:blipFill>
        <p:spPr>
          <a:xfrm xmlns:a="http://schemas.openxmlformats.org/drawingml/2006/main">
            <a:off x="7630777" y="3901607"/>
            <a:ext cx="709098" cy="265912"/>
          </a:xfrm>
          <a:prstGeom xmlns:a="http://schemas.openxmlformats.org/drawingml/2006/main" prst="rect">
            <a:avLst/>
          </a:prstGeom>
          <a:ln xmlns:a="http://schemas.openxmlformats.org/drawingml/2006/main">
            <a:noFill/>
          </a:ln>
        </p:spPr>
      </p:pic>
      <p:sp>
        <p:nvSpPr>
          <p:cNvPr id="420" name="Google Shape;420;p16">
            <a:extLst xmlns:a="http://schemas.openxmlformats.org/drawingml/2006/main">
              <a:ext uri="{FF2B5EF4-FFF2-40B4-BE49-F238E27FC236}">
                <a16:creationId xmlns:a16="http://schemas.microsoft.com/office/drawing/2014/main" id="{2B924A61-6E5A-4A83-B218-83DD5A53E89C}"/>
              </a:ext>
            </a:extLst>
          </p:cNvPr>
          <p:cNvSpPr>
            <a:spLocks xmlns:a="http://schemas.openxmlformats.org/drawingml/2006/main" noGrp="1"/>
          </p:cNvSpPr>
          <p:nvPr/>
        </p:nvSpPr>
        <p:spPr>
          <a:xfrm xmlns:a="http://schemas.openxmlformats.org/drawingml/2006/main">
            <a:off x="752736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pytest</a:t>
            </a:r>
            <a:endParaRPr sz="1086"/>
          </a:p>
        </p:txBody>
      </p:sp>
      <p:pic>
        <p:nvPicPr>
          <p:cNvPr id="568" name="Google Shape;421;p16"/>
          <p:cNvPicPr>
            <a:picLocks xmlns:a="http://schemas.openxmlformats.org/drawingml/2006/main" noChangeAspect="1"/>
          </p:cNvPicPr>
          <p:nvPr/>
        </p:nvPicPr>
        <p:blipFill rotWithShape="1">
          <a:blip xmlns:r="http://schemas.openxmlformats.org/officeDocument/2006/relationships" xmlns:a="http://schemas.openxmlformats.org/drawingml/2006/main" r:embed="R43550283d89b4eea">
            <a:alphaModFix/>
          </a:blip>
          <a:srcRect xmlns:a="http://schemas.openxmlformats.org/drawingml/2006/main" l="0" t="0" r="0" b="0"/>
          <a:stretch xmlns:a="http://schemas.openxmlformats.org/drawingml/2006/main"/>
        </p:blipFill>
        <p:spPr>
          <a:xfrm xmlns:a="http://schemas.openxmlformats.org/drawingml/2006/main">
            <a:off x="8546699" y="3901607"/>
            <a:ext cx="709098" cy="265912"/>
          </a:xfrm>
          <a:prstGeom xmlns:a="http://schemas.openxmlformats.org/drawingml/2006/main" prst="rect">
            <a:avLst/>
          </a:prstGeom>
          <a:ln xmlns:a="http://schemas.openxmlformats.org/drawingml/2006/main">
            <a:noFill/>
          </a:ln>
        </p:spPr>
      </p:pic>
      <p:sp>
        <p:nvSpPr>
          <p:cNvPr id="422" name="Google Shape;422;p16">
            <a:extLst xmlns:a="http://schemas.openxmlformats.org/drawingml/2006/main">
              <a:ext uri="{FF2B5EF4-FFF2-40B4-BE49-F238E27FC236}">
                <a16:creationId xmlns:a16="http://schemas.microsoft.com/office/drawing/2014/main" id="{2B409E05-A46B-457C-A47F-8E99CAE8A662}"/>
              </a:ext>
            </a:extLst>
          </p:cNvPr>
          <p:cNvSpPr>
            <a:spLocks xmlns:a="http://schemas.openxmlformats.org/drawingml/2006/main" noGrp="1"/>
          </p:cNvSpPr>
          <p:nvPr/>
        </p:nvSpPr>
        <p:spPr>
          <a:xfrm xmlns:a="http://schemas.openxmlformats.org/drawingml/2006/main">
            <a:off x="8443289"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Playwright</a:t>
            </a:r>
            <a:endParaRPr sz="1086"/>
          </a:p>
        </p:txBody>
      </p:sp>
      <p:pic>
        <p:nvPicPr>
          <p:cNvPr id="570" name="Google Shape;423;p16"/>
          <p:cNvPicPr>
            <a:picLocks xmlns:a="http://schemas.openxmlformats.org/drawingml/2006/main" noChangeAspect="1"/>
          </p:cNvPicPr>
          <p:nvPr/>
        </p:nvPicPr>
        <p:blipFill rotWithShape="1">
          <a:blip xmlns:r="http://schemas.openxmlformats.org/officeDocument/2006/relationships" xmlns:a="http://schemas.openxmlformats.org/drawingml/2006/main" r:embed="Rd46b4f893c054f4a">
            <a:alphaModFix/>
          </a:blip>
          <a:srcRect xmlns:a="http://schemas.openxmlformats.org/drawingml/2006/main" l="0" t="0" r="0" b="0"/>
          <a:stretch xmlns:a="http://schemas.openxmlformats.org/drawingml/2006/main"/>
        </p:blipFill>
        <p:spPr>
          <a:xfrm xmlns:a="http://schemas.openxmlformats.org/drawingml/2006/main">
            <a:off x="9462622" y="3901607"/>
            <a:ext cx="709098" cy="265912"/>
          </a:xfrm>
          <a:prstGeom xmlns:a="http://schemas.openxmlformats.org/drawingml/2006/main" prst="rect">
            <a:avLst/>
          </a:prstGeom>
          <a:ln xmlns:a="http://schemas.openxmlformats.org/drawingml/2006/main">
            <a:noFill/>
          </a:ln>
        </p:spPr>
      </p:pic>
      <p:sp>
        <p:nvSpPr>
          <p:cNvPr id="424" name="Google Shape;424;p16">
            <a:extLst xmlns:a="http://schemas.openxmlformats.org/drawingml/2006/main">
              <a:ext uri="{FF2B5EF4-FFF2-40B4-BE49-F238E27FC236}">
                <a16:creationId xmlns:a16="http://schemas.microsoft.com/office/drawing/2014/main" id="{4E21BD84-CD05-433E-B574-458AE1F3468F}"/>
              </a:ext>
            </a:extLst>
          </p:cNvPr>
          <p:cNvSpPr>
            <a:spLocks xmlns:a="http://schemas.openxmlformats.org/drawingml/2006/main" noGrp="1"/>
          </p:cNvSpPr>
          <p:nvPr/>
        </p:nvSpPr>
        <p:spPr>
          <a:xfrm xmlns:a="http://schemas.openxmlformats.org/drawingml/2006/main">
            <a:off x="9359211"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Ruff</a:t>
            </a:r>
            <a:endParaRPr sz="1086"/>
          </a:p>
        </p:txBody>
      </p:sp>
      <p:pic>
        <p:nvPicPr>
          <p:cNvPr id="572" name="Google Shape;425;p16"/>
          <p:cNvPicPr>
            <a:picLocks xmlns:a="http://schemas.openxmlformats.org/drawingml/2006/main" noChangeAspect="1"/>
          </p:cNvPicPr>
          <p:nvPr/>
        </p:nvPicPr>
        <p:blipFill rotWithShape="1">
          <a:blip xmlns:r="http://schemas.openxmlformats.org/officeDocument/2006/relationships" xmlns:a="http://schemas.openxmlformats.org/drawingml/2006/main" r:embed="Rcdf21ca9ceed4f4d">
            <a:alphaModFix/>
          </a:blip>
          <a:srcRect xmlns:a="http://schemas.openxmlformats.org/drawingml/2006/main" l="0" t="0" r="0" b="0"/>
          <a:stretch xmlns:a="http://schemas.openxmlformats.org/drawingml/2006/main"/>
        </p:blipFill>
        <p:spPr>
          <a:xfrm xmlns:a="http://schemas.openxmlformats.org/drawingml/2006/main">
            <a:off x="10378544" y="3901607"/>
            <a:ext cx="709098" cy="265912"/>
          </a:xfrm>
          <a:prstGeom xmlns:a="http://schemas.openxmlformats.org/drawingml/2006/main" prst="rect">
            <a:avLst/>
          </a:prstGeom>
          <a:ln xmlns:a="http://schemas.openxmlformats.org/drawingml/2006/main">
            <a:noFill/>
          </a:ln>
        </p:spPr>
      </p:pic>
      <p:sp>
        <p:nvSpPr>
          <p:cNvPr id="426" name="Google Shape;426;p16">
            <a:extLst xmlns:a="http://schemas.openxmlformats.org/drawingml/2006/main">
              <a:ext uri="{FF2B5EF4-FFF2-40B4-BE49-F238E27FC236}">
                <a16:creationId xmlns:a16="http://schemas.microsoft.com/office/drawing/2014/main" id="{87C6AE71-6EE3-40CF-856F-B2F2CC6319B4}"/>
              </a:ext>
            </a:extLst>
          </p:cNvPr>
          <p:cNvSpPr>
            <a:spLocks xmlns:a="http://schemas.openxmlformats.org/drawingml/2006/main" noGrp="1"/>
          </p:cNvSpPr>
          <p:nvPr/>
        </p:nvSpPr>
        <p:spPr>
          <a:xfrm xmlns:a="http://schemas.openxmlformats.org/drawingml/2006/main">
            <a:off x="10275134"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Prettier</a:t>
            </a:r>
            <a:endParaRPr sz="1086"/>
          </a:p>
        </p:txBody>
      </p:sp>
      <p:pic>
        <p:nvPicPr>
          <p:cNvPr id="574" name="Google Shape;427;p16"/>
          <p:cNvPicPr>
            <a:picLocks xmlns:a="http://schemas.openxmlformats.org/drawingml/2006/main" noChangeAspect="1"/>
          </p:cNvPicPr>
          <p:nvPr/>
        </p:nvPicPr>
        <p:blipFill rotWithShape="1">
          <a:blip xmlns:r="http://schemas.openxmlformats.org/officeDocument/2006/relationships" xmlns:a="http://schemas.openxmlformats.org/drawingml/2006/main" r:embed="Rccb77195e26143b3">
            <a:alphaModFix/>
          </a:blip>
          <a:srcRect xmlns:a="http://schemas.openxmlformats.org/drawingml/2006/main" l="0" t="0" r="0" b="0"/>
          <a:stretch xmlns:a="http://schemas.openxmlformats.org/drawingml/2006/main"/>
        </p:blipFill>
        <p:spPr>
          <a:xfrm xmlns:a="http://schemas.openxmlformats.org/drawingml/2006/main">
            <a:off x="11294467" y="3901607"/>
            <a:ext cx="709098" cy="265912"/>
          </a:xfrm>
          <a:prstGeom xmlns:a="http://schemas.openxmlformats.org/drawingml/2006/main" prst="rect">
            <a:avLst/>
          </a:prstGeom>
          <a:ln xmlns:a="http://schemas.openxmlformats.org/drawingml/2006/main">
            <a:noFill/>
          </a:ln>
        </p:spPr>
      </p:pic>
      <p:sp>
        <p:nvSpPr>
          <p:cNvPr id="428" name="Google Shape;428;p16">
            <a:extLst xmlns:a="http://schemas.openxmlformats.org/drawingml/2006/main">
              <a:ext uri="{FF2B5EF4-FFF2-40B4-BE49-F238E27FC236}">
                <a16:creationId xmlns:a16="http://schemas.microsoft.com/office/drawing/2014/main" id="{D052C04E-18AE-410D-AF8F-C9E0C7DD6E72}"/>
              </a:ext>
            </a:extLst>
          </p:cNvPr>
          <p:cNvSpPr>
            <a:spLocks xmlns:a="http://schemas.openxmlformats.org/drawingml/2006/main" noGrp="1"/>
          </p:cNvSpPr>
          <p:nvPr/>
        </p:nvSpPr>
        <p:spPr>
          <a:xfrm xmlns:a="http://schemas.openxmlformats.org/drawingml/2006/main">
            <a:off x="1119105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pnpm</a:t>
            </a:r>
            <a:endParaRPr sz="1086"/>
          </a:p>
        </p:txBody>
      </p:sp>
      <p:sp>
        <p:nvSpPr>
          <p:cNvPr id="429" name="Google Shape;429;p16">
            <a:extLst xmlns:a="http://schemas.openxmlformats.org/drawingml/2006/main">
              <a:ext uri="{FF2B5EF4-FFF2-40B4-BE49-F238E27FC236}">
                <a16:creationId xmlns:a16="http://schemas.microsoft.com/office/drawing/2014/main" id="{B345779D-E189-446E-96B3-2CFEF2C69905}"/>
              </a:ext>
            </a:extLst>
          </p:cNvPr>
          <p:cNvSpPr>
            <a:spLocks xmlns:a="http://schemas.openxmlformats.org/drawingml/2006/main" noGrp="1"/>
          </p:cNvSpPr>
          <p:nvPr/>
        </p:nvSpPr>
        <p:spPr>
          <a:xfrm xmlns:a="http://schemas.openxmlformats.org/drawingml/2006/main">
            <a:off x="7549526" y="4426045"/>
            <a:ext cx="26517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788">
                <a:latin typeface="Arial"/>
                <a:ea typeface="Arial"/>
                <a:cs typeface="Arial"/>
              </a:defRPr>
            </a:pPr>
            <a:r>
              <a:rPr sz="788" b="1" i="0" u="none" cap="none">
                <a:solidFill>
                  <a:srgbClr val="526273"/>
                </a:solidFill>
                <a:latin typeface="Arial"/>
                <a:ea typeface="Arial"/>
                <a:cs typeface="Arial"/>
              </a:rPr>
              <a:t>LOCAL RUNTIME</a:t>
            </a:r>
            <a:endParaRPr sz="1086"/>
          </a:p>
        </p:txBody>
      </p:sp>
      <p:sp>
        <p:nvSpPr>
          <p:cNvPr id="430" name="Google Shape;430;p16">
            <a:extLst xmlns:a="http://schemas.openxmlformats.org/drawingml/2006/main">
              <a:ext uri="{FF2B5EF4-FFF2-40B4-BE49-F238E27FC236}">
                <a16:creationId xmlns:a16="http://schemas.microsoft.com/office/drawing/2014/main" id="{459FF5C1-456C-419E-8AC4-41C45C217395}"/>
              </a:ext>
            </a:extLst>
          </p:cNvPr>
          <p:cNvSpPr>
            <a:spLocks xmlns:a="http://schemas.openxmlformats.org/drawingml/2006/main" noGrp="1"/>
          </p:cNvSpPr>
          <p:nvPr/>
        </p:nvSpPr>
        <p:spPr>
          <a:xfrm xmlns:a="http://schemas.openxmlformats.org/drawingml/2006/main">
            <a:off x="10297293" y="4426045"/>
            <a:ext cx="18096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EVIDENCE STANDARDS</a:t>
            </a:r>
            <a:endParaRPr sz="1086"/>
          </a:p>
        </p:txBody>
      </p:sp>
      <p:cxnSp>
        <p:nvCxnSpPr>
          <p:cNvPr id="578" name="Google Shape;431;p16"/>
          <p:cNvCxnSpPr/>
          <p:nvPr/>
        </p:nvCxnSpPr>
        <p:spPr>
          <a:xfrm xmlns:a="http://schemas.openxmlformats.org/drawingml/2006/main">
            <a:off x="7549526" y="457377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79" name="Google Shape;436;p16"/>
          <p:cNvPicPr>
            <a:picLocks xmlns:a="http://schemas.openxmlformats.org/drawingml/2006/main" noChangeAspect="1"/>
          </p:cNvPicPr>
          <p:nvPr/>
        </p:nvPicPr>
        <p:blipFill rotWithShape="1">
          <a:blip xmlns:r="http://schemas.openxmlformats.org/officeDocument/2006/relationships" xmlns:a="http://schemas.openxmlformats.org/drawingml/2006/main" r:embed="Rf71808c9e12c4d55">
            <a:alphaModFix/>
          </a:blip>
          <a:srcRect xmlns:a="http://schemas.openxmlformats.org/drawingml/2006/main" l="0" t="0" r="0" b="0"/>
          <a:stretch xmlns:a="http://schemas.openxmlformats.org/drawingml/2006/main"/>
        </p:blipFill>
        <p:spPr>
          <a:xfrm xmlns:a="http://schemas.openxmlformats.org/drawingml/2006/main">
            <a:off x="9492168" y="4625479"/>
            <a:ext cx="635234" cy="214207"/>
          </a:xfrm>
          <a:prstGeom xmlns:a="http://schemas.openxmlformats.org/drawingml/2006/main" prst="rect">
            <a:avLst/>
          </a:prstGeom>
          <a:ln xmlns:a="http://schemas.openxmlformats.org/drawingml/2006/main">
            <a:noFill/>
          </a:ln>
        </p:spPr>
      </p:pic>
      <p:sp>
        <p:nvSpPr>
          <p:cNvPr id="437" name="Google Shape;437;p16">
            <a:extLst xmlns:a="http://schemas.openxmlformats.org/drawingml/2006/main">
              <a:ext uri="{FF2B5EF4-FFF2-40B4-BE49-F238E27FC236}">
                <a16:creationId xmlns:a16="http://schemas.microsoft.com/office/drawing/2014/main" id="{C876BFDD-6AF6-420C-A124-5C15D9E189F5}"/>
              </a:ext>
            </a:extLst>
          </p:cNvPr>
          <p:cNvSpPr>
            <a:spLocks xmlns:a="http://schemas.openxmlformats.org/drawingml/2006/main" noGrp="1"/>
          </p:cNvSpPr>
          <p:nvPr/>
        </p:nvSpPr>
        <p:spPr>
          <a:xfrm xmlns:a="http://schemas.openxmlformats.org/drawingml/2006/main">
            <a:off x="9359211"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Node.js</a:t>
            </a:r>
            <a:endParaRPr sz="1086"/>
          </a:p>
        </p:txBody>
      </p:sp>
      <p:pic>
        <p:nvPicPr>
          <p:cNvPr id="581" name="Google Shape;438;p16"/>
          <p:cNvPicPr>
            <a:picLocks xmlns:a="http://schemas.openxmlformats.org/drawingml/2006/main" noChangeAspect="1"/>
          </p:cNvPicPr>
          <p:nvPr/>
        </p:nvPicPr>
        <p:blipFill rotWithShape="1">
          <a:blip xmlns:r="http://schemas.openxmlformats.org/officeDocument/2006/relationships" xmlns:a="http://schemas.openxmlformats.org/drawingml/2006/main" r:embed="Rdef8f9807928477e">
            <a:alphaModFix/>
          </a:blip>
          <a:srcRect xmlns:a="http://schemas.openxmlformats.org/drawingml/2006/main" l="0" t="0" r="0" b="0"/>
          <a:stretch xmlns:a="http://schemas.openxmlformats.org/drawingml/2006/main"/>
        </p:blipFill>
        <p:spPr>
          <a:xfrm xmlns:a="http://schemas.openxmlformats.org/drawingml/2006/main">
            <a:off x="10607525" y="4632865"/>
            <a:ext cx="214207" cy="214207"/>
          </a:xfrm>
          <a:prstGeom xmlns:a="http://schemas.openxmlformats.org/drawingml/2006/main" prst="rect">
            <a:avLst/>
          </a:prstGeom>
          <a:ln xmlns:a="http://schemas.openxmlformats.org/drawingml/2006/main">
            <a:noFill/>
          </a:ln>
        </p:spPr>
      </p:pic>
      <p:sp>
        <p:nvSpPr>
          <p:cNvPr id="439" name="Google Shape;439;p16">
            <a:extLst xmlns:a="http://schemas.openxmlformats.org/drawingml/2006/main">
              <a:ext uri="{FF2B5EF4-FFF2-40B4-BE49-F238E27FC236}">
                <a16:creationId xmlns:a16="http://schemas.microsoft.com/office/drawing/2014/main" id="{6848D566-3739-48E0-A98D-6ABCF92916A9}"/>
              </a:ext>
            </a:extLst>
          </p:cNvPr>
          <p:cNvSpPr>
            <a:spLocks xmlns:a="http://schemas.openxmlformats.org/drawingml/2006/main" noGrp="1"/>
          </p:cNvSpPr>
          <p:nvPr/>
        </p:nvSpPr>
        <p:spPr>
          <a:xfrm xmlns:a="http://schemas.openxmlformats.org/drawingml/2006/main">
            <a:off x="10275134"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Ed25519</a:t>
            </a:r>
            <a:endParaRPr sz="1086"/>
          </a:p>
        </p:txBody>
      </p:sp>
      <p:pic>
        <p:nvPicPr>
          <p:cNvPr id="583" name="Google Shape;440;p16"/>
          <p:cNvPicPr>
            <a:picLocks xmlns:a="http://schemas.openxmlformats.org/drawingml/2006/main" noChangeAspect="1"/>
          </p:cNvPicPr>
          <p:nvPr/>
        </p:nvPicPr>
        <p:blipFill rotWithShape="1">
          <a:blip xmlns:r="http://schemas.openxmlformats.org/officeDocument/2006/relationships" xmlns:a="http://schemas.openxmlformats.org/drawingml/2006/main" r:embed="R40fa619cd8c942dd">
            <a:alphaModFix/>
          </a:blip>
          <a:srcRect xmlns:a="http://schemas.openxmlformats.org/drawingml/2006/main" l="0" t="0" r="0" b="0"/>
          <a:stretch xmlns:a="http://schemas.openxmlformats.org/drawingml/2006/main"/>
        </p:blipFill>
        <p:spPr>
          <a:xfrm xmlns:a="http://schemas.openxmlformats.org/drawingml/2006/main">
            <a:off x="11523448" y="4632865"/>
            <a:ext cx="214207" cy="214207"/>
          </a:xfrm>
          <a:prstGeom xmlns:a="http://schemas.openxmlformats.org/drawingml/2006/main" prst="rect">
            <a:avLst/>
          </a:prstGeom>
          <a:ln xmlns:a="http://schemas.openxmlformats.org/drawingml/2006/main">
            <a:noFill/>
          </a:ln>
        </p:spPr>
      </p:pic>
      <p:sp>
        <p:nvSpPr>
          <p:cNvPr id="441" name="Google Shape;441;p16">
            <a:extLst xmlns:a="http://schemas.openxmlformats.org/drawingml/2006/main">
              <a:ext uri="{FF2B5EF4-FFF2-40B4-BE49-F238E27FC236}">
                <a16:creationId xmlns:a16="http://schemas.microsoft.com/office/drawing/2014/main" id="{E6F2C0C3-414A-431F-B537-1689764CC5BB}"/>
              </a:ext>
            </a:extLst>
          </p:cNvPr>
          <p:cNvSpPr>
            <a:spLocks xmlns:a="http://schemas.openxmlformats.org/drawingml/2006/main" noGrp="1"/>
          </p:cNvSpPr>
          <p:nvPr/>
        </p:nvSpPr>
        <p:spPr>
          <a:xfrm xmlns:a="http://schemas.openxmlformats.org/drawingml/2006/main">
            <a:off x="11191056"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SHA-256</a:t>
            </a:r>
            <a:endParaRPr sz="1086"/>
          </a:p>
        </p:txBody>
      </p:sp>
      <p:sp>
        <p:nvSpPr>
          <p:cNvPr id="468" name="">
            <a:extLst xmlns:a="http://schemas.openxmlformats.org/drawingml/2006/main">
              <a:ext uri="{FF2B5EF4-FFF2-40B4-BE49-F238E27FC236}">
                <a16:creationId xmlns:a16="http://schemas.microsoft.com/office/drawing/2014/main" id="{88FD0849-88DD-4E8B-A49E-371CC5BB5FC8}"/>
              </a:ext>
            </a:extLst>
          </p:cNvPr>
          <p:cNvSpPr>
            <a:spLocks xmlns:a="http://schemas.openxmlformats.org/drawingml/2006/main" noGrp="1"/>
          </p:cNvSpPr>
          <p:nvPr/>
        </p:nvSpPr>
        <p:spPr>
          <a:xfrm xmlns:a="http://schemas.openxmlformats.org/drawingml/2006/main">
            <a:off x="7581900" y="46767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234D7F"/>
                </a:solidFill>
                <a:latin typeface="Arial"/>
                <a:ea typeface="Arial"/>
                <a:cs typeface="Arial"/>
              </a:defRPr>
            </a:pPr>
            <a:r>
              <a:rPr sz="1050" b="0">
                <a:solidFill>
                  <a:srgbClr val="234D7F"/>
                </a:solidFill>
                <a:latin typeface="Arial"/>
                <a:ea typeface="Arial"/>
                <a:cs typeface="Arial"/>
              </a:rPr>
              <a:t>Python worker + SQLite</a:t>
            </a:r>
          </a:p>
        </p:txBody>
      </p:sp>
      <p:sp>
        <p:nvSpPr>
          <p:cNvPr id="469" name="">
            <a:extLst xmlns:a="http://schemas.openxmlformats.org/drawingml/2006/main">
              <a:ext uri="{FF2B5EF4-FFF2-40B4-BE49-F238E27FC236}">
                <a16:creationId xmlns:a16="http://schemas.microsoft.com/office/drawing/2014/main" id="{3F1C46FE-1272-40FC-85E3-A988198BC467}"/>
              </a:ext>
            </a:extLst>
          </p:cNvPr>
          <p:cNvSpPr>
            <a:spLocks xmlns:a="http://schemas.openxmlformats.org/drawingml/2006/main" noGrp="1"/>
          </p:cNvSpPr>
          <p:nvPr/>
        </p:nvSpPr>
        <p:spPr>
          <a:xfrm xmlns:a="http://schemas.openxmlformats.org/drawingml/2006/main">
            <a:off x="6191250" y="59817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234D7F"/>
                </a:solidFill>
                <a:latin typeface="Arial"/>
                <a:ea typeface="Arial"/>
                <a:cs typeface="Arial"/>
              </a:defRPr>
            </a:pPr>
            <a:r>
              <a:rPr sz="1125" b="1">
                <a:solidFill>
                  <a:srgbClr val="234D7F"/>
                </a:solidFill>
                <a:latin typeface="Arial"/>
                <a:ea typeface="Arial"/>
                <a:cs typeface="Arial"/>
                <a:hlinkClick xmlns:ns1="http://schemas.openxmlformats.org/officeDocument/2006/relationships" ns1:id="rIdMethod20260929repo"/>
              </a:rPr>
              <a:t>REPO (PRIVATE): github.com/notvinayaks/TraceSetu</a:t>
            </a:r>
          </a:p>
        </p:txBody>
      </p:sp>
    </p:spTree>
    <p:extLst>
      <p:ext uri="{BB962C8B-B14F-4D97-AF65-F5344CB8AC3E}">
        <p14:creationId xmlns:p14="http://schemas.microsoft.com/office/powerpoint/2010/main" val="14604056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BFDA6ADC-4FE7-49F2-86AA-D2BFECE517FA}"/>
              </a:ext>
            </a:extLst>
          </p:cNvPr>
          <p:cNvSpPr>
            <a:spLocks xmlns:a="http://schemas.openxmlformats.org/drawingml/2006/main" noGrp="1"/>
          </p:cNvSpPr>
          <p:nvPr/>
        </p:nvSpPr>
        <p:spPr>
          <a:xfrm xmlns:a="http://schemas.openxmlformats.org/drawingml/2006/main">
            <a:off x="333375" y="1381125"/>
            <a:ext cx="268605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8" name="Google Shape;448;p17">
            <a:extLst xmlns:a="http://schemas.openxmlformats.org/drawingml/2006/main">
              <a:ext uri="{FF2B5EF4-FFF2-40B4-BE49-F238E27FC236}">
                <a16:creationId xmlns:a16="http://schemas.microsoft.com/office/drawing/2014/main" id="{32AAA16B-5C92-4E0E-ADD0-58CD0BA4A121}"/>
              </a:ext>
            </a:extLst>
          </p:cNvPr>
          <p:cNvSpPr>
            <a:spLocks xmlns:a="http://schemas.openxmlformats.org/drawingml/2006/main" noGrp="1"/>
          </p:cNvSpPr>
          <p:nvPr/>
        </p:nvSpPr>
        <p:spPr>
          <a:xfrm xmlns:a="http://schemas.openxmlformats.org/drawingml/2006/main">
            <a:off x="419100" y="1428750"/>
            <a:ext cx="2514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FEASIBILITY ANALYSIS</a:t>
            </a:r>
            <a:endParaRPr/>
          </a:p>
        </p:txBody>
      </p:sp>
      <p:sp>
        <p:nvSpPr>
          <p:cNvPr id="449" name="Google Shape;449;p17">
            <a:extLst xmlns:a="http://schemas.openxmlformats.org/drawingml/2006/main">
              <a:ext uri="{FF2B5EF4-FFF2-40B4-BE49-F238E27FC236}">
                <a16:creationId xmlns:a16="http://schemas.microsoft.com/office/drawing/2014/main" id="{562A7CC8-9266-4D3D-B18F-A3FCAFF094F9}"/>
              </a:ext>
            </a:extLst>
          </p:cNvPr>
          <p:cNvSpPr>
            <a:spLocks xmlns:a="http://schemas.openxmlformats.org/drawingml/2006/main" noGrp="1"/>
          </p:cNvSpPr>
          <p:nvPr/>
        </p:nvSpPr>
        <p:spPr>
          <a:xfrm xmlns:a="http://schemas.openxmlformats.org/drawingml/2006/main">
            <a:off x="3248025" y="1381125"/>
            <a:ext cx="464820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0" name="Google Shape;450;p17">
            <a:extLst xmlns:a="http://schemas.openxmlformats.org/drawingml/2006/main">
              <a:ext uri="{FF2B5EF4-FFF2-40B4-BE49-F238E27FC236}">
                <a16:creationId xmlns:a16="http://schemas.microsoft.com/office/drawing/2014/main" id="{A59B94B3-3DE2-4578-BBA8-F3F3667E84C5}"/>
              </a:ext>
            </a:extLst>
          </p:cNvPr>
          <p:cNvSpPr>
            <a:spLocks xmlns:a="http://schemas.openxmlformats.org/drawingml/2006/main" noGrp="1"/>
          </p:cNvSpPr>
          <p:nvPr/>
        </p:nvSpPr>
        <p:spPr>
          <a:xfrm xmlns:a="http://schemas.openxmlformats.org/drawingml/2006/main">
            <a:off x="3333750" y="1428750"/>
            <a:ext cx="4476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CURRENT PROTOTYPE</a:t>
            </a:r>
            <a:endParaRPr/>
          </a:p>
        </p:txBody>
      </p:sp>
      <p:sp>
        <p:nvSpPr>
          <p:cNvPr id="451" name="Google Shape;451;p17">
            <a:extLst xmlns:a="http://schemas.openxmlformats.org/drawingml/2006/main">
              <a:ext uri="{FF2B5EF4-FFF2-40B4-BE49-F238E27FC236}">
                <a16:creationId xmlns:a16="http://schemas.microsoft.com/office/drawing/2014/main" id="{D4058043-2DB9-4F9E-83AA-42B55FB5EDCE}"/>
              </a:ext>
            </a:extLst>
          </p:cNvPr>
          <p:cNvSpPr>
            <a:spLocks xmlns:a="http://schemas.openxmlformats.org/drawingml/2006/main" noGrp="1"/>
          </p:cNvSpPr>
          <p:nvPr/>
        </p:nvSpPr>
        <p:spPr>
          <a:xfrm xmlns:a="http://schemas.openxmlformats.org/drawingml/2006/main">
            <a:off x="8124825" y="1381125"/>
            <a:ext cx="3762375"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2" name="Google Shape;452;p17">
            <a:extLst xmlns:a="http://schemas.openxmlformats.org/drawingml/2006/main">
              <a:ext uri="{FF2B5EF4-FFF2-40B4-BE49-F238E27FC236}">
                <a16:creationId xmlns:a16="http://schemas.microsoft.com/office/drawing/2014/main" id="{CA866F48-7246-4F96-9FC3-4F62F35F00F3}"/>
              </a:ext>
            </a:extLst>
          </p:cNvPr>
          <p:cNvSpPr>
            <a:spLocks xmlns:a="http://schemas.openxmlformats.org/drawingml/2006/main" noGrp="1"/>
          </p:cNvSpPr>
          <p:nvPr/>
        </p:nvSpPr>
        <p:spPr>
          <a:xfrm xmlns:a="http://schemas.openxmlformats.org/drawingml/2006/main">
            <a:off x="8210550" y="1428750"/>
            <a:ext cx="35909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VIABILITY &amp; CONTROLS</a:t>
            </a:r>
            <a:endParaRPr/>
          </a:p>
        </p:txBody>
      </p:sp>
      <p:sp>
        <p:nvSpPr>
          <p:cNvPr id="453" name="Google Shape;453;p17">
            <a:extLst xmlns:a="http://schemas.openxmlformats.org/drawingml/2006/main">
              <a:ext uri="{FF2B5EF4-FFF2-40B4-BE49-F238E27FC236}">
                <a16:creationId xmlns:a16="http://schemas.microsoft.com/office/drawing/2014/main" id="{5F579FF1-2718-408A-BB0E-70F89BD10842}"/>
              </a:ext>
            </a:extLst>
          </p:cNvPr>
          <p:cNvSpPr>
            <a:spLocks xmlns:a="http://schemas.openxmlformats.org/drawingml/2006/main" noGrp="1"/>
          </p:cNvSpPr>
          <p:nvPr/>
        </p:nvSpPr>
        <p:spPr>
          <a:xfrm xmlns:a="http://schemas.openxmlformats.org/drawingml/2006/main">
            <a:off x="3248025" y="1752600"/>
            <a:ext cx="4648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defRPr sz="1050">
                <a:latin typeface="Arial"/>
                <a:ea typeface="Arial"/>
                <a:cs typeface="Arial"/>
              </a:defRPr>
            </a:pPr>
            <a:r>
              <a:rPr sz="1050" b="1" i="0" u="none" cap="none">
                <a:solidFill>
                  <a:srgbClr val="526273"/>
                </a:solidFill>
                <a:latin typeface="Arial"/>
                <a:ea typeface="Arial"/>
                <a:cs typeface="Arial"/>
              </a:rPr>
              <a:t>Existing MVP: synthetic custody case, not the new inference method</a:t>
            </a:r>
          </a:p>
        </p:txBody>
      </p:sp>
      <p:pic>
        <p:nvPicPr>
          <p:cNvPr id="499" name="Google Shape;454;p17"/>
          <p:cNvPicPr>
            <a:picLocks xmlns:a="http://schemas.openxmlformats.org/drawingml/2006/main" noChangeAspect="1"/>
          </p:cNvPicPr>
          <p:nvPr/>
        </p:nvPicPr>
        <p:blipFill rotWithShape="1">
          <a:blip xmlns:r="http://schemas.openxmlformats.org/officeDocument/2006/relationships" xmlns:a="http://schemas.openxmlformats.org/drawingml/2006/main" r:embed="Rb3fe4309c175499e">
            <a:alphaModFix/>
          </a:blip>
          <a:srcRect xmlns:a="http://schemas.openxmlformats.org/drawingml/2006/main" l="0" t="0" r="0" b="0"/>
          <a:stretch xmlns:a="http://schemas.openxmlformats.org/drawingml/2006/main"/>
        </p:blipFill>
        <p:spPr>
          <a:xfrm xmlns:a="http://schemas.openxmlformats.org/drawingml/2006/main">
            <a:off x="3343488" y="2028825"/>
            <a:ext cx="4457274" cy="3095625"/>
          </a:xfrm>
          <a:prstGeom xmlns:a="http://schemas.openxmlformats.org/drawingml/2006/main" prst="rect">
            <a:avLst/>
          </a:prstGeom>
          <a:ln xmlns:a="http://schemas.openxmlformats.org/drawingml/2006/main">
            <a:noFill/>
          </a:ln>
        </p:spPr>
      </p:pic>
      <p:pic>
        <p:nvPicPr>
          <p:cNvPr id="500" name="Google Shape;455;p17"/>
          <p:cNvPicPr>
            <a:picLocks xmlns:a="http://schemas.openxmlformats.org/drawingml/2006/main" noChangeAspect="1"/>
          </p:cNvPicPr>
          <p:nvPr/>
        </p:nvPicPr>
        <p:blipFill rotWithShape="1">
          <a:blip xmlns:r="http://schemas.openxmlformats.org/officeDocument/2006/relationships" xmlns:a="http://schemas.openxmlformats.org/drawingml/2006/main" r:embed="R66615cd04b774cf3">
            <a:alphaModFix/>
          </a:blip>
          <a:srcRect xmlns:a="http://schemas.openxmlformats.org/drawingml/2006/main" l="0" t="0" r="0" b="0"/>
          <a:stretch xmlns:a="http://schemas.openxmlformats.org/drawingml/2006/main"/>
        </p:blipFill>
        <p:spPr>
          <a:xfrm xmlns:a="http://schemas.openxmlformats.org/drawingml/2006/main">
            <a:off x="3350345" y="5219700"/>
            <a:ext cx="4443560" cy="1028700"/>
          </a:xfrm>
          <a:prstGeom xmlns:a="http://schemas.openxmlformats.org/drawingml/2006/main" prst="rect">
            <a:avLst/>
          </a:prstGeom>
          <a:ln xmlns:a="http://schemas.openxmlformats.org/drawingml/2006/main">
            <a:noFill/>
          </a:ln>
        </p:spPr>
      </p:pic>
      <p:graphicFrame>
        <p:nvGraphicFramePr>
          <p:cNvPr id="501" name="Google Shape;456;p17"/>
          <p:cNvGraphicFramePr/>
          <p:nvPr/>
        </p:nvGraphicFramePr>
        <p:xfrm>
          <a:off xmlns:a="http://schemas.openxmlformats.org/drawingml/2006/main" x="8124825" y="1838325"/>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190625"/>
                <a:gridCol w="2571750"/>
              </a:tblGrid>
              <a:tr h="342900">
                <a:tc>
                  <a:txBody>
                    <a:bodyPr/>
                    <a:lstStyle/>
                    <a:p>
                      <a:pPr marL="0" marR="0" lvl="0" indent="0" algn="l">
                        <a:spcBef>
                          <a:spcPts val="0"/>
                        </a:spcBef>
                        <a:spcAft>
                          <a:spcPts val="0"/>
                        </a:spcAft>
                        <a:buNone/>
                      </a:pPr>
                      <a:r>
                        <a:rPr sz="1200" b="1" u="none" cap="none">
                          <a:solidFill>
                            <a:srgbClr val="FFFFFF"/>
                          </a:solidFill>
                          <a:latin typeface="Arial"/>
                          <a:ea typeface="Arial"/>
                          <a:cs typeface="Arial"/>
                        </a:rPr>
                        <a:t>Risk</a:t>
                      </a:r>
                    </a:p>
                  </a:txBody>
                  <a:tcPr marL="95250" marR="76200" marT="66675" marB="66675" anchor="ctr">
                    <a:solidFill>
                      <a:srgbClr val="1F497D"/>
                    </a:solidFill>
                  </a:tcPr>
                </a:tc>
                <a:tc>
                  <a:txBody>
                    <a:bodyPr/>
                    <a:lstStyle/>
                    <a:p>
                      <a:pPr marL="0" marR="0" lvl="0" indent="0" algn="l">
                        <a:spcBef>
                          <a:spcPts val="0"/>
                        </a:spcBef>
                        <a:spcAft>
                          <a:spcPts val="0"/>
                        </a:spcAft>
                        <a:buNone/>
                      </a:pPr>
                      <a:r>
                        <a:rPr sz="1200" b="1">
                          <a:solidFill>
                            <a:srgbClr val="FFFFFF"/>
                          </a:solidFill>
                          <a:latin typeface="Arial"/>
                          <a:ea typeface="Arial"/>
                          <a:cs typeface="Arial"/>
                        </a:rPr>
                        <a:t>Control</a:t>
                      </a:r>
                    </a:p>
                  </a:txBody>
                  <a:tcPr marL="95250" marR="76200" marT="66675" marB="66675" anchor="ctr">
                    <a:solidFill>
                      <a:srgbClr val="1F497D"/>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Customer looks like deposit</a:t>
                      </a: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Require corroboration; keep hypothesis</a:t>
                      </a: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Wrong service seed</a:t>
                      </a: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Source challenge and validity checks</a:t>
                      </a: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Missing history</a:t>
                      </a: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Abstain; show unexpanded branches</a:t>
                      </a: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Operational access</a:t>
                      </a: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Independent review; SAHYOG pending</a:t>
                      </a:r>
                    </a:p>
                  </a:txBody>
                  <a:tcPr marL="95250" marR="76200" marT="66675" marB="66675" anchor="ctr">
                    <a:solidFill>
                      <a:srgbClr val="EDF3F9"/>
                    </a:solidFill>
                  </a:tcPr>
                </a:tc>
              </a:tr>
            </a:tbl>
          </a:graphicData>
        </a:graphic>
      </p:graphicFrame>
      <p:sp>
        <p:nvSpPr>
          <p:cNvPr id="457" name="Google Shape;457;p17">
            <a:extLst xmlns:a="http://schemas.openxmlformats.org/drawingml/2006/main">
              <a:ext uri="{FF2B5EF4-FFF2-40B4-BE49-F238E27FC236}">
                <a16:creationId xmlns:a16="http://schemas.microsoft.com/office/drawing/2014/main" id="{ADCDABB8-AB66-45C3-91AF-F0D1E317DD9F}"/>
              </a:ext>
            </a:extLst>
          </p:cNvPr>
          <p:cNvSpPr>
            <a:spLocks xmlns:a="http://schemas.openxmlformats.org/drawingml/2006/main" noGrp="1"/>
          </p:cNvSpPr>
          <p:nvPr/>
        </p:nvSpPr>
        <p:spPr>
          <a:xfrm xmlns:a="http://schemas.openxmlformats.org/drawingml/2006/main">
            <a:off x="8124825" y="4457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1F497D"/>
                </a:solidFill>
                <a:latin typeface="Arial"/>
                <a:ea typeface="Arial"/>
                <a:cs typeface="Arial"/>
              </a:rPr>
              <a:t>Validation before deployment</a:t>
            </a:r>
          </a:p>
        </p:txBody>
      </p:sp>
      <p:sp>
        <p:nvSpPr>
          <p:cNvPr id="458" name="Google Shape;458;p17">
            <a:extLst xmlns:a="http://schemas.openxmlformats.org/drawingml/2006/main">
              <a:ext uri="{FF2B5EF4-FFF2-40B4-BE49-F238E27FC236}">
                <a16:creationId xmlns:a16="http://schemas.microsoft.com/office/drawing/2014/main" id="{812B6F38-8FF3-4B2D-9F05-EB11FFF40BDB}"/>
              </a:ext>
            </a:extLst>
          </p:cNvPr>
          <p:cNvSpPr>
            <a:spLocks xmlns:a="http://schemas.openxmlformats.org/drawingml/2006/main" noGrp="1"/>
          </p:cNvSpPr>
          <p:nvPr/>
        </p:nvSpPr>
        <p:spPr>
          <a:xfrm xmlns:a="http://schemas.openxmlformats.org/drawingml/2006/main">
            <a:off x="8124825" y="4838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1  Independent evaluation</a:t>
            </a:r>
          </a:p>
        </p:txBody>
      </p:sp>
      <p:sp>
        <p:nvSpPr>
          <p:cNvPr id="459" name="Google Shape;459;p17">
            <a:extLst xmlns:a="http://schemas.openxmlformats.org/drawingml/2006/main">
              <a:ext uri="{FF2B5EF4-FFF2-40B4-BE49-F238E27FC236}">
                <a16:creationId xmlns:a16="http://schemas.microsoft.com/office/drawing/2014/main" id="{DF8FA0B2-DD87-490F-A68E-E3846A7D524F}"/>
              </a:ext>
            </a:extLst>
          </p:cNvPr>
          <p:cNvSpPr>
            <a:spLocks xmlns:a="http://schemas.openxmlformats.org/drawingml/2006/main" noGrp="1"/>
          </p:cNvSpPr>
          <p:nvPr/>
        </p:nvSpPr>
        <p:spPr>
          <a:xfrm xmlns:a="http://schemas.openxmlformats.org/drawingml/2006/main">
            <a:off x="8124825" y="5133975"/>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Hide deposit labels; test time and wallet splits.</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Measure precision, coverage and review time.</a:t>
            </a:r>
          </a:p>
        </p:txBody>
      </p:sp>
      <p:sp>
        <p:nvSpPr>
          <p:cNvPr id="460" name="Google Shape;460;p17">
            <a:extLst xmlns:a="http://schemas.openxmlformats.org/drawingml/2006/main">
              <a:ext uri="{FF2B5EF4-FFF2-40B4-BE49-F238E27FC236}">
                <a16:creationId xmlns:a16="http://schemas.microsoft.com/office/drawing/2014/main" id="{249BA9BD-7DB3-4E32-A0D8-38A747F33570}"/>
              </a:ext>
            </a:extLst>
          </p:cNvPr>
          <p:cNvSpPr>
            <a:spLocks xmlns:a="http://schemas.openxmlformats.org/drawingml/2006/main" noGrp="1"/>
          </p:cNvSpPr>
          <p:nvPr/>
        </p:nvSpPr>
        <p:spPr>
          <a:xfrm xmlns:a="http://schemas.openxmlformats.org/drawingml/2006/main">
            <a:off x="8124825" y="5610225"/>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8064A2"/>
                </a:solidFill>
                <a:latin typeface="Arial"/>
                <a:ea typeface="Arial"/>
                <a:cs typeface="Arial"/>
              </a:rPr>
              <a:t>2  Guarded MVP integration</a:t>
            </a:r>
          </a:p>
        </p:txBody>
      </p:sp>
      <p:sp>
        <p:nvSpPr>
          <p:cNvPr id="461" name="Google Shape;461;p17">
            <a:extLst xmlns:a="http://schemas.openxmlformats.org/drawingml/2006/main">
              <a:ext uri="{FF2B5EF4-FFF2-40B4-BE49-F238E27FC236}">
                <a16:creationId xmlns:a16="http://schemas.microsoft.com/office/drawing/2014/main" id="{5E17D668-5ED1-4F54-AEAE-6DF639F5666F}"/>
              </a:ext>
            </a:extLst>
          </p:cNvPr>
          <p:cNvSpPr>
            <a:spLocks xmlns:a="http://schemas.openxmlformats.org/drawingml/2006/main" noGrp="1"/>
          </p:cNvSpPr>
          <p:nvPr/>
        </p:nvSpPr>
        <p:spPr>
          <a:xfrm xmlns:a="http://schemas.openxmlformats.org/drawingml/2006/main">
            <a:off x="8124825" y="5905500"/>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Integrate only after false-match evaluation.</a:t>
            </a: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SAHYOG and agency deployment need approval.</a:t>
            </a:r>
          </a:p>
        </p:txBody>
      </p:sp>
      <p:sp>
        <p:nvSpPr>
          <p:cNvPr id="462" name="Google Shape;462;p17">
            <a:extLst xmlns:a="http://schemas.openxmlformats.org/drawingml/2006/main">
              <a:ext uri="{FF2B5EF4-FFF2-40B4-BE49-F238E27FC236}">
                <a16:creationId xmlns:a16="http://schemas.microsoft.com/office/drawing/2014/main" id="{A0556782-EF59-48F4-971C-1FAD6F8B31B1}"/>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463" name="Google Shape;463;p17">
            <a:extLst xmlns:a="http://schemas.openxmlformats.org/drawingml/2006/main">
              <a:ext uri="{FF2B5EF4-FFF2-40B4-BE49-F238E27FC236}">
                <a16:creationId xmlns:a16="http://schemas.microsoft.com/office/drawing/2014/main" id="{151E1F65-39A4-4762-81F8-D144E2E970C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FEASIBILITY AND VIABILITY</a:t>
            </a:r>
            <a:endParaRPr/>
          </a:p>
        </p:txBody>
      </p:sp>
      <p:sp>
        <p:nvSpPr>
          <p:cNvPr id="464" name="Google Shape;464;p17">
            <a:extLst xmlns:a="http://schemas.openxmlformats.org/drawingml/2006/main">
              <a:ext uri="{FF2B5EF4-FFF2-40B4-BE49-F238E27FC236}">
                <a16:creationId xmlns:a16="http://schemas.microsoft.com/office/drawing/2014/main" id="{95EA924B-E2F7-4FF5-974F-431A0CE75D5D}"/>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EFD6AB9A-5F9E-5F59-51AB-3C8734130965}" type="slidenum">
              <a:rPr sz="1200" b="1" i="0" u="none" cap="none">
                <a:solidFill>
                  <a:srgbClr val="FFFFFF"/>
                </a:solidFill>
                <a:latin typeface="Oswald"/>
                <a:ea typeface="Oswald"/>
                <a:cs typeface="Oswald"/>
              </a:rPr>
              <a:t>4</a:t>
            </a:fld>
            <a:endParaRPr sz="1200" b="1" i="0" u="none" cap="none">
              <a:solidFill>
                <a:srgbClr val="FFFFFF"/>
              </a:solidFill>
              <a:latin typeface="Oswald"/>
              <a:ea typeface="Oswald"/>
              <a:cs typeface="Oswald"/>
            </a:endParaRPr>
          </a:p>
        </p:txBody>
      </p:sp>
      <p:sp>
        <p:nvSpPr>
          <p:cNvPr id="465" name="Google Shape;465;p17">
            <a:extLst xmlns:a="http://schemas.openxmlformats.org/drawingml/2006/main">
              <a:ext uri="{FF2B5EF4-FFF2-40B4-BE49-F238E27FC236}">
                <a16:creationId xmlns:a16="http://schemas.microsoft.com/office/drawing/2014/main" id="{2DAD0CA6-F45C-4369-A5DB-0026FE05054F}"/>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cap="none">
                <a:solidFill>
                  <a:srgbClr val="FFFFFF"/>
                </a:solidFill>
                <a:latin typeface="Oswald"/>
                <a:ea typeface="Oswald"/>
                <a:cs typeface="Oswald"/>
              </a:rPr>
              <a:t>@SIH Idea submission- Template</a:t>
            </a:r>
            <a:endParaRPr sz="1200" b="0" i="0" u="none" cap="none">
              <a:solidFill>
                <a:srgbClr val="FFFFFF"/>
              </a:solidFill>
              <a:latin typeface="Oswald"/>
              <a:ea typeface="Oswald"/>
              <a:cs typeface="Oswald"/>
            </a:endParaRPr>
          </a:p>
        </p:txBody>
      </p:sp>
      <p:sp>
        <p:nvSpPr>
          <p:cNvPr id="466" name="Google Shape;466;p17">
            <a:extLst xmlns:a="http://schemas.openxmlformats.org/drawingml/2006/main">
              <a:ext uri="{FF2B5EF4-FFF2-40B4-BE49-F238E27FC236}">
                <a16:creationId xmlns:a16="http://schemas.microsoft.com/office/drawing/2014/main" id="{793C89BA-3071-438E-8543-6D882CCDD6E6}"/>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3073CD21-8449-4478-AED2-6D799642B164}"/>
              </a:ext>
            </a:extLst>
          </p:cNvPr>
          <p:cNvSpPr>
            <a:spLocks xmlns:a="http://schemas.openxmlformats.org/drawingml/2006/main" noGrp="1"/>
          </p:cNvSpPr>
          <p:nvPr/>
        </p:nvSpPr>
        <p:spPr>
          <a:xfrm xmlns:a="http://schemas.openxmlformats.org/drawingml/2006/main">
            <a:off x="502025" y="1838325"/>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9" name="Google Shape;469;p17">
            <a:extLst xmlns:a="http://schemas.openxmlformats.org/drawingml/2006/main">
              <a:ext uri="{FF2B5EF4-FFF2-40B4-BE49-F238E27FC236}">
                <a16:creationId xmlns:a16="http://schemas.microsoft.com/office/drawing/2014/main" id="{DDB2994D-FD97-4F86-82A9-BAADB34F2AB6}"/>
              </a:ext>
            </a:extLst>
          </p:cNvPr>
          <p:cNvSpPr>
            <a:spLocks xmlns:a="http://schemas.openxmlformats.org/drawingml/2006/main" noGrp="1"/>
          </p:cNvSpPr>
          <p:nvPr/>
        </p:nvSpPr>
        <p:spPr>
          <a:xfrm xmlns:a="http://schemas.openxmlformats.org/drawingml/2006/main">
            <a:off x="558241" y="1869556"/>
            <a:ext cx="2236200" cy="1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VERIFIED MVP</a:t>
            </a:r>
          </a:p>
        </p:txBody>
      </p:sp>
      <p:pic>
        <p:nvPicPr>
          <p:cNvPr id="514" name="Google Shape;470;p17"/>
          <p:cNvPicPr>
            <a:picLocks xmlns:a="http://schemas.openxmlformats.org/drawingml/2006/main" noChangeAspect="1"/>
          </p:cNvPicPr>
          <p:nvPr/>
        </p:nvPicPr>
        <p:blipFill rotWithShape="1">
          <a:blip xmlns:r="http://schemas.openxmlformats.org/officeDocument/2006/relationships" xmlns:a="http://schemas.openxmlformats.org/drawingml/2006/main" r:embed="R78515909288a48dc">
            <a:alphaModFix/>
          </a:blip>
          <a:srcRect xmlns:a="http://schemas.openxmlformats.org/drawingml/2006/main" l="0" t="0" r="0" b="0"/>
          <a:stretch xmlns:a="http://schemas.openxmlformats.org/drawingml/2006/main"/>
        </p:blipFill>
        <p:spPr>
          <a:xfrm xmlns:a="http://schemas.openxmlformats.org/drawingml/2006/main">
            <a:off x="508271" y="2113160"/>
            <a:ext cx="181141" cy="181141"/>
          </a:xfrm>
          <a:prstGeom xmlns:a="http://schemas.openxmlformats.org/drawingml/2006/main" prst="rect">
            <a:avLst/>
          </a:prstGeom>
          <a:ln xmlns:a="http://schemas.openxmlformats.org/drawingml/2006/main">
            <a:noFill/>
          </a:ln>
        </p:spPr>
      </p:pic>
      <p:sp>
        <p:nvSpPr>
          <p:cNvPr id="471" name="Google Shape;471;p17">
            <a:extLst xmlns:a="http://schemas.openxmlformats.org/drawingml/2006/main">
              <a:ext uri="{FF2B5EF4-FFF2-40B4-BE49-F238E27FC236}">
                <a16:creationId xmlns:a16="http://schemas.microsoft.com/office/drawing/2014/main" id="{0BD4E74A-6D39-4509-B55E-75B2A25DFF56}"/>
              </a:ext>
            </a:extLst>
          </p:cNvPr>
          <p:cNvSpPr>
            <a:spLocks xmlns:a="http://schemas.openxmlformats.org/drawingml/2006/main" noGrp="1"/>
          </p:cNvSpPr>
          <p:nvPr/>
        </p:nvSpPr>
        <p:spPr>
          <a:xfrm xmlns:a="http://schemas.openxmlformats.org/drawingml/2006/main">
            <a:off x="770614" y="212565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4" b="1" i="0" u="none" cap="none">
                <a:solidFill>
                  <a:srgbClr val="1F497D"/>
                </a:solidFill>
                <a:latin typeface="Arial"/>
                <a:ea typeface="Arial"/>
                <a:cs typeface="Arial"/>
              </a:rPr>
              <a:t>Existing investigation workflow</a:t>
            </a:r>
          </a:p>
        </p:txBody>
      </p:sp>
      <p:sp>
        <p:nvSpPr>
          <p:cNvPr id="472" name="Google Shape;472;p17">
            <a:extLst xmlns:a="http://schemas.openxmlformats.org/drawingml/2006/main">
              <a:ext uri="{FF2B5EF4-FFF2-40B4-BE49-F238E27FC236}">
                <a16:creationId xmlns:a16="http://schemas.microsoft.com/office/drawing/2014/main" id="{C96E29F2-FF40-408B-A7A4-898F72FE8346}"/>
              </a:ext>
            </a:extLst>
          </p:cNvPr>
          <p:cNvSpPr>
            <a:spLocks xmlns:a="http://schemas.openxmlformats.org/drawingml/2006/main" noGrp="1"/>
          </p:cNvSpPr>
          <p:nvPr/>
        </p:nvSpPr>
        <p:spPr>
          <a:xfrm xmlns:a="http://schemas.openxmlformats.org/drawingml/2006/main">
            <a:off x="502025" y="2387996"/>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Case workflow, temporal trace and replay.</a:t>
            </a:r>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Six parsers; uneven live chain coverage.</a:t>
            </a:r>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Real Bitcoin acquisition: no VASP found.</a:t>
            </a:r>
          </a:p>
        </p:txBody>
      </p:sp>
      <p:sp>
        <p:nvSpPr>
          <p:cNvPr id="473" name="Google Shape;473;p17">
            <a:extLst xmlns:a="http://schemas.openxmlformats.org/drawingml/2006/main">
              <a:ext uri="{FF2B5EF4-FFF2-40B4-BE49-F238E27FC236}">
                <a16:creationId xmlns:a16="http://schemas.microsoft.com/office/drawing/2014/main" id="{FD1E5928-EFEB-4D71-B5F0-E8A67419DA07}"/>
              </a:ext>
            </a:extLst>
          </p:cNvPr>
          <p:cNvSpPr>
            <a:spLocks xmlns:a="http://schemas.openxmlformats.org/drawingml/2006/main" noGrp="1"/>
          </p:cNvSpPr>
          <p:nvPr/>
        </p:nvSpPr>
        <p:spPr>
          <a:xfrm xmlns:a="http://schemas.openxmlformats.org/drawingml/2006/main">
            <a:off x="502025" y="2887697"/>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116 tests in the published MVP release.</a:t>
            </a:r>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New method evaluated separately.</a:t>
            </a:r>
          </a:p>
        </p:txBody>
      </p:sp>
      <p:sp>
        <p:nvSpPr>
          <p:cNvPr id="474" name="Google Shape;474;p17">
            <a:extLst xmlns:a="http://schemas.openxmlformats.org/drawingml/2006/main">
              <a:ext uri="{FF2B5EF4-FFF2-40B4-BE49-F238E27FC236}">
                <a16:creationId xmlns:a16="http://schemas.microsoft.com/office/drawing/2014/main" id="{2D188F2B-849A-4077-96F5-CD29C86F9A1F}"/>
              </a:ext>
            </a:extLst>
          </p:cNvPr>
          <p:cNvSpPr>
            <a:spLocks xmlns:a="http://schemas.openxmlformats.org/drawingml/2006/main" noGrp="1"/>
          </p:cNvSpPr>
          <p:nvPr/>
        </p:nvSpPr>
        <p:spPr>
          <a:xfrm xmlns:a="http://schemas.openxmlformats.org/drawingml/2006/main">
            <a:off x="502046" y="3319049"/>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5" name="Google Shape;475;p17">
            <a:extLst xmlns:a="http://schemas.openxmlformats.org/drawingml/2006/main">
              <a:ext uri="{FF2B5EF4-FFF2-40B4-BE49-F238E27FC236}">
                <a16:creationId xmlns:a16="http://schemas.microsoft.com/office/drawing/2014/main" id="{A95ED84E-0750-4023-BAD3-08DA54EA7684}"/>
              </a:ext>
            </a:extLst>
          </p:cNvPr>
          <p:cNvSpPr>
            <a:spLocks xmlns:a="http://schemas.openxmlformats.org/drawingml/2006/main" noGrp="1"/>
          </p:cNvSpPr>
          <p:nvPr/>
        </p:nvSpPr>
        <p:spPr>
          <a:xfrm xmlns:a="http://schemas.openxmlformats.org/drawingml/2006/main">
            <a:off x="558264" y="3350281"/>
            <a:ext cx="2236200" cy="1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REFERENCE EXPERIMENT</a:t>
            </a:r>
          </a:p>
        </p:txBody>
      </p:sp>
      <p:pic>
        <p:nvPicPr>
          <p:cNvPr id="520" name="Google Shape;476;p17"/>
          <p:cNvPicPr>
            <a:picLocks xmlns:a="http://schemas.openxmlformats.org/drawingml/2006/main" noChangeAspect="1"/>
          </p:cNvPicPr>
          <p:nvPr/>
        </p:nvPicPr>
        <p:blipFill rotWithShape="1">
          <a:blip xmlns:r="http://schemas.openxmlformats.org/officeDocument/2006/relationships" xmlns:a="http://schemas.openxmlformats.org/drawingml/2006/main" r:embed="Rea7221d9d65e4078">
            <a:alphaModFix/>
          </a:blip>
          <a:srcRect xmlns:a="http://schemas.openxmlformats.org/drawingml/2006/main" l="0" t="0" r="0" b="0"/>
          <a:stretch xmlns:a="http://schemas.openxmlformats.org/drawingml/2006/main"/>
        </p:blipFill>
        <p:spPr>
          <a:xfrm xmlns:a="http://schemas.openxmlformats.org/drawingml/2006/main">
            <a:off x="508292" y="3593890"/>
            <a:ext cx="181145" cy="181145"/>
          </a:xfrm>
          <a:prstGeom xmlns:a="http://schemas.openxmlformats.org/drawingml/2006/main" prst="rect">
            <a:avLst/>
          </a:prstGeom>
          <a:ln xmlns:a="http://schemas.openxmlformats.org/drawingml/2006/main">
            <a:noFill/>
          </a:ln>
        </p:spPr>
      </p:pic>
      <p:sp>
        <p:nvSpPr>
          <p:cNvPr id="477" name="Google Shape;477;p17">
            <a:extLst xmlns:a="http://schemas.openxmlformats.org/drawingml/2006/main">
              <a:ext uri="{FF2B5EF4-FFF2-40B4-BE49-F238E27FC236}">
                <a16:creationId xmlns:a16="http://schemas.microsoft.com/office/drawing/2014/main" id="{93A64AC3-68AD-4750-ADD5-9E6F44EA9059}"/>
              </a:ext>
            </a:extLst>
          </p:cNvPr>
          <p:cNvSpPr>
            <a:spLocks xmlns:a="http://schemas.openxmlformats.org/drawingml/2006/main" noGrp="1"/>
          </p:cNvSpPr>
          <p:nvPr/>
        </p:nvSpPr>
        <p:spPr>
          <a:xfrm xmlns:a="http://schemas.openxmlformats.org/drawingml/2006/main">
            <a:off x="770642" y="360638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5" b="1" i="0" u="none" cap="none">
                <a:solidFill>
                  <a:srgbClr val="1F497D"/>
                </a:solidFill>
                <a:latin typeface="Arial"/>
                <a:ea typeface="Arial"/>
                <a:cs typeface="Arial"/>
              </a:rPr>
              <a:t>Synthetic rule checks only</a:t>
            </a:r>
          </a:p>
        </p:txBody>
      </p:sp>
      <p:sp>
        <p:nvSpPr>
          <p:cNvPr id="478" name="Google Shape;478;p17">
            <a:extLst xmlns:a="http://schemas.openxmlformats.org/drawingml/2006/main">
              <a:ext uri="{FF2B5EF4-FFF2-40B4-BE49-F238E27FC236}">
                <a16:creationId xmlns:a16="http://schemas.microsoft.com/office/drawing/2014/main" id="{BE5A8604-925B-4DCF-9334-AF665CC4453D}"/>
              </a:ext>
            </a:extLst>
          </p:cNvPr>
          <p:cNvSpPr>
            <a:spLocks xmlns:a="http://schemas.openxmlformats.org/drawingml/2006/main" noGrp="1"/>
          </p:cNvSpPr>
          <p:nvPr/>
        </p:nvSpPr>
        <p:spPr>
          <a:xfrm xmlns:a="http://schemas.openxmlformats.org/drawingml/2006/main">
            <a:off x="502046" y="3868731"/>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Repeated sweeps and service gas motif.</a:t>
            </a:r>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Conflicts and missing history stop inference.</a:t>
            </a:r>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No real-world accuracy result.</a:t>
            </a:r>
          </a:p>
        </p:txBody>
      </p:sp>
      <p:sp>
        <p:nvSpPr>
          <p:cNvPr id="479" name="Google Shape;479;p17">
            <a:extLst xmlns:a="http://schemas.openxmlformats.org/drawingml/2006/main">
              <a:ext uri="{FF2B5EF4-FFF2-40B4-BE49-F238E27FC236}">
                <a16:creationId xmlns:a16="http://schemas.microsoft.com/office/drawing/2014/main" id="{21FB4671-382D-400C-8E73-65154880588E}"/>
              </a:ext>
            </a:extLst>
          </p:cNvPr>
          <p:cNvSpPr>
            <a:spLocks xmlns:a="http://schemas.openxmlformats.org/drawingml/2006/main" noGrp="1"/>
          </p:cNvSpPr>
          <p:nvPr/>
        </p:nvSpPr>
        <p:spPr>
          <a:xfrm xmlns:a="http://schemas.openxmlformats.org/drawingml/2006/main">
            <a:off x="502046" y="4368441"/>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Not integrated into the running MVP.</a:t>
            </a:r>
          </a:p>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Independent deposit truth is required.</a:t>
            </a:r>
          </a:p>
        </p:txBody>
      </p:sp>
      <p:sp>
        <p:nvSpPr>
          <p:cNvPr id="480" name="Google Shape;480;p17">
            <a:extLst xmlns:a="http://schemas.openxmlformats.org/drawingml/2006/main">
              <a:ext uri="{FF2B5EF4-FFF2-40B4-BE49-F238E27FC236}">
                <a16:creationId xmlns:a16="http://schemas.microsoft.com/office/drawing/2014/main" id="{35C006F4-B2BD-4ECD-8FB1-9C41E2B5AE57}"/>
              </a:ext>
            </a:extLst>
          </p:cNvPr>
          <p:cNvSpPr>
            <a:spLocks xmlns:a="http://schemas.openxmlformats.org/drawingml/2006/main" noGrp="1"/>
          </p:cNvSpPr>
          <p:nvPr/>
        </p:nvSpPr>
        <p:spPr>
          <a:xfrm xmlns:a="http://schemas.openxmlformats.org/drawingml/2006/main">
            <a:off x="501938" y="4736975"/>
            <a:ext cx="2348700" cy="175200"/>
          </a:xfrm>
          <a:prstGeom xmlns:a="http://schemas.openxmlformats.org/drawingml/2006/main" prst="rect">
            <a:avLst/>
          </a:prstGeom>
          <a:solidFill xmlns:a="http://schemas.openxmlformats.org/drawingml/2006/main">
            <a:srgbClr val="1F497D"/>
          </a:solidFill>
          <a:ln xmlns:a="http://schemas.openxmlformats.org/drawingml/2006/main" w="6050" cmpd="sng">
            <a:solidFill>
              <a:srgbClr val="1F497D"/>
            </a:solidFill>
            <a:prstDash val="solid"/>
            <a:headEnd type="none" w="sm" len="sm"/>
            <a:tailEnd type="none" w="sm" len="sm"/>
          </a:ln>
        </p:spPr>
        <p:txBody>
          <a:bodyPr xmlns:a="http://schemas.openxmlformats.org/drawingml/2006/main" spcFirstLastPara="1" wrap="square" lIns="57950" tIns="57950" rIns="57950" bIns="57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1" name="Google Shape;481;p17">
            <a:extLst xmlns:a="http://schemas.openxmlformats.org/drawingml/2006/main">
              <a:ext uri="{FF2B5EF4-FFF2-40B4-BE49-F238E27FC236}">
                <a16:creationId xmlns:a16="http://schemas.microsoft.com/office/drawing/2014/main" id="{11A6B557-1F78-4D32-913D-38C397E2747C}"/>
              </a:ext>
            </a:extLst>
          </p:cNvPr>
          <p:cNvSpPr>
            <a:spLocks xmlns:a="http://schemas.openxmlformats.org/drawingml/2006/main" noGrp="1"/>
          </p:cNvSpPr>
          <p:nvPr/>
        </p:nvSpPr>
        <p:spPr>
          <a:xfrm xmlns:a="http://schemas.openxmlformats.org/drawingml/2006/main">
            <a:off x="556275" y="4767163"/>
            <a:ext cx="2239800" cy="1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8" b="1" i="0" u="none" cap="none">
                <a:solidFill>
                  <a:srgbClr val="FFFFFF"/>
                </a:solidFill>
                <a:latin typeface="Arial"/>
                <a:ea typeface="Arial"/>
                <a:cs typeface="Arial"/>
              </a:rPr>
              <a:t>COST &amp; DEPLOYMENT</a:t>
            </a:r>
            <a:endParaRPr sz="887"/>
          </a:p>
        </p:txBody>
      </p:sp>
      <p:sp>
        <p:nvSpPr>
          <p:cNvPr id="482" name="Google Shape;482;p17">
            <a:extLst xmlns:a="http://schemas.openxmlformats.org/drawingml/2006/main">
              <a:ext uri="{FF2B5EF4-FFF2-40B4-BE49-F238E27FC236}">
                <a16:creationId xmlns:a16="http://schemas.microsoft.com/office/drawing/2014/main" id="{24AA29AD-4566-447D-B203-B8075A7E667C}"/>
              </a:ext>
            </a:extLst>
          </p:cNvPr>
          <p:cNvSpPr>
            <a:spLocks xmlns:a="http://schemas.openxmlformats.org/drawingml/2006/main" noGrp="1"/>
          </p:cNvSpPr>
          <p:nvPr/>
        </p:nvSpPr>
        <p:spPr>
          <a:xfrm xmlns:a="http://schemas.openxmlformats.org/drawingml/2006/main">
            <a:off x="761552" y="5014702"/>
            <a:ext cx="2089200" cy="17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3" b="1" i="0" u="none" cap="none">
                <a:solidFill>
                  <a:srgbClr val="1F497D"/>
                </a:solidFill>
                <a:latin typeface="Arial"/>
                <a:ea typeface="Arial"/>
                <a:cs typeface="Arial"/>
              </a:rPr>
              <a:t>Open-source core, explicit costs</a:t>
            </a:r>
            <a:endParaRPr sz="887"/>
          </a:p>
        </p:txBody>
      </p:sp>
      <p:sp>
        <p:nvSpPr>
          <p:cNvPr id="483" name="Google Shape;483;p17">
            <a:extLst xmlns:a="http://schemas.openxmlformats.org/drawingml/2006/main">
              <a:ext uri="{FF2B5EF4-FFF2-40B4-BE49-F238E27FC236}">
                <a16:creationId xmlns:a16="http://schemas.microsoft.com/office/drawing/2014/main" id="{D2797852-2FB7-43A7-BBA2-8B5575C9516F}"/>
              </a:ext>
            </a:extLst>
          </p:cNvPr>
          <p:cNvSpPr>
            <a:spLocks xmlns:a="http://schemas.openxmlformats.org/drawingml/2006/main" noGrp="1"/>
          </p:cNvSpPr>
          <p:nvPr/>
        </p:nvSpPr>
        <p:spPr>
          <a:xfrm xmlns:a="http://schemas.openxmlformats.org/drawingml/2006/main">
            <a:off x="501938" y="5268279"/>
            <a:ext cx="2348700" cy="46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Public seeds offer limited coverage.</a:t>
            </a: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History indexing and API quotas add cost.</a:t>
            </a: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Cache and cap each investigation.</a:t>
            </a:r>
          </a:p>
        </p:txBody>
      </p:sp>
      <p:sp>
        <p:nvSpPr>
          <p:cNvPr id="484" name="Google Shape;484;p17">
            <a:extLst xmlns:a="http://schemas.openxmlformats.org/drawingml/2006/main">
              <a:ext uri="{FF2B5EF4-FFF2-40B4-BE49-F238E27FC236}">
                <a16:creationId xmlns:a16="http://schemas.microsoft.com/office/drawing/2014/main" id="{9A6C38DF-5E19-4489-B869-9CC5292ECD37}"/>
              </a:ext>
            </a:extLst>
          </p:cNvPr>
          <p:cNvSpPr>
            <a:spLocks xmlns:a="http://schemas.openxmlformats.org/drawingml/2006/main" noGrp="1"/>
          </p:cNvSpPr>
          <p:nvPr/>
        </p:nvSpPr>
        <p:spPr>
          <a:xfrm xmlns:a="http://schemas.openxmlformats.org/drawingml/2006/main">
            <a:off x="501938" y="5751283"/>
            <a:ext cx="2348700" cy="24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Calibrated scores need labelled cases.</a:t>
            </a:r>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Security and scale validation remain open.</a:t>
            </a:r>
          </a:p>
        </p:txBody>
      </p:sp>
      <p:pic>
        <p:nvPicPr>
          <p:cNvPr id="529" name=""/>
          <p:cNvPicPr>
            <a:picLocks xmlns:a="http://schemas.openxmlformats.org/drawingml/2006/main" noChangeAspect="1"/>
          </p:cNvPicPr>
          <p:nvPr/>
        </p:nvPicPr>
        <p:blipFill>
          <a:blip xmlns:r="http://schemas.openxmlformats.org/officeDocument/2006/relationships" xmlns:a="http://schemas.openxmlformats.org/drawingml/2006/main" r:embed="R288a1036222842c3"/>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10941942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90" name="Google Shape;490;p18">
            <a:extLst xmlns:a="http://schemas.openxmlformats.org/drawingml/2006/main">
              <a:ext uri="{FF2B5EF4-FFF2-40B4-BE49-F238E27FC236}">
                <a16:creationId xmlns:a16="http://schemas.microsoft.com/office/drawing/2014/main" id="{5848D777-D93D-416C-A8E3-DCA144FF594E}"/>
              </a:ext>
            </a:extLst>
          </p:cNvPr>
          <p:cNvSpPr>
            <a:spLocks xmlns:a="http://schemas.openxmlformats.org/drawingml/2006/main" noGrp="1"/>
          </p:cNvSpPr>
          <p:nvPr/>
        </p:nvSpPr>
        <p:spPr>
          <a:xfrm xmlns:a="http://schemas.openxmlformats.org/drawingml/2006/main">
            <a:off x="333375" y="1381125"/>
            <a:ext cx="68010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725">
                <a:latin typeface="Arial"/>
                <a:ea typeface="Arial"/>
                <a:cs typeface="Arial"/>
              </a:defRPr>
            </a:pPr>
            <a:r>
              <a:rPr sz="1725" b="1" i="0" u="none" cap="none">
                <a:solidFill>
                  <a:srgbClr val="1F497D"/>
                </a:solidFill>
                <a:latin typeface="Arial"/>
                <a:ea typeface="Arial"/>
                <a:cs typeface="Arial"/>
              </a:rPr>
              <a:t>WHAT THE METHOD ADDS</a:t>
            </a:r>
          </a:p>
        </p:txBody>
      </p:sp>
      <p:sp>
        <p:nvSpPr>
          <p:cNvPr id="491" name="Google Shape;491;p18">
            <a:extLst xmlns:a="http://schemas.openxmlformats.org/drawingml/2006/main">
              <a:ext uri="{FF2B5EF4-FFF2-40B4-BE49-F238E27FC236}">
                <a16:creationId xmlns:a16="http://schemas.microsoft.com/office/drawing/2014/main" id="{959135E7-62F0-4EAA-A281-96CD535102E2}"/>
              </a:ext>
            </a:extLst>
          </p:cNvPr>
          <p:cNvSpPr>
            <a:spLocks xmlns:a="http://schemas.openxmlformats.org/drawingml/2006/main" noGrp="1"/>
          </p:cNvSpPr>
          <p:nvPr/>
        </p:nvSpPr>
        <p:spPr>
          <a:xfrm xmlns:a="http://schemas.openxmlformats.org/drawingml/2006/main">
            <a:off x="7620000" y="1438275"/>
            <a:ext cx="42672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defRPr sz="1050">
                <a:latin typeface="Arial"/>
                <a:ea typeface="Arial"/>
                <a:cs typeface="Arial"/>
              </a:defRPr>
            </a:pPr>
            <a:r>
              <a:rPr sz="1050" b="0" i="0" u="none" cap="none">
                <a:solidFill>
                  <a:srgbClr val="526273"/>
                </a:solidFill>
                <a:latin typeface="Arial"/>
                <a:ea typeface="Arial"/>
                <a:cs typeface="Arial"/>
              </a:rPr>
              <a:t>Research proposal with explicit evaluation gates</a:t>
            </a:r>
          </a:p>
        </p:txBody>
      </p:sp>
      <p:pic>
        <p:nvPicPr>
          <p:cNvPr id="538" name="Google Shape;492;p18"/>
          <p:cNvPicPr>
            <a:picLocks xmlns:a="http://schemas.openxmlformats.org/drawingml/2006/main" noChangeAspect="1"/>
          </p:cNvPicPr>
          <p:nvPr/>
        </p:nvPicPr>
        <p:blipFill rotWithShape="1">
          <a:blip xmlns:r="http://schemas.openxmlformats.org/officeDocument/2006/relationships" xmlns:a="http://schemas.openxmlformats.org/drawingml/2006/main" r:embed="R753cffabe843466d">
            <a:alphaModFix/>
          </a:blip>
          <a:srcRect xmlns:a="http://schemas.openxmlformats.org/drawingml/2006/main" l="0" t="0" r="0" b="0"/>
          <a:stretch xmlns:a="http://schemas.openxmlformats.org/drawingml/2006/main"/>
        </p:blipFill>
        <p:spPr>
          <a:xfrm xmlns:a="http://schemas.openxmlformats.org/drawingml/2006/main">
            <a:off x="333375" y="1828800"/>
            <a:ext cx="400050" cy="400050"/>
          </a:xfrm>
          <a:prstGeom xmlns:a="http://schemas.openxmlformats.org/drawingml/2006/main" prst="rect">
            <a:avLst/>
          </a:prstGeom>
          <a:ln xmlns:a="http://schemas.openxmlformats.org/drawingml/2006/main">
            <a:noFill/>
          </a:ln>
        </p:spPr>
      </p:pic>
      <p:sp>
        <p:nvSpPr>
          <p:cNvPr id="493" name="Google Shape;493;p18">
            <a:extLst xmlns:a="http://schemas.openxmlformats.org/drawingml/2006/main">
              <a:ext uri="{FF2B5EF4-FFF2-40B4-BE49-F238E27FC236}">
                <a16:creationId xmlns:a16="http://schemas.microsoft.com/office/drawing/2014/main" id="{E99C442C-5B38-462D-BA4D-D12CA4502125}"/>
              </a:ext>
            </a:extLst>
          </p:cNvPr>
          <p:cNvSpPr>
            <a:spLocks xmlns:a="http://schemas.openxmlformats.org/drawingml/2006/main" noGrp="1"/>
          </p:cNvSpPr>
          <p:nvPr/>
        </p:nvSpPr>
        <p:spPr>
          <a:xfrm xmlns:a="http://schemas.openxmlformats.org/drawingml/2006/main">
            <a:off x="8953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1F497D"/>
                </a:solidFill>
                <a:latin typeface="Arial"/>
                <a:ea typeface="Arial"/>
                <a:cs typeface="Arial"/>
              </a:rPr>
              <a:t>Beyond labels</a:t>
            </a:r>
          </a:p>
        </p:txBody>
      </p:sp>
      <p:sp>
        <p:nvSpPr>
          <p:cNvPr id="494" name="Google Shape;494;p18">
            <a:extLst xmlns:a="http://schemas.openxmlformats.org/drawingml/2006/main">
              <a:ext uri="{FF2B5EF4-FFF2-40B4-BE49-F238E27FC236}">
                <a16:creationId xmlns:a16="http://schemas.microsoft.com/office/drawing/2014/main" id="{9DA7E6FA-AA4A-4898-B559-C80166CB77C9}"/>
              </a:ext>
            </a:extLst>
          </p:cNvPr>
          <p:cNvSpPr>
            <a:spLocks xmlns:a="http://schemas.openxmlformats.org/drawingml/2006/main" noGrp="1"/>
          </p:cNvSpPr>
          <p:nvPr/>
        </p:nvSpPr>
        <p:spPr>
          <a:xfrm xmlns:a="http://schemas.openxmlformats.org/drawingml/2006/main">
            <a:off x="3333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Deposit-role hypotheses</a:t>
            </a:r>
          </a:p>
        </p:txBody>
      </p:sp>
      <p:sp>
        <p:nvSpPr>
          <p:cNvPr id="495" name="Google Shape;495;p18">
            <a:extLst xmlns:a="http://schemas.openxmlformats.org/drawingml/2006/main">
              <a:ext uri="{FF2B5EF4-FFF2-40B4-BE49-F238E27FC236}">
                <a16:creationId xmlns:a16="http://schemas.microsoft.com/office/drawing/2014/main" id="{B2F9A779-FD0A-4DDB-9B98-F09AD3190600}"/>
              </a:ext>
            </a:extLst>
          </p:cNvPr>
          <p:cNvSpPr>
            <a:spLocks xmlns:a="http://schemas.openxmlformats.org/drawingml/2006/main" noGrp="1"/>
          </p:cNvSpPr>
          <p:nvPr/>
        </p:nvSpPr>
        <p:spPr>
          <a:xfrm xmlns:a="http://schemas.openxmlformats.org/drawingml/2006/main">
            <a:off x="3333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Known service wallets can support</a:t>
            </a: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new deposit-address candidates.</a:t>
            </a: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Private customer records stay off-chain.</a:t>
            </a:r>
          </a:p>
        </p:txBody>
      </p:sp>
      <p:pic>
        <p:nvPicPr>
          <p:cNvPr id="542" name="Google Shape;496;p18"/>
          <p:cNvPicPr>
            <a:picLocks xmlns:a="http://schemas.openxmlformats.org/drawingml/2006/main" noChangeAspect="1"/>
          </p:cNvPicPr>
          <p:nvPr/>
        </p:nvPicPr>
        <p:blipFill rotWithShape="1">
          <a:blip xmlns:r="http://schemas.openxmlformats.org/officeDocument/2006/relationships" xmlns:a="http://schemas.openxmlformats.org/drawingml/2006/main" r:embed="R5dc3df9cdd5346d7">
            <a:alphaModFix/>
          </a:blip>
          <a:srcRect xmlns:a="http://schemas.openxmlformats.org/drawingml/2006/main" l="0" t="0" r="0" b="0"/>
          <a:stretch xmlns:a="http://schemas.openxmlformats.org/drawingml/2006/main"/>
        </p:blipFill>
        <p:spPr>
          <a:xfrm xmlns:a="http://schemas.openxmlformats.org/drawingml/2006/main">
            <a:off x="4257675" y="1828800"/>
            <a:ext cx="400050" cy="400050"/>
          </a:xfrm>
          <a:prstGeom xmlns:a="http://schemas.openxmlformats.org/drawingml/2006/main" prst="rect">
            <a:avLst/>
          </a:prstGeom>
          <a:ln xmlns:a="http://schemas.openxmlformats.org/drawingml/2006/main">
            <a:noFill/>
          </a:ln>
        </p:spPr>
      </p:pic>
      <p:sp>
        <p:nvSpPr>
          <p:cNvPr id="497" name="Google Shape;497;p18">
            <a:extLst xmlns:a="http://schemas.openxmlformats.org/drawingml/2006/main">
              <a:ext uri="{FF2B5EF4-FFF2-40B4-BE49-F238E27FC236}">
                <a16:creationId xmlns:a16="http://schemas.microsoft.com/office/drawing/2014/main" id="{7B6BB7FE-E962-43BB-AB84-E5192AFC55D0}"/>
              </a:ext>
            </a:extLst>
          </p:cNvPr>
          <p:cNvSpPr>
            <a:spLocks xmlns:a="http://schemas.openxmlformats.org/drawingml/2006/main" noGrp="1"/>
          </p:cNvSpPr>
          <p:nvPr/>
        </p:nvSpPr>
        <p:spPr>
          <a:xfrm xmlns:a="http://schemas.openxmlformats.org/drawingml/2006/main">
            <a:off x="48196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2400">
                <a:latin typeface="Arial"/>
                <a:ea typeface="Arial"/>
                <a:cs typeface="Arial"/>
              </a:defRPr>
            </a:pPr>
            <a:r>
              <a:rPr sz="2400" b="1" i="0" u="none" cap="none">
                <a:solidFill>
                  <a:srgbClr val="4BACC6"/>
                </a:solidFill>
                <a:latin typeface="Arial"/>
                <a:ea typeface="Arial"/>
                <a:cs typeface="Arial"/>
              </a:rPr>
              <a:t>First custody</a:t>
            </a:r>
            <a:endParaRPr/>
          </a:p>
        </p:txBody>
      </p:sp>
      <p:sp>
        <p:nvSpPr>
          <p:cNvPr id="498" name="Google Shape;498;p18">
            <a:extLst xmlns:a="http://schemas.openxmlformats.org/drawingml/2006/main">
              <a:ext uri="{FF2B5EF4-FFF2-40B4-BE49-F238E27FC236}">
                <a16:creationId xmlns:a16="http://schemas.microsoft.com/office/drawing/2014/main" id="{0DAE77E0-D122-46E6-B964-57AA29B59701}"/>
              </a:ext>
            </a:extLst>
          </p:cNvPr>
          <p:cNvSpPr>
            <a:spLocks xmlns:a="http://schemas.openxmlformats.org/drawingml/2006/main" noGrp="1"/>
          </p:cNvSpPr>
          <p:nvPr/>
        </p:nvSpPr>
        <p:spPr>
          <a:xfrm xmlns:a="http://schemas.openxmlformats.org/drawingml/2006/main">
            <a:off x="42576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75">
                <a:latin typeface="Arial"/>
                <a:ea typeface="Arial"/>
                <a:cs typeface="Arial"/>
              </a:defRPr>
            </a:pPr>
            <a:r>
              <a:rPr sz="1275" b="1" i="0" u="none" cap="none">
                <a:solidFill>
                  <a:srgbClr val="1F497D"/>
                </a:solidFill>
                <a:latin typeface="Arial"/>
                <a:ea typeface="Arial"/>
                <a:cs typeface="Arial"/>
              </a:rPr>
              <a:t>A bounded receiving-service decision</a:t>
            </a:r>
          </a:p>
        </p:txBody>
      </p:sp>
      <p:sp>
        <p:nvSpPr>
          <p:cNvPr id="499" name="Google Shape;499;p18">
            <a:extLst xmlns:a="http://schemas.openxmlformats.org/drawingml/2006/main">
              <a:ext uri="{FF2B5EF4-FFF2-40B4-BE49-F238E27FC236}">
                <a16:creationId xmlns:a16="http://schemas.microsoft.com/office/drawing/2014/main" id="{56F0EF4E-03D6-44FD-B60F-3ECEDE674FC7}"/>
              </a:ext>
            </a:extLst>
          </p:cNvPr>
          <p:cNvSpPr>
            <a:spLocks xmlns:a="http://schemas.openxmlformats.org/drawingml/2006/main" noGrp="1"/>
          </p:cNvSpPr>
          <p:nvPr/>
        </p:nvSpPr>
        <p:spPr>
          <a:xfrm xmlns:a="http://schemas.openxmlformats.org/drawingml/2006/main">
            <a:off x="42576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Keep the first supported service per route.</a:t>
            </a: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Retain nearer unresolved candidates.</a:t>
            </a: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Missing identity limits the conclusion.</a:t>
            </a:r>
          </a:p>
        </p:txBody>
      </p:sp>
      <p:pic>
        <p:nvPicPr>
          <p:cNvPr id="546" name="Google Shape;500;p18"/>
          <p:cNvPicPr>
            <a:picLocks xmlns:a="http://schemas.openxmlformats.org/drawingml/2006/main" noChangeAspect="1"/>
          </p:cNvPicPr>
          <p:nvPr/>
        </p:nvPicPr>
        <p:blipFill rotWithShape="1">
          <a:blip xmlns:r="http://schemas.openxmlformats.org/officeDocument/2006/relationships" xmlns:a="http://schemas.openxmlformats.org/drawingml/2006/main" r:embed="Ra8919f5a27f347f2">
            <a:alphaModFix/>
          </a:blip>
          <a:srcRect xmlns:a="http://schemas.openxmlformats.org/drawingml/2006/main" l="0" t="0" r="0" b="0"/>
          <a:stretch xmlns:a="http://schemas.openxmlformats.org/drawingml/2006/main"/>
        </p:blipFill>
        <p:spPr>
          <a:xfrm xmlns:a="http://schemas.openxmlformats.org/drawingml/2006/main">
            <a:off x="8181975" y="1828800"/>
            <a:ext cx="400050" cy="400050"/>
          </a:xfrm>
          <a:prstGeom xmlns:a="http://schemas.openxmlformats.org/drawingml/2006/main" prst="rect">
            <a:avLst/>
          </a:prstGeom>
          <a:ln xmlns:a="http://schemas.openxmlformats.org/drawingml/2006/main">
            <a:noFill/>
          </a:ln>
        </p:spPr>
      </p:pic>
      <p:sp>
        <p:nvSpPr>
          <p:cNvPr id="501" name="Google Shape;501;p18">
            <a:extLst xmlns:a="http://schemas.openxmlformats.org/drawingml/2006/main">
              <a:ext uri="{FF2B5EF4-FFF2-40B4-BE49-F238E27FC236}">
                <a16:creationId xmlns:a16="http://schemas.microsoft.com/office/drawing/2014/main" id="{BB9C1EE8-03B3-40BF-9563-8C8D02362E36}"/>
              </a:ext>
            </a:extLst>
          </p:cNvPr>
          <p:cNvSpPr>
            <a:spLocks xmlns:a="http://schemas.openxmlformats.org/drawingml/2006/main" noGrp="1"/>
          </p:cNvSpPr>
          <p:nvPr/>
        </p:nvSpPr>
        <p:spPr>
          <a:xfrm xmlns:a="http://schemas.openxmlformats.org/drawingml/2006/main">
            <a:off x="87439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8064A2"/>
                </a:solidFill>
                <a:latin typeface="Arial"/>
                <a:ea typeface="Arial"/>
                <a:cs typeface="Arial"/>
              </a:rPr>
              <a:t>Testable</a:t>
            </a:r>
          </a:p>
        </p:txBody>
      </p:sp>
      <p:sp>
        <p:nvSpPr>
          <p:cNvPr id="502" name="Google Shape;502;p18">
            <a:extLst xmlns:a="http://schemas.openxmlformats.org/drawingml/2006/main">
              <a:ext uri="{FF2B5EF4-FFF2-40B4-BE49-F238E27FC236}">
                <a16:creationId xmlns:a16="http://schemas.microsoft.com/office/drawing/2014/main" id="{C0F604A4-6BF7-4B1B-B23A-5BB1BF37AA21}"/>
              </a:ext>
            </a:extLst>
          </p:cNvPr>
          <p:cNvSpPr>
            <a:spLocks xmlns:a="http://schemas.openxmlformats.org/drawingml/2006/main" noGrp="1"/>
          </p:cNvSpPr>
          <p:nvPr/>
        </p:nvSpPr>
        <p:spPr>
          <a:xfrm xmlns:a="http://schemas.openxmlformats.org/drawingml/2006/main">
            <a:off x="81819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Independent accuracy and coverage</a:t>
            </a:r>
          </a:p>
        </p:txBody>
      </p:sp>
      <p:sp>
        <p:nvSpPr>
          <p:cNvPr id="503" name="Google Shape;503;p18">
            <a:extLst xmlns:a="http://schemas.openxmlformats.org/drawingml/2006/main">
              <a:ext uri="{FF2B5EF4-FFF2-40B4-BE49-F238E27FC236}">
                <a16:creationId xmlns:a16="http://schemas.microsoft.com/office/drawing/2014/main" id="{412CFFC9-B77C-4358-A839-7B1F59EE297B}"/>
              </a:ext>
            </a:extLst>
          </p:cNvPr>
          <p:cNvSpPr>
            <a:spLocks xmlns:a="http://schemas.openxmlformats.org/drawingml/2006/main" noGrp="1"/>
          </p:cNvSpPr>
          <p:nvPr/>
        </p:nvSpPr>
        <p:spPr>
          <a:xfrm xmlns:a="http://schemas.openxmlformats.org/drawingml/2006/main">
            <a:off x="81819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Hide deposit labels before evaluation.</a:t>
            </a: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Compare methods on the same cases.</a:t>
            </a: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Report false answers and abstention.</a:t>
            </a:r>
          </a:p>
        </p:txBody>
      </p:sp>
      <p:sp>
        <p:nvSpPr>
          <p:cNvPr id="504" name="Google Shape;504;p18">
            <a:extLst xmlns:a="http://schemas.openxmlformats.org/drawingml/2006/main">
              <a:ext uri="{FF2B5EF4-FFF2-40B4-BE49-F238E27FC236}">
                <a16:creationId xmlns:a16="http://schemas.microsoft.com/office/drawing/2014/main" id="{026287DE-30E5-4BC0-A215-316EB18E4656}"/>
              </a:ext>
            </a:extLst>
          </p:cNvPr>
          <p:cNvSpPr>
            <a:spLocks xmlns:a="http://schemas.openxmlformats.org/drawingml/2006/main" noGrp="1"/>
          </p:cNvSpPr>
          <p:nvPr/>
        </p:nvSpPr>
        <p:spPr>
          <a:xfrm xmlns:a="http://schemas.openxmlformats.org/drawingml/2006/main">
            <a:off x="333375" y="3362325"/>
            <a:ext cx="11553900" cy="2667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5" name="Google Shape;505;p18">
            <a:extLst xmlns:a="http://schemas.openxmlformats.org/drawingml/2006/main">
              <a:ext uri="{FF2B5EF4-FFF2-40B4-BE49-F238E27FC236}">
                <a16:creationId xmlns:a16="http://schemas.microsoft.com/office/drawing/2014/main" id="{24ABEC19-AB84-4AB5-B55B-4C2F62D73CD4}"/>
              </a:ext>
            </a:extLst>
          </p:cNvPr>
          <p:cNvSpPr>
            <a:spLocks xmlns:a="http://schemas.openxmlformats.org/drawingml/2006/main" noGrp="1"/>
          </p:cNvSpPr>
          <p:nvPr/>
        </p:nvSpPr>
        <p:spPr>
          <a:xfrm xmlns:a="http://schemas.openxmlformats.org/drawingml/2006/main">
            <a:off x="419100" y="3409950"/>
            <a:ext cx="11382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FFFFFF"/>
                </a:solidFill>
                <a:latin typeface="Arial"/>
                <a:ea typeface="Arial"/>
                <a:cs typeface="Arial"/>
              </a:rPr>
              <a:t>PRACTICAL INVESTIGATOR BENEFITS TO MEASURE</a:t>
            </a:r>
          </a:p>
        </p:txBody>
      </p:sp>
      <p:pic>
        <p:nvPicPr>
          <p:cNvPr id="552" name="Google Shape;506;p18"/>
          <p:cNvPicPr>
            <a:picLocks xmlns:a="http://schemas.openxmlformats.org/drawingml/2006/main" noChangeAspect="1"/>
          </p:cNvPicPr>
          <p:nvPr/>
        </p:nvPicPr>
        <p:blipFill rotWithShape="1">
          <a:blip xmlns:r="http://schemas.openxmlformats.org/officeDocument/2006/relationships" xmlns:a="http://schemas.openxmlformats.org/drawingml/2006/main" r:embed="R3755e5352f7b406c">
            <a:alphaModFix/>
          </a:blip>
          <a:srcRect xmlns:a="http://schemas.openxmlformats.org/drawingml/2006/main" l="0" t="0" r="0" b="0"/>
          <a:stretch xmlns:a="http://schemas.openxmlformats.org/drawingml/2006/main"/>
        </p:blipFill>
        <p:spPr>
          <a:xfrm xmlns:a="http://schemas.openxmlformats.org/drawingml/2006/main">
            <a:off x="333375" y="3762375"/>
            <a:ext cx="333375" cy="333375"/>
          </a:xfrm>
          <a:prstGeom xmlns:a="http://schemas.openxmlformats.org/drawingml/2006/main" prst="rect">
            <a:avLst/>
          </a:prstGeom>
          <a:ln xmlns:a="http://schemas.openxmlformats.org/drawingml/2006/main">
            <a:noFill/>
          </a:ln>
        </p:spPr>
      </p:pic>
      <p:sp>
        <p:nvSpPr>
          <p:cNvPr id="507" name="Google Shape;507;p18">
            <a:extLst xmlns:a="http://schemas.openxmlformats.org/drawingml/2006/main">
              <a:ext uri="{FF2B5EF4-FFF2-40B4-BE49-F238E27FC236}">
                <a16:creationId xmlns:a16="http://schemas.microsoft.com/office/drawing/2014/main" id="{21504998-BA4A-4A9F-B422-7949437EF0BD}"/>
              </a:ext>
            </a:extLst>
          </p:cNvPr>
          <p:cNvSpPr>
            <a:spLocks xmlns:a="http://schemas.openxmlformats.org/drawingml/2006/main" noGrp="1"/>
          </p:cNvSpPr>
          <p:nvPr/>
        </p:nvSpPr>
        <p:spPr>
          <a:xfrm xmlns:a="http://schemas.openxmlformats.org/drawingml/2006/main">
            <a:off x="78105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More candidates</a:t>
            </a:r>
          </a:p>
        </p:txBody>
      </p:sp>
      <p:sp>
        <p:nvSpPr>
          <p:cNvPr id="508" name="Google Shape;508;p18">
            <a:extLst xmlns:a="http://schemas.openxmlformats.org/drawingml/2006/main">
              <a:ext uri="{FF2B5EF4-FFF2-40B4-BE49-F238E27FC236}">
                <a16:creationId xmlns:a16="http://schemas.microsoft.com/office/drawing/2014/main" id="{B1E2219E-514C-4010-B55F-1F1E20E48BEB}"/>
              </a:ext>
            </a:extLst>
          </p:cNvPr>
          <p:cNvSpPr>
            <a:spLocks xmlns:a="http://schemas.openxmlformats.org/drawingml/2006/main" noGrp="1"/>
          </p:cNvSpPr>
          <p:nvPr/>
        </p:nvSpPr>
        <p:spPr>
          <a:xfrm xmlns:a="http://schemas.openxmlformats.org/drawingml/2006/main">
            <a:off x="78105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Test deposit inference beyond</a:t>
            </a: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existing address labels.</a:t>
            </a:r>
          </a:p>
        </p:txBody>
      </p:sp>
      <p:pic>
        <p:nvPicPr>
          <p:cNvPr id="555" name="Google Shape;509;p18"/>
          <p:cNvPicPr>
            <a:picLocks xmlns:a="http://schemas.openxmlformats.org/drawingml/2006/main" noChangeAspect="1"/>
          </p:cNvPicPr>
          <p:nvPr/>
        </p:nvPicPr>
        <p:blipFill rotWithShape="1">
          <a:blip xmlns:r="http://schemas.openxmlformats.org/officeDocument/2006/relationships" xmlns:a="http://schemas.openxmlformats.org/drawingml/2006/main" r:embed="Rd453261cb31c469f">
            <a:alphaModFix/>
          </a:blip>
          <a:srcRect xmlns:a="http://schemas.openxmlformats.org/drawingml/2006/main" l="0" t="0" r="0" b="0"/>
          <a:stretch xmlns:a="http://schemas.openxmlformats.org/drawingml/2006/main"/>
        </p:blipFill>
        <p:spPr>
          <a:xfrm xmlns:a="http://schemas.openxmlformats.org/drawingml/2006/main">
            <a:off x="3257550" y="3762375"/>
            <a:ext cx="333375" cy="333375"/>
          </a:xfrm>
          <a:prstGeom xmlns:a="http://schemas.openxmlformats.org/drawingml/2006/main" prst="rect">
            <a:avLst/>
          </a:prstGeom>
          <a:ln xmlns:a="http://schemas.openxmlformats.org/drawingml/2006/main">
            <a:noFill/>
          </a:ln>
        </p:spPr>
      </p:pic>
      <p:sp>
        <p:nvSpPr>
          <p:cNvPr id="510" name="Google Shape;510;p18">
            <a:extLst xmlns:a="http://schemas.openxmlformats.org/drawingml/2006/main">
              <a:ext uri="{FF2B5EF4-FFF2-40B4-BE49-F238E27FC236}">
                <a16:creationId xmlns:a16="http://schemas.microsoft.com/office/drawing/2014/main" id="{6AA86CF6-10AB-449F-A60F-350187997603}"/>
              </a:ext>
            </a:extLst>
          </p:cNvPr>
          <p:cNvSpPr>
            <a:spLocks xmlns:a="http://schemas.openxmlformats.org/drawingml/2006/main" noGrp="1"/>
          </p:cNvSpPr>
          <p:nvPr/>
        </p:nvSpPr>
        <p:spPr>
          <a:xfrm xmlns:a="http://schemas.openxmlformats.org/drawingml/2006/main">
            <a:off x="370522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Fewer false routes</a:t>
            </a:r>
          </a:p>
        </p:txBody>
      </p:sp>
      <p:sp>
        <p:nvSpPr>
          <p:cNvPr id="511" name="Google Shape;511;p18">
            <a:extLst xmlns:a="http://schemas.openxmlformats.org/drawingml/2006/main">
              <a:ext uri="{FF2B5EF4-FFF2-40B4-BE49-F238E27FC236}">
                <a16:creationId xmlns:a16="http://schemas.microsoft.com/office/drawing/2014/main" id="{45DE1D7E-C204-4566-AE09-B068F9B4F4EC}"/>
              </a:ext>
            </a:extLst>
          </p:cNvPr>
          <p:cNvSpPr>
            <a:spLocks xmlns:a="http://schemas.openxmlformats.org/drawingml/2006/main" noGrp="1"/>
          </p:cNvSpPr>
          <p:nvPr/>
        </p:nvSpPr>
        <p:spPr>
          <a:xfrm xmlns:a="http://schemas.openxmlformats.org/drawingml/2006/main">
            <a:off x="370522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Challenge a service link</a:t>
            </a: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before recipient selection.</a:t>
            </a:r>
          </a:p>
        </p:txBody>
      </p:sp>
      <p:pic>
        <p:nvPicPr>
          <p:cNvPr id="558" name="Google Shape;512;p18"/>
          <p:cNvPicPr>
            <a:picLocks xmlns:a="http://schemas.openxmlformats.org/drawingml/2006/main" noChangeAspect="1"/>
          </p:cNvPicPr>
          <p:nvPr/>
        </p:nvPicPr>
        <p:blipFill rotWithShape="1">
          <a:blip xmlns:r="http://schemas.openxmlformats.org/officeDocument/2006/relationships" xmlns:a="http://schemas.openxmlformats.org/drawingml/2006/main" r:embed="Rdd3f694a38574151">
            <a:alphaModFix/>
          </a:blip>
          <a:srcRect xmlns:a="http://schemas.openxmlformats.org/drawingml/2006/main" l="0" t="0" r="0" b="0"/>
          <a:stretch xmlns:a="http://schemas.openxmlformats.org/drawingml/2006/main"/>
        </p:blipFill>
        <p:spPr>
          <a:xfrm xmlns:a="http://schemas.openxmlformats.org/drawingml/2006/main">
            <a:off x="6181725" y="3762375"/>
            <a:ext cx="333375" cy="333375"/>
          </a:xfrm>
          <a:prstGeom xmlns:a="http://schemas.openxmlformats.org/drawingml/2006/main" prst="rect">
            <a:avLst/>
          </a:prstGeom>
          <a:ln xmlns:a="http://schemas.openxmlformats.org/drawingml/2006/main">
            <a:noFill/>
          </a:ln>
        </p:spPr>
      </p:pic>
      <p:sp>
        <p:nvSpPr>
          <p:cNvPr id="513" name="Google Shape;513;p18">
            <a:extLst xmlns:a="http://schemas.openxmlformats.org/drawingml/2006/main">
              <a:ext uri="{FF2B5EF4-FFF2-40B4-BE49-F238E27FC236}">
                <a16:creationId xmlns:a16="http://schemas.microsoft.com/office/drawing/2014/main" id="{FC04CEA5-068B-40C8-86D0-777240099CA8}"/>
              </a:ext>
            </a:extLst>
          </p:cNvPr>
          <p:cNvSpPr>
            <a:spLocks xmlns:a="http://schemas.openxmlformats.org/drawingml/2006/main" noGrp="1"/>
          </p:cNvSpPr>
          <p:nvPr/>
        </p:nvSpPr>
        <p:spPr>
          <a:xfrm xmlns:a="http://schemas.openxmlformats.org/drawingml/2006/main">
            <a:off x="662940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Bounded API use</a:t>
            </a:r>
          </a:p>
        </p:txBody>
      </p:sp>
      <p:sp>
        <p:nvSpPr>
          <p:cNvPr id="514" name="Google Shape;514;p18">
            <a:extLst xmlns:a="http://schemas.openxmlformats.org/drawingml/2006/main">
              <a:ext uri="{FF2B5EF4-FFF2-40B4-BE49-F238E27FC236}">
                <a16:creationId xmlns:a16="http://schemas.microsoft.com/office/drawing/2014/main" id="{D5504FED-5BCD-49B1-BEA5-562F05809108}"/>
              </a:ext>
            </a:extLst>
          </p:cNvPr>
          <p:cNvSpPr>
            <a:spLocks xmlns:a="http://schemas.openxmlformats.org/drawingml/2006/main" noGrp="1"/>
          </p:cNvSpPr>
          <p:nvPr/>
        </p:nvSpPr>
        <p:spPr>
          <a:xfrm xmlns:a="http://schemas.openxmlformats.org/drawingml/2006/main">
            <a:off x="662940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Prioritise missing evidence</a:t>
            </a: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that could change the result.</a:t>
            </a:r>
          </a:p>
        </p:txBody>
      </p:sp>
      <p:pic>
        <p:nvPicPr>
          <p:cNvPr id="561" name="Google Shape;515;p18"/>
          <p:cNvPicPr>
            <a:picLocks xmlns:a="http://schemas.openxmlformats.org/drawingml/2006/main" noChangeAspect="1"/>
          </p:cNvPicPr>
          <p:nvPr/>
        </p:nvPicPr>
        <p:blipFill rotWithShape="1">
          <a:blip xmlns:r="http://schemas.openxmlformats.org/officeDocument/2006/relationships" xmlns:a="http://schemas.openxmlformats.org/drawingml/2006/main" r:embed="R0da3dd86841b400a">
            <a:alphaModFix/>
          </a:blip>
          <a:srcRect xmlns:a="http://schemas.openxmlformats.org/drawingml/2006/main" l="0" t="0" r="0" b="0"/>
          <a:stretch xmlns:a="http://schemas.openxmlformats.org/drawingml/2006/main"/>
        </p:blipFill>
        <p:spPr>
          <a:xfrm xmlns:a="http://schemas.openxmlformats.org/drawingml/2006/main">
            <a:off x="9105900" y="3762375"/>
            <a:ext cx="333375" cy="333375"/>
          </a:xfrm>
          <a:prstGeom xmlns:a="http://schemas.openxmlformats.org/drawingml/2006/main" prst="rect">
            <a:avLst/>
          </a:prstGeom>
          <a:ln xmlns:a="http://schemas.openxmlformats.org/drawingml/2006/main">
            <a:noFill/>
          </a:ln>
        </p:spPr>
      </p:pic>
      <p:sp>
        <p:nvSpPr>
          <p:cNvPr id="516" name="Google Shape;516;p18">
            <a:extLst xmlns:a="http://schemas.openxmlformats.org/drawingml/2006/main">
              <a:ext uri="{FF2B5EF4-FFF2-40B4-BE49-F238E27FC236}">
                <a16:creationId xmlns:a16="http://schemas.microsoft.com/office/drawing/2014/main" id="{5701D351-2E52-4ACE-B9F6-CCAB70D24E0B}"/>
              </a:ext>
            </a:extLst>
          </p:cNvPr>
          <p:cNvSpPr>
            <a:spLocks xmlns:a="http://schemas.openxmlformats.org/drawingml/2006/main" noGrp="1"/>
          </p:cNvSpPr>
          <p:nvPr/>
        </p:nvSpPr>
        <p:spPr>
          <a:xfrm xmlns:a="http://schemas.openxmlformats.org/drawingml/2006/main">
            <a:off x="955357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Reviewable evidence</a:t>
            </a:r>
          </a:p>
        </p:txBody>
      </p:sp>
      <p:sp>
        <p:nvSpPr>
          <p:cNvPr id="517" name="Google Shape;517;p18">
            <a:extLst xmlns:a="http://schemas.openxmlformats.org/drawingml/2006/main">
              <a:ext uri="{FF2B5EF4-FFF2-40B4-BE49-F238E27FC236}">
                <a16:creationId xmlns:a16="http://schemas.microsoft.com/office/drawing/2014/main" id="{712E59A9-070F-4276-BCD0-604847A9FC80}"/>
              </a:ext>
            </a:extLst>
          </p:cNvPr>
          <p:cNvSpPr>
            <a:spLocks xmlns:a="http://schemas.openxmlformats.org/drawingml/2006/main" noGrp="1"/>
          </p:cNvSpPr>
          <p:nvPr/>
        </p:nvSpPr>
        <p:spPr>
          <a:xfrm xmlns:a="http://schemas.openxmlformats.org/drawingml/2006/main">
            <a:off x="955357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Retain sources and assumptions</a:t>
            </a: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in a reproducible case package.</a:t>
            </a:r>
          </a:p>
        </p:txBody>
      </p:sp>
      <p:sp>
        <p:nvSpPr>
          <p:cNvPr id="518" name="Google Shape;518;p18">
            <a:extLst xmlns:a="http://schemas.openxmlformats.org/drawingml/2006/main">
              <a:ext uri="{FF2B5EF4-FFF2-40B4-BE49-F238E27FC236}">
                <a16:creationId xmlns:a16="http://schemas.microsoft.com/office/drawing/2014/main" id="{9CC29B66-1FFB-4450-BC70-0ED794E5062A}"/>
              </a:ext>
            </a:extLst>
          </p:cNvPr>
          <p:cNvSpPr>
            <a:spLocks xmlns:a="http://schemas.openxmlformats.org/drawingml/2006/main" noGrp="1"/>
          </p:cNvSpPr>
          <p:nvPr/>
        </p:nvSpPr>
        <p:spPr>
          <a:xfrm xmlns:a="http://schemas.openxmlformats.org/drawingml/2006/main">
            <a:off x="333375" y="4619625"/>
            <a:ext cx="115539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9" name="Google Shape;519;p18">
            <a:extLst xmlns:a="http://schemas.openxmlformats.org/drawingml/2006/main">
              <a:ext uri="{FF2B5EF4-FFF2-40B4-BE49-F238E27FC236}">
                <a16:creationId xmlns:a16="http://schemas.microsoft.com/office/drawing/2014/main" id="{EE1E01F5-7A44-4C8A-BE65-1CE893E28E9C}"/>
              </a:ext>
            </a:extLst>
          </p:cNvPr>
          <p:cNvSpPr>
            <a:spLocks xmlns:a="http://schemas.openxmlformats.org/drawingml/2006/main" noGrp="1"/>
          </p:cNvSpPr>
          <p:nvPr/>
        </p:nvSpPr>
        <p:spPr>
          <a:xfrm xmlns:a="http://schemas.openxmlformats.org/drawingml/2006/main">
            <a:off x="419100" y="4667250"/>
            <a:ext cx="113823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38" b="1" i="0" u="none" cap="none">
                <a:solidFill>
                  <a:srgbClr val="FFFFFF"/>
                </a:solidFill>
                <a:latin typeface="Arial"/>
                <a:ea typeface="Arial"/>
                <a:cs typeface="Arial"/>
              </a:rPr>
              <a:t>BASELINES AND THE PROPOSED RESEARCH CONTRIBUTION</a:t>
            </a:r>
          </a:p>
        </p:txBody>
      </p:sp>
      <p:graphicFrame>
        <p:nvGraphicFramePr>
          <p:cNvPr id="566" name="Google Shape;520;p18"/>
          <p:cNvGraphicFramePr/>
          <p:nvPr/>
        </p:nvGraphicFramePr>
        <p:xfrm>
          <a:off xmlns:a="http://schemas.openxmlformats.org/drawingml/2006/main" x="333375" y="489585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524000"/>
                <a:gridCol w="3105150"/>
                <a:gridCol w="3105150"/>
                <a:gridCol w="3819525"/>
              </a:tblGrid>
              <a:tr h="285750">
                <a:tc>
                  <a:txBody>
                    <a:bodyPr/>
                    <a:lstStyle/>
                    <a:p>
                      <a:pPr marL="0" marR="0" lvl="0" indent="0" algn="l">
                        <a:spcBef>
                          <a:spcPts val="0"/>
                        </a:spcBef>
                        <a:spcAft>
                          <a:spcPts val="0"/>
                        </a:spcAft>
                        <a:buNone/>
                      </a:pPr>
                      <a:r>
                        <a:rPr sz="1110" b="1">
                          <a:solidFill>
                            <a:srgbClr val="FFFFFF"/>
                          </a:solidFill>
                          <a:latin typeface="Arial"/>
                          <a:ea typeface="Arial"/>
                          <a:cs typeface="Arial"/>
                        </a:rPr>
                        <a:t>Comparison</a:t>
                      </a: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Exact-label tracing</a:t>
                      </a: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Proposed inference</a:t>
                      </a: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Evaluation requirement</a:t>
                      </a:r>
                    </a:p>
                  </a:txBody>
                  <a:tcPr marL="95250" marR="76200" marT="66675" marB="66675" anchor="ctr">
                    <a:solidFill>
                      <a:srgbClr val="1F497D"/>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Address role</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Only pre-labelled service addresses</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Sweeps plus service-operation evidence</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Hold out deposit labels and test negatives</a:t>
                      </a: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Chronology</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Follow recorded transfers</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Time-respecting first-custody search</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Reject backward-time and broken links</a:t>
                      </a: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Decision</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Return reached known service</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Candidate role, source challenge and gaps</a:t>
                      </a: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Report precision, coverage and abstention</a:t>
                      </a:r>
                    </a:p>
                  </a:txBody>
                  <a:tcPr marL="95250" marR="76200" marT="66675" marB="66675" anchor="ctr">
                    <a:solidFill>
                      <a:srgbClr val="EDF3F9"/>
                    </a:solidFill>
                  </a:tcPr>
                </a:tc>
              </a:tr>
            </a:tbl>
          </a:graphicData>
        </a:graphic>
      </p:graphicFrame>
      <p:sp>
        <p:nvSpPr>
          <p:cNvPr id="521" name="Google Shape;521;p18">
            <a:extLst xmlns:a="http://schemas.openxmlformats.org/drawingml/2006/main">
              <a:ext uri="{FF2B5EF4-FFF2-40B4-BE49-F238E27FC236}">
                <a16:creationId xmlns:a16="http://schemas.microsoft.com/office/drawing/2014/main" id="{9286ECC5-A025-4941-894F-5007525DD72E}"/>
              </a:ext>
            </a:extLst>
          </p:cNvPr>
          <p:cNvSpPr>
            <a:spLocks xmlns:a="http://schemas.openxmlformats.org/drawingml/2006/main" noGrp="1"/>
          </p:cNvSpPr>
          <p:nvPr/>
        </p:nvSpPr>
        <p:spPr>
          <a:xfrm xmlns:a="http://schemas.openxmlformats.org/drawingml/2006/main">
            <a:off x="333375" y="6162675"/>
            <a:ext cx="115539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00">
                <a:latin typeface="Arial"/>
                <a:ea typeface="Arial"/>
                <a:cs typeface="Arial"/>
              </a:defRPr>
            </a:pPr>
            <a:r>
              <a:rPr sz="900" b="0" i="0" u="none" cap="none">
                <a:solidFill>
                  <a:srgbClr val="526273"/>
                </a:solidFill>
                <a:latin typeface="Arial"/>
                <a:ea typeface="Arial"/>
                <a:cs typeface="Arial"/>
              </a:rPr>
              <a:t>No measured accuracy or efficiency gain yet. New inference is experimental; official SAHYOG remains disconnected.</a:t>
            </a:r>
          </a:p>
        </p:txBody>
      </p:sp>
      <p:sp>
        <p:nvSpPr>
          <p:cNvPr id="522" name="Google Shape;522;p18">
            <a:extLst xmlns:a="http://schemas.openxmlformats.org/drawingml/2006/main">
              <a:ext uri="{FF2B5EF4-FFF2-40B4-BE49-F238E27FC236}">
                <a16:creationId xmlns:a16="http://schemas.microsoft.com/office/drawing/2014/main" id="{299B68B5-0740-46B2-85CE-35D4EFA424A3}"/>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Calibri"/>
              <a:buNone/>
            </a:pPr>
            <a:r>
              <a:t/>
            </a:r>
            <a:endParaRPr sz="1800" b="0" i="0" u="none" cap="none">
              <a:solidFill>
                <a:srgbClr val="953734"/>
              </a:solidFill>
              <a:latin typeface="Calibri"/>
              <a:ea typeface="Calibri"/>
              <a:cs typeface="Calibri"/>
            </a:endParaRPr>
          </a:p>
        </p:txBody>
      </p:sp>
      <p:sp>
        <p:nvSpPr>
          <p:cNvPr id="523" name="Google Shape;523;p18">
            <a:extLst xmlns:a="http://schemas.openxmlformats.org/drawingml/2006/main">
              <a:ext uri="{FF2B5EF4-FFF2-40B4-BE49-F238E27FC236}">
                <a16:creationId xmlns:a16="http://schemas.microsoft.com/office/drawing/2014/main" id="{3892D4F6-08B6-46C6-8C8E-68547C95FBB7}"/>
              </a:ext>
            </a:extLst>
          </p:cNvPr>
          <p:cNvSpPr>
            <a:spLocks xmlns:a="http://schemas.openxmlformats.org/drawingml/2006/main" noGrp="1"/>
          </p:cNvSpPr>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solidFill>
                  <a:srgbClr val="000000"/>
                </a:solidFill>
                <a:latin typeface="Times New Roman"/>
                <a:ea typeface="Times New Roman"/>
                <a:cs typeface="Times New Roman"/>
              </a:rPr>
              <a:t>IMPACT AND BENEFITS</a:t>
            </a:r>
            <a:endParaRPr sz="4400">
              <a:solidFill>
                <a:srgbClr val="000000"/>
              </a:solidFill>
              <a:latin typeface="Oswald"/>
              <a:ea typeface="Oswald"/>
              <a:cs typeface="Oswald"/>
            </a:endParaRPr>
          </a:p>
        </p:txBody>
      </p:sp>
      <p:sp>
        <p:nvSpPr>
          <p:cNvPr id="524" name="Google Shape;524;p18">
            <a:extLst xmlns:a="http://schemas.openxmlformats.org/drawingml/2006/main">
              <a:ext uri="{FF2B5EF4-FFF2-40B4-BE49-F238E27FC236}">
                <a16:creationId xmlns:a16="http://schemas.microsoft.com/office/drawing/2014/main" id="{9E73D7B0-1C77-41D2-BA2F-720327800F8F}"/>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E5B3003-2C54-13C6-9832-7637201064DE}" type="slidenum">
              <a:rPr sz="1200" b="1">
                <a:solidFill>
                  <a:srgbClr val="FFFFFF"/>
                </a:solidFill>
                <a:latin typeface="Oswald"/>
                <a:ea typeface="Oswald"/>
                <a:cs typeface="Oswald"/>
              </a:rPr>
              <a:t>5</a:t>
            </a:fld>
            <a:endParaRPr sz="1200" b="1">
              <a:solidFill>
                <a:srgbClr val="FFFFFF"/>
              </a:solidFill>
              <a:latin typeface="Oswald"/>
              <a:ea typeface="Oswald"/>
              <a:cs typeface="Oswald"/>
            </a:endParaRPr>
          </a:p>
        </p:txBody>
      </p:sp>
      <p:sp>
        <p:nvSpPr>
          <p:cNvPr id="525" name="Google Shape;525;p18">
            <a:extLst xmlns:a="http://schemas.openxmlformats.org/drawingml/2006/main">
              <a:ext uri="{FF2B5EF4-FFF2-40B4-BE49-F238E27FC236}">
                <a16:creationId xmlns:a16="http://schemas.microsoft.com/office/drawing/2014/main" id="{09187A34-4740-45DC-9A78-3BE8D483FCC9}"/>
              </a:ext>
            </a:extLst>
          </p:cNvPr>
          <p:cNvSpPr>
            <a:spLocks xmlns:a="http://schemas.openxmlformats.org/drawingml/2006/main" noGrp="1"/>
          </p:cNvSpPr>
          <p:nvPr/>
        </p:nvSpPr>
        <p:spPr>
          <a:xfrm xmlns:a="http://schemas.openxmlformats.org/drawingml/2006/main">
            <a:off x="4648200" y="6356353"/>
            <a:ext cx="32040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1200">
                <a:solidFill>
                  <a:srgbClr val="FFFFFF"/>
                </a:solidFill>
                <a:latin typeface="Oswald"/>
                <a:ea typeface="Oswald"/>
                <a:cs typeface="Oswald"/>
              </a:rPr>
              <a:t>@SIH Idea submission- Template</a:t>
            </a:r>
            <a:endParaRPr sz="1200">
              <a:solidFill>
                <a:srgbClr val="FFFFFF"/>
              </a:solidFill>
              <a:latin typeface="Oswald"/>
              <a:ea typeface="Oswald"/>
              <a:cs typeface="Oswald"/>
            </a:endParaRPr>
          </a:p>
        </p:txBody>
      </p:sp>
      <p:sp>
        <p:nvSpPr>
          <p:cNvPr id="526" name="Google Shape;526;p18">
            <a:extLst xmlns:a="http://schemas.openxmlformats.org/drawingml/2006/main">
              <a:ext uri="{FF2B5EF4-FFF2-40B4-BE49-F238E27FC236}">
                <a16:creationId xmlns:a16="http://schemas.microsoft.com/office/drawing/2014/main" id="{75EAFF0F-D480-47C8-A284-4A8350891952}"/>
              </a:ext>
            </a:extLst>
          </p:cNvPr>
          <p:cNvSpPr>
            <a:spLocks xmlns:a="http://schemas.openxmlformats.org/drawingml/2006/main" noGrp="1"/>
          </p:cNvSpPr>
          <p:nvPr/>
        </p:nvSpPr>
        <p:spPr>
          <a:xfrm xmlns:a="http://schemas.openxmlformats.org/drawingml/2006/main">
            <a:off x="329773" y="252246"/>
            <a:ext cx="1251900" cy="807300"/>
          </a:xfrm>
          <a:prstGeom xmlns:a="http://schemas.openxmlformats.org/drawingml/2006/main" prst="ellipse">
            <a:avLst/>
          </a:prstGeom>
          <a:solidFill xmlns:a="http://schemas.openxmlformats.org/drawingml/2006/main">
            <a:srgbClr val="FFFFFF"/>
          </a:solidFill>
          <a:ln xmlns:a="http://schemas.openxmlformats.org/drawingml/2006/main" w="25400" cmpd="sng">
            <a:solidFill>
              <a:srgbClr val="8064A2"/>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rgbClr val="000000"/>
                </a:solidFill>
                <a:latin typeface="Arial"/>
                <a:ea typeface="Arial"/>
                <a:cs typeface="Arial"/>
              </a:rPr>
              <a:t>ANANTHA</a:t>
            </a:r>
            <a:endParaRPr sz="1700" b="0" i="0" u="none" cap="none">
              <a:solidFill>
                <a:srgbClr val="000000"/>
              </a:solidFill>
              <a:latin typeface="Calibri"/>
              <a:ea typeface="Calibri"/>
              <a:cs typeface="Calibri"/>
            </a:endParaRPr>
          </a:p>
        </p:txBody>
      </p:sp>
      <p:pic>
        <p:nvPicPr>
          <p:cNvPr id="573" name=""/>
          <p:cNvPicPr>
            <a:picLocks xmlns:a="http://schemas.openxmlformats.org/drawingml/2006/main" noChangeAspect="1"/>
          </p:cNvPicPr>
          <p:nvPr/>
        </p:nvPicPr>
        <p:blipFill>
          <a:blip xmlns:r="http://schemas.openxmlformats.org/officeDocument/2006/relationships" xmlns:a="http://schemas.openxmlformats.org/drawingml/2006/main" r:embed="Rf98c97ed5b474eda"/>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Tree>
    <p:extLst>
      <p:ext uri="{BB962C8B-B14F-4D97-AF65-F5344CB8AC3E}">
        <p14:creationId xmlns:p14="http://schemas.microsoft.com/office/powerpoint/2010/main" val="7980570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547" name="Google Shape;533;p19"/>
          <p:cNvGraphicFramePr/>
          <p:nvPr/>
        </p:nvGraphicFramePr>
        <p:xfrm>
          <a:off xmlns:a="http://schemas.openxmlformats.org/drawingml/2006/main" x="333375" y="140970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952625"/>
                <a:gridCol w="2705100"/>
                <a:gridCol w="3028950"/>
                <a:gridCol w="3867150"/>
              </a:tblGrid>
              <a:tr h="361950">
                <a:tc>
                  <a:txBody>
                    <a:bodyPr/>
                    <a:lstStyle/>
                    <a:p>
                      <a:pPr marL="0" marR="0" lvl="0" indent="0" algn="l">
                        <a:spcBef>
                          <a:spcPts val="0"/>
                        </a:spcBef>
                        <a:spcAft>
                          <a:spcPts val="0"/>
                        </a:spcAft>
                        <a:buNone/>
                      </a:pPr>
                      <a:r>
                        <a:rPr sz="1148" b="1">
                          <a:solidFill>
                            <a:srgbClr val="FFFFFF"/>
                          </a:solidFill>
                          <a:latin typeface="Arial"/>
                          <a:ea typeface="Arial"/>
                          <a:cs typeface="Arial"/>
                        </a:rPr>
                        <a:t>Method / paper</a:t>
                      </a: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Research finding</a:t>
                      </a: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Proposed TraceSetu use</a:t>
                      </a: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Primary reference</a:t>
                      </a:r>
                    </a:p>
                  </a:txBody>
                  <a:tcPr marL="95250" marR="76200" marT="66675" marB="66675" anchor="ctr">
                    <a:solidFill>
                      <a:srgbClr val="1F497D"/>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[1] Deposit-address</a:t>
                      </a:r>
                    </a:p>
                    <a:p>
                      <a:pPr marL="0" marR="0" lvl="0" indent="0" algn="l">
                        <a:spcBef>
                          <a:spcPts val="0"/>
                        </a:spcBef>
                        <a:spcAft>
                          <a:spcPts val="0"/>
                        </a:spcAft>
                        <a:buNone/>
                      </a:pPr>
                      <a:r>
                        <a:rPr sz="1148" b="1">
                          <a:solidFill>
                            <a:srgbClr val="17232F"/>
                          </a:solidFill>
                          <a:latin typeface="Arial"/>
                          <a:ea typeface="Arial"/>
                          <a:cs typeface="Arial"/>
                        </a:rPr>
                        <a:t>inference</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Forwarding patterns can reveal</a:t>
                      </a:r>
                    </a:p>
                    <a:p>
                      <a:pPr marL="0" marR="0" lvl="0" indent="0" algn="l">
                        <a:spcBef>
                          <a:spcPts val="0"/>
                        </a:spcBef>
                        <a:spcAft>
                          <a:spcPts val="0"/>
                        </a:spcAft>
                        <a:buNone/>
                      </a:pPr>
                      <a:r>
                        <a:rPr sz="1148" b="0">
                          <a:solidFill>
                            <a:srgbClr val="17232F"/>
                          </a:solidFill>
                          <a:latin typeface="Arial"/>
                          <a:ea typeface="Arial"/>
                          <a:cs typeface="Arial"/>
                        </a:rPr>
                        <a:t>unlabelled deposit candidates.</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Seeded sweep detection.</a:t>
                      </a:r>
                    </a:p>
                    <a:p>
                      <a:pPr marL="0" marR="0" lvl="0" indent="0" algn="l">
                        <a:spcBef>
                          <a:spcPts val="0"/>
                        </a:spcBef>
                        <a:spcAft>
                          <a:spcPts val="0"/>
                        </a:spcAft>
                        <a:buNone/>
                      </a:pPr>
                      <a:r>
                        <a:rPr sz="1148" b="0">
                          <a:solidFill>
                            <a:srgbClr val="17232F"/>
                          </a:solidFill>
                          <a:latin typeface="Arial"/>
                          <a:ea typeface="Arial"/>
                          <a:cs typeface="Arial"/>
                        </a:rPr>
                        <a:t>One payment does not prove control.</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Victor, Financial Cryptography 2020</a:t>
                      </a:r>
                    </a:p>
                    <a:p>
                      <a:pPr marL="0" marR="0" lvl="0" indent="0" algn="l">
                        <a:spcBef>
                          <a:spcPts val="0"/>
                        </a:spcBef>
                        <a:spcAft>
                          <a:spcPts val="0"/>
                        </a:spcAft>
                        <a:buNone/>
                      </a:pPr>
                      <a:r>
                        <a:rPr sz="1148" b="0">
                          <a:solidFill>
                            <a:srgbClr val="17232F"/>
                          </a:solidFill>
                          <a:latin typeface="Arial"/>
                          <a:ea typeface="Arial"/>
                          <a:cs typeface="Arial"/>
                        </a:rPr>
                        <a:t>Address Clustering Heuristics for Ethereum</a:t>
                      </a:r>
                    </a:p>
                    <a:p>
                      <a:pPr marL="0" marR="0" lvl="0" indent="0" algn="l">
                        <a:spcBef>
                          <a:spcPts val="0"/>
                        </a:spcBef>
                        <a:spcAft>
                          <a:spcPts val="0"/>
                        </a:spcAft>
                        <a:buNone/>
                      </a:pPr>
                      <a:r>
                        <a:rPr sz="1148" b="0" u="sng">
                          <a:solidFill>
                            <a:schemeClr val="hlink"/>
                          </a:solidFill>
                          <a:latin typeface="Arial"/>
                          <a:ea typeface="Arial"/>
                          <a:cs typeface="Arial"/>
                          <a:hlinkClick xmlns:ns0="http://schemas.openxmlformats.org/officeDocument/2006/relationships" ns0:id="rIdMethod20260929ref1"/>
                        </a:rPr>
                        <a:t>fc20.ifca.ai/preproceedings/31.pdf</a:t>
                      </a: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[2] Service-operation</a:t>
                      </a:r>
                    </a:p>
                    <a:p>
                      <a:pPr marL="0" marR="0" lvl="0" indent="0" algn="l">
                        <a:spcBef>
                          <a:spcPts val="0"/>
                        </a:spcBef>
                        <a:spcAft>
                          <a:spcPts val="0"/>
                        </a:spcAft>
                        <a:buNone/>
                      </a:pPr>
                      <a:r>
                        <a:rPr sz="1148" b="1">
                          <a:solidFill>
                            <a:srgbClr val="17232F"/>
                          </a:solidFill>
                          <a:latin typeface="Arial"/>
                          <a:ea typeface="Arial"/>
                          <a:cs typeface="Arial"/>
                        </a:rPr>
                        <a:t>patterns</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Token sweeps and gas funding</a:t>
                      </a:r>
                    </a:p>
                    <a:p>
                      <a:pPr marL="0" marR="0" lvl="0" indent="0" algn="l">
                        <a:spcBef>
                          <a:spcPts val="0"/>
                        </a:spcBef>
                        <a:spcAft>
                          <a:spcPts val="0"/>
                        </a:spcAft>
                        <a:buNone/>
                      </a:pPr>
                      <a:r>
                        <a:rPr sz="1148" b="0">
                          <a:solidFill>
                            <a:srgbClr val="17232F"/>
                          </a:solidFill>
                          <a:latin typeface="Arial"/>
                          <a:ea typeface="Arial"/>
                          <a:cs typeface="Arial"/>
                        </a:rPr>
                        <a:t>co-occur in an exchange case study.</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Corroborate deposit hypotheses.</a:t>
                      </a:r>
                    </a:p>
                    <a:p>
                      <a:pPr marL="0" marR="0" lvl="0" indent="0" algn="l">
                        <a:spcBef>
                          <a:spcPts val="0"/>
                        </a:spcBef>
                        <a:spcAft>
                          <a:spcPts val="0"/>
                        </a:spcAft>
                        <a:buNone/>
                      </a:pPr>
                      <a:r>
                        <a:rPr sz="1148" b="0">
                          <a:solidFill>
                            <a:srgbClr val="17232F"/>
                          </a:solidFill>
                          <a:latin typeface="Arial"/>
                          <a:ea typeface="Arial"/>
                          <a:cs typeface="Arial"/>
                        </a:rPr>
                        <a:t>Service-specific; needs validation.</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Brechlin et al., IJNM 2025</a:t>
                      </a:r>
                    </a:p>
                    <a:p>
                      <a:pPr marL="0" marR="0" lvl="0" indent="0" algn="l">
                        <a:spcBef>
                          <a:spcPts val="0"/>
                        </a:spcBef>
                        <a:spcAft>
                          <a:spcPts val="0"/>
                        </a:spcAft>
                        <a:buNone/>
                      </a:pPr>
                      <a:r>
                        <a:rPr sz="1148" b="0">
                          <a:solidFill>
                            <a:srgbClr val="17232F"/>
                          </a:solidFill>
                          <a:latin typeface="Arial"/>
                          <a:ea typeface="Arial"/>
                          <a:cs typeface="Arial"/>
                        </a:rPr>
                        <a:t>Buy Crypto, Sell Privacy: Evonax</a:t>
                      </a:r>
                    </a:p>
                    <a:p>
                      <a:pPr marL="0" marR="0" lvl="0" indent="0" algn="l">
                        <a:spcBef>
                          <a:spcPts val="0"/>
                        </a:spcBef>
                        <a:spcAft>
                          <a:spcPts val="0"/>
                        </a:spcAft>
                        <a:buNone/>
                      </a:pPr>
                      <a:r>
                        <a:rPr sz="1148" b="0" u="sng">
                          <a:solidFill>
                            <a:schemeClr val="hlink"/>
                          </a:solidFill>
                          <a:latin typeface="Arial"/>
                          <a:ea typeface="Arial"/>
                          <a:cs typeface="Arial"/>
                          <a:hlinkClick xmlns:ns1="http://schemas.openxmlformats.org/officeDocument/2006/relationships" ns1:id="rIdMethod20260929ref2"/>
                        </a:rPr>
                        <a:t>doi.org/10.1002/nem.2325</a:t>
                      </a: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[3] Bitcoin peel-chain</a:t>
                      </a:r>
                    </a:p>
                    <a:p>
                      <a:pPr marL="0" marR="0" lvl="0" indent="0" algn="l">
                        <a:spcBef>
                          <a:spcPts val="0"/>
                        </a:spcBef>
                        <a:spcAft>
                          <a:spcPts val="0"/>
                        </a:spcAft>
                        <a:buNone/>
                      </a:pPr>
                      <a:r>
                        <a:rPr sz="1148" b="1">
                          <a:solidFill>
                            <a:srgbClr val="17232F"/>
                          </a:solidFill>
                          <a:latin typeface="Arial"/>
                          <a:ea typeface="Arial"/>
                          <a:cs typeface="Arial"/>
                        </a:rPr>
                        <a:t>expansion</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Wallet fingerprints can restrict</a:t>
                      </a:r>
                    </a:p>
                    <a:p>
                      <a:pPr marL="0" marR="0" lvl="0" indent="0" algn="l">
                        <a:spcBef>
                          <a:spcPts val="0"/>
                        </a:spcBef>
                        <a:spcAft>
                          <a:spcPts val="0"/>
                        </a:spcAft>
                        <a:buNone/>
                      </a:pPr>
                      <a:r>
                        <a:rPr sz="1148" b="0">
                          <a:solidFill>
                            <a:srgbClr val="17232F"/>
                          </a:solidFill>
                          <a:latin typeface="Arial"/>
                          <a:ea typeface="Arial"/>
                          <a:cs typeface="Arial"/>
                        </a:rPr>
                        <a:t>candidate change continuation.</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Guarded Bitcoin extension, planned.</a:t>
                      </a:r>
                    </a:p>
                    <a:p>
                      <a:pPr marL="0" marR="0" lvl="0" indent="0" algn="l">
                        <a:spcBef>
                          <a:spcPts val="0"/>
                        </a:spcBef>
                        <a:spcAft>
                          <a:spcPts val="0"/>
                        </a:spcAft>
                        <a:buNone/>
                      </a:pPr>
                      <a:r>
                        <a:rPr sz="1148" b="0">
                          <a:solidFill>
                            <a:srgbClr val="17232F"/>
                          </a:solidFill>
                          <a:latin typeface="Arial"/>
                          <a:ea typeface="Arial"/>
                          <a:cs typeface="Arial"/>
                        </a:rPr>
                        <a:t>Ambiguity stops cluster expansion.</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Kappos et al., USENIX Security 2022</a:t>
                      </a:r>
                    </a:p>
                    <a:p>
                      <a:pPr marL="0" marR="0" lvl="0" indent="0" algn="l">
                        <a:spcBef>
                          <a:spcPts val="0"/>
                        </a:spcBef>
                        <a:spcAft>
                          <a:spcPts val="0"/>
                        </a:spcAft>
                        <a:buNone/>
                      </a:pPr>
                      <a:r>
                        <a:rPr sz="1148" b="0">
                          <a:solidFill>
                            <a:srgbClr val="17232F"/>
                          </a:solidFill>
                          <a:latin typeface="Arial"/>
                          <a:ea typeface="Arial"/>
                          <a:cs typeface="Arial"/>
                        </a:rPr>
                        <a:t>How to Peel a Million</a:t>
                      </a:r>
                    </a:p>
                    <a:p>
                      <a:pPr marL="0" marR="0" lvl="0" indent="0" algn="l">
                        <a:spcBef>
                          <a:spcPts val="0"/>
                        </a:spcBef>
                        <a:spcAft>
                          <a:spcPts val="0"/>
                        </a:spcAft>
                        <a:buNone/>
                      </a:pPr>
                      <a:r>
                        <a:rPr sz="1148" b="0" u="sng">
                          <a:solidFill>
                            <a:schemeClr val="hlink"/>
                          </a:solidFill>
                          <a:latin typeface="Arial"/>
                          <a:ea typeface="Arial"/>
                          <a:cs typeface="Arial"/>
                          <a:hlinkClick xmlns:ns2="http://schemas.openxmlformats.org/officeDocument/2006/relationships" ns2:id="rIdMethod20260929ref3"/>
                        </a:rPr>
                        <a:t>usenix.org/system/files/sec22-kappos.pdf</a:t>
                      </a: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[4] Temporal graph</a:t>
                      </a:r>
                    </a:p>
                    <a:p>
                      <a:pPr marL="0" marR="0" lvl="0" indent="0" algn="l">
                        <a:spcBef>
                          <a:spcPts val="0"/>
                        </a:spcBef>
                        <a:spcAft>
                          <a:spcPts val="0"/>
                        </a:spcAft>
                        <a:buNone/>
                      </a:pPr>
                      <a:r>
                        <a:rPr sz="1148" b="1">
                          <a:solidFill>
                            <a:srgbClr val="17232F"/>
                          </a:solidFill>
                          <a:latin typeface="Arial"/>
                          <a:ea typeface="Arial"/>
                          <a:cs typeface="Arial"/>
                        </a:rPr>
                        <a:t>paths</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Static shortest paths can violate</a:t>
                      </a:r>
                    </a:p>
                    <a:p>
                      <a:pPr marL="0" marR="0" lvl="0" indent="0" algn="l">
                        <a:spcBef>
                          <a:spcPts val="0"/>
                        </a:spcBef>
                        <a:spcAft>
                          <a:spcPts val="0"/>
                        </a:spcAft>
                        <a:buNone/>
                      </a:pPr>
                      <a:r>
                        <a:rPr sz="1148" b="0">
                          <a:solidFill>
                            <a:srgbClr val="17232F"/>
                          </a:solidFill>
                          <a:latin typeface="Arial"/>
                          <a:ea typeface="Arial"/>
                          <a:cs typeface="Arial"/>
                        </a:rPr>
                        <a:t>the order of recorded events.</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Event-state search for minimum hops.</a:t>
                      </a:r>
                    </a:p>
                    <a:p>
                      <a:pPr marL="0" marR="0" lvl="0" indent="0" algn="l">
                        <a:spcBef>
                          <a:spcPts val="0"/>
                        </a:spcBef>
                        <a:spcAft>
                          <a:spcPts val="0"/>
                        </a:spcAft>
                        <a:buNone/>
                      </a:pPr>
                      <a:r>
                        <a:rPr sz="1148" b="0">
                          <a:solidFill>
                            <a:srgbClr val="17232F"/>
                          </a:solidFill>
                          <a:latin typeface="Arial"/>
                          <a:ea typeface="Arial"/>
                          <a:cs typeface="Arial"/>
                        </a:rPr>
                        <a:t>Path validity is not wallet ownership.</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Wu et al., PVLDB 2014</a:t>
                      </a:r>
                    </a:p>
                    <a:p>
                      <a:pPr marL="0" marR="0" lvl="0" indent="0" algn="l">
                        <a:spcBef>
                          <a:spcPts val="0"/>
                        </a:spcBef>
                        <a:spcAft>
                          <a:spcPts val="0"/>
                        </a:spcAft>
                        <a:buNone/>
                      </a:pPr>
                      <a:r>
                        <a:rPr sz="1148" b="0">
                          <a:solidFill>
                            <a:srgbClr val="17232F"/>
                          </a:solidFill>
                          <a:latin typeface="Arial"/>
                          <a:ea typeface="Arial"/>
                          <a:cs typeface="Arial"/>
                        </a:rPr>
                        <a:t>Path Problems in Temporal Graphs</a:t>
                      </a:r>
                    </a:p>
                    <a:p>
                      <a:pPr marL="0" marR="0" lvl="0" indent="0" algn="l">
                        <a:spcBef>
                          <a:spcPts val="0"/>
                        </a:spcBef>
                        <a:spcAft>
                          <a:spcPts val="0"/>
                        </a:spcAft>
                        <a:buNone/>
                      </a:pPr>
                      <a:r>
                        <a:rPr sz="1148" b="0" u="sng">
                          <a:solidFill>
                            <a:schemeClr val="hlink"/>
                          </a:solidFill>
                          <a:latin typeface="Arial"/>
                          <a:ea typeface="Arial"/>
                          <a:cs typeface="Arial"/>
                          <a:hlinkClick xmlns:ns3="http://schemas.openxmlformats.org/officeDocument/2006/relationships" ns3:id="rIdMethod20260929ref4"/>
                        </a:rPr>
                        <a:t>doi.org/10.14778/2732939.2732945</a:t>
                      </a: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[5] Independent</a:t>
                      </a:r>
                    </a:p>
                    <a:p>
                      <a:pPr marL="0" marR="0" lvl="0" indent="0" algn="l">
                        <a:spcBef>
                          <a:spcPts val="0"/>
                        </a:spcBef>
                        <a:spcAft>
                          <a:spcPts val="0"/>
                        </a:spcAft>
                        <a:buNone/>
                      </a:pPr>
                      <a:r>
                        <a:rPr sz="1148" b="1">
                          <a:solidFill>
                            <a:srgbClr val="17232F"/>
                          </a:solidFill>
                          <a:latin typeface="Arial"/>
                          <a:ea typeface="Arial"/>
                          <a:cs typeface="Arial"/>
                        </a:rPr>
                        <a:t>attribution evaluation</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Address roles and flow coverage</a:t>
                      </a:r>
                    </a:p>
                    <a:p>
                      <a:pPr marL="0" marR="0" lvl="0" indent="0" algn="l">
                        <a:spcBef>
                          <a:spcPts val="0"/>
                        </a:spcBef>
                        <a:spcAft>
                          <a:spcPts val="0"/>
                        </a:spcAft>
                        <a:buNone/>
                      </a:pPr>
                      <a:r>
                        <a:rPr sz="1148" b="0">
                          <a:solidFill>
                            <a:srgbClr val="17232F"/>
                          </a:solidFill>
                          <a:latin typeface="Arial"/>
                          <a:ea typeface="Arial"/>
                          <a:cs typeface="Arial"/>
                        </a:rPr>
                        <a:t>need independent service records.</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Test deposit-role precision and</a:t>
                      </a:r>
                    </a:p>
                    <a:p>
                      <a:pPr marL="0" marR="0" lvl="0" indent="0" algn="l">
                        <a:spcBef>
                          <a:spcPts val="0"/>
                        </a:spcBef>
                        <a:spcAft>
                          <a:spcPts val="0"/>
                        </a:spcAft>
                        <a:buNone/>
                      </a:pPr>
                      <a:r>
                        <a:rPr sz="1148" b="0">
                          <a:solidFill>
                            <a:srgbClr val="17232F"/>
                          </a:solidFill>
                          <a:latin typeface="Arial"/>
                          <a:ea typeface="Arial"/>
                          <a:cs typeface="Arial"/>
                        </a:rPr>
                        <a:t>coverage; never reuse seeds as truth.</a:t>
                      </a: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Lubbertsen et al., USENIX Security 2025</a:t>
                      </a:r>
                    </a:p>
                    <a:p>
                      <a:pPr marL="0" marR="0" lvl="0" indent="0" algn="l">
                        <a:spcBef>
                          <a:spcPts val="0"/>
                        </a:spcBef>
                        <a:spcAft>
                          <a:spcPts val="0"/>
                        </a:spcAft>
                        <a:buNone/>
                      </a:pPr>
                      <a:r>
                        <a:rPr sz="1148" b="0">
                          <a:solidFill>
                            <a:srgbClr val="17232F"/>
                          </a:solidFill>
                          <a:latin typeface="Arial"/>
                          <a:ea typeface="Arial"/>
                          <a:cs typeface="Arial"/>
                        </a:rPr>
                        <a:t>Ghost Clusters</a:t>
                      </a:r>
                    </a:p>
                    <a:p>
                      <a:pPr marL="0" marR="0" lvl="0" indent="0" algn="l">
                        <a:spcBef>
                          <a:spcPts val="0"/>
                        </a:spcBef>
                        <a:spcAft>
                          <a:spcPts val="0"/>
                        </a:spcAft>
                        <a:buNone/>
                      </a:pPr>
                      <a:r>
                        <a:rPr sz="1148" b="0" u="sng">
                          <a:solidFill>
                            <a:schemeClr val="hlink"/>
                          </a:solidFill>
                          <a:latin typeface="Arial"/>
                          <a:ea typeface="Arial"/>
                          <a:cs typeface="Arial"/>
                          <a:hlinkClick xmlns:ns4="http://schemas.openxmlformats.org/officeDocument/2006/relationships" ns4:id="rIdMethod20260929ref5"/>
                        </a:rPr>
                        <a:t>USENIX Security 2025 paper (linked)</a:t>
                      </a:r>
                    </a:p>
                  </a:txBody>
                  <a:tcPr marL="95250" marR="76200" marT="66675" marB="66675" anchor="ctr">
                    <a:solidFill>
                      <a:srgbClr val="EDF3F9"/>
                    </a:solidFill>
                  </a:tcPr>
                </a:tc>
              </a:tr>
            </a:tbl>
          </a:graphicData>
        </a:graphic>
      </p:graphicFrame>
      <p:sp>
        <p:nvSpPr>
          <p:cNvPr id="534" name="Google Shape;534;p19">
            <a:extLst xmlns:a="http://schemas.openxmlformats.org/drawingml/2006/main">
              <a:ext uri="{FF2B5EF4-FFF2-40B4-BE49-F238E27FC236}">
                <a16:creationId xmlns:a16="http://schemas.microsoft.com/office/drawing/2014/main" id="{01ED3B4C-8B60-41F1-BDD4-2930AECB2A45}"/>
              </a:ext>
            </a:extLst>
          </p:cNvPr>
          <p:cNvSpPr>
            <a:spLocks xmlns:a="http://schemas.openxmlformats.org/drawingml/2006/main" noGrp="1"/>
          </p:cNvSpPr>
          <p:nvPr/>
        </p:nvSpPr>
        <p:spPr>
          <a:xfrm xmlns:a="http://schemas.openxmlformats.org/drawingml/2006/main">
            <a:off x="333375" y="5629275"/>
            <a:ext cx="11553825" cy="24765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5" name="Google Shape;535;p19">
            <a:extLst xmlns:a="http://schemas.openxmlformats.org/drawingml/2006/main">
              <a:ext uri="{FF2B5EF4-FFF2-40B4-BE49-F238E27FC236}">
                <a16:creationId xmlns:a16="http://schemas.microsoft.com/office/drawing/2014/main" id="{D21330EB-CB16-4970-AC31-061844E8BEEA}"/>
              </a:ext>
            </a:extLst>
          </p:cNvPr>
          <p:cNvSpPr>
            <a:spLocks xmlns:a="http://schemas.openxmlformats.org/drawingml/2006/main" noGrp="1"/>
          </p:cNvSpPr>
          <p:nvPr/>
        </p:nvSpPr>
        <p:spPr>
          <a:xfrm xmlns:a="http://schemas.openxmlformats.org/drawingml/2006/main">
            <a:off x="419100" y="5676900"/>
            <a:ext cx="11382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FFFFFF"/>
                </a:solidFill>
                <a:latin typeface="Arial"/>
                <a:ea typeface="Arial"/>
                <a:cs typeface="Arial"/>
              </a:rPr>
              <a:t>ADDITIONAL PRIMARY PAPERS AND OPEN RESOURCES</a:t>
            </a:r>
          </a:p>
        </p:txBody>
      </p:sp>
      <p:sp>
        <p:nvSpPr>
          <p:cNvPr id="536" name="Google Shape;536;p19">
            <a:extLst xmlns:a="http://schemas.openxmlformats.org/drawingml/2006/main">
              <a:ext uri="{FF2B5EF4-FFF2-40B4-BE49-F238E27FC236}">
                <a16:creationId xmlns:a16="http://schemas.microsoft.com/office/drawing/2014/main" id="{743880E9-405C-4D5F-97C8-5C20A6630BD9}"/>
              </a:ext>
            </a:extLst>
          </p:cNvPr>
          <p:cNvSpPr>
            <a:spLocks xmlns:a="http://schemas.openxmlformats.org/drawingml/2006/main" noGrp="1"/>
          </p:cNvSpPr>
          <p:nvPr/>
        </p:nvSpPr>
        <p:spPr>
          <a:xfrm xmlns:a="http://schemas.openxmlformats.org/drawingml/2006/main">
            <a:off x="333375" y="6019800"/>
            <a:ext cx="37623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ns5="http://schemas.openxmlformats.org/officeDocument/2006/relationships" ns5:id="rIdMethod202609296"/>
              </a:rPr>
              <a:t>[6] Meiklejohn et al., IMC 2013</a:t>
            </a:r>
          </a:p>
        </p:txBody>
      </p:sp>
      <p:sp>
        <p:nvSpPr>
          <p:cNvPr id="537" name="Google Shape;537;p19">
            <a:extLst xmlns:a="http://schemas.openxmlformats.org/drawingml/2006/main">
              <a:ext uri="{FF2B5EF4-FFF2-40B4-BE49-F238E27FC236}">
                <a16:creationId xmlns:a16="http://schemas.microsoft.com/office/drawing/2014/main" id="{495F41F3-D6F2-4FE3-812D-AD25A0479A01}"/>
              </a:ext>
            </a:extLst>
          </p:cNvPr>
          <p:cNvSpPr>
            <a:spLocks xmlns:a="http://schemas.openxmlformats.org/drawingml/2006/main" noGrp="1"/>
          </p:cNvSpPr>
          <p:nvPr/>
        </p:nvSpPr>
        <p:spPr>
          <a:xfrm xmlns:a="http://schemas.openxmlformats.org/drawingml/2006/main">
            <a:off x="4286250" y="6019800"/>
            <a:ext cx="2286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ns6="http://schemas.openxmlformats.org/officeDocument/2006/relationships" ns6:id="rIdMethod202609297"/>
              </a:rPr>
              <a:t>[7] Yousaf et al., USENIX 2019</a:t>
            </a:r>
          </a:p>
        </p:txBody>
      </p:sp>
      <p:sp>
        <p:nvSpPr>
          <p:cNvPr id="538" name="Google Shape;538;p19">
            <a:extLst xmlns:a="http://schemas.openxmlformats.org/drawingml/2006/main">
              <a:ext uri="{FF2B5EF4-FFF2-40B4-BE49-F238E27FC236}">
                <a16:creationId xmlns:a16="http://schemas.microsoft.com/office/drawing/2014/main" id="{7769E008-D305-4ABD-83D5-E03A7BEB0AA9}"/>
              </a:ext>
            </a:extLst>
          </p:cNvPr>
          <p:cNvSpPr>
            <a:spLocks xmlns:a="http://schemas.openxmlformats.org/drawingml/2006/main" noGrp="1"/>
          </p:cNvSpPr>
          <p:nvPr/>
        </p:nvSpPr>
        <p:spPr>
          <a:xfrm xmlns:a="http://schemas.openxmlformats.org/drawingml/2006/main">
            <a:off x="6858000" y="6019800"/>
            <a:ext cx="2476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ns7="http://schemas.openxmlformats.org/officeDocument/2006/relationships" ns7:id="rIdMethod202609298"/>
              </a:rPr>
              <a:t>[8] GraphSense and public TagPacks</a:t>
            </a:r>
          </a:p>
        </p:txBody>
      </p:sp>
      <p:sp>
        <p:nvSpPr>
          <p:cNvPr id="539" name="Google Shape;539;p19">
            <a:extLst xmlns:a="http://schemas.openxmlformats.org/drawingml/2006/main">
              <a:ext uri="{FF2B5EF4-FFF2-40B4-BE49-F238E27FC236}">
                <a16:creationId xmlns:a16="http://schemas.microsoft.com/office/drawing/2014/main" id="{003507D4-6791-4C86-B4A6-472DAAD7BDD8}"/>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540" name="Google Shape;540;p19">
            <a:extLst xmlns:a="http://schemas.openxmlformats.org/drawingml/2006/main">
              <a:ext uri="{FF2B5EF4-FFF2-40B4-BE49-F238E27FC236}">
                <a16:creationId xmlns:a16="http://schemas.microsoft.com/office/drawing/2014/main" id="{F0ABA2D2-D280-4776-B965-B70EBEB6455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RESEARCH  AND REFERENCES</a:t>
            </a:r>
            <a:endParaRPr/>
          </a:p>
        </p:txBody>
      </p:sp>
      <p:sp>
        <p:nvSpPr>
          <p:cNvPr id="541" name="Google Shape;541;p19">
            <a:extLst xmlns:a="http://schemas.openxmlformats.org/drawingml/2006/main">
              <a:ext uri="{FF2B5EF4-FFF2-40B4-BE49-F238E27FC236}">
                <a16:creationId xmlns:a16="http://schemas.microsoft.com/office/drawing/2014/main" id="{E1F0B76D-01C6-4F81-BC12-A03EF536A9EB}"/>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8C630A04-5A25-9E0C-9436-126091DB86B3}" type="slidenum">
              <a:rPr sz="1200" b="1" i="0" u="none" cap="none">
                <a:solidFill>
                  <a:srgbClr val="FFFFFF"/>
                </a:solidFill>
                <a:latin typeface="Oswald"/>
                <a:ea typeface="Oswald"/>
                <a:cs typeface="Oswald"/>
              </a:rPr>
              <a:t>6</a:t>
            </a:fld>
            <a:endParaRPr sz="1200" b="1" i="0" u="none" cap="none">
              <a:solidFill>
                <a:srgbClr val="FFFFFF"/>
              </a:solidFill>
              <a:latin typeface="Oswald"/>
              <a:ea typeface="Oswald"/>
              <a:cs typeface="Oswald"/>
            </a:endParaRPr>
          </a:p>
        </p:txBody>
      </p:sp>
      <p:sp>
        <p:nvSpPr>
          <p:cNvPr id="542" name="Google Shape;542;p19">
            <a:extLst xmlns:a="http://schemas.openxmlformats.org/drawingml/2006/main">
              <a:ext uri="{FF2B5EF4-FFF2-40B4-BE49-F238E27FC236}">
                <a16:creationId xmlns:a16="http://schemas.microsoft.com/office/drawing/2014/main" id="{04B7E866-1C73-4AC2-A905-E29DF2D913AE}"/>
              </a:ext>
            </a:extLst>
          </p:cNvPr>
          <p:cNvSpPr>
            <a:spLocks xmlns:a="http://schemas.openxmlformats.org/drawingml/2006/main" noGrp="1"/>
          </p:cNvSpPr>
          <p:nvPr>
            <p:ph type="ftr" idx="11"/>
          </p:nvPr>
        </p:nvSpPr>
        <p:spPr>
          <a:xfrm xmlns:a="http://schemas.openxmlformats.org/drawingml/2006/main">
            <a:off x="4648200" y="6356353"/>
            <a:ext cx="32040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200"/>
              <a:buFont typeface="Oswald"/>
              <a:buNone/>
            </a:pPr>
            <a:r>
              <a:rPr sz="1200" b="0" i="0" u="none" cap="none">
                <a:solidFill>
                  <a:srgbClr val="FFFFFF"/>
                </a:solidFill>
                <a:latin typeface="Oswald"/>
                <a:ea typeface="Oswald"/>
                <a:cs typeface="Oswald"/>
              </a:rPr>
              <a:t>@SIH Idea submission- Template</a:t>
            </a:r>
            <a:endParaRPr sz="1200" b="0" i="0" u="none" cap="none">
              <a:solidFill>
                <a:srgbClr val="FFFFFF"/>
              </a:solidFill>
              <a:latin typeface="Oswald"/>
              <a:ea typeface="Oswald"/>
              <a:cs typeface="Oswald"/>
            </a:endParaRPr>
          </a:p>
        </p:txBody>
      </p:sp>
      <p:sp>
        <p:nvSpPr>
          <p:cNvPr id="543" name="Google Shape;543;p19">
            <a:extLst xmlns:a="http://schemas.openxmlformats.org/drawingml/2006/main">
              <a:ext uri="{FF2B5EF4-FFF2-40B4-BE49-F238E27FC236}">
                <a16:creationId xmlns:a16="http://schemas.microsoft.com/office/drawing/2014/main" id="{9BC34D4A-569E-4A0D-A591-99E786B90161}"/>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chemeClr val="lt1"/>
          </a:solidFill>
          <a:ln xmlns:a="http://schemas.openxmlformats.org/drawingml/2006/main" w="25400" cmpd="sng">
            <a:solidFill>
              <a:schemeClr val="accent4"/>
            </a:solidFill>
            <a:prstDash val="solid"/>
            <a:headEnd type="none" w="sm" len="sm"/>
            <a:tailEnd type="none" w="sm" len="sm"/>
          </a:ln>
        </p:spPr>
        <p:txBody>
          <a:bodyPr xmlns:a="http://schemas.openxmlformats.org/drawingml/2006/main" spcFirstLastPara="1" wrap="non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defRPr sz="1125">
                <a:latin typeface="Arial"/>
                <a:ea typeface="Arial"/>
                <a:cs typeface="Arial"/>
              </a:defRPr>
            </a:pPr>
            <a:r>
              <a:rPr sz="1125" b="0" i="0" u="none" cap="none">
                <a:solidFill>
                  <a:schemeClr val="dk1"/>
                </a:solidFill>
                <a:latin typeface="Arial"/>
                <a:ea typeface="Arial"/>
                <a:cs typeface="Arial"/>
              </a:rPr>
              <a:t>ANANTHA</a:t>
            </a:r>
            <a:endParaRPr sz="1800" b="0" i="0" u="none" cap="none">
              <a:solidFill>
                <a:schemeClr val="dk1"/>
              </a:solidFill>
              <a:latin typeface="Calibri"/>
              <a:ea typeface="Calibri"/>
              <a:cs typeface="Calibri"/>
            </a:endParaRPr>
          </a:p>
        </p:txBody>
      </p:sp>
      <p:pic>
        <p:nvPicPr>
          <p:cNvPr id="558" name="Google Shape;544;p19"/>
          <p:cNvPicPr>
            <a:picLocks xmlns:a="http://schemas.openxmlformats.org/drawingml/2006/main" noChangeAspect="1"/>
          </p:cNvPicPr>
          <p:nvPr/>
        </p:nvPicPr>
        <p:blipFill rotWithShape="1">
          <a:blip xmlns:r="http://schemas.openxmlformats.org/officeDocument/2006/relationships" xmlns:a="http://schemas.openxmlformats.org/drawingml/2006/main" r:embed="R151a58e60ea64322">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546" name="">
            <a:extLst xmlns:a="http://schemas.openxmlformats.org/drawingml/2006/main">
              <a:ext uri="{FF2B5EF4-FFF2-40B4-BE49-F238E27FC236}">
                <a16:creationId xmlns:a16="http://schemas.microsoft.com/office/drawing/2014/main" id="{946B143D-08FF-4DB2-9CDF-8B0500D9F8CD}"/>
              </a:ext>
            </a:extLst>
          </p:cNvPr>
          <p:cNvSpPr>
            <a:spLocks xmlns:a="http://schemas.openxmlformats.org/drawingml/2006/main" noGrp="1"/>
          </p:cNvSpPr>
          <p:nvPr/>
        </p:nvSpPr>
        <p:spPr>
          <a:xfrm xmlns:a="http://schemas.openxmlformats.org/drawingml/2006/main">
            <a:off x="333375" y="6210300"/>
            <a:ext cx="6572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1">
                <a:solidFill>
                  <a:srgbClr val="234D7F"/>
                </a:solidFill>
                <a:latin typeface="Arial"/>
                <a:ea typeface="Arial"/>
                <a:cs typeface="Arial"/>
              </a:defRPr>
            </a:pPr>
            <a:r>
              <a:rPr>
                <a:hlinkClick xmlns:ns8="http://schemas.openxmlformats.org/officeDocument/2006/relationships" ns8:id="rIdMethod202609299"/>
              </a:rPr>
              <a:t>[9] Weber et al., 2019: fraud classification is a different task</a:t>
            </a:r>
          </a:p>
        </p:txBody>
      </p:sp>
    </p:spTree>
    <p:extLst>
      <p:ext uri="{BB962C8B-B14F-4D97-AF65-F5344CB8AC3E}">
        <p14:creationId xmlns:p14="http://schemas.microsoft.com/office/powerpoint/2010/main" val="1889483835"/>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2026-09-25T13:53:57.1550000Z</dcterms:created>
  <dcterms:modified xsi:type="dcterms:W3CDTF">2026-09-25T13:53:57.1550000Z</dcterms:modified>
</coreProperties>
</file>